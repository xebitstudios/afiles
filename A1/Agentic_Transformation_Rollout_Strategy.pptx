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828800" cy="508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2D2D3A"/>
                </a:solidFill>
                <a:latin typeface="Calibri"/>
              </a:defRPr>
            </a:pPr>
            <a:r>
              <a:t>Agentic Transformation</a:t>
            </a:r>
            <a:br/>
            <a:r>
              <a:t>Rollout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6EB8"/>
                </a:solidFill>
                <a:latin typeface="Calibri"/>
              </a:defRPr>
            </a:pPr>
            <a:r>
              <a:t>TechOps  |  ADM1  |  ADM2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4A5A"/>
                </a:solidFill>
                <a:latin typeface="Calibri"/>
              </a:defRPr>
            </a:pPr>
            <a:r>
              <a:t>150 Engineers  |  28,288 Current Hours  |  70% Efficiency Gains  |  76% Headcount Reduction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2860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CURRENT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EB8"/>
                </a:solidFill>
                <a:latin typeface="Calibri"/>
              </a:defRPr>
            </a:pPr>
            <a:r>
              <a:t>28,288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371600"/>
            <a:ext cx="22860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STARTING HEADCOUNT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783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EB8"/>
                </a:solidFill>
                <a:latin typeface="Calibri"/>
              </a:defRPr>
            </a:pPr>
            <a:r>
              <a:t>150 Engineers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1371600"/>
            <a:ext cx="22860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1A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TARGET HEADCOUNT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1783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9E56"/>
                </a:solidFill>
                <a:latin typeface="Calibri"/>
              </a:defRPr>
            </a:pPr>
            <a:r>
              <a:t>36 Engineers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22860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D4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EFFICIENCY GAIN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830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7B00"/>
                </a:solidFill>
                <a:latin typeface="Calibri"/>
              </a:defRPr>
            </a:pPr>
            <a:r>
              <a:t>70% by Year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1371600"/>
            <a:ext cx="164592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1A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95560" y="14630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YEAR 3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5560" y="178308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9E56"/>
                </a:solidFill>
                <a:latin typeface="Calibri"/>
              </a:defRPr>
            </a:pPr>
            <a:r>
              <a:t>8,486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65176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A4A5A"/>
                </a:solidFill>
                <a:latin typeface="Calibri"/>
              </a:defRPr>
            </a:pPr>
            <a:r>
              <a:t>&gt;&gt; TechOps: 13,374 hrs across 8 categories (71 engineers) &gt; 12 engineers</a:t>
            </a:r>
          </a:p>
          <a:p>
            <a:pPr>
              <a:spcAft>
                <a:spcPts val="800"/>
              </a:spcAft>
              <a:defRPr sz="1600">
                <a:solidFill>
                  <a:srgbClr val="4A4A5A"/>
                </a:solidFill>
                <a:latin typeface="Calibri"/>
              </a:defRPr>
            </a:pPr>
            <a:r>
              <a:t>&gt;&gt; ADM1: 10,588 hrs across 6 categories (56 engineers) &gt; 12 engineers</a:t>
            </a:r>
          </a:p>
          <a:p>
            <a:pPr>
              <a:spcAft>
                <a:spcPts val="800"/>
              </a:spcAft>
              <a:defRPr sz="1600">
                <a:solidFill>
                  <a:srgbClr val="4A4A5A"/>
                </a:solidFill>
                <a:latin typeface="Calibri"/>
              </a:defRPr>
            </a:pPr>
            <a:r>
              <a:t>&gt;&gt; ADM2: 4,326 hrs in Minor Enhancement (23 engineers) &gt; 12 engineers</a:t>
            </a:r>
          </a:p>
          <a:p>
            <a:pPr>
              <a:spcAft>
                <a:spcPts val="800"/>
              </a:spcAft>
              <a:defRPr sz="1600">
                <a:solidFill>
                  <a:srgbClr val="4A4A5A"/>
                </a:solidFill>
                <a:latin typeface="Calibri"/>
              </a:defRPr>
            </a:pPr>
            <a:r>
              <a:t>&gt;&gt; 6 RDE engineers (2 per workstream) embed during Year 1 to build foundational agentic infrastructure</a:t>
            </a:r>
          </a:p>
          <a:p>
            <a:pPr>
              <a:spcAft>
                <a:spcPts val="800"/>
              </a:spcAft>
              <a:defRPr sz="1600">
                <a:solidFill>
                  <a:srgbClr val="4A4A5A"/>
                </a:solidFill>
                <a:latin typeface="Calibri"/>
              </a:defRPr>
            </a:pPr>
            <a:r>
              <a:t>&gt;&gt; Phased approach: Weeks 1-6, 90 Days, Month 6, Year 1, Year 2, Year 3</a:t>
            </a:r>
          </a:p>
          <a:p>
            <a:pPr>
              <a:spcAft>
                <a:spcPts val="800"/>
              </a:spcAft>
              <a:defRPr sz="1600">
                <a:solidFill>
                  <a:srgbClr val="4A4A5A"/>
                </a:solidFill>
                <a:latin typeface="Calibri"/>
              </a:defRPr>
            </a:pPr>
            <a:r>
              <a:t>&gt;&gt; 76% headcount reduction (114 of 150 engineers) with hours dropping from 28,288 to 8,486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Current Staffing Hours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EB8"/>
                </a:solidFill>
                <a:latin typeface="Calibri"/>
              </a:defRPr>
            </a:pPr>
            <a:r>
              <a:t>TechOps  (13,374 hrs | 71 engineers)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329184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Hours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Incident Management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7,160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53.5%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Problem Management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Change Management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1,949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14.6%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Request Management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2,398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17.9%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Observability Support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1,088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8.1%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Ops Mgmt &amp; Reporting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213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1.6%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General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432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3.2%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Automation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13,374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9E56"/>
                </a:solidFill>
                <a:latin typeface="Calibri"/>
              </a:defRPr>
            </a:pPr>
            <a:r>
              <a:t>ADM1  (10,588 hrs | 56 engineers)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0" y="1554480"/>
          <a:ext cx="3291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9144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Hours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Incident Management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4,016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37.9%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Problem Management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898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Change Management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2,348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22.2%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Request Management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536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5.1%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Observability Support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1,765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16.7%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Ops Mgmt &amp; Reporting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1,025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9.7%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10,588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B00"/>
                </a:solidFill>
                <a:latin typeface="Calibri"/>
              </a:defRPr>
            </a:pPr>
            <a:r>
              <a:t>ADM2  (4,326 hrs | 23 engineers)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412480" y="1554480"/>
          <a:ext cx="329184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Hours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of Total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Minor Enhancement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4,326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4,326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31520" y="5303520"/>
            <a:ext cx="32004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53949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GRAND TOTAL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715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EB8"/>
                </a:solidFill>
                <a:latin typeface="Calibri"/>
              </a:defRPr>
            </a:pPr>
            <a:r>
              <a:t>28,288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5303520"/>
            <a:ext cx="32004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1A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53949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TOTAL ENGINEERS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5715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9E56"/>
                </a:solidFill>
                <a:latin typeface="Calibri"/>
              </a:defRPr>
            </a:pPr>
            <a:r>
              <a:t>150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5303520"/>
            <a:ext cx="32004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D4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539495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HOURS DISTRIBUTION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5715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7B00"/>
                </a:solidFill>
                <a:latin typeface="Calibri"/>
              </a:defRPr>
            </a:pPr>
            <a:r>
              <a:t>TechOps 47% | ADM1 37% | ADM2 15%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Hours Reduction by Workstream Over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914400"/>
                <a:gridCol w="1371600"/>
                <a:gridCol w="1371600"/>
                <a:gridCol w="109728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Eff. Gain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TechOps Hrs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ADM1 Hrs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ADM2 Hrs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Hrs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Hours Saved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Kickoff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Weeks 1-6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13,374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10,588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4,326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28,288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Foundation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90 Days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10%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12,037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9,529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3,893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25,459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2,829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Early Adoption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20%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10,699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8,470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3,461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22,630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5,658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Maturity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50%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6,687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5,294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2,163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14,144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14,144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Optimization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60%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5,350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4,235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1,730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11,315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16,973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Steady State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70%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4,012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3,176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1,298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8,486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19,802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4846320"/>
            <a:ext cx="8229600" cy="256032"/>
          </a:xfrm>
          <a:prstGeom prst="round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0" y="48280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EB8"/>
                </a:solidFill>
                <a:latin typeface="Calibri"/>
              </a:defRPr>
            </a:pPr>
            <a:r>
              <a:t>28,288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" y="48280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4A5A"/>
                </a:solidFill>
                <a:latin typeface="Calibri"/>
              </a:defRPr>
            </a:pPr>
            <a:r>
              <a:t>Weeks 1-6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166359"/>
            <a:ext cx="7406581" cy="256032"/>
          </a:xfrm>
          <a:prstGeom prst="round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21" y="51480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EB8"/>
                </a:solidFill>
                <a:latin typeface="Calibri"/>
              </a:defRPr>
            </a:pPr>
            <a:r>
              <a:t>25,459 hrs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514807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4A5A"/>
                </a:solidFill>
                <a:latin typeface="Calibri"/>
              </a:defRPr>
            </a:pPr>
            <a:r>
              <a:t>90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486400"/>
            <a:ext cx="6583563" cy="256032"/>
          </a:xfrm>
          <a:prstGeom prst="roundRect">
            <a:avLst/>
          </a:prstGeom>
          <a:solidFill>
            <a:srgbClr val="D4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603" y="546811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47B00"/>
                </a:solidFill>
                <a:latin typeface="Calibri"/>
              </a:defRPr>
            </a:pPr>
            <a:r>
              <a:t>22,630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" y="54681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4A5A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806440"/>
            <a:ext cx="4114800" cy="256032"/>
          </a:xfrm>
          <a:prstGeom prst="roundRect">
            <a:avLst/>
          </a:prstGeom>
          <a:solidFill>
            <a:srgbClr val="1A9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77840" y="578815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9E56"/>
                </a:solidFill>
                <a:latin typeface="Calibri"/>
              </a:defRPr>
            </a:pPr>
            <a:r>
              <a:t>14,144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" y="57881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4A5A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6126479"/>
            <a:ext cx="3291781" cy="256032"/>
          </a:xfrm>
          <a:prstGeom prst="roundRect">
            <a:avLst/>
          </a:prstGeom>
          <a:solidFill>
            <a:srgbClr val="1A9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21" y="61081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9E56"/>
                </a:solidFill>
                <a:latin typeface="Calibri"/>
              </a:defRPr>
            </a:pPr>
            <a:r>
              <a:t>11,315 hrs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" y="610819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4A5A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6446520"/>
            <a:ext cx="2468763" cy="256032"/>
          </a:xfrm>
          <a:prstGeom prst="roundRect">
            <a:avLst/>
          </a:prstGeom>
          <a:solidFill>
            <a:srgbClr val="1A9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803" y="642823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9E56"/>
                </a:solidFill>
                <a:latin typeface="Calibri"/>
              </a:defRPr>
            </a:pPr>
            <a:r>
              <a:t>8,486 hrs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" y="642823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4A5A"/>
                </a:solidFill>
                <a:latin typeface="Calibri"/>
              </a:defRPr>
            </a:pPr>
            <a:r>
              <a:t>Year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TechOps — Category Hours Reduction Over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6EB8"/>
                </a:solidFill>
                <a:latin typeface="Calibri"/>
              </a:defRPr>
            </a:pPr>
            <a:r>
              <a:t>Baseline: 13,374 hours | 71 engineers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98755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371600"/>
                <a:gridCol w="137160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90 Days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(-10%)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(-20%)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(-50%)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(-60%)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(-70%)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Incident Management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7,160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6,444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5,728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3,580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2,864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2,148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Problem Management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Change Management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1,949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1,754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1,559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974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780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585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Request Management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2,398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2,158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1,918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1,199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959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719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Observability Support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1,088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979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870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544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435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326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Ops Mgmt &amp; Reporting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213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85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General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432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389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346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216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Automation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44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13,374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12,037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10,699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6,687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5,350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4,012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5852160"/>
          <a:ext cx="98755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Headcount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64 + 2 RDE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57 + 2 RDE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ADM1 — Category Hours Reduction Over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9E56"/>
                </a:solidFill>
                <a:latin typeface="Calibri"/>
              </a:defRPr>
            </a:pPr>
            <a:r>
              <a:t>Baseline: 10,588 hours | 56 engineers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98755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371600"/>
                <a:gridCol w="1371600"/>
                <a:gridCol w="1371600"/>
                <a:gridCol w="1371600"/>
                <a:gridCol w="13716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90 Days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(-10%)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(-20%)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(-50%)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(-60%)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(-70%)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Incident Management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4,016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3,614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3,213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2,008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1,606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1,205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Problem Management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898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808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718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449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359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269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Change Management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2,348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2,113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1,878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1,174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939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704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Request Management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536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482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429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268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161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Observability Support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1,765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1,588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1,412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882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706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530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Ops Mgmt &amp; Reporting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1,025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922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820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512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410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308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10,588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9,529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8,470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5,294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4,235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3,176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5303520"/>
          <a:ext cx="98755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Headcount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50 + 2 RDE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45 + 2 RDE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ADM2 — Category Hours Reduction Over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7B00"/>
                </a:solidFill>
                <a:latin typeface="Calibri"/>
              </a:defRPr>
            </a:pPr>
            <a:r>
              <a:t>Baseline: 4,326 hours | 23 engineers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9875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90 Days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(-10%)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(-20%)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(-50%)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(-60%)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(-70%)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Minor Enhancement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4,326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3,893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3,461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2,163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1,730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1,298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4,326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3,893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3,461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2,163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1,730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1,298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200400"/>
          <a:ext cx="98755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Headcount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 + 2 RDE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 + 2 RDE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D2D3A"/>
                </a:solidFill>
                <a:latin typeface="Calibri"/>
              </a:defRPr>
            </a:pPr>
            <a:r>
              <a:t>Year 3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32004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983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4,326 hrs | 23 eng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572000"/>
            <a:ext cx="32004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1A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YEAR 3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983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9E56"/>
                </a:solidFill>
                <a:latin typeface="Calibri"/>
              </a:defRPr>
            </a:pPr>
            <a:r>
              <a:t>1,298 hrs | 12 eng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572000"/>
            <a:ext cx="32004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D4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4663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HOURS SAVED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49834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7B00"/>
                </a:solidFill>
                <a:latin typeface="Calibri"/>
              </a:defRPr>
            </a:pPr>
            <a:r>
              <a:t>3,028 hrs (70%)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Rollout Phases &amp; Headcount by Workstream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554480"/>
                <a:gridCol w="1554480"/>
                <a:gridCol w="1554480"/>
                <a:gridCol w="1645920"/>
                <a:gridCol w="164592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TechOps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ADM1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ADM2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HC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Hours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Kickoff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Weeks 1-6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71 + 2 RDE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56 + 2 RDE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23 + 2 RDE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150 + 6 RDE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28,288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Foundation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90 Days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64 + 2 RDE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50 + 2 RDE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21 + 2 RDE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135 + 6 RDE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25,459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Early Adoption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57 + 2 RDE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45 + 2 RDE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18 + 2 RDE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120 + 6 RDE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22,630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Maturity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14,144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Optimization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11,315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Steady State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8,486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6B7B"/>
                </a:solidFill>
                <a:latin typeface="Calibri"/>
              </a:defRPr>
            </a:pPr>
            <a:r>
              <a:t>Target: 12 engineers per workstream (36 total) by Year 3  |  RDE engineers (6) roll off at end of Year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Target Agentic Team Composition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6EB8"/>
                </a:solidFill>
                <a:latin typeface="Calibri"/>
              </a:defRPr>
            </a:pPr>
            <a:r>
              <a:t>12 Members Per Workstream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5029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2011680"/>
              </a:tblGrid>
              <a:tr h="4800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 / Retrained From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AI Requirements Engineer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Business Analysts / Requirements Engineers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AI/ML Engineer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Senior Developers / New Hires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Data/Prompt Engineer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Data Engineers / Backend Developers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Test Engineer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QA Engineers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DevOps Engineer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Retained from existing DevOps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Product Manager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Retained from existing PMs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Tech Lead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Retained from existing Tech Leads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1828800"/>
            <a:ext cx="5029200" cy="50292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920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AI Requirements Engineers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240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EB8"/>
                </a:solidFill>
                <a:latin typeface="Calibri"/>
              </a:defRPr>
            </a:pPr>
            <a:r>
              <a:t>3 members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23160"/>
            <a:ext cx="5029200" cy="50292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1A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514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AI/ML Engineers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346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9E56"/>
                </a:solidFill>
                <a:latin typeface="Calibri"/>
              </a:defRPr>
            </a:pPr>
            <a:r>
              <a:t>2 members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17520"/>
            <a:ext cx="5029200" cy="50292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D4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1089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Data/Prompt Engineers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290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7B00"/>
                </a:solidFill>
                <a:latin typeface="Calibri"/>
              </a:defRPr>
            </a:pPr>
            <a:r>
              <a:t>2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611880"/>
            <a:ext cx="5029200" cy="50292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7033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Test Engineers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0233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EB8"/>
                </a:solidFill>
                <a:latin typeface="Calibri"/>
              </a:defRPr>
            </a:pPr>
            <a:r>
              <a:t>2 members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206240"/>
            <a:ext cx="5029200" cy="50292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1A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97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DevOps Engineer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617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9E56"/>
                </a:solidFill>
                <a:latin typeface="Calibri"/>
              </a:defRPr>
            </a:pPr>
            <a:r>
              <a:t>1 member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800600"/>
            <a:ext cx="5029200" cy="50292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D4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8920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Product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212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7B00"/>
                </a:solidFill>
                <a:latin typeface="Calibri"/>
              </a:defRPr>
            </a:pPr>
            <a:r>
              <a:t>1 member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5394960"/>
            <a:ext cx="5029200" cy="50292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54864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Tech 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806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1 member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Staff Transition &amp; Reduction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6EB8"/>
                </a:solidFill>
                <a:latin typeface="Calibri"/>
              </a:defRPr>
            </a:pPr>
            <a:r>
              <a:t>Total Across All 3 Workstreams (150 &gt; 36)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9052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914400"/>
                <a:gridCol w="914400"/>
                <a:gridCol w="1097280"/>
                <a:gridCol w="109728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TechOps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ADM1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ADM2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HC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Reduction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Weeks 1-6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Assessment period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90 Days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-15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Voluntary attrition + retraining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57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-15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Wave 1 layoffs + transfers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76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-44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Wave 2 layoffs + severance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62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-14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Natural attrition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-12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Final optimization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212080"/>
            <a:ext cx="32004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TOTAL REDUCED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C0392B"/>
                </a:solidFill>
                <a:latin typeface="Calibri"/>
              </a:defRPr>
            </a:pPr>
            <a:r>
              <a:t>114 engineers (76%)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5212080"/>
            <a:ext cx="32004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D4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HOURS SAVED AT YEAR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5623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7B00"/>
                </a:solidFill>
                <a:latin typeface="Calibri"/>
              </a:defRPr>
            </a:pPr>
            <a:r>
              <a:t>19,802 hrs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5212080"/>
            <a:ext cx="320040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53035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RDE ROLLOFF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56235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6EB8"/>
                </a:solidFill>
                <a:latin typeface="Calibri"/>
              </a:defRPr>
            </a:pPr>
            <a:r>
              <a:t>6 engineers at Year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Cost Savings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B00"/>
                </a:solidFill>
                <a:latin typeface="Calibri"/>
              </a:defRPr>
            </a:pPr>
            <a:r>
              <a:t>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4A4A5A"/>
                </a:solidFill>
                <a:latin typeface="Calibri"/>
              </a:defRPr>
            </a:pPr>
            <a:r>
              <a:t>Avg fully-loaded engineer cost: $180,000/yr</a:t>
            </a:r>
          </a:p>
          <a:p>
            <a:pPr>
              <a:spcAft>
                <a:spcPts val="800"/>
              </a:spcAft>
              <a:defRPr sz="1200">
                <a:solidFill>
                  <a:srgbClr val="4A4A5A"/>
                </a:solidFill>
                <a:latin typeface="Calibri"/>
              </a:defRPr>
            </a:pPr>
            <a:r>
              <a:t>RDE engineer cost: $220,000/yr (specialist premium)</a:t>
            </a:r>
          </a:p>
          <a:p>
            <a:pPr>
              <a:spcAft>
                <a:spcPts val="800"/>
              </a:spcAft>
              <a:defRPr sz="1200">
                <a:solidFill>
                  <a:srgbClr val="4A4A5A"/>
                </a:solidFill>
                <a:latin typeface="Calibri"/>
              </a:defRPr>
            </a:pPr>
            <a:r>
              <a:t>Severance: ~$45,000 per engineer (3 months)</a:t>
            </a:r>
          </a:p>
          <a:p>
            <a:pPr>
              <a:spcAft>
                <a:spcPts val="800"/>
              </a:spcAft>
              <a:defRPr sz="1200">
                <a:solidFill>
                  <a:srgbClr val="4A4A5A"/>
                </a:solidFill>
                <a:latin typeface="Calibri"/>
              </a:defRPr>
            </a:pPr>
            <a:r>
              <a:t>Retraining cost: $15,000 per engineer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017520"/>
          <a:ext cx="90525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188720"/>
                <a:gridCol w="1828800"/>
                <a:gridCol w="1371600"/>
                <a:gridCol w="1371600"/>
                <a:gridCol w="164592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 Eng Cost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RDE Cost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Severance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Cost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$27.0M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$27.0M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90 Days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135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$24.3M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$1.32M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$0.68M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$26.8M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$18.9M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$1.32M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$1.35M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$21.9M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60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$10.8M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$1.32M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$2.03M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$14.4M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$8.1M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$0.68M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$8.8M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$6.5M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$0.41M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$6.9M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Steady State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$6.5M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$6.5M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0" y="1188720"/>
            <a:ext cx="256032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1A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YEAR 1 SAVINGS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9E56"/>
                </a:solidFill>
                <a:latin typeface="Calibri"/>
              </a:defRPr>
            </a:pPr>
            <a:r>
              <a:t>$12.6M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188720"/>
            <a:ext cx="2560320" cy="1005840"/>
          </a:xfrm>
          <a:prstGeom prst="roundRect">
            <a:avLst/>
          </a:prstGeom>
          <a:solidFill>
            <a:srgbClr val="E8E8F0"/>
          </a:solidFill>
          <a:ln w="25400">
            <a:solidFill>
              <a:srgbClr val="1A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280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6B7B"/>
                </a:solidFill>
                <a:latin typeface="Calibri"/>
              </a:defRPr>
            </a:pPr>
            <a:r>
              <a:t>CUMULATIVE BY YEAR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16002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9E56"/>
                </a:solidFill>
                <a:latin typeface="Calibri"/>
              </a:defRPr>
            </a:pPr>
            <a:r>
              <a:t>$50.9M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Cumulative Savings Trajectory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0584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74320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Period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Annual Cost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Savings vs Baseline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Cumulative Savings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$27.0M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$14.4M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$12.6M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$12.6M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2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$8.8M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$18.2M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$30.8M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3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$6.9M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$20.1M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$50.9M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Steady State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$6.5M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$20.5M/yr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Ongoing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4389120"/>
            <a:ext cx="8229600" cy="347472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38360" y="43891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libri"/>
              </a:defRPr>
            </a:pPr>
            <a:r>
              <a:t>$27.0M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3891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A4A5A"/>
                </a:solidFill>
                <a:latin typeface="Calibri"/>
              </a:defRPr>
            </a:pPr>
            <a:r>
              <a:t>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846320"/>
            <a:ext cx="4389120" cy="347472"/>
          </a:xfrm>
          <a:prstGeom prst="roundRect">
            <a:avLst/>
          </a:prstGeom>
          <a:solidFill>
            <a:srgbClr val="D4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80" y="4846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7B00"/>
                </a:solidFill>
                <a:latin typeface="Calibri"/>
              </a:defRPr>
            </a:pPr>
            <a:r>
              <a:t>$14.4M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846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A4A5A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303520"/>
            <a:ext cx="2682240" cy="347472"/>
          </a:xfrm>
          <a:prstGeom prst="round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1000" y="53035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EB8"/>
                </a:solidFill>
                <a:latin typeface="Calibri"/>
              </a:defRPr>
            </a:pPr>
            <a:r>
              <a:t>$8.8M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53035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A4A5A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760720"/>
            <a:ext cx="2103120" cy="347472"/>
          </a:xfrm>
          <a:prstGeom prst="roundRect">
            <a:avLst/>
          </a:prstGeom>
          <a:solidFill>
            <a:srgbClr val="1A9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5760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9E56"/>
                </a:solidFill>
                <a:latin typeface="Calibri"/>
              </a:defRPr>
            </a:pPr>
            <a:r>
              <a:t>$6.9M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760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A4A5A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6217920"/>
            <a:ext cx="1981199" cy="347472"/>
          </a:xfrm>
          <a:prstGeom prst="roundRect">
            <a:avLst/>
          </a:prstGeom>
          <a:solidFill>
            <a:srgbClr val="1A9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89960" y="62179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9E56"/>
                </a:solidFill>
                <a:latin typeface="Calibri"/>
              </a:defRPr>
            </a:pPr>
            <a:r>
              <a:t>$6.5M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2179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4A4A5A"/>
                </a:solidFill>
                <a:latin typeface="Calibri"/>
              </a:defRPr>
            </a:pPr>
            <a:r>
              <a:t>Steady State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RDE Engineer Engagement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6EB8"/>
                </a:solidFill>
                <a:latin typeface="Calibri"/>
              </a:defRPr>
            </a:pPr>
            <a:r>
              <a:t>6 RDE Engineers (2 per workstream) | Year 1 engagement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371600"/>
                <a:gridCol w="768096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RDE Focus Areas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Assessment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Weeks 1-6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Assess tooling, workflows, capabilities; design agentic architecture; identify quick wins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Build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90 Days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Deploy foundational AI/ML pipelines; set up prompt engineering frameworks; begin knowledge transfer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Scale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Month 6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Scale agentic workflows across workstreams; coach retrained staff; optimize models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Handover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Year 1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Complete documentation; validate team self-sufficiency; roll off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480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7B00"/>
                </a:solidFill>
                <a:latin typeface="Calibri"/>
              </a:defRPr>
            </a:pPr>
            <a:r>
              <a:t>RDE Rolloff Criteria (must be met before departure)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4A4A5A"/>
                </a:solidFill>
                <a:latin typeface="Calibri"/>
              </a:defRPr>
            </a:pPr>
            <a:r>
              <a:t>1. All core agentic pipelines are operational and documented</a:t>
            </a:r>
          </a:p>
          <a:p>
            <a:pPr>
              <a:spcAft>
                <a:spcPts val="800"/>
              </a:spcAft>
              <a:defRPr sz="1400">
                <a:solidFill>
                  <a:srgbClr val="4A4A5A"/>
                </a:solidFill>
                <a:latin typeface="Calibri"/>
              </a:defRPr>
            </a:pPr>
            <a:r>
              <a:t>2. At least 2 retrained team members can independently maintain each pipeline</a:t>
            </a:r>
          </a:p>
          <a:p>
            <a:pPr>
              <a:spcAft>
                <a:spcPts val="800"/>
              </a:spcAft>
              <a:defRPr sz="1400">
                <a:solidFill>
                  <a:srgbClr val="4A4A5A"/>
                </a:solidFill>
                <a:latin typeface="Calibri"/>
              </a:defRPr>
            </a:pPr>
            <a:r>
              <a:t>3. Monitoring and alerting in place for AI/ML model performance</a:t>
            </a:r>
          </a:p>
          <a:p>
            <a:pPr>
              <a:spcAft>
                <a:spcPts val="800"/>
              </a:spcAft>
              <a:defRPr sz="1400">
                <a:solidFill>
                  <a:srgbClr val="4A4A5A"/>
                </a:solidFill>
                <a:latin typeface="Calibri"/>
              </a:defRPr>
            </a:pPr>
            <a:r>
              <a:t>4. Knowledge base and runbooks are complete</a:t>
            </a:r>
          </a:p>
          <a:p>
            <a:pPr>
              <a:spcAft>
                <a:spcPts val="800"/>
              </a:spcAft>
              <a:defRPr sz="1400">
                <a:solidFill>
                  <a:srgbClr val="4A4A5A"/>
                </a:solidFill>
                <a:latin typeface="Calibri"/>
              </a:defRPr>
            </a:pPr>
            <a:r>
              <a:t>5. Team achieves 50% efficiency benchmark independently for 30 consecutive days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Risk Mitigation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71600"/>
                <a:gridCol w="1097280"/>
                <a:gridCol w="548640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Likelihood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</a:t>
                      </a:r>
                    </a:p>
                  </a:txBody>
                  <a:tcPr anchor="ctr">
                    <a:solidFill>
                      <a:srgbClr val="006EB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Key talent leaves before retraining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Retention bonuses; early identification of critical staff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Agentic tooling underperforms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Phased rollout with go/no-go gates; fallback to hybrid model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Morale drops from layoff uncertainty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Transparent comms; early severance announcements; mobility program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RDE knowledge transfer incomplete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Documented rolloff criteria; option to extend RDE by 3 months</a:t>
                      </a:r>
                    </a:p>
                  </a:txBody>
                  <a:tcPr anchor="ctr">
                    <a:solidFill>
                      <a:srgbClr val="EBEBF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Regulatory/compliance issues with AI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A"/>
                          </a:solidFill>
                          <a:latin typeface="Calibri"/>
                        </a:defRPr>
                      </a:pPr>
                      <a:r>
                        <a:t>Legal review at each phase; human-in-the-loop for regulated work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3A"/>
                </a:solidFill>
                <a:latin typeface="Calibri"/>
              </a:defRPr>
            </a:pPr>
            <a:r>
              <a:t>Transformation Timeline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8100"/>
          </a:xfrm>
          <a:prstGeom prst="rect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560320"/>
            <a:ext cx="9418320" cy="38100"/>
          </a:xfrm>
          <a:prstGeom prst="rect">
            <a:avLst/>
          </a:prstGeom>
          <a:solidFill>
            <a:srgbClr val="6B6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00200" y="2450591"/>
            <a:ext cx="274320" cy="274320"/>
          </a:xfrm>
          <a:prstGeom prst="ellipse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EB8"/>
                </a:solidFill>
                <a:latin typeface="Calibri"/>
              </a:defRPr>
            </a:pPr>
            <a:r>
              <a:t>Weeks 1-6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Calibri"/>
              </a:defRPr>
            </a:pPr>
            <a:r>
              <a:t>Kickoff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17520"/>
            <a:ext cx="1371600" cy="1280160"/>
          </a:xfrm>
          <a:prstGeom prst="roundRect">
            <a:avLst/>
          </a:prstGeom>
          <a:solidFill>
            <a:srgbClr val="E8E8F0"/>
          </a:solidFill>
          <a:ln w="1905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3A"/>
                </a:solidFill>
                <a:latin typeface="Calibri"/>
              </a:defRPr>
            </a:pPr>
            <a:r>
              <a:t>150 eng</a:t>
            </a:r>
            <a:br/>
            <a:r>
              <a:t>28,288 hrs</a:t>
            </a:r>
            <a:br/>
            <a:r>
              <a:t>0% eff</a:t>
            </a:r>
            <a:br/>
            <a:r>
              <a:t>+6 RDE</a:t>
            </a:r>
          </a:p>
        </p:txBody>
      </p:sp>
      <p:sp>
        <p:nvSpPr>
          <p:cNvPr id="10" name="Oval 9"/>
          <p:cNvSpPr/>
          <p:nvPr/>
        </p:nvSpPr>
        <p:spPr>
          <a:xfrm>
            <a:off x="3337559" y="2450591"/>
            <a:ext cx="274320" cy="274320"/>
          </a:xfrm>
          <a:prstGeom prst="ellipse">
            <a:avLst/>
          </a:prstGeom>
          <a:solidFill>
            <a:srgbClr val="006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39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EB8"/>
                </a:solidFill>
                <a:latin typeface="Calibri"/>
              </a:defRPr>
            </a:pPr>
            <a:r>
              <a:t>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39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3017520"/>
            <a:ext cx="1371600" cy="1280160"/>
          </a:xfrm>
          <a:prstGeom prst="roundRect">
            <a:avLst/>
          </a:prstGeom>
          <a:solidFill>
            <a:srgbClr val="E8E8F0"/>
          </a:solidFill>
          <a:ln w="19050">
            <a:solidFill>
              <a:srgbClr val="00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30632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3A"/>
                </a:solidFill>
                <a:latin typeface="Calibri"/>
              </a:defRPr>
            </a:pPr>
            <a:r>
              <a:t>135 eng</a:t>
            </a:r>
            <a:br/>
            <a:r>
              <a:t>25,459 hrs</a:t>
            </a:r>
            <a:br/>
            <a:r>
              <a:t>10% eff</a:t>
            </a:r>
            <a:br/>
            <a:r>
              <a:t>+6 RDE</a:t>
            </a:r>
          </a:p>
        </p:txBody>
      </p:sp>
      <p:sp>
        <p:nvSpPr>
          <p:cNvPr id="15" name="Oval 14"/>
          <p:cNvSpPr/>
          <p:nvPr/>
        </p:nvSpPr>
        <p:spPr>
          <a:xfrm>
            <a:off x="5074920" y="2450591"/>
            <a:ext cx="274320" cy="274320"/>
          </a:xfrm>
          <a:prstGeom prst="ellipse">
            <a:avLst/>
          </a:prstGeom>
          <a:solidFill>
            <a:srgbClr val="D4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7B00"/>
                </a:solidFill>
                <a:latin typeface="Calibri"/>
              </a:defRPr>
            </a:pPr>
            <a:r>
              <a:t>Month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Calibri"/>
              </a:defRPr>
            </a:pPr>
            <a:r>
              <a:t>Early Adoption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017520"/>
            <a:ext cx="1371600" cy="1280160"/>
          </a:xfrm>
          <a:prstGeom prst="roundRect">
            <a:avLst/>
          </a:prstGeom>
          <a:solidFill>
            <a:srgbClr val="E8E8F0"/>
          </a:solidFill>
          <a:ln w="19050">
            <a:solidFill>
              <a:srgbClr val="D47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30632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3A"/>
                </a:solidFill>
                <a:latin typeface="Calibri"/>
              </a:defRPr>
            </a:pPr>
            <a:r>
              <a:t>120 eng</a:t>
            </a:r>
            <a:br/>
            <a:r>
              <a:t>22,630 hrs</a:t>
            </a:r>
            <a:br/>
            <a:r>
              <a:t>20% eff</a:t>
            </a:r>
            <a:br/>
            <a:r>
              <a:t>+6 RDE</a:t>
            </a:r>
          </a:p>
        </p:txBody>
      </p:sp>
      <p:sp>
        <p:nvSpPr>
          <p:cNvPr id="20" name="Oval 19"/>
          <p:cNvSpPr/>
          <p:nvPr/>
        </p:nvSpPr>
        <p:spPr>
          <a:xfrm>
            <a:off x="6812279" y="2450591"/>
            <a:ext cx="274320" cy="274320"/>
          </a:xfrm>
          <a:prstGeom prst="ellipse">
            <a:avLst/>
          </a:prstGeom>
          <a:solidFill>
            <a:srgbClr val="1A9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9E56"/>
                </a:solidFill>
                <a:latin typeface="Calibri"/>
              </a:defRPr>
            </a:pPr>
            <a:r>
              <a:t>Year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Calibri"/>
              </a:defRPr>
            </a:pPr>
            <a:r>
              <a:t>Maturity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59" y="3017520"/>
            <a:ext cx="1371600" cy="1280160"/>
          </a:xfrm>
          <a:prstGeom prst="roundRect">
            <a:avLst/>
          </a:prstGeom>
          <a:solidFill>
            <a:srgbClr val="E8E8F0"/>
          </a:solidFill>
          <a:ln w="19050">
            <a:solidFill>
              <a:srgbClr val="1A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799" y="30632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3A"/>
                </a:solidFill>
                <a:latin typeface="Calibri"/>
              </a:defRPr>
            </a:pPr>
            <a:r>
              <a:t>76 eng</a:t>
            </a:r>
            <a:br/>
            <a:r>
              <a:t>14,144 hrs</a:t>
            </a:r>
            <a:br/>
            <a:r>
              <a:t>50% eff</a:t>
            </a:r>
            <a:br/>
            <a:r>
              <a:t>RDE off</a:t>
            </a:r>
          </a:p>
        </p:txBody>
      </p:sp>
      <p:sp>
        <p:nvSpPr>
          <p:cNvPr id="25" name="Oval 24"/>
          <p:cNvSpPr/>
          <p:nvPr/>
        </p:nvSpPr>
        <p:spPr>
          <a:xfrm>
            <a:off x="8549640" y="2450591"/>
            <a:ext cx="274320" cy="274320"/>
          </a:xfrm>
          <a:prstGeom prst="ellipse">
            <a:avLst/>
          </a:prstGeom>
          <a:solidFill>
            <a:srgbClr val="1A9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9E56"/>
                </a:solidFill>
                <a:latin typeface="Calibri"/>
              </a:defRPr>
            </a:pPr>
            <a:r>
              <a:t>Year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Calibri"/>
              </a:defRPr>
            </a:pPr>
            <a:r>
              <a:t>Optimization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017520"/>
            <a:ext cx="1371600" cy="1280160"/>
          </a:xfrm>
          <a:prstGeom prst="roundRect">
            <a:avLst/>
          </a:prstGeom>
          <a:solidFill>
            <a:srgbClr val="E8E8F0"/>
          </a:solidFill>
          <a:ln w="19050">
            <a:solidFill>
              <a:srgbClr val="1A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9" y="30632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3A"/>
                </a:solidFill>
                <a:latin typeface="Calibri"/>
              </a:defRPr>
            </a:pPr>
            <a:r>
              <a:t>62 eng</a:t>
            </a:r>
            <a:br/>
            <a:r>
              <a:t>11,315 hrs</a:t>
            </a:r>
            <a:br/>
            <a:r>
              <a:t>60% eff</a:t>
            </a:r>
          </a:p>
        </p:txBody>
      </p:sp>
      <p:sp>
        <p:nvSpPr>
          <p:cNvPr id="30" name="Oval 29"/>
          <p:cNvSpPr/>
          <p:nvPr/>
        </p:nvSpPr>
        <p:spPr>
          <a:xfrm>
            <a:off x="10287000" y="2450591"/>
            <a:ext cx="274320" cy="274320"/>
          </a:xfrm>
          <a:prstGeom prst="ellipse">
            <a:avLst/>
          </a:prstGeom>
          <a:solidFill>
            <a:srgbClr val="1A9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9E56"/>
                </a:solidFill>
                <a:latin typeface="Calibri"/>
              </a:defRPr>
            </a:pPr>
            <a:r>
              <a:t>Year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011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6B7B"/>
                </a:solidFill>
                <a:latin typeface="Calibri"/>
              </a:defRPr>
            </a:pPr>
            <a:r>
              <a:t>Steady State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84080" y="3017520"/>
            <a:ext cx="1371600" cy="1280160"/>
          </a:xfrm>
          <a:prstGeom prst="roundRect">
            <a:avLst/>
          </a:prstGeom>
          <a:solidFill>
            <a:srgbClr val="E8E8F0"/>
          </a:solidFill>
          <a:ln w="19050">
            <a:solidFill>
              <a:srgbClr val="1A9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19" y="3063240"/>
            <a:ext cx="1188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D2D3A"/>
                </a:solidFill>
                <a:latin typeface="Calibri"/>
              </a:defRPr>
            </a:pPr>
            <a:r>
              <a:t>50 eng</a:t>
            </a:r>
            <a:br/>
            <a:r>
              <a:t>8,486 hrs</a:t>
            </a:r>
            <a:br/>
            <a:r>
              <a:t>70% eff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D2D3A"/>
                </a:solidFill>
                <a:latin typeface="Calibri"/>
              </a:defRPr>
            </a:pPr>
            <a:r>
              <a:t>Key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9E56"/>
                </a:solidFill>
                <a:latin typeface="Calibri"/>
              </a:defRPr>
            </a:pPr>
            <a:r>
              <a:t>76% headcount reduction (150 &gt; 36)  |  70% efficiency gains  |  28,288 hrs &gt; 8,486 hrs  |  $20.5M annual savings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