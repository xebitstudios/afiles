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Liter" charset="-122" pitchFamily="34"/>
      <p:regular r:id="rId19"/>
    </p:embeddedFont>
    <p:embeddedFont>
      <p:font typeface="Oranienbaum" charset="-122" pitchFamily="34"/>
      <p:regular r:id="rId20"/>
    </p:embeddedFont>
    <p:embeddedFont>
      <p:font typeface="Unna" charset="-122" pitchFamily="34"/>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pic>
        <p:nvPicPr>
          <p:cNvPr id="2" name="Image 0" descr="https://kimi-web-img.moonshot.cn/img/cdn-ilcoipf.nitrocdn.com/f0a366afc2117f157e560d00b9a59d3a991bf97d.jpg">    </p:cNvPr>
          <p:cNvPicPr>
            <a:picLocks noChangeAspect="1"/>
          </p:cNvPicPr>
          <p:nvPr/>
        </p:nvPicPr>
        <p:blipFill>
          <a:blip r:embed="rId1"/>
          <a:srcRect l="0" r="0" t="7813" b="78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4A5D52">
                  <a:alpha val="95000"/>
                </a:srgbClr>
              </a:gs>
              <a:gs pos="50000">
                <a:srgbClr val="4A5D52">
                  <a:alpha val="85000"/>
                </a:srgbClr>
              </a:gs>
              <a:gs pos="100000">
                <a:srgbClr val="000000">
                  <a:alpha val="0"/>
                </a:srgbClr>
              </a:gs>
            </a:gsLst>
            <a:lin ang="0" scaled="1"/>
          </a:gradFill>
          <a:ln/>
        </p:spPr>
      </p:sp>
      <p:sp>
        <p:nvSpPr>
          <p:cNvPr id="4" name="Shape 1"/>
          <p:cNvSpPr/>
          <p:nvPr/>
        </p:nvSpPr>
        <p:spPr>
          <a:xfrm>
            <a:off x="381000" y="1343025"/>
            <a:ext cx="2752725" cy="381000"/>
          </a:xfrm>
          <a:custGeom>
            <a:avLst/>
            <a:gdLst/>
            <a:ahLst/>
            <a:cxnLst/>
            <a:rect l="l" t="t" r="r" b="b"/>
            <a:pathLst>
              <a:path w="2752725" h="381000">
                <a:moveTo>
                  <a:pt x="0" y="0"/>
                </a:moveTo>
                <a:lnTo>
                  <a:pt x="2752725" y="0"/>
                </a:lnTo>
                <a:lnTo>
                  <a:pt x="2752725" y="381000"/>
                </a:lnTo>
                <a:lnTo>
                  <a:pt x="0" y="381000"/>
                </a:lnTo>
                <a:lnTo>
                  <a:pt x="0" y="0"/>
                </a:lnTo>
                <a:close/>
              </a:path>
            </a:pathLst>
          </a:custGeom>
          <a:solidFill>
            <a:srgbClr val="D4A056"/>
          </a:solidFill>
          <a:ln/>
        </p:spPr>
      </p:sp>
      <p:sp>
        <p:nvSpPr>
          <p:cNvPr id="5" name="Text 2"/>
          <p:cNvSpPr/>
          <p:nvPr/>
        </p:nvSpPr>
        <p:spPr>
          <a:xfrm>
            <a:off x="571500" y="1419225"/>
            <a:ext cx="2447925" cy="228600"/>
          </a:xfrm>
          <a:prstGeom prst="rect">
            <a:avLst/>
          </a:prstGeom>
          <a:noFill/>
          <a:ln/>
        </p:spPr>
        <p:txBody>
          <a:bodyPr wrap="square" lIns="0" tIns="0" rIns="0" bIns="0" rtlCol="0" anchor="ctr"/>
          <a:lstStyle/>
          <a:p>
            <a:pPr>
              <a:lnSpc>
                <a:spcPct val="130000"/>
              </a:lnSpc>
            </a:pPr>
            <a:r>
              <a:rPr lang="en-US" sz="1200" b="1" spc="120" kern="0" dirty="0">
                <a:solidFill>
                  <a:srgbClr val="2C3531"/>
                </a:solidFill>
                <a:latin typeface="Liter" pitchFamily="34" charset="0"/>
                <a:ea typeface="Liter" pitchFamily="34" charset="-122"/>
                <a:cs typeface="Liter" pitchFamily="34" charset="-120"/>
              </a:rPr>
              <a:t>Employment Agreement</a:t>
            </a:r>
            <a:endParaRPr lang="en-US" sz="1600" dirty="0"/>
          </a:p>
        </p:txBody>
      </p:sp>
      <p:sp>
        <p:nvSpPr>
          <p:cNvPr id="6" name="Text 3"/>
          <p:cNvSpPr/>
          <p:nvPr/>
        </p:nvSpPr>
        <p:spPr>
          <a:xfrm>
            <a:off x="381000" y="1952625"/>
            <a:ext cx="7010400" cy="1714500"/>
          </a:xfrm>
          <a:prstGeom prst="rect">
            <a:avLst/>
          </a:prstGeom>
          <a:noFill/>
          <a:ln/>
        </p:spPr>
        <p:txBody>
          <a:bodyPr wrap="square" lIns="0" tIns="0" rIns="0" bIns="0" rtlCol="0" anchor="ctr"/>
          <a:lstStyle/>
          <a:p>
            <a:pPr>
              <a:lnSpc>
                <a:spcPct val="100000"/>
              </a:lnSpc>
            </a:pPr>
            <a:r>
              <a:rPr lang="en-US" sz="5400" b="1" dirty="0">
                <a:solidFill>
                  <a:srgbClr val="F8F7F2"/>
                </a:solidFill>
                <a:latin typeface="Oranienbaum" pitchFamily="34" charset="0"/>
                <a:ea typeface="Oranienbaum" pitchFamily="34" charset="-122"/>
                <a:cs typeface="Oranienbaum" pitchFamily="34" charset="-120"/>
              </a:rPr>
              <a:t>Greenhouse</a:t>
            </a:r>
            <a:endParaRPr lang="en-US" sz="1600" dirty="0"/>
          </a:p>
          <a:p>
            <a:pPr>
              <a:lnSpc>
                <a:spcPct val="100000"/>
              </a:lnSpc>
            </a:pPr>
            <a:r>
              <a:rPr lang="en-US" sz="5400" b="1" dirty="0">
                <a:solidFill>
                  <a:srgbClr val="F8F7F2"/>
                </a:solidFill>
                <a:latin typeface="Oranienbaum" pitchFamily="34" charset="0"/>
                <a:ea typeface="Oranienbaum" pitchFamily="34" charset="-122"/>
                <a:cs typeface="Oranienbaum" pitchFamily="34" charset="-120"/>
              </a:rPr>
              <a:t>Worker Contract</a:t>
            </a:r>
            <a:endParaRPr lang="en-US" sz="1600" dirty="0"/>
          </a:p>
        </p:txBody>
      </p:sp>
      <p:sp>
        <p:nvSpPr>
          <p:cNvPr id="7" name="Shape 4"/>
          <p:cNvSpPr/>
          <p:nvPr/>
        </p:nvSpPr>
        <p:spPr>
          <a:xfrm>
            <a:off x="381000" y="38957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D4A056"/>
          </a:solidFill>
          <a:ln/>
        </p:spPr>
      </p:sp>
      <p:sp>
        <p:nvSpPr>
          <p:cNvPr id="8" name="Text 5"/>
          <p:cNvSpPr/>
          <p:nvPr/>
        </p:nvSpPr>
        <p:spPr>
          <a:xfrm>
            <a:off x="381000" y="4162425"/>
            <a:ext cx="6781800" cy="742950"/>
          </a:xfrm>
          <a:prstGeom prst="rect">
            <a:avLst/>
          </a:prstGeom>
          <a:noFill/>
          <a:ln/>
        </p:spPr>
        <p:txBody>
          <a:bodyPr wrap="square" lIns="0" tIns="0" rIns="0" bIns="0" rtlCol="0" anchor="ctr"/>
          <a:lstStyle/>
          <a:p>
            <a:pPr>
              <a:lnSpc>
                <a:spcPct val="140000"/>
              </a:lnSpc>
            </a:pPr>
            <a:r>
              <a:rPr lang="en-US" sz="1800" dirty="0">
                <a:solidFill>
                  <a:srgbClr val="F8F7F2">
                    <a:alpha val="90000"/>
                  </a:srgbClr>
                </a:solidFill>
                <a:latin typeface="Liter" pitchFamily="34" charset="0"/>
                <a:ea typeface="Liter" pitchFamily="34" charset="-122"/>
                <a:cs typeface="Liter" pitchFamily="34" charset="-120"/>
              </a:rPr>
              <a:t>Habanero Growing Season</a:t>
            </a:r>
            <a:endParaRPr lang="en-US" sz="1600" dirty="0"/>
          </a:p>
          <a:p>
            <a:pPr>
              <a:lnSpc>
                <a:spcPct val="140000"/>
              </a:lnSpc>
            </a:pPr>
            <a:r>
              <a:rPr lang="en-US" sz="1800" dirty="0">
                <a:solidFill>
                  <a:srgbClr val="F8F7F2">
                    <a:alpha val="90000"/>
                  </a:srgbClr>
                </a:solidFill>
                <a:latin typeface="Liter" pitchFamily="34" charset="0"/>
                <a:ea typeface="Liter" pitchFamily="34" charset="-122"/>
                <a:cs typeface="Liter" pitchFamily="34" charset="-120"/>
              </a:rPr>
              <a:t>8-Month Employment Agreement</a:t>
            </a:r>
            <a:endParaRPr lang="en-US" sz="1600" dirty="0"/>
          </a:p>
        </p:txBody>
      </p:sp>
      <p:sp>
        <p:nvSpPr>
          <p:cNvPr id="9" name="Shape 6"/>
          <p:cNvSpPr/>
          <p:nvPr/>
        </p:nvSpPr>
        <p:spPr>
          <a:xfrm>
            <a:off x="409575" y="5248275"/>
            <a:ext cx="228600" cy="228600"/>
          </a:xfrm>
          <a:custGeom>
            <a:avLst/>
            <a:gdLst/>
            <a:ahLst/>
            <a:cxnLst/>
            <a:rect l="l" t="t" r="r" b="b"/>
            <a:pathLst>
              <a:path w="228600" h="228600">
                <a:moveTo>
                  <a:pt x="228600" y="14288"/>
                </a:moveTo>
                <a:cubicBezTo>
                  <a:pt x="228600" y="62552"/>
                  <a:pt x="194399" y="102825"/>
                  <a:pt x="148947" y="112246"/>
                </a:cubicBezTo>
                <a:cubicBezTo>
                  <a:pt x="145420" y="86305"/>
                  <a:pt x="133767" y="62954"/>
                  <a:pt x="116577" y="44872"/>
                </a:cubicBezTo>
                <a:cubicBezTo>
                  <a:pt x="134481" y="17859"/>
                  <a:pt x="165155" y="0"/>
                  <a:pt x="200025" y="0"/>
                </a:cubicBezTo>
                <a:lnTo>
                  <a:pt x="214313" y="0"/>
                </a:lnTo>
                <a:cubicBezTo>
                  <a:pt x="222215" y="0"/>
                  <a:pt x="228600" y="6385"/>
                  <a:pt x="228600" y="14288"/>
                </a:cubicBezTo>
                <a:close/>
                <a:moveTo>
                  <a:pt x="0" y="42863"/>
                </a:moveTo>
                <a:cubicBezTo>
                  <a:pt x="0" y="34960"/>
                  <a:pt x="6385" y="28575"/>
                  <a:pt x="14288" y="28575"/>
                </a:cubicBezTo>
                <a:lnTo>
                  <a:pt x="28575" y="28575"/>
                </a:lnTo>
                <a:cubicBezTo>
                  <a:pt x="83805" y="28575"/>
                  <a:pt x="128588" y="73357"/>
                  <a:pt x="128588" y="128588"/>
                </a:cubicBezTo>
                <a:lnTo>
                  <a:pt x="128588" y="214313"/>
                </a:lnTo>
                <a:cubicBezTo>
                  <a:pt x="128588" y="222215"/>
                  <a:pt x="122203" y="228600"/>
                  <a:pt x="114300" y="228600"/>
                </a:cubicBezTo>
                <a:cubicBezTo>
                  <a:pt x="106397" y="228600"/>
                  <a:pt x="100013" y="222215"/>
                  <a:pt x="100013" y="214313"/>
                </a:cubicBezTo>
                <a:lnTo>
                  <a:pt x="100013" y="142875"/>
                </a:lnTo>
                <a:cubicBezTo>
                  <a:pt x="44782" y="142875"/>
                  <a:pt x="0" y="98093"/>
                  <a:pt x="0" y="42863"/>
                </a:cubicBezTo>
                <a:close/>
              </a:path>
            </a:pathLst>
          </a:custGeom>
          <a:solidFill>
            <a:srgbClr val="D4A056"/>
          </a:solidFill>
          <a:ln/>
        </p:spPr>
      </p:sp>
      <p:sp>
        <p:nvSpPr>
          <p:cNvPr id="10" name="Text 7"/>
          <p:cNvSpPr/>
          <p:nvPr/>
        </p:nvSpPr>
        <p:spPr>
          <a:xfrm>
            <a:off x="781050" y="5229225"/>
            <a:ext cx="1828800" cy="266700"/>
          </a:xfrm>
          <a:prstGeom prst="rect">
            <a:avLst/>
          </a:prstGeom>
          <a:noFill/>
          <a:ln/>
        </p:spPr>
        <p:txBody>
          <a:bodyPr wrap="square" lIns="0" tIns="0" rIns="0" bIns="0" rtlCol="0" anchor="ctr"/>
          <a:lstStyle/>
          <a:p>
            <a:pPr>
              <a:lnSpc>
                <a:spcPct val="130000"/>
              </a:lnSpc>
            </a:pPr>
            <a:r>
              <a:rPr lang="en-US" sz="1350" dirty="0">
                <a:solidFill>
                  <a:srgbClr val="F8F7F2">
                    <a:alpha val="80000"/>
                  </a:srgbClr>
                </a:solidFill>
                <a:latin typeface="Liter" pitchFamily="34" charset="0"/>
                <a:ea typeface="Liter" pitchFamily="34" charset="-122"/>
                <a:cs typeface="Liter" pitchFamily="34" charset="-120"/>
              </a:rPr>
              <a:t>Agricultural Operations</a:t>
            </a:r>
            <a:endParaRPr lang="en-US" sz="1600" dirty="0"/>
          </a:p>
        </p:txBody>
      </p:sp>
      <p:sp>
        <p:nvSpPr>
          <p:cNvPr id="11" name="Shape 8"/>
          <p:cNvSpPr/>
          <p:nvPr/>
        </p:nvSpPr>
        <p:spPr>
          <a:xfrm>
            <a:off x="2756446" y="5210175"/>
            <a:ext cx="9525" cy="304800"/>
          </a:xfrm>
          <a:custGeom>
            <a:avLst/>
            <a:gdLst/>
            <a:ahLst/>
            <a:cxnLst/>
            <a:rect l="l" t="t" r="r" b="b"/>
            <a:pathLst>
              <a:path w="9525" h="304800">
                <a:moveTo>
                  <a:pt x="0" y="0"/>
                </a:moveTo>
                <a:lnTo>
                  <a:pt x="9525" y="0"/>
                </a:lnTo>
                <a:lnTo>
                  <a:pt x="9525" y="304800"/>
                </a:lnTo>
                <a:lnTo>
                  <a:pt x="0" y="304800"/>
                </a:lnTo>
                <a:lnTo>
                  <a:pt x="0" y="0"/>
                </a:lnTo>
                <a:close/>
              </a:path>
            </a:pathLst>
          </a:custGeom>
          <a:solidFill>
            <a:srgbClr val="F8F7F2">
              <a:alpha val="30196"/>
            </a:srgbClr>
          </a:solidFill>
          <a:ln/>
        </p:spPr>
      </p:sp>
      <p:sp>
        <p:nvSpPr>
          <p:cNvPr id="12" name="Shape 9"/>
          <p:cNvSpPr/>
          <p:nvPr/>
        </p:nvSpPr>
        <p:spPr>
          <a:xfrm>
            <a:off x="3037433" y="5248275"/>
            <a:ext cx="200025" cy="228600"/>
          </a:xfrm>
          <a:custGeom>
            <a:avLst/>
            <a:gdLst/>
            <a:ahLst/>
            <a:cxnLst/>
            <a:rect l="l" t="t" r="r" b="b"/>
            <a:pathLst>
              <a:path w="200025" h="228600">
                <a:moveTo>
                  <a:pt x="57150" y="0"/>
                </a:moveTo>
                <a:cubicBezTo>
                  <a:pt x="65053" y="0"/>
                  <a:pt x="71438" y="6385"/>
                  <a:pt x="71438" y="14288"/>
                </a:cubicBezTo>
                <a:lnTo>
                  <a:pt x="71438" y="28575"/>
                </a:lnTo>
                <a:lnTo>
                  <a:pt x="128588" y="28575"/>
                </a:lnTo>
                <a:lnTo>
                  <a:pt x="128588" y="14288"/>
                </a:lnTo>
                <a:cubicBezTo>
                  <a:pt x="128588" y="6385"/>
                  <a:pt x="134972" y="0"/>
                  <a:pt x="142875" y="0"/>
                </a:cubicBezTo>
                <a:cubicBezTo>
                  <a:pt x="150778" y="0"/>
                  <a:pt x="157163" y="6385"/>
                  <a:pt x="157163" y="14288"/>
                </a:cubicBezTo>
                <a:lnTo>
                  <a:pt x="157163" y="28575"/>
                </a:lnTo>
                <a:lnTo>
                  <a:pt x="171450" y="28575"/>
                </a:lnTo>
                <a:cubicBezTo>
                  <a:pt x="187211" y="28575"/>
                  <a:pt x="200025" y="41389"/>
                  <a:pt x="200025" y="57150"/>
                </a:cubicBezTo>
                <a:lnTo>
                  <a:pt x="200025" y="185738"/>
                </a:lnTo>
                <a:cubicBezTo>
                  <a:pt x="200025" y="201498"/>
                  <a:pt x="187211" y="214313"/>
                  <a:pt x="171450" y="214313"/>
                </a:cubicBezTo>
                <a:lnTo>
                  <a:pt x="28575" y="214313"/>
                </a:lnTo>
                <a:cubicBezTo>
                  <a:pt x="12814" y="214313"/>
                  <a:pt x="0" y="201498"/>
                  <a:pt x="0" y="185738"/>
                </a:cubicBezTo>
                <a:lnTo>
                  <a:pt x="0" y="57150"/>
                </a:lnTo>
                <a:cubicBezTo>
                  <a:pt x="0" y="41389"/>
                  <a:pt x="12814" y="28575"/>
                  <a:pt x="28575" y="28575"/>
                </a:cubicBezTo>
                <a:lnTo>
                  <a:pt x="42863" y="28575"/>
                </a:lnTo>
                <a:lnTo>
                  <a:pt x="42863" y="14288"/>
                </a:lnTo>
                <a:cubicBezTo>
                  <a:pt x="42863" y="6385"/>
                  <a:pt x="49247" y="0"/>
                  <a:pt x="57150" y="0"/>
                </a:cubicBezTo>
                <a:close/>
                <a:moveTo>
                  <a:pt x="28575" y="107156"/>
                </a:moveTo>
                <a:lnTo>
                  <a:pt x="28575" y="121444"/>
                </a:lnTo>
                <a:cubicBezTo>
                  <a:pt x="28575" y="125373"/>
                  <a:pt x="31790" y="128588"/>
                  <a:pt x="35719" y="128588"/>
                </a:cubicBezTo>
                <a:lnTo>
                  <a:pt x="50006" y="128588"/>
                </a:lnTo>
                <a:cubicBezTo>
                  <a:pt x="53935" y="128588"/>
                  <a:pt x="57150" y="125373"/>
                  <a:pt x="57150" y="121444"/>
                </a:cubicBezTo>
                <a:lnTo>
                  <a:pt x="57150" y="107156"/>
                </a:lnTo>
                <a:cubicBezTo>
                  <a:pt x="57150" y="103227"/>
                  <a:pt x="53935" y="100013"/>
                  <a:pt x="50006" y="100013"/>
                </a:cubicBezTo>
                <a:lnTo>
                  <a:pt x="35719" y="100013"/>
                </a:lnTo>
                <a:cubicBezTo>
                  <a:pt x="31790" y="100013"/>
                  <a:pt x="28575" y="103227"/>
                  <a:pt x="28575" y="107156"/>
                </a:cubicBezTo>
                <a:close/>
                <a:moveTo>
                  <a:pt x="85725" y="107156"/>
                </a:moveTo>
                <a:lnTo>
                  <a:pt x="85725" y="121444"/>
                </a:lnTo>
                <a:cubicBezTo>
                  <a:pt x="85725" y="125373"/>
                  <a:pt x="88940" y="128588"/>
                  <a:pt x="92869" y="128588"/>
                </a:cubicBezTo>
                <a:lnTo>
                  <a:pt x="107156" y="128588"/>
                </a:lnTo>
                <a:cubicBezTo>
                  <a:pt x="111085" y="128588"/>
                  <a:pt x="114300" y="125373"/>
                  <a:pt x="114300" y="121444"/>
                </a:cubicBezTo>
                <a:lnTo>
                  <a:pt x="114300" y="107156"/>
                </a:lnTo>
                <a:cubicBezTo>
                  <a:pt x="114300" y="103227"/>
                  <a:pt x="111085" y="100013"/>
                  <a:pt x="107156" y="100013"/>
                </a:cubicBezTo>
                <a:lnTo>
                  <a:pt x="92869" y="100013"/>
                </a:lnTo>
                <a:cubicBezTo>
                  <a:pt x="88940" y="100013"/>
                  <a:pt x="85725" y="103227"/>
                  <a:pt x="85725" y="107156"/>
                </a:cubicBezTo>
                <a:close/>
                <a:moveTo>
                  <a:pt x="150019" y="100013"/>
                </a:moveTo>
                <a:cubicBezTo>
                  <a:pt x="146090" y="100013"/>
                  <a:pt x="142875" y="103227"/>
                  <a:pt x="142875" y="107156"/>
                </a:cubicBezTo>
                <a:lnTo>
                  <a:pt x="142875" y="121444"/>
                </a:lnTo>
                <a:cubicBezTo>
                  <a:pt x="142875" y="125373"/>
                  <a:pt x="146090" y="128588"/>
                  <a:pt x="150019" y="128588"/>
                </a:cubicBezTo>
                <a:lnTo>
                  <a:pt x="164306" y="128588"/>
                </a:lnTo>
                <a:cubicBezTo>
                  <a:pt x="168235" y="128588"/>
                  <a:pt x="171450" y="125373"/>
                  <a:pt x="171450" y="121444"/>
                </a:cubicBezTo>
                <a:lnTo>
                  <a:pt x="171450" y="107156"/>
                </a:lnTo>
                <a:cubicBezTo>
                  <a:pt x="171450" y="103227"/>
                  <a:pt x="168235" y="100013"/>
                  <a:pt x="164306" y="100013"/>
                </a:cubicBezTo>
                <a:lnTo>
                  <a:pt x="150019" y="100013"/>
                </a:lnTo>
                <a:close/>
                <a:moveTo>
                  <a:pt x="28575" y="164306"/>
                </a:moveTo>
                <a:lnTo>
                  <a:pt x="28575" y="178594"/>
                </a:lnTo>
                <a:cubicBezTo>
                  <a:pt x="28575" y="182523"/>
                  <a:pt x="31790" y="185738"/>
                  <a:pt x="35719" y="185738"/>
                </a:cubicBezTo>
                <a:lnTo>
                  <a:pt x="50006" y="185738"/>
                </a:lnTo>
                <a:cubicBezTo>
                  <a:pt x="53935" y="185738"/>
                  <a:pt x="57150" y="182523"/>
                  <a:pt x="57150" y="178594"/>
                </a:cubicBezTo>
                <a:lnTo>
                  <a:pt x="57150" y="164306"/>
                </a:lnTo>
                <a:cubicBezTo>
                  <a:pt x="57150" y="160377"/>
                  <a:pt x="53935" y="157163"/>
                  <a:pt x="50006" y="157163"/>
                </a:cubicBezTo>
                <a:lnTo>
                  <a:pt x="35719" y="157163"/>
                </a:lnTo>
                <a:cubicBezTo>
                  <a:pt x="31790" y="157163"/>
                  <a:pt x="28575" y="160377"/>
                  <a:pt x="28575" y="164306"/>
                </a:cubicBezTo>
                <a:close/>
                <a:moveTo>
                  <a:pt x="92869" y="157163"/>
                </a:moveTo>
                <a:cubicBezTo>
                  <a:pt x="88940" y="157163"/>
                  <a:pt x="85725" y="160377"/>
                  <a:pt x="85725" y="164306"/>
                </a:cubicBezTo>
                <a:lnTo>
                  <a:pt x="85725" y="178594"/>
                </a:lnTo>
                <a:cubicBezTo>
                  <a:pt x="85725" y="182523"/>
                  <a:pt x="88940" y="185738"/>
                  <a:pt x="92869" y="185738"/>
                </a:cubicBezTo>
                <a:lnTo>
                  <a:pt x="107156" y="185738"/>
                </a:lnTo>
                <a:cubicBezTo>
                  <a:pt x="111085" y="185738"/>
                  <a:pt x="114300" y="182523"/>
                  <a:pt x="114300" y="178594"/>
                </a:cubicBezTo>
                <a:lnTo>
                  <a:pt x="114300" y="164306"/>
                </a:lnTo>
                <a:cubicBezTo>
                  <a:pt x="114300" y="160377"/>
                  <a:pt x="111085" y="157163"/>
                  <a:pt x="107156" y="157163"/>
                </a:cubicBezTo>
                <a:lnTo>
                  <a:pt x="92869" y="157163"/>
                </a:lnTo>
                <a:close/>
                <a:moveTo>
                  <a:pt x="142875" y="164306"/>
                </a:moveTo>
                <a:lnTo>
                  <a:pt x="142875" y="178594"/>
                </a:lnTo>
                <a:cubicBezTo>
                  <a:pt x="142875" y="182523"/>
                  <a:pt x="146090" y="185738"/>
                  <a:pt x="150019" y="185738"/>
                </a:cubicBezTo>
                <a:lnTo>
                  <a:pt x="164306" y="185738"/>
                </a:lnTo>
                <a:cubicBezTo>
                  <a:pt x="168235" y="185738"/>
                  <a:pt x="171450" y="182523"/>
                  <a:pt x="171450" y="178594"/>
                </a:cubicBezTo>
                <a:lnTo>
                  <a:pt x="171450" y="164306"/>
                </a:lnTo>
                <a:cubicBezTo>
                  <a:pt x="171450" y="160377"/>
                  <a:pt x="168235" y="157163"/>
                  <a:pt x="164306" y="157163"/>
                </a:cubicBezTo>
                <a:lnTo>
                  <a:pt x="150019" y="157163"/>
                </a:lnTo>
                <a:cubicBezTo>
                  <a:pt x="146090" y="157163"/>
                  <a:pt x="142875" y="160377"/>
                  <a:pt x="142875" y="164306"/>
                </a:cubicBezTo>
                <a:close/>
              </a:path>
            </a:pathLst>
          </a:custGeom>
          <a:solidFill>
            <a:srgbClr val="D4A056"/>
          </a:solidFill>
          <a:ln/>
        </p:spPr>
      </p:sp>
      <p:sp>
        <p:nvSpPr>
          <p:cNvPr id="13" name="Text 10"/>
          <p:cNvSpPr/>
          <p:nvPr/>
        </p:nvSpPr>
        <p:spPr>
          <a:xfrm>
            <a:off x="3394621" y="5229225"/>
            <a:ext cx="1762125" cy="266700"/>
          </a:xfrm>
          <a:prstGeom prst="rect">
            <a:avLst/>
          </a:prstGeom>
          <a:noFill/>
          <a:ln/>
        </p:spPr>
        <p:txBody>
          <a:bodyPr wrap="square" lIns="0" tIns="0" rIns="0" bIns="0" rtlCol="0" anchor="ctr"/>
          <a:lstStyle/>
          <a:p>
            <a:pPr>
              <a:lnSpc>
                <a:spcPct val="130000"/>
              </a:lnSpc>
            </a:pPr>
            <a:r>
              <a:rPr lang="en-US" sz="1350" dirty="0">
                <a:solidFill>
                  <a:srgbClr val="F8F7F2">
                    <a:alpha val="80000"/>
                  </a:srgbClr>
                </a:solidFill>
                <a:latin typeface="Liter" pitchFamily="34" charset="0"/>
                <a:ea typeface="Liter" pitchFamily="34" charset="-122"/>
                <a:cs typeface="Liter" pitchFamily="34" charset="-120"/>
              </a:rPr>
              <a:t>Seasonal Employment</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81000" y="381000"/>
            <a:ext cx="3886200" cy="228600"/>
          </a:xfrm>
          <a:prstGeom prst="rect">
            <a:avLst/>
          </a:prstGeom>
          <a:noFill/>
          <a:ln/>
        </p:spPr>
        <p:txBody>
          <a:bodyPr wrap="square" lIns="0" tIns="0" rIns="0" bIns="0" rtlCol="0" anchor="ctr"/>
          <a:lstStyle/>
          <a:p>
            <a:pPr>
              <a:lnSpc>
                <a:spcPct val="130000"/>
              </a:lnSpc>
            </a:pPr>
            <a:r>
              <a:rPr lang="en-US" sz="1200" b="1" spc="120" kern="0" dirty="0">
                <a:solidFill>
                  <a:srgbClr val="A88B6A"/>
                </a:solidFill>
                <a:latin typeface="Liter" pitchFamily="34" charset="0"/>
                <a:ea typeface="Liter" pitchFamily="34" charset="-122"/>
                <a:cs typeface="Liter" pitchFamily="34" charset="-120"/>
              </a:rPr>
              <a:t>Navigation</a:t>
            </a:r>
            <a:endParaRPr lang="en-US" sz="1600" dirty="0"/>
          </a:p>
        </p:txBody>
      </p:sp>
      <p:sp>
        <p:nvSpPr>
          <p:cNvPr id="3" name="Text 1"/>
          <p:cNvSpPr/>
          <p:nvPr/>
        </p:nvSpPr>
        <p:spPr>
          <a:xfrm>
            <a:off x="381000" y="723900"/>
            <a:ext cx="4095750" cy="1428750"/>
          </a:xfrm>
          <a:prstGeom prst="rect">
            <a:avLst/>
          </a:prstGeom>
          <a:noFill/>
          <a:ln/>
        </p:spPr>
        <p:txBody>
          <a:bodyPr wrap="square" lIns="0" tIns="0" rIns="0" bIns="0" rtlCol="0" anchor="ctr"/>
          <a:lstStyle/>
          <a:p>
            <a:pPr>
              <a:lnSpc>
                <a:spcPct val="100000"/>
              </a:lnSpc>
            </a:pPr>
            <a:r>
              <a:rPr lang="en-US" sz="4500" b="1" dirty="0">
                <a:solidFill>
                  <a:srgbClr val="4A5D52"/>
                </a:solidFill>
                <a:latin typeface="Oranienbaum" pitchFamily="34" charset="0"/>
                <a:ea typeface="Oranienbaum" pitchFamily="34" charset="-122"/>
                <a:cs typeface="Oranienbaum" pitchFamily="34" charset="-120"/>
              </a:rPr>
              <a:t>Contract</a:t>
            </a:r>
            <a:endParaRPr lang="en-US" sz="1600" dirty="0"/>
          </a:p>
          <a:p>
            <a:pPr>
              <a:lnSpc>
                <a:spcPct val="100000"/>
              </a:lnSpc>
            </a:pPr>
            <a:r>
              <a:rPr lang="en-US" sz="4500" b="1" dirty="0">
                <a:solidFill>
                  <a:srgbClr val="4A5D5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381000" y="23812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4A056"/>
          </a:solidFill>
          <a:ln/>
        </p:spPr>
      </p:sp>
      <p:sp>
        <p:nvSpPr>
          <p:cNvPr id="5" name="Shape 3"/>
          <p:cNvSpPr/>
          <p:nvPr/>
        </p:nvSpPr>
        <p:spPr>
          <a:xfrm>
            <a:off x="381000" y="4152900"/>
            <a:ext cx="3810000" cy="2324100"/>
          </a:xfrm>
          <a:custGeom>
            <a:avLst/>
            <a:gdLst/>
            <a:ahLst/>
            <a:cxnLst/>
            <a:rect l="l" t="t" r="r" b="b"/>
            <a:pathLst>
              <a:path w="3810000" h="2324100">
                <a:moveTo>
                  <a:pt x="76207" y="0"/>
                </a:moveTo>
                <a:lnTo>
                  <a:pt x="3733793" y="0"/>
                </a:lnTo>
                <a:cubicBezTo>
                  <a:pt x="3775881" y="0"/>
                  <a:pt x="3810000" y="34119"/>
                  <a:pt x="3810000" y="76207"/>
                </a:cubicBezTo>
                <a:lnTo>
                  <a:pt x="3810000" y="2247893"/>
                </a:lnTo>
                <a:cubicBezTo>
                  <a:pt x="3810000" y="2289981"/>
                  <a:pt x="3775881" y="2324100"/>
                  <a:pt x="3733793" y="2324100"/>
                </a:cubicBezTo>
                <a:lnTo>
                  <a:pt x="76207" y="2324100"/>
                </a:lnTo>
                <a:cubicBezTo>
                  <a:pt x="34119" y="2324100"/>
                  <a:pt x="0" y="2289981"/>
                  <a:pt x="0" y="2247893"/>
                </a:cubicBezTo>
                <a:lnTo>
                  <a:pt x="0" y="76207"/>
                </a:lnTo>
                <a:cubicBezTo>
                  <a:pt x="0" y="34147"/>
                  <a:pt x="34147" y="0"/>
                  <a:pt x="76207" y="0"/>
                </a:cubicBezTo>
                <a:close/>
              </a:path>
            </a:pathLst>
          </a:custGeom>
          <a:solidFill>
            <a:srgbClr val="4A5D52"/>
          </a:solidFill>
          <a:ln/>
        </p:spPr>
      </p:sp>
      <p:sp>
        <p:nvSpPr>
          <p:cNvPr id="6" name="Shape 4"/>
          <p:cNvSpPr/>
          <p:nvPr/>
        </p:nvSpPr>
        <p:spPr>
          <a:xfrm>
            <a:off x="800100" y="4457700"/>
            <a:ext cx="342900" cy="457200"/>
          </a:xfrm>
          <a:custGeom>
            <a:avLst/>
            <a:gdLst/>
            <a:ahLst/>
            <a:cxnLst/>
            <a:rect l="l" t="t" r="r" b="b"/>
            <a:pathLst>
              <a:path w="342900" h="457200">
                <a:moveTo>
                  <a:pt x="0" y="57150"/>
                </a:moveTo>
                <a:cubicBezTo>
                  <a:pt x="0" y="25628"/>
                  <a:pt x="25628" y="0"/>
                  <a:pt x="57150" y="0"/>
                </a:cubicBezTo>
                <a:lnTo>
                  <a:pt x="190649" y="0"/>
                </a:lnTo>
                <a:cubicBezTo>
                  <a:pt x="205829" y="0"/>
                  <a:pt x="220385" y="5983"/>
                  <a:pt x="231100" y="16699"/>
                </a:cubicBezTo>
                <a:lnTo>
                  <a:pt x="326201" y="111889"/>
                </a:lnTo>
                <a:cubicBezTo>
                  <a:pt x="336917" y="122605"/>
                  <a:pt x="342900" y="137160"/>
                  <a:pt x="342900" y="152340"/>
                </a:cubicBezTo>
                <a:lnTo>
                  <a:pt x="342900" y="400050"/>
                </a:lnTo>
                <a:cubicBezTo>
                  <a:pt x="342900" y="431572"/>
                  <a:pt x="317272" y="457200"/>
                  <a:pt x="285750" y="457200"/>
                </a:cubicBezTo>
                <a:lnTo>
                  <a:pt x="57150" y="457200"/>
                </a:lnTo>
                <a:cubicBezTo>
                  <a:pt x="25628" y="457200"/>
                  <a:pt x="0" y="431572"/>
                  <a:pt x="0" y="400050"/>
                </a:cubicBezTo>
                <a:lnTo>
                  <a:pt x="0" y="57150"/>
                </a:lnTo>
                <a:close/>
                <a:moveTo>
                  <a:pt x="185738" y="52239"/>
                </a:moveTo>
                <a:lnTo>
                  <a:pt x="185738" y="135731"/>
                </a:lnTo>
                <a:cubicBezTo>
                  <a:pt x="185738" y="147608"/>
                  <a:pt x="195292" y="157163"/>
                  <a:pt x="207169" y="157163"/>
                </a:cubicBezTo>
                <a:lnTo>
                  <a:pt x="290661" y="157163"/>
                </a:lnTo>
                <a:lnTo>
                  <a:pt x="185738" y="52239"/>
                </a:lnTo>
                <a:close/>
                <a:moveTo>
                  <a:pt x="78581" y="57150"/>
                </a:moveTo>
                <a:cubicBezTo>
                  <a:pt x="66705" y="57150"/>
                  <a:pt x="57150" y="66705"/>
                  <a:pt x="57150" y="78581"/>
                </a:cubicBezTo>
                <a:cubicBezTo>
                  <a:pt x="57150" y="90458"/>
                  <a:pt x="66705" y="100013"/>
                  <a:pt x="78581" y="100013"/>
                </a:cubicBezTo>
                <a:lnTo>
                  <a:pt x="121444" y="100013"/>
                </a:lnTo>
                <a:cubicBezTo>
                  <a:pt x="133320" y="100013"/>
                  <a:pt x="142875" y="90458"/>
                  <a:pt x="142875" y="78581"/>
                </a:cubicBezTo>
                <a:cubicBezTo>
                  <a:pt x="142875" y="66705"/>
                  <a:pt x="133320" y="57150"/>
                  <a:pt x="121444" y="57150"/>
                </a:cubicBezTo>
                <a:lnTo>
                  <a:pt x="78581" y="57150"/>
                </a:lnTo>
                <a:close/>
                <a:moveTo>
                  <a:pt x="78581" y="142875"/>
                </a:moveTo>
                <a:cubicBezTo>
                  <a:pt x="66705" y="142875"/>
                  <a:pt x="57150" y="152430"/>
                  <a:pt x="57150" y="164306"/>
                </a:cubicBezTo>
                <a:cubicBezTo>
                  <a:pt x="57150" y="176183"/>
                  <a:pt x="66705" y="185738"/>
                  <a:pt x="78581" y="185738"/>
                </a:cubicBezTo>
                <a:lnTo>
                  <a:pt x="121444" y="185738"/>
                </a:lnTo>
                <a:cubicBezTo>
                  <a:pt x="133320" y="185738"/>
                  <a:pt x="142875" y="176183"/>
                  <a:pt x="142875" y="164306"/>
                </a:cubicBezTo>
                <a:cubicBezTo>
                  <a:pt x="142875" y="152430"/>
                  <a:pt x="133320" y="142875"/>
                  <a:pt x="121444" y="142875"/>
                </a:cubicBezTo>
                <a:lnTo>
                  <a:pt x="78581" y="142875"/>
                </a:lnTo>
                <a:close/>
                <a:moveTo>
                  <a:pt x="141357" y="285750"/>
                </a:moveTo>
                <a:cubicBezTo>
                  <a:pt x="131266" y="285750"/>
                  <a:pt x="121801" y="290304"/>
                  <a:pt x="115550" y="298162"/>
                </a:cubicBezTo>
                <a:lnTo>
                  <a:pt x="61883" y="365224"/>
                </a:lnTo>
                <a:cubicBezTo>
                  <a:pt x="54471" y="374422"/>
                  <a:pt x="55989" y="387995"/>
                  <a:pt x="65187" y="395317"/>
                </a:cubicBezTo>
                <a:cubicBezTo>
                  <a:pt x="74384" y="402640"/>
                  <a:pt x="87957" y="401211"/>
                  <a:pt x="95280" y="391924"/>
                </a:cubicBezTo>
                <a:lnTo>
                  <a:pt x="137339" y="339417"/>
                </a:lnTo>
                <a:lnTo>
                  <a:pt x="150912" y="384691"/>
                </a:lnTo>
                <a:cubicBezTo>
                  <a:pt x="153591" y="393799"/>
                  <a:pt x="161985" y="399961"/>
                  <a:pt x="171450" y="399961"/>
                </a:cubicBezTo>
                <a:lnTo>
                  <a:pt x="264319" y="399961"/>
                </a:lnTo>
                <a:cubicBezTo>
                  <a:pt x="276195" y="399961"/>
                  <a:pt x="285750" y="390406"/>
                  <a:pt x="285750" y="378529"/>
                </a:cubicBezTo>
                <a:cubicBezTo>
                  <a:pt x="285750" y="366653"/>
                  <a:pt x="276195" y="357098"/>
                  <a:pt x="264319" y="357098"/>
                </a:cubicBezTo>
                <a:lnTo>
                  <a:pt x="187434" y="357098"/>
                </a:lnTo>
                <a:lnTo>
                  <a:pt x="173057" y="309235"/>
                </a:lnTo>
                <a:cubicBezTo>
                  <a:pt x="168860" y="295215"/>
                  <a:pt x="156002" y="285661"/>
                  <a:pt x="141357" y="285661"/>
                </a:cubicBezTo>
                <a:close/>
              </a:path>
            </a:pathLst>
          </a:custGeom>
          <a:solidFill>
            <a:srgbClr val="D4A056"/>
          </a:solidFill>
          <a:ln/>
        </p:spPr>
      </p:sp>
      <p:sp>
        <p:nvSpPr>
          <p:cNvPr id="7" name="Text 5"/>
          <p:cNvSpPr/>
          <p:nvPr/>
        </p:nvSpPr>
        <p:spPr>
          <a:xfrm>
            <a:off x="685800" y="5067300"/>
            <a:ext cx="3286125" cy="1104900"/>
          </a:xfrm>
          <a:prstGeom prst="rect">
            <a:avLst/>
          </a:prstGeom>
          <a:noFill/>
          <a:ln/>
        </p:spPr>
        <p:txBody>
          <a:bodyPr wrap="square" lIns="0" tIns="0" rIns="0" bIns="0" rtlCol="0" anchor="ctr"/>
          <a:lstStyle/>
          <a:p>
            <a:pPr>
              <a:lnSpc>
                <a:spcPct val="140000"/>
              </a:lnSpc>
            </a:pPr>
            <a:r>
              <a:rPr lang="en-US" sz="1350" dirty="0">
                <a:solidFill>
                  <a:srgbClr val="F8F7F2">
                    <a:alpha val="90000"/>
                  </a:srgbClr>
                </a:solidFill>
                <a:latin typeface="Liter" pitchFamily="34" charset="0"/>
                <a:ea typeface="Liter" pitchFamily="34" charset="-122"/>
                <a:cs typeface="Liter" pitchFamily="34" charset="-120"/>
              </a:rPr>
              <a:t>This comprehensive contract outlines all terms, responsibilities, and conditions of employment for the 8-month Habanero growing season.</a:t>
            </a:r>
            <a:endParaRPr lang="en-US" sz="1600" dirty="0"/>
          </a:p>
        </p:txBody>
      </p:sp>
      <p:sp>
        <p:nvSpPr>
          <p:cNvPr id="8" name="Shape 6"/>
          <p:cNvSpPr/>
          <p:nvPr/>
        </p:nvSpPr>
        <p:spPr>
          <a:xfrm>
            <a:off x="4591050" y="381000"/>
            <a:ext cx="3505200" cy="1819275"/>
          </a:xfrm>
          <a:custGeom>
            <a:avLst/>
            <a:gdLst/>
            <a:ahLst/>
            <a:cxnLst/>
            <a:rect l="l" t="t" r="r" b="b"/>
            <a:pathLst>
              <a:path w="3505200" h="1819275">
                <a:moveTo>
                  <a:pt x="38100" y="0"/>
                </a:moveTo>
                <a:lnTo>
                  <a:pt x="3429009" y="0"/>
                </a:lnTo>
                <a:cubicBezTo>
                  <a:pt x="3471088" y="0"/>
                  <a:pt x="3505200" y="34112"/>
                  <a:pt x="3505200" y="76191"/>
                </a:cubicBezTo>
                <a:lnTo>
                  <a:pt x="3505200" y="1743084"/>
                </a:lnTo>
                <a:cubicBezTo>
                  <a:pt x="3505200" y="1785163"/>
                  <a:pt x="3471088" y="1819275"/>
                  <a:pt x="3429009" y="1819275"/>
                </a:cubicBezTo>
                <a:lnTo>
                  <a:pt x="38100" y="1819275"/>
                </a:lnTo>
                <a:cubicBezTo>
                  <a:pt x="17058" y="1819275"/>
                  <a:pt x="0" y="1802217"/>
                  <a:pt x="0" y="1781175"/>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9" name="Shape 7"/>
          <p:cNvSpPr/>
          <p:nvPr/>
        </p:nvSpPr>
        <p:spPr>
          <a:xfrm>
            <a:off x="4591050" y="381000"/>
            <a:ext cx="38100" cy="1819275"/>
          </a:xfrm>
          <a:custGeom>
            <a:avLst/>
            <a:gdLst/>
            <a:ahLst/>
            <a:cxnLst/>
            <a:rect l="l" t="t" r="r" b="b"/>
            <a:pathLst>
              <a:path w="38100" h="1819275">
                <a:moveTo>
                  <a:pt x="38100" y="0"/>
                </a:moveTo>
                <a:lnTo>
                  <a:pt x="38100" y="0"/>
                </a:lnTo>
                <a:lnTo>
                  <a:pt x="38100" y="1819275"/>
                </a:lnTo>
                <a:lnTo>
                  <a:pt x="38100" y="1819275"/>
                </a:lnTo>
                <a:cubicBezTo>
                  <a:pt x="17072" y="1819275"/>
                  <a:pt x="0" y="1802203"/>
                  <a:pt x="0" y="1781175"/>
                </a:cubicBezTo>
                <a:lnTo>
                  <a:pt x="0" y="38100"/>
                </a:lnTo>
                <a:cubicBezTo>
                  <a:pt x="0" y="17072"/>
                  <a:pt x="17072" y="0"/>
                  <a:pt x="38100" y="0"/>
                </a:cubicBezTo>
                <a:close/>
              </a:path>
            </a:pathLst>
          </a:custGeom>
          <a:solidFill>
            <a:srgbClr val="4A5D52"/>
          </a:solidFill>
          <a:ln/>
        </p:spPr>
      </p:sp>
      <p:sp>
        <p:nvSpPr>
          <p:cNvPr id="10" name="Shape 8"/>
          <p:cNvSpPr/>
          <p:nvPr/>
        </p:nvSpPr>
        <p:spPr>
          <a:xfrm>
            <a:off x="4838700" y="7556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5D52"/>
          </a:solidFill>
          <a:ln/>
        </p:spPr>
      </p:sp>
      <p:sp>
        <p:nvSpPr>
          <p:cNvPr id="11" name="Text 9"/>
          <p:cNvSpPr/>
          <p:nvPr/>
        </p:nvSpPr>
        <p:spPr>
          <a:xfrm>
            <a:off x="4781550" y="755600"/>
            <a:ext cx="571500" cy="457200"/>
          </a:xfrm>
          <a:prstGeom prst="rect">
            <a:avLst/>
          </a:prstGeom>
          <a:noFill/>
          <a:ln/>
        </p:spPr>
        <p:txBody>
          <a:bodyPr wrap="square" lIns="0" tIns="0" rIns="0" bIns="0" rtlCol="0" anchor="ctr"/>
          <a:lstStyle/>
          <a:p>
            <a:pPr algn="ctr">
              <a:lnSpc>
                <a:spcPct val="110000"/>
              </a:lnSpc>
            </a:pPr>
            <a:r>
              <a:rPr lang="en-US" sz="1800" b="1" dirty="0">
                <a:solidFill>
                  <a:srgbClr val="F8F7F2"/>
                </a:solidFill>
                <a:latin typeface="Oranienbaum" pitchFamily="34" charset="0"/>
                <a:ea typeface="Oranienbaum" pitchFamily="34" charset="-122"/>
                <a:cs typeface="Oranienbaum" pitchFamily="34" charset="-120"/>
              </a:rPr>
              <a:t>01</a:t>
            </a:r>
            <a:endParaRPr lang="en-US" sz="1600" dirty="0"/>
          </a:p>
        </p:txBody>
      </p:sp>
      <p:sp>
        <p:nvSpPr>
          <p:cNvPr id="12" name="Text 10"/>
          <p:cNvSpPr/>
          <p:nvPr/>
        </p:nvSpPr>
        <p:spPr>
          <a:xfrm>
            <a:off x="5448300" y="836563"/>
            <a:ext cx="2333625" cy="295275"/>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Employment Overview</a:t>
            </a:r>
            <a:endParaRPr lang="en-US" sz="1600" dirty="0"/>
          </a:p>
        </p:txBody>
      </p:sp>
      <p:sp>
        <p:nvSpPr>
          <p:cNvPr id="13" name="Text 11"/>
          <p:cNvSpPr/>
          <p:nvPr/>
        </p:nvSpPr>
        <p:spPr>
          <a:xfrm>
            <a:off x="4838700" y="1327100"/>
            <a:ext cx="3105150" cy="495300"/>
          </a:xfrm>
          <a:prstGeom prst="rect">
            <a:avLst/>
          </a:prstGeom>
          <a:noFill/>
          <a:ln/>
        </p:spPr>
        <p:txBody>
          <a:bodyPr wrap="square" lIns="0" tIns="0" rIns="0" bIns="0" rtlCol="0" anchor="ctr"/>
          <a:lstStyle/>
          <a:p>
            <a:pPr>
              <a:lnSpc>
                <a:spcPct val="140000"/>
              </a:lnSpc>
            </a:pPr>
            <a:r>
              <a:rPr lang="en-US" sz="1200" dirty="0">
                <a:solidFill>
                  <a:srgbClr val="2C3531">
                    <a:alpha val="70000"/>
                  </a:srgbClr>
                </a:solidFill>
                <a:latin typeface="Liter" pitchFamily="34" charset="0"/>
                <a:ea typeface="Liter" pitchFamily="34" charset="-122"/>
                <a:cs typeface="Liter" pitchFamily="34" charset="-120"/>
              </a:rPr>
              <a:t>Introduction to contract parties and agreement purpose</a:t>
            </a:r>
            <a:endParaRPr lang="en-US" sz="1600" dirty="0"/>
          </a:p>
        </p:txBody>
      </p:sp>
      <p:sp>
        <p:nvSpPr>
          <p:cNvPr id="14" name="Shape 12"/>
          <p:cNvSpPr/>
          <p:nvPr/>
        </p:nvSpPr>
        <p:spPr>
          <a:xfrm>
            <a:off x="8305800" y="381000"/>
            <a:ext cx="3505200" cy="1819275"/>
          </a:xfrm>
          <a:custGeom>
            <a:avLst/>
            <a:gdLst/>
            <a:ahLst/>
            <a:cxnLst/>
            <a:rect l="l" t="t" r="r" b="b"/>
            <a:pathLst>
              <a:path w="3505200" h="1819275">
                <a:moveTo>
                  <a:pt x="38100" y="0"/>
                </a:moveTo>
                <a:lnTo>
                  <a:pt x="3429009" y="0"/>
                </a:lnTo>
                <a:cubicBezTo>
                  <a:pt x="3471088" y="0"/>
                  <a:pt x="3505200" y="34112"/>
                  <a:pt x="3505200" y="76191"/>
                </a:cubicBezTo>
                <a:lnTo>
                  <a:pt x="3505200" y="1743084"/>
                </a:lnTo>
                <a:cubicBezTo>
                  <a:pt x="3505200" y="1785163"/>
                  <a:pt x="3471088" y="1819275"/>
                  <a:pt x="3429009" y="1819275"/>
                </a:cubicBezTo>
                <a:lnTo>
                  <a:pt x="38100" y="1819275"/>
                </a:lnTo>
                <a:cubicBezTo>
                  <a:pt x="17058" y="1819275"/>
                  <a:pt x="0" y="1802217"/>
                  <a:pt x="0" y="1781175"/>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15" name="Shape 13"/>
          <p:cNvSpPr/>
          <p:nvPr/>
        </p:nvSpPr>
        <p:spPr>
          <a:xfrm>
            <a:off x="8305800" y="381000"/>
            <a:ext cx="38100" cy="1819275"/>
          </a:xfrm>
          <a:custGeom>
            <a:avLst/>
            <a:gdLst/>
            <a:ahLst/>
            <a:cxnLst/>
            <a:rect l="l" t="t" r="r" b="b"/>
            <a:pathLst>
              <a:path w="38100" h="1819275">
                <a:moveTo>
                  <a:pt x="38100" y="0"/>
                </a:moveTo>
                <a:lnTo>
                  <a:pt x="38100" y="0"/>
                </a:lnTo>
                <a:lnTo>
                  <a:pt x="38100" y="1819275"/>
                </a:lnTo>
                <a:lnTo>
                  <a:pt x="38100" y="1819275"/>
                </a:lnTo>
                <a:cubicBezTo>
                  <a:pt x="17072" y="1819275"/>
                  <a:pt x="0" y="1802203"/>
                  <a:pt x="0" y="1781175"/>
                </a:cubicBezTo>
                <a:lnTo>
                  <a:pt x="0" y="38100"/>
                </a:lnTo>
                <a:cubicBezTo>
                  <a:pt x="0" y="17072"/>
                  <a:pt x="17072" y="0"/>
                  <a:pt x="38100" y="0"/>
                </a:cubicBezTo>
                <a:close/>
              </a:path>
            </a:pathLst>
          </a:custGeom>
          <a:solidFill>
            <a:srgbClr val="A88B6A"/>
          </a:solidFill>
          <a:ln/>
        </p:spPr>
      </p:sp>
      <p:sp>
        <p:nvSpPr>
          <p:cNvPr id="16" name="Shape 14"/>
          <p:cNvSpPr/>
          <p:nvPr/>
        </p:nvSpPr>
        <p:spPr>
          <a:xfrm>
            <a:off x="8553450" y="7556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A88B6A"/>
          </a:solidFill>
          <a:ln/>
        </p:spPr>
      </p:sp>
      <p:sp>
        <p:nvSpPr>
          <p:cNvPr id="17" name="Text 15"/>
          <p:cNvSpPr/>
          <p:nvPr/>
        </p:nvSpPr>
        <p:spPr>
          <a:xfrm>
            <a:off x="8496300" y="755600"/>
            <a:ext cx="571500" cy="457200"/>
          </a:xfrm>
          <a:prstGeom prst="rect">
            <a:avLst/>
          </a:prstGeom>
          <a:noFill/>
          <a:ln/>
        </p:spPr>
        <p:txBody>
          <a:bodyPr wrap="square" lIns="0" tIns="0" rIns="0" bIns="0" rtlCol="0" anchor="ctr"/>
          <a:lstStyle/>
          <a:p>
            <a:pPr algn="ctr">
              <a:lnSpc>
                <a:spcPct val="110000"/>
              </a:lnSpc>
            </a:pPr>
            <a:r>
              <a:rPr lang="en-US" sz="1800" b="1" dirty="0">
                <a:solidFill>
                  <a:srgbClr val="F8F7F2"/>
                </a:solidFill>
                <a:latin typeface="Oranienbaum" pitchFamily="34" charset="0"/>
                <a:ea typeface="Oranienbaum" pitchFamily="34" charset="-122"/>
                <a:cs typeface="Oranienbaum" pitchFamily="34" charset="-120"/>
              </a:rPr>
              <a:t>02</a:t>
            </a:r>
            <a:endParaRPr lang="en-US" sz="1600" dirty="0"/>
          </a:p>
        </p:txBody>
      </p:sp>
      <p:sp>
        <p:nvSpPr>
          <p:cNvPr id="18" name="Text 16"/>
          <p:cNvSpPr/>
          <p:nvPr/>
        </p:nvSpPr>
        <p:spPr>
          <a:xfrm>
            <a:off x="9163050" y="836563"/>
            <a:ext cx="2019300" cy="295275"/>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Position &amp; Duration</a:t>
            </a:r>
            <a:endParaRPr lang="en-US" sz="1600" dirty="0"/>
          </a:p>
        </p:txBody>
      </p:sp>
      <p:sp>
        <p:nvSpPr>
          <p:cNvPr id="19" name="Text 17"/>
          <p:cNvSpPr/>
          <p:nvPr/>
        </p:nvSpPr>
        <p:spPr>
          <a:xfrm>
            <a:off x="8553450" y="1327100"/>
            <a:ext cx="3105150" cy="495300"/>
          </a:xfrm>
          <a:prstGeom prst="rect">
            <a:avLst/>
          </a:prstGeom>
          <a:noFill/>
          <a:ln/>
        </p:spPr>
        <p:txBody>
          <a:bodyPr wrap="square" lIns="0" tIns="0" rIns="0" bIns="0" rtlCol="0" anchor="ctr"/>
          <a:lstStyle/>
          <a:p>
            <a:pPr>
              <a:lnSpc>
                <a:spcPct val="140000"/>
              </a:lnSpc>
            </a:pPr>
            <a:r>
              <a:rPr lang="en-US" sz="1200" dirty="0">
                <a:solidFill>
                  <a:srgbClr val="2C3531">
                    <a:alpha val="70000"/>
                  </a:srgbClr>
                </a:solidFill>
                <a:latin typeface="Liter" pitchFamily="34" charset="0"/>
                <a:ea typeface="Liter" pitchFamily="34" charset="-122"/>
                <a:cs typeface="Liter" pitchFamily="34" charset="-120"/>
              </a:rPr>
              <a:t>Job title, 8-month season period, and work location</a:t>
            </a:r>
            <a:endParaRPr lang="en-US" sz="1600" dirty="0"/>
          </a:p>
        </p:txBody>
      </p:sp>
      <p:sp>
        <p:nvSpPr>
          <p:cNvPr id="20" name="Shape 18"/>
          <p:cNvSpPr/>
          <p:nvPr/>
        </p:nvSpPr>
        <p:spPr>
          <a:xfrm>
            <a:off x="4591050" y="2387501"/>
            <a:ext cx="3505200" cy="1952625"/>
          </a:xfrm>
          <a:custGeom>
            <a:avLst/>
            <a:gdLst/>
            <a:ahLst/>
            <a:cxnLst/>
            <a:rect l="l" t="t" r="r" b="b"/>
            <a:pathLst>
              <a:path w="3505200" h="1952625">
                <a:moveTo>
                  <a:pt x="38100" y="0"/>
                </a:moveTo>
                <a:lnTo>
                  <a:pt x="3429009" y="0"/>
                </a:lnTo>
                <a:cubicBezTo>
                  <a:pt x="3471060" y="0"/>
                  <a:pt x="3505200" y="34140"/>
                  <a:pt x="3505200" y="76191"/>
                </a:cubicBezTo>
                <a:lnTo>
                  <a:pt x="3505200" y="1876434"/>
                </a:lnTo>
                <a:cubicBezTo>
                  <a:pt x="3505200" y="1918485"/>
                  <a:pt x="3471060" y="1952625"/>
                  <a:pt x="3429009" y="1952625"/>
                </a:cubicBezTo>
                <a:lnTo>
                  <a:pt x="38100" y="1952625"/>
                </a:lnTo>
                <a:cubicBezTo>
                  <a:pt x="17072" y="1952625"/>
                  <a:pt x="0" y="1935553"/>
                  <a:pt x="0" y="1914525"/>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21" name="Shape 19"/>
          <p:cNvSpPr/>
          <p:nvPr/>
        </p:nvSpPr>
        <p:spPr>
          <a:xfrm>
            <a:off x="4591050" y="2387501"/>
            <a:ext cx="38100" cy="1952625"/>
          </a:xfrm>
          <a:custGeom>
            <a:avLst/>
            <a:gdLst/>
            <a:ahLst/>
            <a:cxnLst/>
            <a:rect l="l" t="t" r="r" b="b"/>
            <a:pathLst>
              <a:path w="38100" h="1952625">
                <a:moveTo>
                  <a:pt x="38100" y="0"/>
                </a:moveTo>
                <a:lnTo>
                  <a:pt x="38100" y="0"/>
                </a:lnTo>
                <a:lnTo>
                  <a:pt x="38100" y="1952625"/>
                </a:lnTo>
                <a:lnTo>
                  <a:pt x="38100" y="1952625"/>
                </a:lnTo>
                <a:cubicBezTo>
                  <a:pt x="17072" y="1952625"/>
                  <a:pt x="0" y="1935553"/>
                  <a:pt x="0" y="1914525"/>
                </a:cubicBezTo>
                <a:lnTo>
                  <a:pt x="0" y="38100"/>
                </a:lnTo>
                <a:cubicBezTo>
                  <a:pt x="0" y="17072"/>
                  <a:pt x="17072" y="0"/>
                  <a:pt x="38100" y="0"/>
                </a:cubicBezTo>
                <a:close/>
              </a:path>
            </a:pathLst>
          </a:custGeom>
          <a:solidFill>
            <a:srgbClr val="D4A056"/>
          </a:solidFill>
          <a:ln/>
        </p:spPr>
      </p:sp>
      <p:sp>
        <p:nvSpPr>
          <p:cNvPr id="22" name="Shape 20"/>
          <p:cNvSpPr/>
          <p:nvPr/>
        </p:nvSpPr>
        <p:spPr>
          <a:xfrm>
            <a:off x="4838700" y="2828776"/>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D4A056"/>
          </a:solidFill>
          <a:ln/>
        </p:spPr>
      </p:sp>
      <p:sp>
        <p:nvSpPr>
          <p:cNvPr id="23" name="Text 21"/>
          <p:cNvSpPr/>
          <p:nvPr/>
        </p:nvSpPr>
        <p:spPr>
          <a:xfrm>
            <a:off x="4781550" y="2828776"/>
            <a:ext cx="571500" cy="457200"/>
          </a:xfrm>
          <a:prstGeom prst="rect">
            <a:avLst/>
          </a:prstGeom>
          <a:noFill/>
          <a:ln/>
        </p:spPr>
        <p:txBody>
          <a:bodyPr wrap="square" lIns="0" tIns="0" rIns="0" bIns="0" rtlCol="0" anchor="ctr"/>
          <a:lstStyle/>
          <a:p>
            <a:pPr algn="ctr">
              <a:lnSpc>
                <a:spcPct val="110000"/>
              </a:lnSpc>
            </a:pPr>
            <a:r>
              <a:rPr lang="en-US" sz="1800" b="1" dirty="0">
                <a:solidFill>
                  <a:srgbClr val="2C3531"/>
                </a:solidFill>
                <a:latin typeface="Oranienbaum" pitchFamily="34" charset="0"/>
                <a:ea typeface="Oranienbaum" pitchFamily="34" charset="-122"/>
                <a:cs typeface="Oranienbaum" pitchFamily="34" charset="-120"/>
              </a:rPr>
              <a:t>03</a:t>
            </a:r>
            <a:endParaRPr lang="en-US" sz="1600" dirty="0"/>
          </a:p>
        </p:txBody>
      </p:sp>
      <p:sp>
        <p:nvSpPr>
          <p:cNvPr id="24" name="Text 22"/>
          <p:cNvSpPr/>
          <p:nvPr/>
        </p:nvSpPr>
        <p:spPr>
          <a:xfrm>
            <a:off x="5448300" y="2762101"/>
            <a:ext cx="2533650" cy="590550"/>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Compensation &amp; Benefits</a:t>
            </a:r>
            <a:endParaRPr lang="en-US" sz="1600" dirty="0"/>
          </a:p>
        </p:txBody>
      </p:sp>
      <p:sp>
        <p:nvSpPr>
          <p:cNvPr id="25" name="Text 23"/>
          <p:cNvSpPr/>
          <p:nvPr/>
        </p:nvSpPr>
        <p:spPr>
          <a:xfrm>
            <a:off x="4838700" y="3466951"/>
            <a:ext cx="3105150" cy="495300"/>
          </a:xfrm>
          <a:prstGeom prst="rect">
            <a:avLst/>
          </a:prstGeom>
          <a:noFill/>
          <a:ln/>
        </p:spPr>
        <p:txBody>
          <a:bodyPr wrap="square" lIns="0" tIns="0" rIns="0" bIns="0" rtlCol="0" anchor="ctr"/>
          <a:lstStyle/>
          <a:p>
            <a:pPr>
              <a:lnSpc>
                <a:spcPct val="140000"/>
              </a:lnSpc>
            </a:pPr>
            <a:r>
              <a:rPr lang="en-US" sz="1200" dirty="0">
                <a:solidFill>
                  <a:srgbClr val="2C3531">
                    <a:alpha val="70000"/>
                  </a:srgbClr>
                </a:solidFill>
                <a:latin typeface="Liter" pitchFamily="34" charset="0"/>
                <a:ea typeface="Liter" pitchFamily="34" charset="-122"/>
                <a:cs typeface="Liter" pitchFamily="34" charset="-120"/>
              </a:rPr>
              <a:t>Pay structure, payment schedule, and benefits</a:t>
            </a:r>
            <a:endParaRPr lang="en-US" sz="1600" dirty="0"/>
          </a:p>
        </p:txBody>
      </p:sp>
      <p:sp>
        <p:nvSpPr>
          <p:cNvPr id="26" name="Shape 24"/>
          <p:cNvSpPr/>
          <p:nvPr/>
        </p:nvSpPr>
        <p:spPr>
          <a:xfrm>
            <a:off x="8305800" y="2387501"/>
            <a:ext cx="3505200" cy="1952625"/>
          </a:xfrm>
          <a:custGeom>
            <a:avLst/>
            <a:gdLst/>
            <a:ahLst/>
            <a:cxnLst/>
            <a:rect l="l" t="t" r="r" b="b"/>
            <a:pathLst>
              <a:path w="3505200" h="1952625">
                <a:moveTo>
                  <a:pt x="38100" y="0"/>
                </a:moveTo>
                <a:lnTo>
                  <a:pt x="3429009" y="0"/>
                </a:lnTo>
                <a:cubicBezTo>
                  <a:pt x="3471060" y="0"/>
                  <a:pt x="3505200" y="34140"/>
                  <a:pt x="3505200" y="76191"/>
                </a:cubicBezTo>
                <a:lnTo>
                  <a:pt x="3505200" y="1876434"/>
                </a:lnTo>
                <a:cubicBezTo>
                  <a:pt x="3505200" y="1918485"/>
                  <a:pt x="3471060" y="1952625"/>
                  <a:pt x="3429009" y="1952625"/>
                </a:cubicBezTo>
                <a:lnTo>
                  <a:pt x="38100" y="1952625"/>
                </a:lnTo>
                <a:cubicBezTo>
                  <a:pt x="17072" y="1952625"/>
                  <a:pt x="0" y="1935553"/>
                  <a:pt x="0" y="1914525"/>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27" name="Shape 25"/>
          <p:cNvSpPr/>
          <p:nvPr/>
        </p:nvSpPr>
        <p:spPr>
          <a:xfrm>
            <a:off x="8305800" y="2387501"/>
            <a:ext cx="38100" cy="1952625"/>
          </a:xfrm>
          <a:custGeom>
            <a:avLst/>
            <a:gdLst/>
            <a:ahLst/>
            <a:cxnLst/>
            <a:rect l="l" t="t" r="r" b="b"/>
            <a:pathLst>
              <a:path w="38100" h="1952625">
                <a:moveTo>
                  <a:pt x="38100" y="0"/>
                </a:moveTo>
                <a:lnTo>
                  <a:pt x="38100" y="0"/>
                </a:lnTo>
                <a:lnTo>
                  <a:pt x="38100" y="1952625"/>
                </a:lnTo>
                <a:lnTo>
                  <a:pt x="38100" y="1952625"/>
                </a:lnTo>
                <a:cubicBezTo>
                  <a:pt x="17072" y="1952625"/>
                  <a:pt x="0" y="1935553"/>
                  <a:pt x="0" y="1914525"/>
                </a:cubicBezTo>
                <a:lnTo>
                  <a:pt x="0" y="38100"/>
                </a:lnTo>
                <a:cubicBezTo>
                  <a:pt x="0" y="17072"/>
                  <a:pt x="17072" y="0"/>
                  <a:pt x="38100" y="0"/>
                </a:cubicBezTo>
                <a:close/>
              </a:path>
            </a:pathLst>
          </a:custGeom>
          <a:solidFill>
            <a:srgbClr val="4A5D52"/>
          </a:solidFill>
          <a:ln/>
        </p:spPr>
      </p:sp>
      <p:sp>
        <p:nvSpPr>
          <p:cNvPr id="28" name="Shape 26"/>
          <p:cNvSpPr/>
          <p:nvPr/>
        </p:nvSpPr>
        <p:spPr>
          <a:xfrm>
            <a:off x="8553450" y="2828776"/>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5D52"/>
          </a:solidFill>
          <a:ln/>
        </p:spPr>
      </p:sp>
      <p:sp>
        <p:nvSpPr>
          <p:cNvPr id="29" name="Text 27"/>
          <p:cNvSpPr/>
          <p:nvPr/>
        </p:nvSpPr>
        <p:spPr>
          <a:xfrm>
            <a:off x="8496300" y="2828776"/>
            <a:ext cx="571500" cy="457200"/>
          </a:xfrm>
          <a:prstGeom prst="rect">
            <a:avLst/>
          </a:prstGeom>
          <a:noFill/>
          <a:ln/>
        </p:spPr>
        <p:txBody>
          <a:bodyPr wrap="square" lIns="0" tIns="0" rIns="0" bIns="0" rtlCol="0" anchor="ctr"/>
          <a:lstStyle/>
          <a:p>
            <a:pPr algn="ctr">
              <a:lnSpc>
                <a:spcPct val="110000"/>
              </a:lnSpc>
            </a:pPr>
            <a:r>
              <a:rPr lang="en-US" sz="1800" b="1" dirty="0">
                <a:solidFill>
                  <a:srgbClr val="F8F7F2"/>
                </a:solidFill>
                <a:latin typeface="Oranienbaum" pitchFamily="34" charset="0"/>
                <a:ea typeface="Oranienbaum" pitchFamily="34" charset="-122"/>
                <a:cs typeface="Oranienbaum" pitchFamily="34" charset="-120"/>
              </a:rPr>
              <a:t>04</a:t>
            </a:r>
            <a:endParaRPr lang="en-US" sz="1600" dirty="0"/>
          </a:p>
        </p:txBody>
      </p:sp>
      <p:sp>
        <p:nvSpPr>
          <p:cNvPr id="30" name="Text 28"/>
          <p:cNvSpPr/>
          <p:nvPr/>
        </p:nvSpPr>
        <p:spPr>
          <a:xfrm>
            <a:off x="9163050" y="2909739"/>
            <a:ext cx="2171700" cy="295275"/>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Core Responsibilities</a:t>
            </a:r>
            <a:endParaRPr lang="en-US" sz="1600" dirty="0"/>
          </a:p>
        </p:txBody>
      </p:sp>
      <p:sp>
        <p:nvSpPr>
          <p:cNvPr id="31" name="Text 29"/>
          <p:cNvSpPr/>
          <p:nvPr/>
        </p:nvSpPr>
        <p:spPr>
          <a:xfrm>
            <a:off x="8553450" y="3400276"/>
            <a:ext cx="3105150" cy="495300"/>
          </a:xfrm>
          <a:prstGeom prst="rect">
            <a:avLst/>
          </a:prstGeom>
          <a:noFill/>
          <a:ln/>
        </p:spPr>
        <p:txBody>
          <a:bodyPr wrap="square" lIns="0" tIns="0" rIns="0" bIns="0" rtlCol="0" anchor="ctr"/>
          <a:lstStyle/>
          <a:p>
            <a:pPr>
              <a:lnSpc>
                <a:spcPct val="140000"/>
              </a:lnSpc>
            </a:pPr>
            <a:r>
              <a:rPr lang="en-US" sz="1200" dirty="0">
                <a:solidFill>
                  <a:srgbClr val="2C3531">
                    <a:alpha val="70000"/>
                  </a:srgbClr>
                </a:solidFill>
                <a:latin typeface="Liter" pitchFamily="34" charset="0"/>
                <a:ea typeface="Liter" pitchFamily="34" charset="-122"/>
                <a:cs typeface="Liter" pitchFamily="34" charset="-120"/>
              </a:rPr>
              <a:t>Plant care, maintenance, and operational duties</a:t>
            </a:r>
            <a:endParaRPr lang="en-US" sz="1600" dirty="0"/>
          </a:p>
        </p:txBody>
      </p:sp>
      <p:sp>
        <p:nvSpPr>
          <p:cNvPr id="32" name="Shape 30"/>
          <p:cNvSpPr/>
          <p:nvPr/>
        </p:nvSpPr>
        <p:spPr>
          <a:xfrm>
            <a:off x="4591050" y="4527352"/>
            <a:ext cx="3505200" cy="1952625"/>
          </a:xfrm>
          <a:custGeom>
            <a:avLst/>
            <a:gdLst/>
            <a:ahLst/>
            <a:cxnLst/>
            <a:rect l="l" t="t" r="r" b="b"/>
            <a:pathLst>
              <a:path w="3505200" h="1952625">
                <a:moveTo>
                  <a:pt x="38100" y="0"/>
                </a:moveTo>
                <a:lnTo>
                  <a:pt x="3429009" y="0"/>
                </a:lnTo>
                <a:cubicBezTo>
                  <a:pt x="3471060" y="0"/>
                  <a:pt x="3505200" y="34140"/>
                  <a:pt x="3505200" y="76191"/>
                </a:cubicBezTo>
                <a:lnTo>
                  <a:pt x="3505200" y="1876434"/>
                </a:lnTo>
                <a:cubicBezTo>
                  <a:pt x="3505200" y="1918485"/>
                  <a:pt x="3471060" y="1952625"/>
                  <a:pt x="3429009" y="1952625"/>
                </a:cubicBezTo>
                <a:lnTo>
                  <a:pt x="38100" y="1952625"/>
                </a:lnTo>
                <a:cubicBezTo>
                  <a:pt x="17072" y="1952625"/>
                  <a:pt x="0" y="1935553"/>
                  <a:pt x="0" y="1914525"/>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33" name="Shape 31"/>
          <p:cNvSpPr/>
          <p:nvPr/>
        </p:nvSpPr>
        <p:spPr>
          <a:xfrm>
            <a:off x="4591050" y="4527352"/>
            <a:ext cx="38100" cy="1952625"/>
          </a:xfrm>
          <a:custGeom>
            <a:avLst/>
            <a:gdLst/>
            <a:ahLst/>
            <a:cxnLst/>
            <a:rect l="l" t="t" r="r" b="b"/>
            <a:pathLst>
              <a:path w="38100" h="1952625">
                <a:moveTo>
                  <a:pt x="38100" y="0"/>
                </a:moveTo>
                <a:lnTo>
                  <a:pt x="38100" y="0"/>
                </a:lnTo>
                <a:lnTo>
                  <a:pt x="38100" y="1952625"/>
                </a:lnTo>
                <a:lnTo>
                  <a:pt x="38100" y="1952625"/>
                </a:lnTo>
                <a:cubicBezTo>
                  <a:pt x="17072" y="1952625"/>
                  <a:pt x="0" y="1935553"/>
                  <a:pt x="0" y="1914525"/>
                </a:cubicBezTo>
                <a:lnTo>
                  <a:pt x="0" y="38100"/>
                </a:lnTo>
                <a:cubicBezTo>
                  <a:pt x="0" y="17072"/>
                  <a:pt x="17072" y="0"/>
                  <a:pt x="38100" y="0"/>
                </a:cubicBezTo>
                <a:close/>
              </a:path>
            </a:pathLst>
          </a:custGeom>
          <a:solidFill>
            <a:srgbClr val="A88B6A"/>
          </a:solidFill>
          <a:ln/>
        </p:spPr>
      </p:sp>
      <p:sp>
        <p:nvSpPr>
          <p:cNvPr id="34" name="Shape 32"/>
          <p:cNvSpPr/>
          <p:nvPr/>
        </p:nvSpPr>
        <p:spPr>
          <a:xfrm>
            <a:off x="4838700" y="4968627"/>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A88B6A"/>
          </a:solidFill>
          <a:ln/>
        </p:spPr>
      </p:sp>
      <p:sp>
        <p:nvSpPr>
          <p:cNvPr id="35" name="Text 33"/>
          <p:cNvSpPr/>
          <p:nvPr/>
        </p:nvSpPr>
        <p:spPr>
          <a:xfrm>
            <a:off x="4781550" y="4968627"/>
            <a:ext cx="571500" cy="457200"/>
          </a:xfrm>
          <a:prstGeom prst="rect">
            <a:avLst/>
          </a:prstGeom>
          <a:noFill/>
          <a:ln/>
        </p:spPr>
        <p:txBody>
          <a:bodyPr wrap="square" lIns="0" tIns="0" rIns="0" bIns="0" rtlCol="0" anchor="ctr"/>
          <a:lstStyle/>
          <a:p>
            <a:pPr algn="ctr">
              <a:lnSpc>
                <a:spcPct val="110000"/>
              </a:lnSpc>
            </a:pPr>
            <a:r>
              <a:rPr lang="en-US" sz="1800" b="1" dirty="0">
                <a:solidFill>
                  <a:srgbClr val="F8F7F2"/>
                </a:solidFill>
                <a:latin typeface="Oranienbaum" pitchFamily="34" charset="0"/>
                <a:ea typeface="Oranienbaum" pitchFamily="34" charset="-122"/>
                <a:cs typeface="Oranienbaum" pitchFamily="34" charset="-120"/>
              </a:rPr>
              <a:t>05</a:t>
            </a:r>
            <a:endParaRPr lang="en-US" sz="1600" dirty="0"/>
          </a:p>
        </p:txBody>
      </p:sp>
      <p:sp>
        <p:nvSpPr>
          <p:cNvPr id="36" name="Text 34"/>
          <p:cNvSpPr/>
          <p:nvPr/>
        </p:nvSpPr>
        <p:spPr>
          <a:xfrm>
            <a:off x="5448300" y="5049589"/>
            <a:ext cx="1943100" cy="295275"/>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Disciplinary Policy</a:t>
            </a:r>
            <a:endParaRPr lang="en-US" sz="1600" dirty="0"/>
          </a:p>
        </p:txBody>
      </p:sp>
      <p:sp>
        <p:nvSpPr>
          <p:cNvPr id="37" name="Text 35"/>
          <p:cNvSpPr/>
          <p:nvPr/>
        </p:nvSpPr>
        <p:spPr>
          <a:xfrm>
            <a:off x="4838700" y="5540127"/>
            <a:ext cx="3105150" cy="495300"/>
          </a:xfrm>
          <a:prstGeom prst="rect">
            <a:avLst/>
          </a:prstGeom>
          <a:noFill/>
          <a:ln/>
        </p:spPr>
        <p:txBody>
          <a:bodyPr wrap="square" lIns="0" tIns="0" rIns="0" bIns="0" rtlCol="0" anchor="ctr"/>
          <a:lstStyle/>
          <a:p>
            <a:pPr>
              <a:lnSpc>
                <a:spcPct val="140000"/>
              </a:lnSpc>
            </a:pPr>
            <a:r>
              <a:rPr lang="en-US" sz="1200" dirty="0">
                <a:solidFill>
                  <a:srgbClr val="2C3531">
                    <a:alpha val="70000"/>
                  </a:srgbClr>
                </a:solidFill>
                <a:latin typeface="Liter" pitchFamily="34" charset="0"/>
                <a:ea typeface="Liter" pitchFamily="34" charset="-122"/>
                <a:cs typeface="Liter" pitchFamily="34" charset="-120"/>
              </a:rPr>
              <a:t>Progressive discipline and breach consequences</a:t>
            </a:r>
            <a:endParaRPr lang="en-US" sz="1600" dirty="0"/>
          </a:p>
        </p:txBody>
      </p:sp>
      <p:sp>
        <p:nvSpPr>
          <p:cNvPr id="38" name="Shape 36"/>
          <p:cNvSpPr/>
          <p:nvPr/>
        </p:nvSpPr>
        <p:spPr>
          <a:xfrm>
            <a:off x="8305800" y="4527352"/>
            <a:ext cx="3505200" cy="1952625"/>
          </a:xfrm>
          <a:custGeom>
            <a:avLst/>
            <a:gdLst/>
            <a:ahLst/>
            <a:cxnLst/>
            <a:rect l="l" t="t" r="r" b="b"/>
            <a:pathLst>
              <a:path w="3505200" h="1952625">
                <a:moveTo>
                  <a:pt x="38100" y="0"/>
                </a:moveTo>
                <a:lnTo>
                  <a:pt x="3429009" y="0"/>
                </a:lnTo>
                <a:cubicBezTo>
                  <a:pt x="3471060" y="0"/>
                  <a:pt x="3505200" y="34140"/>
                  <a:pt x="3505200" y="76191"/>
                </a:cubicBezTo>
                <a:lnTo>
                  <a:pt x="3505200" y="1876434"/>
                </a:lnTo>
                <a:cubicBezTo>
                  <a:pt x="3505200" y="1918485"/>
                  <a:pt x="3471060" y="1952625"/>
                  <a:pt x="3429009" y="1952625"/>
                </a:cubicBezTo>
                <a:lnTo>
                  <a:pt x="38100" y="1952625"/>
                </a:lnTo>
                <a:cubicBezTo>
                  <a:pt x="17072" y="1952625"/>
                  <a:pt x="0" y="1935553"/>
                  <a:pt x="0" y="1914525"/>
                </a:cubicBezTo>
                <a:lnTo>
                  <a:pt x="0" y="38100"/>
                </a:lnTo>
                <a:cubicBezTo>
                  <a:pt x="0" y="17072"/>
                  <a:pt x="17072" y="0"/>
                  <a:pt x="3810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39" name="Shape 37"/>
          <p:cNvSpPr/>
          <p:nvPr/>
        </p:nvSpPr>
        <p:spPr>
          <a:xfrm>
            <a:off x="8305800" y="4527352"/>
            <a:ext cx="38100" cy="1952625"/>
          </a:xfrm>
          <a:custGeom>
            <a:avLst/>
            <a:gdLst/>
            <a:ahLst/>
            <a:cxnLst/>
            <a:rect l="l" t="t" r="r" b="b"/>
            <a:pathLst>
              <a:path w="38100" h="1952625">
                <a:moveTo>
                  <a:pt x="38100" y="0"/>
                </a:moveTo>
                <a:lnTo>
                  <a:pt x="38100" y="0"/>
                </a:lnTo>
                <a:lnTo>
                  <a:pt x="38100" y="1952625"/>
                </a:lnTo>
                <a:lnTo>
                  <a:pt x="38100" y="1952625"/>
                </a:lnTo>
                <a:cubicBezTo>
                  <a:pt x="17072" y="1952625"/>
                  <a:pt x="0" y="1935553"/>
                  <a:pt x="0" y="1914525"/>
                </a:cubicBezTo>
                <a:lnTo>
                  <a:pt x="0" y="38100"/>
                </a:lnTo>
                <a:cubicBezTo>
                  <a:pt x="0" y="17072"/>
                  <a:pt x="17072" y="0"/>
                  <a:pt x="38100" y="0"/>
                </a:cubicBezTo>
                <a:close/>
              </a:path>
            </a:pathLst>
          </a:custGeom>
          <a:solidFill>
            <a:srgbClr val="D4A056"/>
          </a:solidFill>
          <a:ln/>
        </p:spPr>
      </p:sp>
      <p:sp>
        <p:nvSpPr>
          <p:cNvPr id="40" name="Shape 38"/>
          <p:cNvSpPr/>
          <p:nvPr/>
        </p:nvSpPr>
        <p:spPr>
          <a:xfrm>
            <a:off x="8553450" y="4968627"/>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D4A056"/>
          </a:solidFill>
          <a:ln/>
        </p:spPr>
      </p:sp>
      <p:sp>
        <p:nvSpPr>
          <p:cNvPr id="41" name="Text 39"/>
          <p:cNvSpPr/>
          <p:nvPr/>
        </p:nvSpPr>
        <p:spPr>
          <a:xfrm>
            <a:off x="8496300" y="4968627"/>
            <a:ext cx="571500" cy="457200"/>
          </a:xfrm>
          <a:prstGeom prst="rect">
            <a:avLst/>
          </a:prstGeom>
          <a:noFill/>
          <a:ln/>
        </p:spPr>
        <p:txBody>
          <a:bodyPr wrap="square" lIns="0" tIns="0" rIns="0" bIns="0" rtlCol="0" anchor="ctr"/>
          <a:lstStyle/>
          <a:p>
            <a:pPr algn="ctr">
              <a:lnSpc>
                <a:spcPct val="110000"/>
              </a:lnSpc>
            </a:pPr>
            <a:r>
              <a:rPr lang="en-US" sz="1800" b="1" dirty="0">
                <a:solidFill>
                  <a:srgbClr val="2C3531"/>
                </a:solidFill>
                <a:latin typeface="Oranienbaum" pitchFamily="34" charset="0"/>
                <a:ea typeface="Oranienbaum" pitchFamily="34" charset="-122"/>
                <a:cs typeface="Oranienbaum" pitchFamily="34" charset="-120"/>
              </a:rPr>
              <a:t>06</a:t>
            </a:r>
            <a:endParaRPr lang="en-US" sz="1600" dirty="0"/>
          </a:p>
        </p:txBody>
      </p:sp>
      <p:sp>
        <p:nvSpPr>
          <p:cNvPr id="42" name="Text 40"/>
          <p:cNvSpPr/>
          <p:nvPr/>
        </p:nvSpPr>
        <p:spPr>
          <a:xfrm>
            <a:off x="9163050" y="4901952"/>
            <a:ext cx="2533650" cy="590550"/>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Termination &amp; Agreement</a:t>
            </a:r>
            <a:endParaRPr lang="en-US" sz="1600" dirty="0"/>
          </a:p>
        </p:txBody>
      </p:sp>
      <p:sp>
        <p:nvSpPr>
          <p:cNvPr id="43" name="Text 41"/>
          <p:cNvSpPr/>
          <p:nvPr/>
        </p:nvSpPr>
        <p:spPr>
          <a:xfrm>
            <a:off x="8553450" y="5606802"/>
            <a:ext cx="3105150" cy="495300"/>
          </a:xfrm>
          <a:prstGeom prst="rect">
            <a:avLst/>
          </a:prstGeom>
          <a:noFill/>
          <a:ln/>
        </p:spPr>
        <p:txBody>
          <a:bodyPr wrap="square" lIns="0" tIns="0" rIns="0" bIns="0" rtlCol="0" anchor="ctr"/>
          <a:lstStyle/>
          <a:p>
            <a:pPr>
              <a:lnSpc>
                <a:spcPct val="140000"/>
              </a:lnSpc>
            </a:pPr>
            <a:r>
              <a:rPr lang="en-US" sz="1200" dirty="0">
                <a:solidFill>
                  <a:srgbClr val="2C3531">
                    <a:alpha val="70000"/>
                  </a:srgbClr>
                </a:solidFill>
                <a:latin typeface="Liter" pitchFamily="34" charset="0"/>
                <a:ea typeface="Liter" pitchFamily="34" charset="-122"/>
                <a:cs typeface="Liter" pitchFamily="34" charset="-120"/>
              </a:rPr>
              <a:t>Termination conditions and signature acknowledgment</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A88B6A"/>
                </a:solidFill>
                <a:latin typeface="Liter" pitchFamily="34" charset="0"/>
                <a:ea typeface="Liter" pitchFamily="34" charset="-122"/>
                <a:cs typeface="Liter" pitchFamily="34" charset="-120"/>
              </a:rPr>
              <a:t>Section 1</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4A5D52"/>
                </a:solidFill>
                <a:latin typeface="Oranienbaum" pitchFamily="34" charset="0"/>
                <a:ea typeface="Oranienbaum" pitchFamily="34" charset="-122"/>
                <a:cs typeface="Oranienbaum" pitchFamily="34" charset="-120"/>
              </a:rPr>
              <a:t>Employment Overview</a:t>
            </a:r>
            <a:endParaRPr lang="en-US" sz="1600" dirty="0"/>
          </a:p>
        </p:txBody>
      </p:sp>
      <p:sp>
        <p:nvSpPr>
          <p:cNvPr id="4" name="Shape 2"/>
          <p:cNvSpPr/>
          <p:nvPr/>
        </p:nvSpPr>
        <p:spPr>
          <a:xfrm>
            <a:off x="381000" y="12192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4A056"/>
          </a:solidFill>
          <a:ln/>
        </p:spPr>
      </p:sp>
      <p:sp>
        <p:nvSpPr>
          <p:cNvPr id="5" name="Shape 3"/>
          <p:cNvSpPr/>
          <p:nvPr/>
        </p:nvSpPr>
        <p:spPr>
          <a:xfrm>
            <a:off x="381000" y="1485900"/>
            <a:ext cx="5600700" cy="3019425"/>
          </a:xfrm>
          <a:custGeom>
            <a:avLst/>
            <a:gdLst/>
            <a:ahLst/>
            <a:cxnLst/>
            <a:rect l="l" t="t" r="r" b="b"/>
            <a:pathLst>
              <a:path w="5600700" h="3019425">
                <a:moveTo>
                  <a:pt x="76210" y="0"/>
                </a:moveTo>
                <a:lnTo>
                  <a:pt x="5524490" y="0"/>
                </a:lnTo>
                <a:cubicBezTo>
                  <a:pt x="5566579" y="0"/>
                  <a:pt x="5600700" y="34121"/>
                  <a:pt x="5600700" y="76210"/>
                </a:cubicBezTo>
                <a:lnTo>
                  <a:pt x="5600700" y="2943215"/>
                </a:lnTo>
                <a:cubicBezTo>
                  <a:pt x="5600700" y="2985304"/>
                  <a:pt x="5566579" y="3019425"/>
                  <a:pt x="5524490" y="3019425"/>
                </a:cubicBezTo>
                <a:lnTo>
                  <a:pt x="76210" y="3019425"/>
                </a:lnTo>
                <a:cubicBezTo>
                  <a:pt x="34121" y="3019425"/>
                  <a:pt x="0" y="2985304"/>
                  <a:pt x="0" y="2943215"/>
                </a:cubicBezTo>
                <a:lnTo>
                  <a:pt x="0" y="76210"/>
                </a:lnTo>
                <a:cubicBezTo>
                  <a:pt x="0" y="34149"/>
                  <a:pt x="34149" y="0"/>
                  <a:pt x="7621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6" name="Shape 4"/>
          <p:cNvSpPr/>
          <p:nvPr/>
        </p:nvSpPr>
        <p:spPr>
          <a:xfrm>
            <a:off x="609600" y="17145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A5D52"/>
          </a:solidFill>
          <a:ln/>
        </p:spPr>
      </p:sp>
      <p:sp>
        <p:nvSpPr>
          <p:cNvPr id="7" name="Shape 5"/>
          <p:cNvSpPr/>
          <p:nvPr/>
        </p:nvSpPr>
        <p:spPr>
          <a:xfrm>
            <a:off x="766763" y="1847850"/>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65484" y="130969"/>
                </a:moveTo>
                <a:lnTo>
                  <a:pt x="77391" y="130969"/>
                </a:lnTo>
                <a:cubicBezTo>
                  <a:pt x="83976" y="130969"/>
                  <a:pt x="89297" y="136289"/>
                  <a:pt x="89297" y="142875"/>
                </a:cubicBezTo>
                <a:lnTo>
                  <a:pt x="89297" y="172641"/>
                </a:lnTo>
                <a:lnTo>
                  <a:pt x="53578" y="172641"/>
                </a:lnTo>
                <a:lnTo>
                  <a:pt x="53578" y="142875"/>
                </a:lnTo>
                <a:cubicBezTo>
                  <a:pt x="53578" y="136289"/>
                  <a:pt x="58899" y="130969"/>
                  <a:pt x="65484" y="130969"/>
                </a:cubicBezTo>
                <a:close/>
                <a:moveTo>
                  <a:pt x="35719" y="41672"/>
                </a:moveTo>
                <a:cubicBezTo>
                  <a:pt x="35719" y="38398"/>
                  <a:pt x="38398" y="35719"/>
                  <a:pt x="41672" y="35719"/>
                </a:cubicBezTo>
                <a:lnTo>
                  <a:pt x="53578" y="35719"/>
                </a:lnTo>
                <a:cubicBezTo>
                  <a:pt x="56852" y="35719"/>
                  <a:pt x="59531" y="38398"/>
                  <a:pt x="59531" y="41672"/>
                </a:cubicBezTo>
                <a:lnTo>
                  <a:pt x="59531" y="53578"/>
                </a:lnTo>
                <a:cubicBezTo>
                  <a:pt x="59531" y="56852"/>
                  <a:pt x="56852" y="59531"/>
                  <a:pt x="53578" y="59531"/>
                </a:cubicBezTo>
                <a:lnTo>
                  <a:pt x="41672" y="59531"/>
                </a:lnTo>
                <a:cubicBezTo>
                  <a:pt x="38398" y="59531"/>
                  <a:pt x="35719" y="56852"/>
                  <a:pt x="35719" y="53578"/>
                </a:cubicBezTo>
                <a:lnTo>
                  <a:pt x="35719" y="41672"/>
                </a:lnTo>
                <a:close/>
                <a:moveTo>
                  <a:pt x="89297" y="35719"/>
                </a:moveTo>
                <a:lnTo>
                  <a:pt x="101203" y="35719"/>
                </a:lnTo>
                <a:cubicBezTo>
                  <a:pt x="104477" y="35719"/>
                  <a:pt x="107156" y="38398"/>
                  <a:pt x="107156" y="41672"/>
                </a:cubicBezTo>
                <a:lnTo>
                  <a:pt x="107156" y="53578"/>
                </a:lnTo>
                <a:cubicBezTo>
                  <a:pt x="107156" y="56852"/>
                  <a:pt x="104477" y="59531"/>
                  <a:pt x="101203" y="59531"/>
                </a:cubicBezTo>
                <a:lnTo>
                  <a:pt x="89297" y="59531"/>
                </a:lnTo>
                <a:cubicBezTo>
                  <a:pt x="86023" y="59531"/>
                  <a:pt x="83344" y="56852"/>
                  <a:pt x="83344" y="53578"/>
                </a:cubicBezTo>
                <a:lnTo>
                  <a:pt x="83344" y="41672"/>
                </a:lnTo>
                <a:cubicBezTo>
                  <a:pt x="83344" y="38398"/>
                  <a:pt x="86023" y="35719"/>
                  <a:pt x="89297" y="35719"/>
                </a:cubicBezTo>
                <a:close/>
                <a:moveTo>
                  <a:pt x="35719" y="89297"/>
                </a:moveTo>
                <a:cubicBezTo>
                  <a:pt x="35719" y="86023"/>
                  <a:pt x="38398" y="83344"/>
                  <a:pt x="41672" y="83344"/>
                </a:cubicBezTo>
                <a:lnTo>
                  <a:pt x="53578" y="83344"/>
                </a:lnTo>
                <a:cubicBezTo>
                  <a:pt x="56852" y="83344"/>
                  <a:pt x="59531" y="86023"/>
                  <a:pt x="59531" y="89297"/>
                </a:cubicBezTo>
                <a:lnTo>
                  <a:pt x="59531" y="101203"/>
                </a:lnTo>
                <a:cubicBezTo>
                  <a:pt x="59531" y="104477"/>
                  <a:pt x="56852" y="107156"/>
                  <a:pt x="53578" y="107156"/>
                </a:cubicBezTo>
                <a:lnTo>
                  <a:pt x="41672" y="107156"/>
                </a:lnTo>
                <a:cubicBezTo>
                  <a:pt x="38398" y="107156"/>
                  <a:pt x="35719" y="104477"/>
                  <a:pt x="35719" y="101203"/>
                </a:cubicBezTo>
                <a:lnTo>
                  <a:pt x="35719" y="89297"/>
                </a:lnTo>
                <a:close/>
                <a:moveTo>
                  <a:pt x="89297" y="83344"/>
                </a:moveTo>
                <a:lnTo>
                  <a:pt x="101203" y="83344"/>
                </a:lnTo>
                <a:cubicBezTo>
                  <a:pt x="104477" y="83344"/>
                  <a:pt x="107156" y="86023"/>
                  <a:pt x="107156" y="89297"/>
                </a:cubicBezTo>
                <a:lnTo>
                  <a:pt x="107156" y="101203"/>
                </a:lnTo>
                <a:cubicBezTo>
                  <a:pt x="107156" y="104477"/>
                  <a:pt x="104477" y="107156"/>
                  <a:pt x="101203" y="107156"/>
                </a:cubicBezTo>
                <a:lnTo>
                  <a:pt x="89297" y="107156"/>
                </a:lnTo>
                <a:cubicBezTo>
                  <a:pt x="86023" y="107156"/>
                  <a:pt x="83344" y="104477"/>
                  <a:pt x="83344" y="101203"/>
                </a:cubicBezTo>
                <a:lnTo>
                  <a:pt x="83344" y="89297"/>
                </a:lnTo>
                <a:cubicBezTo>
                  <a:pt x="83344" y="86023"/>
                  <a:pt x="86023" y="83344"/>
                  <a:pt x="89297" y="83344"/>
                </a:cubicBezTo>
                <a:close/>
              </a:path>
            </a:pathLst>
          </a:custGeom>
          <a:solidFill>
            <a:srgbClr val="F8F7F2"/>
          </a:solidFill>
          <a:ln/>
        </p:spPr>
      </p:sp>
      <p:sp>
        <p:nvSpPr>
          <p:cNvPr id="8" name="Text 6"/>
          <p:cNvSpPr/>
          <p:nvPr/>
        </p:nvSpPr>
        <p:spPr>
          <a:xfrm>
            <a:off x="1181100" y="1795463"/>
            <a:ext cx="2286000" cy="295275"/>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Employer Information</a:t>
            </a:r>
            <a:endParaRPr lang="en-US" sz="1600" dirty="0"/>
          </a:p>
        </p:txBody>
      </p:sp>
      <p:sp>
        <p:nvSpPr>
          <p:cNvPr id="9" name="Text 7"/>
          <p:cNvSpPr/>
          <p:nvPr/>
        </p:nvSpPr>
        <p:spPr>
          <a:xfrm>
            <a:off x="609600" y="2324100"/>
            <a:ext cx="5210175" cy="190500"/>
          </a:xfrm>
          <a:prstGeom prst="rect">
            <a:avLst/>
          </a:prstGeom>
          <a:noFill/>
          <a:ln/>
        </p:spPr>
        <p:txBody>
          <a:bodyPr wrap="square" lIns="0" tIns="0" rIns="0" bIns="0" rtlCol="0" anchor="ctr"/>
          <a:lstStyle/>
          <a:p>
            <a:pPr>
              <a:lnSpc>
                <a:spcPct val="120000"/>
              </a:lnSpc>
            </a:pPr>
            <a:r>
              <a:rPr lang="en-US" sz="1050" b="1" spc="26" kern="0" dirty="0">
                <a:solidFill>
                  <a:srgbClr val="A88B6A"/>
                </a:solidFill>
                <a:latin typeface="Liter" pitchFamily="34" charset="0"/>
                <a:ea typeface="Liter" pitchFamily="34" charset="-122"/>
                <a:cs typeface="Liter" pitchFamily="34" charset="-120"/>
              </a:rPr>
              <a:t>Company Name</a:t>
            </a:r>
            <a:endParaRPr lang="en-US" sz="1600" dirty="0"/>
          </a:p>
        </p:txBody>
      </p:sp>
      <p:sp>
        <p:nvSpPr>
          <p:cNvPr id="10" name="Text 8"/>
          <p:cNvSpPr/>
          <p:nvPr/>
        </p:nvSpPr>
        <p:spPr>
          <a:xfrm>
            <a:off x="609600" y="2552700"/>
            <a:ext cx="5229225" cy="276225"/>
          </a:xfrm>
          <a:prstGeom prst="rect">
            <a:avLst/>
          </a:prstGeom>
          <a:noFill/>
          <a:ln/>
        </p:spPr>
        <p:txBody>
          <a:bodyPr wrap="square" lIns="0" tIns="0" rIns="0" bIns="0" rtlCol="0" anchor="ctr"/>
          <a:lstStyle/>
          <a:p>
            <a:pPr>
              <a:lnSpc>
                <a:spcPct val="140000"/>
              </a:lnSpc>
            </a:pPr>
            <a:r>
              <a:rPr lang="en-US" sz="1350" dirty="0">
                <a:solidFill>
                  <a:srgbClr val="2C3531"/>
                </a:solidFill>
                <a:latin typeface="Liter" pitchFamily="34" charset="0"/>
                <a:ea typeface="Liter" pitchFamily="34" charset="-122"/>
                <a:cs typeface="Liter" pitchFamily="34" charset="-120"/>
              </a:rPr>
              <a:t>[Greenhouse Operations Company Name]</a:t>
            </a:r>
            <a:endParaRPr lang="en-US" sz="1600" dirty="0"/>
          </a:p>
        </p:txBody>
      </p:sp>
      <p:sp>
        <p:nvSpPr>
          <p:cNvPr id="11" name="Text 9"/>
          <p:cNvSpPr/>
          <p:nvPr/>
        </p:nvSpPr>
        <p:spPr>
          <a:xfrm>
            <a:off x="609600" y="2981325"/>
            <a:ext cx="5210175" cy="190500"/>
          </a:xfrm>
          <a:prstGeom prst="rect">
            <a:avLst/>
          </a:prstGeom>
          <a:noFill/>
          <a:ln/>
        </p:spPr>
        <p:txBody>
          <a:bodyPr wrap="square" lIns="0" tIns="0" rIns="0" bIns="0" rtlCol="0" anchor="ctr"/>
          <a:lstStyle/>
          <a:p>
            <a:pPr>
              <a:lnSpc>
                <a:spcPct val="120000"/>
              </a:lnSpc>
            </a:pPr>
            <a:r>
              <a:rPr lang="en-US" sz="1050" b="1" spc="26" kern="0" dirty="0">
                <a:solidFill>
                  <a:srgbClr val="A88B6A"/>
                </a:solidFill>
                <a:latin typeface="Liter" pitchFamily="34" charset="0"/>
                <a:ea typeface="Liter" pitchFamily="34" charset="-122"/>
                <a:cs typeface="Liter" pitchFamily="34" charset="-120"/>
              </a:rPr>
              <a:t>Business Address</a:t>
            </a:r>
            <a:endParaRPr lang="en-US" sz="1600" dirty="0"/>
          </a:p>
        </p:txBody>
      </p:sp>
      <p:sp>
        <p:nvSpPr>
          <p:cNvPr id="12" name="Text 10"/>
          <p:cNvSpPr/>
          <p:nvPr/>
        </p:nvSpPr>
        <p:spPr>
          <a:xfrm>
            <a:off x="609600" y="3209925"/>
            <a:ext cx="5229225" cy="276225"/>
          </a:xfrm>
          <a:prstGeom prst="rect">
            <a:avLst/>
          </a:prstGeom>
          <a:noFill/>
          <a:ln/>
        </p:spPr>
        <p:txBody>
          <a:bodyPr wrap="square" lIns="0" tIns="0" rIns="0" bIns="0" rtlCol="0" anchor="ctr"/>
          <a:lstStyle/>
          <a:p>
            <a:pPr>
              <a:lnSpc>
                <a:spcPct val="140000"/>
              </a:lnSpc>
            </a:pPr>
            <a:r>
              <a:rPr lang="en-US" sz="1350" dirty="0">
                <a:solidFill>
                  <a:srgbClr val="2C3531"/>
                </a:solidFill>
                <a:latin typeface="Liter" pitchFamily="34" charset="0"/>
                <a:ea typeface="Liter" pitchFamily="34" charset="-122"/>
                <a:cs typeface="Liter" pitchFamily="34" charset="-120"/>
              </a:rPr>
              <a:t>[Full Business Address]</a:t>
            </a:r>
            <a:endParaRPr lang="en-US" sz="1600" dirty="0"/>
          </a:p>
        </p:txBody>
      </p:sp>
      <p:sp>
        <p:nvSpPr>
          <p:cNvPr id="13" name="Text 11"/>
          <p:cNvSpPr/>
          <p:nvPr/>
        </p:nvSpPr>
        <p:spPr>
          <a:xfrm>
            <a:off x="609600" y="3638550"/>
            <a:ext cx="5210175" cy="190500"/>
          </a:xfrm>
          <a:prstGeom prst="rect">
            <a:avLst/>
          </a:prstGeom>
          <a:noFill/>
          <a:ln/>
        </p:spPr>
        <p:txBody>
          <a:bodyPr wrap="square" lIns="0" tIns="0" rIns="0" bIns="0" rtlCol="0" anchor="ctr"/>
          <a:lstStyle/>
          <a:p>
            <a:pPr>
              <a:lnSpc>
                <a:spcPct val="120000"/>
              </a:lnSpc>
            </a:pPr>
            <a:r>
              <a:rPr lang="en-US" sz="1050" b="1" spc="26" kern="0" dirty="0">
                <a:solidFill>
                  <a:srgbClr val="A88B6A"/>
                </a:solidFill>
                <a:latin typeface="Liter" pitchFamily="34" charset="0"/>
                <a:ea typeface="Liter" pitchFamily="34" charset="-122"/>
                <a:cs typeface="Liter" pitchFamily="34" charset="-120"/>
              </a:rPr>
              <a:t>Contact Person</a:t>
            </a:r>
            <a:endParaRPr lang="en-US" sz="1600" dirty="0"/>
          </a:p>
        </p:txBody>
      </p:sp>
      <p:sp>
        <p:nvSpPr>
          <p:cNvPr id="14" name="Text 12"/>
          <p:cNvSpPr/>
          <p:nvPr/>
        </p:nvSpPr>
        <p:spPr>
          <a:xfrm>
            <a:off x="609600" y="3867150"/>
            <a:ext cx="5229225" cy="276225"/>
          </a:xfrm>
          <a:prstGeom prst="rect">
            <a:avLst/>
          </a:prstGeom>
          <a:noFill/>
          <a:ln/>
        </p:spPr>
        <p:txBody>
          <a:bodyPr wrap="square" lIns="0" tIns="0" rIns="0" bIns="0" rtlCol="0" anchor="ctr"/>
          <a:lstStyle/>
          <a:p>
            <a:pPr>
              <a:lnSpc>
                <a:spcPct val="140000"/>
              </a:lnSpc>
            </a:pPr>
            <a:r>
              <a:rPr lang="en-US" sz="1350" dirty="0">
                <a:solidFill>
                  <a:srgbClr val="2C3531"/>
                </a:solidFill>
                <a:latin typeface="Liter" pitchFamily="34" charset="0"/>
                <a:ea typeface="Liter" pitchFamily="34" charset="-122"/>
                <a:cs typeface="Liter" pitchFamily="34" charset="-120"/>
              </a:rPr>
              <a:t>[Supervisor/Manager Name &amp; Title]</a:t>
            </a:r>
            <a:endParaRPr lang="en-US" sz="1600" dirty="0"/>
          </a:p>
        </p:txBody>
      </p:sp>
      <p:sp>
        <p:nvSpPr>
          <p:cNvPr id="15" name="Shape 13"/>
          <p:cNvSpPr/>
          <p:nvPr/>
        </p:nvSpPr>
        <p:spPr>
          <a:xfrm>
            <a:off x="6210300" y="1485900"/>
            <a:ext cx="5600700" cy="3019425"/>
          </a:xfrm>
          <a:custGeom>
            <a:avLst/>
            <a:gdLst/>
            <a:ahLst/>
            <a:cxnLst/>
            <a:rect l="l" t="t" r="r" b="b"/>
            <a:pathLst>
              <a:path w="5600700" h="3019425">
                <a:moveTo>
                  <a:pt x="76210" y="0"/>
                </a:moveTo>
                <a:lnTo>
                  <a:pt x="5524490" y="0"/>
                </a:lnTo>
                <a:cubicBezTo>
                  <a:pt x="5566579" y="0"/>
                  <a:pt x="5600700" y="34121"/>
                  <a:pt x="5600700" y="76210"/>
                </a:cubicBezTo>
                <a:lnTo>
                  <a:pt x="5600700" y="2943215"/>
                </a:lnTo>
                <a:cubicBezTo>
                  <a:pt x="5600700" y="2985304"/>
                  <a:pt x="5566579" y="3019425"/>
                  <a:pt x="5524490" y="3019425"/>
                </a:cubicBezTo>
                <a:lnTo>
                  <a:pt x="76210" y="3019425"/>
                </a:lnTo>
                <a:cubicBezTo>
                  <a:pt x="34121" y="3019425"/>
                  <a:pt x="0" y="2985304"/>
                  <a:pt x="0" y="2943215"/>
                </a:cubicBezTo>
                <a:lnTo>
                  <a:pt x="0" y="76210"/>
                </a:lnTo>
                <a:cubicBezTo>
                  <a:pt x="0" y="34149"/>
                  <a:pt x="34149" y="0"/>
                  <a:pt x="7621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16" name="Shape 14"/>
          <p:cNvSpPr/>
          <p:nvPr/>
        </p:nvSpPr>
        <p:spPr>
          <a:xfrm>
            <a:off x="6438900" y="17145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A88B6A"/>
          </a:solidFill>
          <a:ln/>
        </p:spPr>
      </p:sp>
      <p:sp>
        <p:nvSpPr>
          <p:cNvPr id="17" name="Shape 15"/>
          <p:cNvSpPr/>
          <p:nvPr/>
        </p:nvSpPr>
        <p:spPr>
          <a:xfrm>
            <a:off x="6584156" y="1847850"/>
            <a:ext cx="166688" cy="190500"/>
          </a:xfrm>
          <a:custGeom>
            <a:avLst/>
            <a:gdLst/>
            <a:ahLst/>
            <a:cxnLst/>
            <a:rect l="l" t="t" r="r" b="b"/>
            <a:pathLst>
              <a:path w="166688" h="190500">
                <a:moveTo>
                  <a:pt x="83344" y="92273"/>
                </a:moveTo>
                <a:cubicBezTo>
                  <a:pt x="107986" y="92273"/>
                  <a:pt x="127992" y="72267"/>
                  <a:pt x="127992" y="47625"/>
                </a:cubicBezTo>
                <a:cubicBezTo>
                  <a:pt x="127992" y="22983"/>
                  <a:pt x="107986" y="2977"/>
                  <a:pt x="83344" y="2977"/>
                </a:cubicBezTo>
                <a:cubicBezTo>
                  <a:pt x="58702" y="2977"/>
                  <a:pt x="38695" y="22983"/>
                  <a:pt x="38695" y="47625"/>
                </a:cubicBezTo>
                <a:cubicBezTo>
                  <a:pt x="38695" y="72267"/>
                  <a:pt x="58702" y="92273"/>
                  <a:pt x="83344" y="92273"/>
                </a:cubicBezTo>
                <a:close/>
                <a:moveTo>
                  <a:pt x="72293" y="113109"/>
                </a:moveTo>
                <a:cubicBezTo>
                  <a:pt x="35644" y="113109"/>
                  <a:pt x="5953" y="142801"/>
                  <a:pt x="5953" y="179450"/>
                </a:cubicBezTo>
                <a:cubicBezTo>
                  <a:pt x="5953" y="185551"/>
                  <a:pt x="10902" y="190500"/>
                  <a:pt x="17004" y="190500"/>
                </a:cubicBezTo>
                <a:lnTo>
                  <a:pt x="149684" y="190500"/>
                </a:lnTo>
                <a:cubicBezTo>
                  <a:pt x="155786" y="190500"/>
                  <a:pt x="160734" y="185551"/>
                  <a:pt x="160734" y="179450"/>
                </a:cubicBezTo>
                <a:cubicBezTo>
                  <a:pt x="160734" y="142801"/>
                  <a:pt x="131043" y="113109"/>
                  <a:pt x="94394" y="113109"/>
                </a:cubicBezTo>
                <a:lnTo>
                  <a:pt x="72293" y="113109"/>
                </a:lnTo>
                <a:close/>
              </a:path>
            </a:pathLst>
          </a:custGeom>
          <a:solidFill>
            <a:srgbClr val="F8F7F2"/>
          </a:solidFill>
          <a:ln/>
        </p:spPr>
      </p:sp>
      <p:sp>
        <p:nvSpPr>
          <p:cNvPr id="18" name="Text 16"/>
          <p:cNvSpPr/>
          <p:nvPr/>
        </p:nvSpPr>
        <p:spPr>
          <a:xfrm>
            <a:off x="7010400" y="1795463"/>
            <a:ext cx="2295525" cy="295275"/>
          </a:xfrm>
          <a:prstGeom prst="rect">
            <a:avLst/>
          </a:prstGeom>
          <a:noFill/>
          <a:ln/>
        </p:spPr>
        <p:txBody>
          <a:bodyPr wrap="square" lIns="0" tIns="0" rIns="0" bIns="0" rtlCol="0" anchor="ctr"/>
          <a:lstStyle/>
          <a:p>
            <a:pPr>
              <a:lnSpc>
                <a:spcPct val="110000"/>
              </a:lnSpc>
            </a:pPr>
            <a:r>
              <a:rPr lang="en-US" sz="1800" b="1" dirty="0">
                <a:solidFill>
                  <a:srgbClr val="4A5D52"/>
                </a:solidFill>
                <a:latin typeface="Unna" pitchFamily="34" charset="0"/>
                <a:ea typeface="Unna" pitchFamily="34" charset="-122"/>
                <a:cs typeface="Unna" pitchFamily="34" charset="-120"/>
              </a:rPr>
              <a:t>Employee Information</a:t>
            </a:r>
            <a:endParaRPr lang="en-US" sz="1600" dirty="0"/>
          </a:p>
        </p:txBody>
      </p:sp>
      <p:sp>
        <p:nvSpPr>
          <p:cNvPr id="19" name="Text 17"/>
          <p:cNvSpPr/>
          <p:nvPr/>
        </p:nvSpPr>
        <p:spPr>
          <a:xfrm>
            <a:off x="6438900" y="2324100"/>
            <a:ext cx="5210175" cy="190500"/>
          </a:xfrm>
          <a:prstGeom prst="rect">
            <a:avLst/>
          </a:prstGeom>
          <a:noFill/>
          <a:ln/>
        </p:spPr>
        <p:txBody>
          <a:bodyPr wrap="square" lIns="0" tIns="0" rIns="0" bIns="0" rtlCol="0" anchor="ctr"/>
          <a:lstStyle/>
          <a:p>
            <a:pPr>
              <a:lnSpc>
                <a:spcPct val="120000"/>
              </a:lnSpc>
            </a:pPr>
            <a:r>
              <a:rPr lang="en-US" sz="1050" b="1" spc="26" kern="0" dirty="0">
                <a:solidFill>
                  <a:srgbClr val="A88B6A"/>
                </a:solidFill>
                <a:latin typeface="Liter" pitchFamily="34" charset="0"/>
                <a:ea typeface="Liter" pitchFamily="34" charset="-122"/>
                <a:cs typeface="Liter" pitchFamily="34" charset="-120"/>
              </a:rPr>
              <a:t>Full Legal Name</a:t>
            </a:r>
            <a:endParaRPr lang="en-US" sz="1600" dirty="0"/>
          </a:p>
        </p:txBody>
      </p:sp>
      <p:sp>
        <p:nvSpPr>
          <p:cNvPr id="20" name="Text 18"/>
          <p:cNvSpPr/>
          <p:nvPr/>
        </p:nvSpPr>
        <p:spPr>
          <a:xfrm>
            <a:off x="6438900" y="2552700"/>
            <a:ext cx="5229225" cy="276225"/>
          </a:xfrm>
          <a:prstGeom prst="rect">
            <a:avLst/>
          </a:prstGeom>
          <a:noFill/>
          <a:ln/>
        </p:spPr>
        <p:txBody>
          <a:bodyPr wrap="square" lIns="0" tIns="0" rIns="0" bIns="0" rtlCol="0" anchor="ctr"/>
          <a:lstStyle/>
          <a:p>
            <a:pPr>
              <a:lnSpc>
                <a:spcPct val="140000"/>
              </a:lnSpc>
            </a:pPr>
            <a:r>
              <a:rPr lang="en-US" sz="1350" dirty="0">
                <a:solidFill>
                  <a:srgbClr val="2C3531"/>
                </a:solidFill>
                <a:latin typeface="Liter" pitchFamily="34" charset="0"/>
                <a:ea typeface="Liter" pitchFamily="34" charset="-122"/>
                <a:cs typeface="Liter" pitchFamily="34" charset="-120"/>
              </a:rPr>
              <a:t>[Employee Full Name]</a:t>
            </a:r>
            <a:endParaRPr lang="en-US" sz="1600" dirty="0"/>
          </a:p>
        </p:txBody>
      </p:sp>
      <p:sp>
        <p:nvSpPr>
          <p:cNvPr id="21" name="Text 19"/>
          <p:cNvSpPr/>
          <p:nvPr/>
        </p:nvSpPr>
        <p:spPr>
          <a:xfrm>
            <a:off x="6438900" y="2981325"/>
            <a:ext cx="5210175" cy="190500"/>
          </a:xfrm>
          <a:prstGeom prst="rect">
            <a:avLst/>
          </a:prstGeom>
          <a:noFill/>
          <a:ln/>
        </p:spPr>
        <p:txBody>
          <a:bodyPr wrap="square" lIns="0" tIns="0" rIns="0" bIns="0" rtlCol="0" anchor="ctr"/>
          <a:lstStyle/>
          <a:p>
            <a:pPr>
              <a:lnSpc>
                <a:spcPct val="120000"/>
              </a:lnSpc>
            </a:pPr>
            <a:r>
              <a:rPr lang="en-US" sz="1050" b="1" spc="26" kern="0" dirty="0">
                <a:solidFill>
                  <a:srgbClr val="A88B6A"/>
                </a:solidFill>
                <a:latin typeface="Liter" pitchFamily="34" charset="0"/>
                <a:ea typeface="Liter" pitchFamily="34" charset="-122"/>
                <a:cs typeface="Liter" pitchFamily="34" charset="-120"/>
              </a:rPr>
              <a:t>Residential Address</a:t>
            </a:r>
            <a:endParaRPr lang="en-US" sz="1600" dirty="0"/>
          </a:p>
        </p:txBody>
      </p:sp>
      <p:sp>
        <p:nvSpPr>
          <p:cNvPr id="22" name="Text 20"/>
          <p:cNvSpPr/>
          <p:nvPr/>
        </p:nvSpPr>
        <p:spPr>
          <a:xfrm>
            <a:off x="6438900" y="3209925"/>
            <a:ext cx="5229225" cy="276225"/>
          </a:xfrm>
          <a:prstGeom prst="rect">
            <a:avLst/>
          </a:prstGeom>
          <a:noFill/>
          <a:ln/>
        </p:spPr>
        <p:txBody>
          <a:bodyPr wrap="square" lIns="0" tIns="0" rIns="0" bIns="0" rtlCol="0" anchor="ctr"/>
          <a:lstStyle/>
          <a:p>
            <a:pPr>
              <a:lnSpc>
                <a:spcPct val="140000"/>
              </a:lnSpc>
            </a:pPr>
            <a:r>
              <a:rPr lang="en-US" sz="1350" dirty="0">
                <a:solidFill>
                  <a:srgbClr val="2C3531"/>
                </a:solidFill>
                <a:latin typeface="Liter" pitchFamily="34" charset="0"/>
                <a:ea typeface="Liter" pitchFamily="34" charset="-122"/>
                <a:cs typeface="Liter" pitchFamily="34" charset="-120"/>
              </a:rPr>
              <a:t>[Employee Home Address]</a:t>
            </a:r>
            <a:endParaRPr lang="en-US" sz="1600" dirty="0"/>
          </a:p>
        </p:txBody>
      </p:sp>
      <p:sp>
        <p:nvSpPr>
          <p:cNvPr id="23" name="Text 21"/>
          <p:cNvSpPr/>
          <p:nvPr/>
        </p:nvSpPr>
        <p:spPr>
          <a:xfrm>
            <a:off x="6438900" y="3638550"/>
            <a:ext cx="5210175" cy="190500"/>
          </a:xfrm>
          <a:prstGeom prst="rect">
            <a:avLst/>
          </a:prstGeom>
          <a:noFill/>
          <a:ln/>
        </p:spPr>
        <p:txBody>
          <a:bodyPr wrap="square" lIns="0" tIns="0" rIns="0" bIns="0" rtlCol="0" anchor="ctr"/>
          <a:lstStyle/>
          <a:p>
            <a:pPr>
              <a:lnSpc>
                <a:spcPct val="120000"/>
              </a:lnSpc>
            </a:pPr>
            <a:r>
              <a:rPr lang="en-US" sz="1050" b="1" spc="26" kern="0" dirty="0">
                <a:solidFill>
                  <a:srgbClr val="A88B6A"/>
                </a:solidFill>
                <a:latin typeface="Liter" pitchFamily="34" charset="0"/>
                <a:ea typeface="Liter" pitchFamily="34" charset="-122"/>
                <a:cs typeface="Liter" pitchFamily="34" charset="-120"/>
              </a:rPr>
              <a:t>Contact Information</a:t>
            </a:r>
            <a:endParaRPr lang="en-US" sz="1600" dirty="0"/>
          </a:p>
        </p:txBody>
      </p:sp>
      <p:sp>
        <p:nvSpPr>
          <p:cNvPr id="24" name="Text 22"/>
          <p:cNvSpPr/>
          <p:nvPr/>
        </p:nvSpPr>
        <p:spPr>
          <a:xfrm>
            <a:off x="6438900" y="3867150"/>
            <a:ext cx="5229225" cy="276225"/>
          </a:xfrm>
          <a:prstGeom prst="rect">
            <a:avLst/>
          </a:prstGeom>
          <a:noFill/>
          <a:ln/>
        </p:spPr>
        <p:txBody>
          <a:bodyPr wrap="square" lIns="0" tIns="0" rIns="0" bIns="0" rtlCol="0" anchor="ctr"/>
          <a:lstStyle/>
          <a:p>
            <a:pPr>
              <a:lnSpc>
                <a:spcPct val="140000"/>
              </a:lnSpc>
            </a:pPr>
            <a:r>
              <a:rPr lang="en-US" sz="1350" dirty="0">
                <a:solidFill>
                  <a:srgbClr val="2C3531"/>
                </a:solidFill>
                <a:latin typeface="Liter" pitchFamily="34" charset="0"/>
                <a:ea typeface="Liter" pitchFamily="34" charset="-122"/>
                <a:cs typeface="Liter" pitchFamily="34" charset="-120"/>
              </a:rPr>
              <a:t>[Phone Number &amp; Email Address]</a:t>
            </a:r>
            <a:endParaRPr lang="en-US" sz="1600" dirty="0"/>
          </a:p>
        </p:txBody>
      </p:sp>
      <p:sp>
        <p:nvSpPr>
          <p:cNvPr id="25" name="Shape 23"/>
          <p:cNvSpPr/>
          <p:nvPr/>
        </p:nvSpPr>
        <p:spPr>
          <a:xfrm>
            <a:off x="381000" y="4733925"/>
            <a:ext cx="11430000" cy="1743075"/>
          </a:xfrm>
          <a:custGeom>
            <a:avLst/>
            <a:gdLst/>
            <a:ahLst/>
            <a:cxnLst/>
            <a:rect l="l" t="t" r="r" b="b"/>
            <a:pathLst>
              <a:path w="11430000" h="1743075">
                <a:moveTo>
                  <a:pt x="76207" y="0"/>
                </a:moveTo>
                <a:lnTo>
                  <a:pt x="11353793" y="0"/>
                </a:lnTo>
                <a:cubicBezTo>
                  <a:pt x="11395881" y="0"/>
                  <a:pt x="11430000" y="34119"/>
                  <a:pt x="11430000" y="76207"/>
                </a:cubicBezTo>
                <a:lnTo>
                  <a:pt x="11430000" y="1666868"/>
                </a:lnTo>
                <a:cubicBezTo>
                  <a:pt x="11430000" y="1708956"/>
                  <a:pt x="11395881" y="1743075"/>
                  <a:pt x="11353793" y="1743075"/>
                </a:cubicBezTo>
                <a:lnTo>
                  <a:pt x="76207" y="1743075"/>
                </a:lnTo>
                <a:cubicBezTo>
                  <a:pt x="34119" y="1743075"/>
                  <a:pt x="0" y="1708956"/>
                  <a:pt x="0" y="1666868"/>
                </a:cubicBezTo>
                <a:lnTo>
                  <a:pt x="0" y="76207"/>
                </a:lnTo>
                <a:cubicBezTo>
                  <a:pt x="0" y="34147"/>
                  <a:pt x="34147" y="0"/>
                  <a:pt x="76207" y="0"/>
                </a:cubicBezTo>
                <a:close/>
              </a:path>
            </a:pathLst>
          </a:custGeom>
          <a:solidFill>
            <a:srgbClr val="4A5D52"/>
          </a:solidFill>
          <a:ln/>
        </p:spPr>
      </p:sp>
      <p:sp>
        <p:nvSpPr>
          <p:cNvPr id="26" name="Shape 24"/>
          <p:cNvSpPr/>
          <p:nvPr/>
        </p:nvSpPr>
        <p:spPr>
          <a:xfrm>
            <a:off x="609600" y="49625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D4A056"/>
          </a:solidFill>
          <a:ln/>
        </p:spPr>
      </p:sp>
      <p:sp>
        <p:nvSpPr>
          <p:cNvPr id="27" name="Shape 25"/>
          <p:cNvSpPr/>
          <p:nvPr/>
        </p:nvSpPr>
        <p:spPr>
          <a:xfrm>
            <a:off x="747713" y="5114925"/>
            <a:ext cx="257175" cy="228600"/>
          </a:xfrm>
          <a:custGeom>
            <a:avLst/>
            <a:gdLst/>
            <a:ahLst/>
            <a:cxnLst/>
            <a:rect l="l" t="t" r="r" b="b"/>
            <a:pathLst>
              <a:path w="257175" h="228600">
                <a:moveTo>
                  <a:pt x="120060" y="38040"/>
                </a:moveTo>
                <a:lnTo>
                  <a:pt x="68000" y="95905"/>
                </a:lnTo>
                <a:cubicBezTo>
                  <a:pt x="65946" y="98182"/>
                  <a:pt x="66035" y="101709"/>
                  <a:pt x="68223" y="103897"/>
                </a:cubicBezTo>
                <a:cubicBezTo>
                  <a:pt x="81841" y="117515"/>
                  <a:pt x="103942" y="117515"/>
                  <a:pt x="117559" y="103897"/>
                </a:cubicBezTo>
                <a:lnTo>
                  <a:pt x="131758" y="89699"/>
                </a:lnTo>
                <a:cubicBezTo>
                  <a:pt x="133633" y="87823"/>
                  <a:pt x="135999" y="86797"/>
                  <a:pt x="138410" y="86618"/>
                </a:cubicBezTo>
                <a:cubicBezTo>
                  <a:pt x="141446" y="86350"/>
                  <a:pt x="144572" y="87377"/>
                  <a:pt x="146893" y="89699"/>
                </a:cubicBezTo>
                <a:lnTo>
                  <a:pt x="225743" y="167878"/>
                </a:lnTo>
                <a:lnTo>
                  <a:pt x="257175" y="142875"/>
                </a:lnTo>
                <a:lnTo>
                  <a:pt x="257175" y="14288"/>
                </a:lnTo>
                <a:lnTo>
                  <a:pt x="207169" y="42863"/>
                </a:lnTo>
                <a:lnTo>
                  <a:pt x="196542" y="35763"/>
                </a:lnTo>
                <a:cubicBezTo>
                  <a:pt x="189488" y="31075"/>
                  <a:pt x="181228" y="28575"/>
                  <a:pt x="172745" y="28575"/>
                </a:cubicBezTo>
                <a:lnTo>
                  <a:pt x="141312" y="28575"/>
                </a:lnTo>
                <a:cubicBezTo>
                  <a:pt x="140821" y="28575"/>
                  <a:pt x="140285" y="28575"/>
                  <a:pt x="139794" y="28620"/>
                </a:cubicBezTo>
                <a:cubicBezTo>
                  <a:pt x="132249" y="29021"/>
                  <a:pt x="125150" y="32415"/>
                  <a:pt x="120060" y="38040"/>
                </a:cubicBezTo>
                <a:close/>
                <a:moveTo>
                  <a:pt x="52060" y="81573"/>
                </a:moveTo>
                <a:lnTo>
                  <a:pt x="99745" y="28575"/>
                </a:lnTo>
                <a:lnTo>
                  <a:pt x="82064" y="28575"/>
                </a:lnTo>
                <a:cubicBezTo>
                  <a:pt x="70678" y="28575"/>
                  <a:pt x="59784" y="33084"/>
                  <a:pt x="51748" y="41121"/>
                </a:cubicBezTo>
                <a:lnTo>
                  <a:pt x="50006" y="42863"/>
                </a:lnTo>
                <a:lnTo>
                  <a:pt x="0" y="14288"/>
                </a:lnTo>
                <a:lnTo>
                  <a:pt x="0" y="142875"/>
                </a:lnTo>
                <a:lnTo>
                  <a:pt x="69830" y="201052"/>
                </a:lnTo>
                <a:cubicBezTo>
                  <a:pt x="80099" y="209624"/>
                  <a:pt x="93047" y="214313"/>
                  <a:pt x="106397" y="214313"/>
                </a:cubicBezTo>
                <a:lnTo>
                  <a:pt x="113407" y="214313"/>
                </a:lnTo>
                <a:lnTo>
                  <a:pt x="110282" y="211187"/>
                </a:lnTo>
                <a:cubicBezTo>
                  <a:pt x="106085" y="206990"/>
                  <a:pt x="106085" y="200204"/>
                  <a:pt x="110282" y="196051"/>
                </a:cubicBezTo>
                <a:cubicBezTo>
                  <a:pt x="114479" y="191899"/>
                  <a:pt x="121265" y="191854"/>
                  <a:pt x="125417" y="196051"/>
                </a:cubicBezTo>
                <a:lnTo>
                  <a:pt x="143723" y="214357"/>
                </a:lnTo>
                <a:lnTo>
                  <a:pt x="147742" y="214357"/>
                </a:lnTo>
                <a:cubicBezTo>
                  <a:pt x="156270" y="214357"/>
                  <a:pt x="164619" y="212437"/>
                  <a:pt x="172209" y="208865"/>
                </a:cubicBezTo>
                <a:lnTo>
                  <a:pt x="160288" y="196900"/>
                </a:lnTo>
                <a:cubicBezTo>
                  <a:pt x="156091" y="192703"/>
                  <a:pt x="156091" y="185916"/>
                  <a:pt x="160288" y="181764"/>
                </a:cubicBezTo>
                <a:cubicBezTo>
                  <a:pt x="164485" y="177611"/>
                  <a:pt x="171271" y="177567"/>
                  <a:pt x="175424" y="181764"/>
                </a:cubicBezTo>
                <a:lnTo>
                  <a:pt x="189711" y="196051"/>
                </a:lnTo>
                <a:lnTo>
                  <a:pt x="197525" y="188238"/>
                </a:lnTo>
                <a:cubicBezTo>
                  <a:pt x="201498" y="184264"/>
                  <a:pt x="202659" y="178504"/>
                  <a:pt x="200918" y="173459"/>
                </a:cubicBezTo>
                <a:lnTo>
                  <a:pt x="139348" y="112380"/>
                </a:lnTo>
                <a:lnTo>
                  <a:pt x="132695" y="119033"/>
                </a:lnTo>
                <a:cubicBezTo>
                  <a:pt x="110683" y="141044"/>
                  <a:pt x="75054" y="141044"/>
                  <a:pt x="53042" y="119033"/>
                </a:cubicBezTo>
                <a:cubicBezTo>
                  <a:pt x="42773" y="108764"/>
                  <a:pt x="42371" y="92288"/>
                  <a:pt x="52060" y="81528"/>
                </a:cubicBezTo>
                <a:close/>
              </a:path>
            </a:pathLst>
          </a:custGeom>
          <a:solidFill>
            <a:srgbClr val="2C3531"/>
          </a:solidFill>
          <a:ln/>
        </p:spPr>
      </p:sp>
      <p:sp>
        <p:nvSpPr>
          <p:cNvPr id="28" name="Text 26"/>
          <p:cNvSpPr/>
          <p:nvPr/>
        </p:nvSpPr>
        <p:spPr>
          <a:xfrm>
            <a:off x="1295400" y="4962525"/>
            <a:ext cx="10401300" cy="295275"/>
          </a:xfrm>
          <a:prstGeom prst="rect">
            <a:avLst/>
          </a:prstGeom>
          <a:noFill/>
          <a:ln/>
        </p:spPr>
        <p:txBody>
          <a:bodyPr wrap="square" lIns="0" tIns="0" rIns="0" bIns="0" rtlCol="0" anchor="ctr"/>
          <a:lstStyle/>
          <a:p>
            <a:pPr>
              <a:lnSpc>
                <a:spcPct val="110000"/>
              </a:lnSpc>
            </a:pPr>
            <a:r>
              <a:rPr lang="en-US" sz="1800" b="1" dirty="0">
                <a:solidFill>
                  <a:srgbClr val="F8F7F2"/>
                </a:solidFill>
                <a:latin typeface="Unna" pitchFamily="34" charset="0"/>
                <a:ea typeface="Unna" pitchFamily="34" charset="-122"/>
                <a:cs typeface="Unna" pitchFamily="34" charset="-120"/>
              </a:rPr>
              <a:t>Purpose of This Agreement</a:t>
            </a:r>
            <a:endParaRPr lang="en-US" sz="1600" dirty="0"/>
          </a:p>
        </p:txBody>
      </p:sp>
      <p:sp>
        <p:nvSpPr>
          <p:cNvPr id="29" name="Text 27"/>
          <p:cNvSpPr/>
          <p:nvPr/>
        </p:nvSpPr>
        <p:spPr>
          <a:xfrm>
            <a:off x="1295400" y="5372100"/>
            <a:ext cx="10363200" cy="742950"/>
          </a:xfrm>
          <a:prstGeom prst="rect">
            <a:avLst/>
          </a:prstGeom>
          <a:noFill/>
          <a:ln/>
        </p:spPr>
        <p:txBody>
          <a:bodyPr wrap="square" lIns="0" tIns="0" rIns="0" bIns="0" rtlCol="0" anchor="ctr"/>
          <a:lstStyle/>
          <a:p>
            <a:pPr>
              <a:lnSpc>
                <a:spcPct val="140000"/>
              </a:lnSpc>
            </a:pPr>
            <a:r>
              <a:rPr lang="en-US" sz="1200" dirty="0">
                <a:solidFill>
                  <a:srgbClr val="F8F7F2">
                    <a:alpha val="90000"/>
                  </a:srgbClr>
                </a:solidFill>
                <a:latin typeface="Liter" pitchFamily="34" charset="0"/>
                <a:ea typeface="Liter" pitchFamily="34" charset="-122"/>
                <a:cs typeface="Liter" pitchFamily="34" charset="-120"/>
              </a:rPr>
              <a:t>This Employment Contract establishes the terms and conditions of employment between the Employer and Employee for work performed at the greenhouse facility during the </a:t>
            </a:r>
            <a:pPr>
              <a:lnSpc>
                <a:spcPct val="140000"/>
              </a:lnSpc>
            </a:pPr>
            <a:r>
              <a:rPr lang="en-US" sz="1200" b="1" dirty="0">
                <a:solidFill>
                  <a:srgbClr val="F8F7F2">
                    <a:alpha val="90000"/>
                  </a:srgbClr>
                </a:solidFill>
                <a:highlight>
                  <a:srgbClr val="D4A056">
                    <a:alpha val="30000"/>
                  </a:srgbClr>
                </a:highlight>
                <a:latin typeface="Liter" pitchFamily="34" charset="0"/>
                <a:ea typeface="Liter" pitchFamily="34" charset="-122"/>
                <a:cs typeface="Liter" pitchFamily="34" charset="-120"/>
              </a:rPr>
              <a:t>8-month Habanero growing season </a:t>
            </a:r>
            <a:pPr>
              <a:lnSpc>
                <a:spcPct val="140000"/>
              </a:lnSpc>
            </a:pPr>
            <a:r>
              <a:rPr lang="en-US" sz="1200" dirty="0">
                <a:solidFill>
                  <a:srgbClr val="F8F7F2">
                    <a:alpha val="90000"/>
                  </a:srgbClr>
                </a:solidFill>
                <a:latin typeface="Liter" pitchFamily="34" charset="0"/>
                <a:ea typeface="Liter" pitchFamily="34" charset="-122"/>
                <a:cs typeface="Liter" pitchFamily="34" charset="-120"/>
              </a:rPr>
              <a:t>. The contract outlines job responsibilities, compensation, work standards, disciplinary procedures, and termination conditions to ensure clear expectations and professional working relationships.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63398" y="363398"/>
            <a:ext cx="4424370" cy="181699"/>
          </a:xfrm>
          <a:prstGeom prst="rect">
            <a:avLst/>
          </a:prstGeom>
          <a:noFill/>
          <a:ln/>
        </p:spPr>
        <p:txBody>
          <a:bodyPr wrap="square" lIns="0" tIns="0" rIns="0" bIns="0" rtlCol="0" anchor="ctr"/>
          <a:lstStyle/>
          <a:p>
            <a:pPr>
              <a:lnSpc>
                <a:spcPct val="120000"/>
              </a:lnSpc>
            </a:pPr>
            <a:r>
              <a:rPr lang="en-US" sz="1001" b="1" spc="100" kern="0" dirty="0">
                <a:solidFill>
                  <a:srgbClr val="A88B6A"/>
                </a:solidFill>
                <a:latin typeface="Liter" pitchFamily="34" charset="0"/>
                <a:ea typeface="Liter" pitchFamily="34" charset="-122"/>
                <a:cs typeface="Liter" pitchFamily="34" charset="-120"/>
              </a:rPr>
              <a:t>Section 2</a:t>
            </a:r>
            <a:endParaRPr lang="en-US" sz="1600" dirty="0"/>
          </a:p>
        </p:txBody>
      </p:sp>
      <p:sp>
        <p:nvSpPr>
          <p:cNvPr id="3" name="Text 1"/>
          <p:cNvSpPr/>
          <p:nvPr/>
        </p:nvSpPr>
        <p:spPr>
          <a:xfrm>
            <a:off x="363398" y="617776"/>
            <a:ext cx="4578814" cy="1090194"/>
          </a:xfrm>
          <a:prstGeom prst="rect">
            <a:avLst/>
          </a:prstGeom>
          <a:noFill/>
          <a:ln/>
        </p:spPr>
        <p:txBody>
          <a:bodyPr wrap="square" lIns="0" tIns="0" rIns="0" bIns="0" rtlCol="0" anchor="ctr"/>
          <a:lstStyle/>
          <a:p>
            <a:pPr>
              <a:lnSpc>
                <a:spcPct val="100000"/>
              </a:lnSpc>
            </a:pPr>
            <a:r>
              <a:rPr lang="en-US" sz="3434" b="1" dirty="0">
                <a:solidFill>
                  <a:srgbClr val="4A5D52"/>
                </a:solidFill>
                <a:latin typeface="Oranienbaum" pitchFamily="34" charset="0"/>
                <a:ea typeface="Oranienbaum" pitchFamily="34" charset="-122"/>
                <a:cs typeface="Oranienbaum" pitchFamily="34" charset="-120"/>
              </a:rPr>
              <a:t>Position &amp;</a:t>
            </a:r>
            <a:endParaRPr lang="en-US" sz="1600" dirty="0"/>
          </a:p>
          <a:p>
            <a:pPr>
              <a:lnSpc>
                <a:spcPct val="100000"/>
              </a:lnSpc>
            </a:pPr>
            <a:r>
              <a:rPr lang="en-US" sz="3434" b="1" dirty="0">
                <a:solidFill>
                  <a:srgbClr val="4A5D52"/>
                </a:solidFill>
                <a:latin typeface="Oranienbaum" pitchFamily="34" charset="0"/>
                <a:ea typeface="Oranienbaum" pitchFamily="34" charset="-122"/>
                <a:cs typeface="Oranienbaum" pitchFamily="34" charset="-120"/>
              </a:rPr>
              <a:t>Employment Duration</a:t>
            </a:r>
            <a:endParaRPr lang="en-US" sz="1600" dirty="0"/>
          </a:p>
        </p:txBody>
      </p:sp>
      <p:sp>
        <p:nvSpPr>
          <p:cNvPr id="4" name="Shape 2"/>
          <p:cNvSpPr/>
          <p:nvPr/>
        </p:nvSpPr>
        <p:spPr>
          <a:xfrm>
            <a:off x="363398" y="1816990"/>
            <a:ext cx="726796" cy="36340"/>
          </a:xfrm>
          <a:custGeom>
            <a:avLst/>
            <a:gdLst/>
            <a:ahLst/>
            <a:cxnLst/>
            <a:rect l="l" t="t" r="r" b="b"/>
            <a:pathLst>
              <a:path w="726796" h="36340">
                <a:moveTo>
                  <a:pt x="0" y="0"/>
                </a:moveTo>
                <a:lnTo>
                  <a:pt x="726796" y="0"/>
                </a:lnTo>
                <a:lnTo>
                  <a:pt x="726796" y="36340"/>
                </a:lnTo>
                <a:lnTo>
                  <a:pt x="0" y="36340"/>
                </a:lnTo>
                <a:lnTo>
                  <a:pt x="0" y="0"/>
                </a:lnTo>
                <a:close/>
              </a:path>
            </a:pathLst>
          </a:custGeom>
          <a:solidFill>
            <a:srgbClr val="D4A056"/>
          </a:solidFill>
          <a:ln/>
        </p:spPr>
      </p:sp>
      <p:sp>
        <p:nvSpPr>
          <p:cNvPr id="5" name="Shape 3"/>
          <p:cNvSpPr/>
          <p:nvPr/>
        </p:nvSpPr>
        <p:spPr>
          <a:xfrm>
            <a:off x="363398" y="2071368"/>
            <a:ext cx="4360775" cy="4424370"/>
          </a:xfrm>
          <a:custGeom>
            <a:avLst/>
            <a:gdLst/>
            <a:ahLst/>
            <a:cxnLst/>
            <a:rect l="l" t="t" r="r" b="b"/>
            <a:pathLst>
              <a:path w="4360775" h="4424370">
                <a:moveTo>
                  <a:pt x="72694" y="0"/>
                </a:moveTo>
                <a:lnTo>
                  <a:pt x="4288081" y="0"/>
                </a:lnTo>
                <a:cubicBezTo>
                  <a:pt x="4328229" y="0"/>
                  <a:pt x="4360775" y="32546"/>
                  <a:pt x="4360775" y="72694"/>
                </a:cubicBezTo>
                <a:lnTo>
                  <a:pt x="4360775" y="4351675"/>
                </a:lnTo>
                <a:cubicBezTo>
                  <a:pt x="4360775" y="4391823"/>
                  <a:pt x="4328229" y="4424370"/>
                  <a:pt x="4288081" y="4424370"/>
                </a:cubicBezTo>
                <a:lnTo>
                  <a:pt x="72694" y="4424370"/>
                </a:lnTo>
                <a:cubicBezTo>
                  <a:pt x="32546" y="4424370"/>
                  <a:pt x="0" y="4391823"/>
                  <a:pt x="0" y="4351675"/>
                </a:cubicBezTo>
                <a:lnTo>
                  <a:pt x="0" y="72694"/>
                </a:lnTo>
                <a:cubicBezTo>
                  <a:pt x="0" y="32573"/>
                  <a:pt x="32573" y="0"/>
                  <a:pt x="72694" y="0"/>
                </a:cubicBezTo>
                <a:close/>
              </a:path>
            </a:pathLst>
          </a:custGeom>
          <a:solidFill>
            <a:srgbClr val="4A5D52"/>
          </a:solidFill>
          <a:ln/>
        </p:spPr>
      </p:sp>
      <p:sp>
        <p:nvSpPr>
          <p:cNvPr id="6" name="Shape 4"/>
          <p:cNvSpPr/>
          <p:nvPr/>
        </p:nvSpPr>
        <p:spPr>
          <a:xfrm>
            <a:off x="756322" y="2398426"/>
            <a:ext cx="476960" cy="545097"/>
          </a:xfrm>
          <a:custGeom>
            <a:avLst/>
            <a:gdLst/>
            <a:ahLst/>
            <a:cxnLst/>
            <a:rect l="l" t="t" r="r" b="b"/>
            <a:pathLst>
              <a:path w="476960" h="545097">
                <a:moveTo>
                  <a:pt x="136274" y="0"/>
                </a:moveTo>
                <a:cubicBezTo>
                  <a:pt x="155118" y="0"/>
                  <a:pt x="170343" y="15224"/>
                  <a:pt x="170343" y="34069"/>
                </a:cubicBezTo>
                <a:lnTo>
                  <a:pt x="170343" y="68137"/>
                </a:lnTo>
                <a:lnTo>
                  <a:pt x="306617" y="68137"/>
                </a:lnTo>
                <a:lnTo>
                  <a:pt x="306617" y="34069"/>
                </a:lnTo>
                <a:cubicBezTo>
                  <a:pt x="306617" y="15224"/>
                  <a:pt x="321841" y="0"/>
                  <a:pt x="340686" y="0"/>
                </a:cubicBezTo>
                <a:cubicBezTo>
                  <a:pt x="359530" y="0"/>
                  <a:pt x="374754" y="15224"/>
                  <a:pt x="374754" y="34069"/>
                </a:cubicBezTo>
                <a:lnTo>
                  <a:pt x="374754" y="68137"/>
                </a:lnTo>
                <a:lnTo>
                  <a:pt x="408823" y="68137"/>
                </a:lnTo>
                <a:cubicBezTo>
                  <a:pt x="446405" y="68137"/>
                  <a:pt x="476960" y="98692"/>
                  <a:pt x="476960" y="136274"/>
                </a:cubicBezTo>
                <a:lnTo>
                  <a:pt x="476960" y="442891"/>
                </a:lnTo>
                <a:cubicBezTo>
                  <a:pt x="476960" y="480473"/>
                  <a:pt x="446405" y="511028"/>
                  <a:pt x="408823" y="511028"/>
                </a:cubicBezTo>
                <a:lnTo>
                  <a:pt x="68137" y="511028"/>
                </a:lnTo>
                <a:cubicBezTo>
                  <a:pt x="30555" y="511028"/>
                  <a:pt x="0" y="480473"/>
                  <a:pt x="0" y="442891"/>
                </a:cubicBezTo>
                <a:lnTo>
                  <a:pt x="0" y="136274"/>
                </a:lnTo>
                <a:cubicBezTo>
                  <a:pt x="0" y="98692"/>
                  <a:pt x="30555" y="68137"/>
                  <a:pt x="68137" y="68137"/>
                </a:cubicBezTo>
                <a:lnTo>
                  <a:pt x="102206" y="68137"/>
                </a:lnTo>
                <a:lnTo>
                  <a:pt x="102206" y="34069"/>
                </a:lnTo>
                <a:cubicBezTo>
                  <a:pt x="102206" y="15224"/>
                  <a:pt x="117430" y="0"/>
                  <a:pt x="136274" y="0"/>
                </a:cubicBezTo>
                <a:close/>
                <a:moveTo>
                  <a:pt x="328336" y="243484"/>
                </a:moveTo>
                <a:cubicBezTo>
                  <a:pt x="335788" y="231560"/>
                  <a:pt x="332168" y="215803"/>
                  <a:pt x="320244" y="208244"/>
                </a:cubicBezTo>
                <a:cubicBezTo>
                  <a:pt x="308320" y="200685"/>
                  <a:pt x="292564" y="204411"/>
                  <a:pt x="285005" y="216335"/>
                </a:cubicBezTo>
                <a:lnTo>
                  <a:pt x="219636" y="320990"/>
                </a:lnTo>
                <a:lnTo>
                  <a:pt x="190890" y="282663"/>
                </a:lnTo>
                <a:cubicBezTo>
                  <a:pt x="182373" y="271377"/>
                  <a:pt x="166404" y="269035"/>
                  <a:pt x="155118" y="277552"/>
                </a:cubicBezTo>
                <a:cubicBezTo>
                  <a:pt x="143833" y="286069"/>
                  <a:pt x="141491" y="302039"/>
                  <a:pt x="150008" y="313324"/>
                </a:cubicBezTo>
                <a:lnTo>
                  <a:pt x="201111" y="381461"/>
                </a:lnTo>
                <a:cubicBezTo>
                  <a:pt x="206115" y="388169"/>
                  <a:pt x="214206" y="392001"/>
                  <a:pt x="222617" y="391682"/>
                </a:cubicBezTo>
                <a:cubicBezTo>
                  <a:pt x="231027" y="391363"/>
                  <a:pt x="238693" y="386891"/>
                  <a:pt x="243164" y="379651"/>
                </a:cubicBezTo>
                <a:lnTo>
                  <a:pt x="328336" y="243377"/>
                </a:lnTo>
                <a:close/>
              </a:path>
            </a:pathLst>
          </a:custGeom>
          <a:solidFill>
            <a:srgbClr val="D4A056"/>
          </a:solidFill>
          <a:ln/>
        </p:spPr>
      </p:sp>
      <p:sp>
        <p:nvSpPr>
          <p:cNvPr id="7" name="Text 5"/>
          <p:cNvSpPr/>
          <p:nvPr/>
        </p:nvSpPr>
        <p:spPr>
          <a:xfrm>
            <a:off x="654116" y="3161562"/>
            <a:ext cx="3915613" cy="327058"/>
          </a:xfrm>
          <a:prstGeom prst="rect">
            <a:avLst/>
          </a:prstGeom>
          <a:noFill/>
          <a:ln/>
        </p:spPr>
        <p:txBody>
          <a:bodyPr wrap="square" lIns="0" tIns="0" rIns="0" bIns="0" rtlCol="0" anchor="ctr"/>
          <a:lstStyle/>
          <a:p>
            <a:pPr>
              <a:lnSpc>
                <a:spcPct val="100000"/>
              </a:lnSpc>
            </a:pPr>
            <a:r>
              <a:rPr lang="en-US" sz="2146" b="1" dirty="0">
                <a:solidFill>
                  <a:srgbClr val="F8F7F2"/>
                </a:solidFill>
                <a:latin typeface="Unna" pitchFamily="34" charset="0"/>
                <a:ea typeface="Unna" pitchFamily="34" charset="-122"/>
                <a:cs typeface="Unna" pitchFamily="34" charset="-120"/>
              </a:rPr>
              <a:t>Seasonal Employment Period</a:t>
            </a:r>
            <a:endParaRPr lang="en-US" sz="1600" dirty="0"/>
          </a:p>
        </p:txBody>
      </p:sp>
      <p:sp>
        <p:nvSpPr>
          <p:cNvPr id="8" name="Text 6"/>
          <p:cNvSpPr/>
          <p:nvPr/>
        </p:nvSpPr>
        <p:spPr>
          <a:xfrm>
            <a:off x="654116" y="3633979"/>
            <a:ext cx="3861103" cy="790390"/>
          </a:xfrm>
          <a:prstGeom prst="rect">
            <a:avLst/>
          </a:prstGeom>
          <a:noFill/>
          <a:ln/>
        </p:spPr>
        <p:txBody>
          <a:bodyPr wrap="square" lIns="0" tIns="0" rIns="0" bIns="0" rtlCol="0" anchor="ctr"/>
          <a:lstStyle/>
          <a:p>
            <a:pPr>
              <a:lnSpc>
                <a:spcPct val="140000"/>
              </a:lnSpc>
            </a:pPr>
            <a:r>
              <a:rPr lang="en-US" sz="1288" dirty="0">
                <a:solidFill>
                  <a:srgbClr val="F8F7F2">
                    <a:alpha val="90000"/>
                  </a:srgbClr>
                </a:solidFill>
                <a:latin typeface="Liter" pitchFamily="34" charset="0"/>
                <a:ea typeface="Liter" pitchFamily="34" charset="-122"/>
                <a:cs typeface="Liter" pitchFamily="34" charset="-120"/>
              </a:rPr>
              <a:t>This position is specifically created for the Habanero growing season and covers all phases from planting through harvest.</a:t>
            </a:r>
            <a:endParaRPr lang="en-US" sz="1600" dirty="0"/>
          </a:p>
        </p:txBody>
      </p:sp>
      <p:sp>
        <p:nvSpPr>
          <p:cNvPr id="9" name="Shape 7"/>
          <p:cNvSpPr/>
          <p:nvPr/>
        </p:nvSpPr>
        <p:spPr>
          <a:xfrm>
            <a:off x="654116" y="4642408"/>
            <a:ext cx="3779338" cy="436077"/>
          </a:xfrm>
          <a:custGeom>
            <a:avLst/>
            <a:gdLst/>
            <a:ahLst/>
            <a:cxnLst/>
            <a:rect l="l" t="t" r="r" b="b"/>
            <a:pathLst>
              <a:path w="3779338" h="436077">
                <a:moveTo>
                  <a:pt x="72681" y="0"/>
                </a:moveTo>
                <a:lnTo>
                  <a:pt x="3706657" y="0"/>
                </a:lnTo>
                <a:cubicBezTo>
                  <a:pt x="3746798" y="0"/>
                  <a:pt x="3779338" y="32540"/>
                  <a:pt x="3779338" y="72681"/>
                </a:cubicBezTo>
                <a:lnTo>
                  <a:pt x="3779338" y="363396"/>
                </a:lnTo>
                <a:cubicBezTo>
                  <a:pt x="3779338" y="403537"/>
                  <a:pt x="3746798" y="436077"/>
                  <a:pt x="3706657" y="436077"/>
                </a:cubicBezTo>
                <a:lnTo>
                  <a:pt x="72681" y="436077"/>
                </a:lnTo>
                <a:cubicBezTo>
                  <a:pt x="32567" y="436077"/>
                  <a:pt x="0" y="403510"/>
                  <a:pt x="0" y="363396"/>
                </a:cubicBezTo>
                <a:lnTo>
                  <a:pt x="0" y="72681"/>
                </a:lnTo>
                <a:cubicBezTo>
                  <a:pt x="0" y="32567"/>
                  <a:pt x="32567" y="0"/>
                  <a:pt x="72681" y="0"/>
                </a:cubicBezTo>
                <a:close/>
              </a:path>
            </a:pathLst>
          </a:custGeom>
          <a:solidFill>
            <a:srgbClr val="F8F7F2">
              <a:alpha val="10196"/>
            </a:srgbClr>
          </a:solidFill>
          <a:ln/>
        </p:spPr>
      </p:sp>
      <p:sp>
        <p:nvSpPr>
          <p:cNvPr id="10" name="Shape 8"/>
          <p:cNvSpPr/>
          <p:nvPr/>
        </p:nvSpPr>
        <p:spPr>
          <a:xfrm>
            <a:off x="785848" y="4769598"/>
            <a:ext cx="181699" cy="181699"/>
          </a:xfrm>
          <a:custGeom>
            <a:avLst/>
            <a:gdLst/>
            <a:ahLst/>
            <a:cxnLst/>
            <a:rect l="l" t="t" r="r" b="b"/>
            <a:pathLst>
              <a:path w="181699" h="181699">
                <a:moveTo>
                  <a:pt x="0" y="90849"/>
                </a:moveTo>
                <a:cubicBezTo>
                  <a:pt x="0" y="40708"/>
                  <a:pt x="40708" y="0"/>
                  <a:pt x="90849" y="0"/>
                </a:cubicBezTo>
                <a:cubicBezTo>
                  <a:pt x="140991" y="0"/>
                  <a:pt x="181699" y="40708"/>
                  <a:pt x="181699" y="90849"/>
                </a:cubicBezTo>
                <a:cubicBezTo>
                  <a:pt x="181699" y="140991"/>
                  <a:pt x="140991" y="181699"/>
                  <a:pt x="90849" y="181699"/>
                </a:cubicBezTo>
                <a:cubicBezTo>
                  <a:pt x="40708" y="181699"/>
                  <a:pt x="0" y="140991"/>
                  <a:pt x="0" y="90849"/>
                </a:cubicBezTo>
                <a:close/>
                <a:moveTo>
                  <a:pt x="66824" y="52203"/>
                </a:moveTo>
                <a:cubicBezTo>
                  <a:pt x="64127" y="53693"/>
                  <a:pt x="62459" y="56568"/>
                  <a:pt x="62459" y="59620"/>
                </a:cubicBezTo>
                <a:lnTo>
                  <a:pt x="62459" y="122079"/>
                </a:lnTo>
                <a:cubicBezTo>
                  <a:pt x="62459" y="125166"/>
                  <a:pt x="64127" y="128005"/>
                  <a:pt x="66824" y="129496"/>
                </a:cubicBezTo>
                <a:cubicBezTo>
                  <a:pt x="69521" y="130986"/>
                  <a:pt x="72786" y="130951"/>
                  <a:pt x="75448" y="129319"/>
                </a:cubicBezTo>
                <a:lnTo>
                  <a:pt x="126550" y="98089"/>
                </a:lnTo>
                <a:cubicBezTo>
                  <a:pt x="129070" y="96528"/>
                  <a:pt x="130632" y="93795"/>
                  <a:pt x="130632" y="90814"/>
                </a:cubicBezTo>
                <a:cubicBezTo>
                  <a:pt x="130632" y="87833"/>
                  <a:pt x="129070" y="85100"/>
                  <a:pt x="126550" y="83539"/>
                </a:cubicBezTo>
                <a:lnTo>
                  <a:pt x="75448" y="52309"/>
                </a:lnTo>
                <a:cubicBezTo>
                  <a:pt x="72822" y="50712"/>
                  <a:pt x="69521" y="50641"/>
                  <a:pt x="66824" y="52132"/>
                </a:cubicBezTo>
                <a:close/>
              </a:path>
            </a:pathLst>
          </a:custGeom>
          <a:solidFill>
            <a:srgbClr val="D4A056"/>
          </a:solidFill>
          <a:ln/>
        </p:spPr>
      </p:sp>
      <p:sp>
        <p:nvSpPr>
          <p:cNvPr id="11" name="Text 9"/>
          <p:cNvSpPr/>
          <p:nvPr/>
        </p:nvSpPr>
        <p:spPr>
          <a:xfrm>
            <a:off x="1099279" y="4751428"/>
            <a:ext cx="2071368" cy="218039"/>
          </a:xfrm>
          <a:prstGeom prst="rect">
            <a:avLst/>
          </a:prstGeom>
          <a:noFill/>
          <a:ln/>
        </p:spPr>
        <p:txBody>
          <a:bodyPr wrap="square" lIns="0" tIns="0" rIns="0" bIns="0" rtlCol="0" anchor="ctr"/>
          <a:lstStyle/>
          <a:p>
            <a:pPr>
              <a:lnSpc>
                <a:spcPct val="130000"/>
              </a:lnSpc>
            </a:pPr>
            <a:r>
              <a:rPr lang="en-US" sz="1145" b="1" dirty="0">
                <a:solidFill>
                  <a:srgbClr val="F8F7F2"/>
                </a:solidFill>
                <a:latin typeface="Liter" pitchFamily="34" charset="0"/>
                <a:ea typeface="Liter" pitchFamily="34" charset="-122"/>
                <a:cs typeface="Liter" pitchFamily="34" charset="-120"/>
              </a:rPr>
              <a:t>Start Date:</a:t>
            </a:r>
            <a:pPr>
              <a:lnSpc>
                <a:spcPct val="130000"/>
              </a:lnSpc>
            </a:pPr>
            <a:r>
              <a:rPr lang="en-US" sz="1145" dirty="0">
                <a:solidFill>
                  <a:srgbClr val="F8F7F2"/>
                </a:solidFill>
                <a:latin typeface="Liter" pitchFamily="34" charset="0"/>
                <a:ea typeface="Liter" pitchFamily="34" charset="-122"/>
                <a:cs typeface="Liter" pitchFamily="34" charset="-120"/>
              </a:rPr>
              <a:t> [Season Start Date]</a:t>
            </a:r>
            <a:endParaRPr lang="en-US" sz="1600" dirty="0"/>
          </a:p>
        </p:txBody>
      </p:sp>
      <p:sp>
        <p:nvSpPr>
          <p:cNvPr id="12" name="Shape 10"/>
          <p:cNvSpPr/>
          <p:nvPr/>
        </p:nvSpPr>
        <p:spPr>
          <a:xfrm>
            <a:off x="654116" y="5187505"/>
            <a:ext cx="3779338" cy="436077"/>
          </a:xfrm>
          <a:custGeom>
            <a:avLst/>
            <a:gdLst/>
            <a:ahLst/>
            <a:cxnLst/>
            <a:rect l="l" t="t" r="r" b="b"/>
            <a:pathLst>
              <a:path w="3779338" h="436077">
                <a:moveTo>
                  <a:pt x="72681" y="0"/>
                </a:moveTo>
                <a:lnTo>
                  <a:pt x="3706657" y="0"/>
                </a:lnTo>
                <a:cubicBezTo>
                  <a:pt x="3746798" y="0"/>
                  <a:pt x="3779338" y="32540"/>
                  <a:pt x="3779338" y="72681"/>
                </a:cubicBezTo>
                <a:lnTo>
                  <a:pt x="3779338" y="363396"/>
                </a:lnTo>
                <a:cubicBezTo>
                  <a:pt x="3779338" y="403537"/>
                  <a:pt x="3746798" y="436077"/>
                  <a:pt x="3706657" y="436077"/>
                </a:cubicBezTo>
                <a:lnTo>
                  <a:pt x="72681" y="436077"/>
                </a:lnTo>
                <a:cubicBezTo>
                  <a:pt x="32567" y="436077"/>
                  <a:pt x="0" y="403510"/>
                  <a:pt x="0" y="363396"/>
                </a:cubicBezTo>
                <a:lnTo>
                  <a:pt x="0" y="72681"/>
                </a:lnTo>
                <a:cubicBezTo>
                  <a:pt x="0" y="32567"/>
                  <a:pt x="32567" y="0"/>
                  <a:pt x="72681" y="0"/>
                </a:cubicBezTo>
                <a:close/>
              </a:path>
            </a:pathLst>
          </a:custGeom>
          <a:solidFill>
            <a:srgbClr val="F8F7F2">
              <a:alpha val="10196"/>
            </a:srgbClr>
          </a:solidFill>
          <a:ln/>
        </p:spPr>
      </p:sp>
      <p:sp>
        <p:nvSpPr>
          <p:cNvPr id="13" name="Shape 11"/>
          <p:cNvSpPr/>
          <p:nvPr/>
        </p:nvSpPr>
        <p:spPr>
          <a:xfrm>
            <a:off x="797204" y="5314694"/>
            <a:ext cx="158987" cy="181699"/>
          </a:xfrm>
          <a:custGeom>
            <a:avLst/>
            <a:gdLst/>
            <a:ahLst/>
            <a:cxnLst/>
            <a:rect l="l" t="t" r="r" b="b"/>
            <a:pathLst>
              <a:path w="158987" h="181699">
                <a:moveTo>
                  <a:pt x="11356" y="0"/>
                </a:moveTo>
                <a:cubicBezTo>
                  <a:pt x="17638" y="0"/>
                  <a:pt x="22712" y="5075"/>
                  <a:pt x="22712" y="11356"/>
                </a:cubicBezTo>
                <a:lnTo>
                  <a:pt x="22712" y="17034"/>
                </a:lnTo>
                <a:lnTo>
                  <a:pt x="47199" y="10930"/>
                </a:lnTo>
                <a:cubicBezTo>
                  <a:pt x="60720" y="7559"/>
                  <a:pt x="74986" y="9120"/>
                  <a:pt x="87478" y="15366"/>
                </a:cubicBezTo>
                <a:cubicBezTo>
                  <a:pt x="103909" y="23600"/>
                  <a:pt x="123250" y="23600"/>
                  <a:pt x="139681" y="15366"/>
                </a:cubicBezTo>
                <a:lnTo>
                  <a:pt x="143088" y="13663"/>
                </a:lnTo>
                <a:cubicBezTo>
                  <a:pt x="150398" y="9972"/>
                  <a:pt x="158987" y="15295"/>
                  <a:pt x="158987" y="23458"/>
                </a:cubicBezTo>
                <a:lnTo>
                  <a:pt x="158987" y="122718"/>
                </a:lnTo>
                <a:cubicBezTo>
                  <a:pt x="158987" y="127438"/>
                  <a:pt x="156041" y="131696"/>
                  <a:pt x="151605" y="133364"/>
                </a:cubicBezTo>
                <a:lnTo>
                  <a:pt x="139291" y="137978"/>
                </a:lnTo>
                <a:cubicBezTo>
                  <a:pt x="122895" y="144117"/>
                  <a:pt x="104654" y="143159"/>
                  <a:pt x="89004" y="135352"/>
                </a:cubicBezTo>
                <a:cubicBezTo>
                  <a:pt x="75554" y="128609"/>
                  <a:pt x="60117" y="126941"/>
                  <a:pt x="45531" y="130596"/>
                </a:cubicBezTo>
                <a:lnTo>
                  <a:pt x="22712" y="136274"/>
                </a:lnTo>
                <a:lnTo>
                  <a:pt x="22712" y="170343"/>
                </a:lnTo>
                <a:cubicBezTo>
                  <a:pt x="22712" y="176624"/>
                  <a:pt x="17638" y="181699"/>
                  <a:pt x="11356" y="181699"/>
                </a:cubicBezTo>
                <a:cubicBezTo>
                  <a:pt x="5075" y="181699"/>
                  <a:pt x="0" y="176624"/>
                  <a:pt x="0" y="170343"/>
                </a:cubicBezTo>
                <a:lnTo>
                  <a:pt x="0" y="11356"/>
                </a:lnTo>
                <a:cubicBezTo>
                  <a:pt x="0" y="5075"/>
                  <a:pt x="5075" y="0"/>
                  <a:pt x="11356" y="0"/>
                </a:cubicBezTo>
                <a:close/>
                <a:moveTo>
                  <a:pt x="22712" y="66398"/>
                </a:moveTo>
                <a:lnTo>
                  <a:pt x="45425" y="61465"/>
                </a:lnTo>
                <a:lnTo>
                  <a:pt x="45425" y="84710"/>
                </a:lnTo>
                <a:lnTo>
                  <a:pt x="22712" y="89643"/>
                </a:lnTo>
                <a:lnTo>
                  <a:pt x="22712" y="112888"/>
                </a:lnTo>
                <a:lnTo>
                  <a:pt x="40031" y="108558"/>
                </a:lnTo>
                <a:cubicBezTo>
                  <a:pt x="41840" y="108097"/>
                  <a:pt x="43615" y="107706"/>
                  <a:pt x="45425" y="107387"/>
                </a:cubicBezTo>
                <a:lnTo>
                  <a:pt x="45425" y="84710"/>
                </a:lnTo>
                <a:lnTo>
                  <a:pt x="59230" y="81729"/>
                </a:lnTo>
                <a:cubicBezTo>
                  <a:pt x="62175" y="81090"/>
                  <a:pt x="65156" y="80842"/>
                  <a:pt x="68137" y="80984"/>
                </a:cubicBezTo>
                <a:lnTo>
                  <a:pt x="68137" y="58271"/>
                </a:lnTo>
                <a:cubicBezTo>
                  <a:pt x="72963" y="58413"/>
                  <a:pt x="77790" y="59194"/>
                  <a:pt x="82474" y="60543"/>
                </a:cubicBezTo>
                <a:lnTo>
                  <a:pt x="90849" y="62991"/>
                </a:lnTo>
                <a:lnTo>
                  <a:pt x="90849" y="86662"/>
                </a:lnTo>
                <a:lnTo>
                  <a:pt x="76051" y="82297"/>
                </a:lnTo>
                <a:cubicBezTo>
                  <a:pt x="73460" y="81552"/>
                  <a:pt x="70799" y="81090"/>
                  <a:pt x="68137" y="80948"/>
                </a:cubicBezTo>
                <a:lnTo>
                  <a:pt x="68137" y="106287"/>
                </a:lnTo>
                <a:cubicBezTo>
                  <a:pt x="75874" y="106961"/>
                  <a:pt x="83503" y="108664"/>
                  <a:pt x="90849" y="111397"/>
                </a:cubicBezTo>
                <a:lnTo>
                  <a:pt x="90849" y="86626"/>
                </a:lnTo>
                <a:lnTo>
                  <a:pt x="98905" y="89004"/>
                </a:lnTo>
                <a:cubicBezTo>
                  <a:pt x="103696" y="90424"/>
                  <a:pt x="108594" y="91275"/>
                  <a:pt x="113562" y="91630"/>
                </a:cubicBezTo>
                <a:lnTo>
                  <a:pt x="113562" y="68847"/>
                </a:lnTo>
                <a:cubicBezTo>
                  <a:pt x="110794" y="68563"/>
                  <a:pt x="108026" y="68031"/>
                  <a:pt x="105329" y="67250"/>
                </a:cubicBezTo>
                <a:lnTo>
                  <a:pt x="90849" y="62991"/>
                </a:lnTo>
                <a:lnTo>
                  <a:pt x="90849" y="40989"/>
                </a:lnTo>
                <a:cubicBezTo>
                  <a:pt x="86236" y="39640"/>
                  <a:pt x="81694" y="37866"/>
                  <a:pt x="77293" y="35666"/>
                </a:cubicBezTo>
                <a:cubicBezTo>
                  <a:pt x="74383" y="34211"/>
                  <a:pt x="71296" y="33181"/>
                  <a:pt x="68137" y="32543"/>
                </a:cubicBezTo>
                <a:lnTo>
                  <a:pt x="68137" y="58236"/>
                </a:lnTo>
                <a:cubicBezTo>
                  <a:pt x="63524" y="58094"/>
                  <a:pt x="58910" y="58520"/>
                  <a:pt x="54403" y="59514"/>
                </a:cubicBezTo>
                <a:lnTo>
                  <a:pt x="45425" y="61465"/>
                </a:lnTo>
                <a:lnTo>
                  <a:pt x="45425" y="34778"/>
                </a:lnTo>
                <a:lnTo>
                  <a:pt x="22712" y="40456"/>
                </a:lnTo>
                <a:lnTo>
                  <a:pt x="22712" y="66398"/>
                </a:lnTo>
                <a:close/>
                <a:moveTo>
                  <a:pt x="113562" y="119133"/>
                </a:moveTo>
                <a:cubicBezTo>
                  <a:pt x="119524" y="119666"/>
                  <a:pt x="125592" y="118885"/>
                  <a:pt x="131306" y="116720"/>
                </a:cubicBezTo>
                <a:lnTo>
                  <a:pt x="136274" y="114875"/>
                </a:lnTo>
                <a:lnTo>
                  <a:pt x="136274" y="89430"/>
                </a:lnTo>
                <a:lnTo>
                  <a:pt x="133471" y="90069"/>
                </a:lnTo>
                <a:cubicBezTo>
                  <a:pt x="126941" y="91595"/>
                  <a:pt x="120234" y="92092"/>
                  <a:pt x="113562" y="91666"/>
                </a:cubicBezTo>
                <a:lnTo>
                  <a:pt x="113562" y="119133"/>
                </a:lnTo>
                <a:close/>
                <a:moveTo>
                  <a:pt x="136274" y="66114"/>
                </a:moveTo>
                <a:lnTo>
                  <a:pt x="136274" y="40989"/>
                </a:lnTo>
                <a:cubicBezTo>
                  <a:pt x="128857" y="43154"/>
                  <a:pt x="121227" y="44218"/>
                  <a:pt x="113562" y="44218"/>
                </a:cubicBezTo>
                <a:lnTo>
                  <a:pt x="113562" y="68847"/>
                </a:lnTo>
                <a:cubicBezTo>
                  <a:pt x="118495" y="69344"/>
                  <a:pt x="123499" y="69024"/>
                  <a:pt x="128360" y="67924"/>
                </a:cubicBezTo>
                <a:lnTo>
                  <a:pt x="136274" y="66079"/>
                </a:lnTo>
                <a:close/>
              </a:path>
            </a:pathLst>
          </a:custGeom>
          <a:solidFill>
            <a:srgbClr val="D4A056"/>
          </a:solidFill>
          <a:ln/>
        </p:spPr>
      </p:sp>
      <p:sp>
        <p:nvSpPr>
          <p:cNvPr id="14" name="Text 12"/>
          <p:cNvSpPr/>
          <p:nvPr/>
        </p:nvSpPr>
        <p:spPr>
          <a:xfrm>
            <a:off x="1099279" y="5296525"/>
            <a:ext cx="1935094" cy="218039"/>
          </a:xfrm>
          <a:prstGeom prst="rect">
            <a:avLst/>
          </a:prstGeom>
          <a:noFill/>
          <a:ln/>
        </p:spPr>
        <p:txBody>
          <a:bodyPr wrap="square" lIns="0" tIns="0" rIns="0" bIns="0" rtlCol="0" anchor="ctr"/>
          <a:lstStyle/>
          <a:p>
            <a:pPr>
              <a:lnSpc>
                <a:spcPct val="130000"/>
              </a:lnSpc>
            </a:pPr>
            <a:r>
              <a:rPr lang="en-US" sz="1145" b="1" dirty="0">
                <a:solidFill>
                  <a:srgbClr val="F8F7F2"/>
                </a:solidFill>
                <a:latin typeface="Liter" pitchFamily="34" charset="0"/>
                <a:ea typeface="Liter" pitchFamily="34" charset="-122"/>
                <a:cs typeface="Liter" pitchFamily="34" charset="-120"/>
              </a:rPr>
              <a:t>End Date:</a:t>
            </a:r>
            <a:pPr>
              <a:lnSpc>
                <a:spcPct val="130000"/>
              </a:lnSpc>
            </a:pPr>
            <a:r>
              <a:rPr lang="en-US" sz="1145" dirty="0">
                <a:solidFill>
                  <a:srgbClr val="F8F7F2"/>
                </a:solidFill>
                <a:latin typeface="Liter" pitchFamily="34" charset="0"/>
                <a:ea typeface="Liter" pitchFamily="34" charset="-122"/>
                <a:cs typeface="Liter" pitchFamily="34" charset="-120"/>
              </a:rPr>
              <a:t> [Season End Date]</a:t>
            </a:r>
            <a:endParaRPr lang="en-US" sz="1600" dirty="0"/>
          </a:p>
        </p:txBody>
      </p:sp>
      <p:sp>
        <p:nvSpPr>
          <p:cNvPr id="15" name="Shape 13"/>
          <p:cNvSpPr/>
          <p:nvPr/>
        </p:nvSpPr>
        <p:spPr>
          <a:xfrm>
            <a:off x="654116" y="5732602"/>
            <a:ext cx="3779338" cy="436077"/>
          </a:xfrm>
          <a:custGeom>
            <a:avLst/>
            <a:gdLst/>
            <a:ahLst/>
            <a:cxnLst/>
            <a:rect l="l" t="t" r="r" b="b"/>
            <a:pathLst>
              <a:path w="3779338" h="436077">
                <a:moveTo>
                  <a:pt x="72681" y="0"/>
                </a:moveTo>
                <a:lnTo>
                  <a:pt x="3706657" y="0"/>
                </a:lnTo>
                <a:cubicBezTo>
                  <a:pt x="3746798" y="0"/>
                  <a:pt x="3779338" y="32540"/>
                  <a:pt x="3779338" y="72681"/>
                </a:cubicBezTo>
                <a:lnTo>
                  <a:pt x="3779338" y="363396"/>
                </a:lnTo>
                <a:cubicBezTo>
                  <a:pt x="3779338" y="403537"/>
                  <a:pt x="3746798" y="436077"/>
                  <a:pt x="3706657" y="436077"/>
                </a:cubicBezTo>
                <a:lnTo>
                  <a:pt x="72681" y="436077"/>
                </a:lnTo>
                <a:cubicBezTo>
                  <a:pt x="32567" y="436077"/>
                  <a:pt x="0" y="403510"/>
                  <a:pt x="0" y="363396"/>
                </a:cubicBezTo>
                <a:lnTo>
                  <a:pt x="0" y="72681"/>
                </a:lnTo>
                <a:cubicBezTo>
                  <a:pt x="0" y="32567"/>
                  <a:pt x="32567" y="0"/>
                  <a:pt x="72681" y="0"/>
                </a:cubicBezTo>
                <a:close/>
              </a:path>
            </a:pathLst>
          </a:custGeom>
          <a:solidFill>
            <a:srgbClr val="F8F7F2">
              <a:alpha val="10196"/>
            </a:srgbClr>
          </a:solidFill>
          <a:ln/>
        </p:spPr>
      </p:sp>
      <p:sp>
        <p:nvSpPr>
          <p:cNvPr id="16" name="Shape 14"/>
          <p:cNvSpPr/>
          <p:nvPr/>
        </p:nvSpPr>
        <p:spPr>
          <a:xfrm>
            <a:off x="785848" y="5859791"/>
            <a:ext cx="181699" cy="181699"/>
          </a:xfrm>
          <a:custGeom>
            <a:avLst/>
            <a:gdLst/>
            <a:ahLst/>
            <a:cxnLst/>
            <a:rect l="l" t="t" r="r" b="b"/>
            <a:pathLst>
              <a:path w="181699" h="181699">
                <a:moveTo>
                  <a:pt x="90849" y="0"/>
                </a:moveTo>
                <a:cubicBezTo>
                  <a:pt x="140991" y="0"/>
                  <a:pt x="181699" y="40708"/>
                  <a:pt x="181699" y="90849"/>
                </a:cubicBezTo>
                <a:cubicBezTo>
                  <a:pt x="181699" y="140991"/>
                  <a:pt x="140991" y="181699"/>
                  <a:pt x="90849" y="181699"/>
                </a:cubicBezTo>
                <a:cubicBezTo>
                  <a:pt x="40708" y="181699"/>
                  <a:pt x="0" y="140991"/>
                  <a:pt x="0" y="90849"/>
                </a:cubicBezTo>
                <a:cubicBezTo>
                  <a:pt x="0" y="40708"/>
                  <a:pt x="40708" y="0"/>
                  <a:pt x="90849" y="0"/>
                </a:cubicBezTo>
                <a:close/>
                <a:moveTo>
                  <a:pt x="82332" y="42586"/>
                </a:moveTo>
                <a:lnTo>
                  <a:pt x="82332" y="90849"/>
                </a:lnTo>
                <a:cubicBezTo>
                  <a:pt x="82332" y="93689"/>
                  <a:pt x="83752" y="96350"/>
                  <a:pt x="86130" y="97947"/>
                </a:cubicBezTo>
                <a:lnTo>
                  <a:pt x="120198" y="120659"/>
                </a:lnTo>
                <a:cubicBezTo>
                  <a:pt x="124102" y="123286"/>
                  <a:pt x="129390" y="122221"/>
                  <a:pt x="132016" y="118282"/>
                </a:cubicBezTo>
                <a:cubicBezTo>
                  <a:pt x="134642" y="114343"/>
                  <a:pt x="133577" y="109090"/>
                  <a:pt x="129638" y="106464"/>
                </a:cubicBezTo>
                <a:lnTo>
                  <a:pt x="99367" y="86307"/>
                </a:lnTo>
                <a:lnTo>
                  <a:pt x="99367" y="42586"/>
                </a:lnTo>
                <a:cubicBezTo>
                  <a:pt x="99367" y="37866"/>
                  <a:pt x="95569" y="34069"/>
                  <a:pt x="90849" y="34069"/>
                </a:cubicBezTo>
                <a:cubicBezTo>
                  <a:pt x="86130" y="34069"/>
                  <a:pt x="82332" y="37866"/>
                  <a:pt x="82332" y="42586"/>
                </a:cubicBezTo>
                <a:close/>
              </a:path>
            </a:pathLst>
          </a:custGeom>
          <a:solidFill>
            <a:srgbClr val="D4A056"/>
          </a:solidFill>
          <a:ln/>
        </p:spPr>
      </p:sp>
      <p:sp>
        <p:nvSpPr>
          <p:cNvPr id="17" name="Text 15"/>
          <p:cNvSpPr/>
          <p:nvPr/>
        </p:nvSpPr>
        <p:spPr>
          <a:xfrm>
            <a:off x="1099279" y="5841621"/>
            <a:ext cx="3270581" cy="218039"/>
          </a:xfrm>
          <a:prstGeom prst="rect">
            <a:avLst/>
          </a:prstGeom>
          <a:noFill/>
          <a:ln/>
        </p:spPr>
        <p:txBody>
          <a:bodyPr wrap="square" lIns="0" tIns="0" rIns="0" bIns="0" rtlCol="0" anchor="ctr"/>
          <a:lstStyle/>
          <a:p>
            <a:pPr>
              <a:lnSpc>
                <a:spcPct val="130000"/>
              </a:lnSpc>
            </a:pPr>
            <a:r>
              <a:rPr lang="en-US" sz="1145" b="1" dirty="0">
                <a:solidFill>
                  <a:srgbClr val="F8F7F2"/>
                </a:solidFill>
                <a:latin typeface="Liter" pitchFamily="34" charset="0"/>
                <a:ea typeface="Liter" pitchFamily="34" charset="-122"/>
                <a:cs typeface="Liter" pitchFamily="34" charset="-120"/>
              </a:rPr>
              <a:t>Duration:</a:t>
            </a:r>
            <a:pPr>
              <a:lnSpc>
                <a:spcPct val="130000"/>
              </a:lnSpc>
            </a:pPr>
            <a:r>
              <a:rPr lang="en-US" sz="1145" dirty="0">
                <a:solidFill>
                  <a:srgbClr val="F8F7F2"/>
                </a:solidFill>
                <a:latin typeface="Liter" pitchFamily="34" charset="0"/>
                <a:ea typeface="Liter" pitchFamily="34" charset="-122"/>
                <a:cs typeface="Liter" pitchFamily="34" charset="-120"/>
              </a:rPr>
              <a:t> 8 Months (Approximately 32-35 weeks)</a:t>
            </a:r>
            <a:endParaRPr lang="en-US" sz="1600" dirty="0"/>
          </a:p>
        </p:txBody>
      </p:sp>
      <p:sp>
        <p:nvSpPr>
          <p:cNvPr id="18" name="Shape 16"/>
          <p:cNvSpPr/>
          <p:nvPr/>
        </p:nvSpPr>
        <p:spPr>
          <a:xfrm>
            <a:off x="5014891" y="363398"/>
            <a:ext cx="6813711" cy="2652805"/>
          </a:xfrm>
          <a:custGeom>
            <a:avLst/>
            <a:gdLst/>
            <a:ahLst/>
            <a:cxnLst/>
            <a:rect l="l" t="t" r="r" b="b"/>
            <a:pathLst>
              <a:path w="6813711" h="2652805">
                <a:moveTo>
                  <a:pt x="72687" y="0"/>
                </a:moveTo>
                <a:lnTo>
                  <a:pt x="6741024" y="0"/>
                </a:lnTo>
                <a:cubicBezTo>
                  <a:pt x="6781168" y="0"/>
                  <a:pt x="6813711" y="32543"/>
                  <a:pt x="6813711" y="72687"/>
                </a:cubicBezTo>
                <a:lnTo>
                  <a:pt x="6813711" y="2580118"/>
                </a:lnTo>
                <a:cubicBezTo>
                  <a:pt x="6813711" y="2620262"/>
                  <a:pt x="6781168" y="2652805"/>
                  <a:pt x="6741024" y="2652805"/>
                </a:cubicBezTo>
                <a:lnTo>
                  <a:pt x="72687" y="2652805"/>
                </a:lnTo>
                <a:cubicBezTo>
                  <a:pt x="32543" y="2652805"/>
                  <a:pt x="0" y="2620262"/>
                  <a:pt x="0" y="2580118"/>
                </a:cubicBezTo>
                <a:lnTo>
                  <a:pt x="0" y="72687"/>
                </a:lnTo>
                <a:cubicBezTo>
                  <a:pt x="0" y="32570"/>
                  <a:pt x="32570" y="0"/>
                  <a:pt x="72687" y="0"/>
                </a:cubicBezTo>
                <a:close/>
              </a:path>
            </a:pathLst>
          </a:custGeom>
          <a:solidFill>
            <a:srgbClr val="FFFFFF"/>
          </a:solidFill>
          <a:ln/>
          <a:effectLst>
            <a:outerShdw sx="100000" sy="100000" kx="0" ky="0" algn="bl" rotWithShape="0" blurRad="54510" dist="36340" dir="5400000">
              <a:srgbClr val="000000">
                <a:alpha val="10196"/>
              </a:srgbClr>
            </a:outerShdw>
          </a:effectLst>
        </p:spPr>
      </p:sp>
      <p:sp>
        <p:nvSpPr>
          <p:cNvPr id="19" name="Shape 17"/>
          <p:cNvSpPr/>
          <p:nvPr/>
        </p:nvSpPr>
        <p:spPr>
          <a:xfrm>
            <a:off x="5232930" y="581437"/>
            <a:ext cx="436077" cy="436077"/>
          </a:xfrm>
          <a:custGeom>
            <a:avLst/>
            <a:gdLst/>
            <a:ahLst/>
            <a:cxnLst/>
            <a:rect l="l" t="t" r="r" b="b"/>
            <a:pathLst>
              <a:path w="436077" h="436077">
                <a:moveTo>
                  <a:pt x="72681" y="0"/>
                </a:moveTo>
                <a:lnTo>
                  <a:pt x="363396" y="0"/>
                </a:lnTo>
                <a:cubicBezTo>
                  <a:pt x="403510" y="0"/>
                  <a:pt x="436077" y="32567"/>
                  <a:pt x="436077" y="72681"/>
                </a:cubicBezTo>
                <a:lnTo>
                  <a:pt x="436077" y="363396"/>
                </a:lnTo>
                <a:cubicBezTo>
                  <a:pt x="436077" y="403510"/>
                  <a:pt x="403510" y="436077"/>
                  <a:pt x="363396" y="436077"/>
                </a:cubicBezTo>
                <a:lnTo>
                  <a:pt x="72681" y="436077"/>
                </a:lnTo>
                <a:cubicBezTo>
                  <a:pt x="32567" y="436077"/>
                  <a:pt x="0" y="403510"/>
                  <a:pt x="0" y="363396"/>
                </a:cubicBezTo>
                <a:lnTo>
                  <a:pt x="0" y="72681"/>
                </a:lnTo>
                <a:cubicBezTo>
                  <a:pt x="0" y="32567"/>
                  <a:pt x="32567" y="0"/>
                  <a:pt x="72681" y="0"/>
                </a:cubicBezTo>
                <a:close/>
              </a:path>
            </a:pathLst>
          </a:custGeom>
          <a:solidFill>
            <a:srgbClr val="D4A056"/>
          </a:solidFill>
          <a:ln/>
        </p:spPr>
      </p:sp>
      <p:sp>
        <p:nvSpPr>
          <p:cNvPr id="20" name="Shape 18"/>
          <p:cNvSpPr/>
          <p:nvPr/>
        </p:nvSpPr>
        <p:spPr>
          <a:xfrm>
            <a:off x="5382832" y="708626"/>
            <a:ext cx="136274" cy="181699"/>
          </a:xfrm>
          <a:custGeom>
            <a:avLst/>
            <a:gdLst/>
            <a:ahLst/>
            <a:cxnLst/>
            <a:rect l="l" t="t" r="r" b="b"/>
            <a:pathLst>
              <a:path w="136274" h="181699">
                <a:moveTo>
                  <a:pt x="22712" y="0"/>
                </a:moveTo>
                <a:cubicBezTo>
                  <a:pt x="10185" y="0"/>
                  <a:pt x="0" y="10185"/>
                  <a:pt x="0" y="22712"/>
                </a:cubicBezTo>
                <a:lnTo>
                  <a:pt x="0" y="158987"/>
                </a:lnTo>
                <a:cubicBezTo>
                  <a:pt x="0" y="171514"/>
                  <a:pt x="10185" y="181699"/>
                  <a:pt x="22712" y="181699"/>
                </a:cubicBezTo>
                <a:lnTo>
                  <a:pt x="113562" y="181699"/>
                </a:lnTo>
                <a:cubicBezTo>
                  <a:pt x="126089" y="181699"/>
                  <a:pt x="136274" y="171514"/>
                  <a:pt x="136274" y="158987"/>
                </a:cubicBezTo>
                <a:lnTo>
                  <a:pt x="136274" y="22712"/>
                </a:lnTo>
                <a:cubicBezTo>
                  <a:pt x="136274" y="10185"/>
                  <a:pt x="126089" y="0"/>
                  <a:pt x="113562" y="0"/>
                </a:cubicBezTo>
                <a:lnTo>
                  <a:pt x="22712" y="0"/>
                </a:lnTo>
                <a:close/>
                <a:moveTo>
                  <a:pt x="56781" y="124918"/>
                </a:moveTo>
                <a:lnTo>
                  <a:pt x="79493" y="124918"/>
                </a:lnTo>
                <a:cubicBezTo>
                  <a:pt x="95179" y="124918"/>
                  <a:pt x="107884" y="137623"/>
                  <a:pt x="107884" y="153308"/>
                </a:cubicBezTo>
                <a:cubicBezTo>
                  <a:pt x="107884" y="156431"/>
                  <a:pt x="105329" y="158987"/>
                  <a:pt x="102206" y="158987"/>
                </a:cubicBezTo>
                <a:lnTo>
                  <a:pt x="34069" y="158987"/>
                </a:lnTo>
                <a:cubicBezTo>
                  <a:pt x="30946" y="158987"/>
                  <a:pt x="28390" y="156431"/>
                  <a:pt x="28390" y="153308"/>
                </a:cubicBezTo>
                <a:cubicBezTo>
                  <a:pt x="28390" y="137623"/>
                  <a:pt x="41095" y="124918"/>
                  <a:pt x="56781" y="124918"/>
                </a:cubicBezTo>
                <a:close/>
                <a:moveTo>
                  <a:pt x="48264" y="90849"/>
                </a:moveTo>
                <a:cubicBezTo>
                  <a:pt x="48264" y="79881"/>
                  <a:pt x="57169" y="70976"/>
                  <a:pt x="68137" y="70976"/>
                </a:cubicBezTo>
                <a:cubicBezTo>
                  <a:pt x="79105" y="70976"/>
                  <a:pt x="88010" y="79881"/>
                  <a:pt x="88010" y="90849"/>
                </a:cubicBezTo>
                <a:cubicBezTo>
                  <a:pt x="88010" y="101818"/>
                  <a:pt x="79105" y="110723"/>
                  <a:pt x="68137" y="110723"/>
                </a:cubicBezTo>
                <a:cubicBezTo>
                  <a:pt x="57169" y="110723"/>
                  <a:pt x="48264" y="101818"/>
                  <a:pt x="48264" y="90849"/>
                </a:cubicBezTo>
                <a:close/>
                <a:moveTo>
                  <a:pt x="53942" y="22712"/>
                </a:moveTo>
                <a:lnTo>
                  <a:pt x="82332" y="22712"/>
                </a:lnTo>
                <a:cubicBezTo>
                  <a:pt x="87052" y="22712"/>
                  <a:pt x="90849" y="26510"/>
                  <a:pt x="90849" y="31230"/>
                </a:cubicBezTo>
                <a:cubicBezTo>
                  <a:pt x="90849" y="35949"/>
                  <a:pt x="87052" y="39747"/>
                  <a:pt x="82332" y="39747"/>
                </a:cubicBezTo>
                <a:lnTo>
                  <a:pt x="53942" y="39747"/>
                </a:lnTo>
                <a:cubicBezTo>
                  <a:pt x="49222" y="39747"/>
                  <a:pt x="45425" y="35949"/>
                  <a:pt x="45425" y="31230"/>
                </a:cubicBezTo>
                <a:cubicBezTo>
                  <a:pt x="45425" y="26510"/>
                  <a:pt x="49222" y="22712"/>
                  <a:pt x="53942" y="22712"/>
                </a:cubicBezTo>
                <a:close/>
              </a:path>
            </a:pathLst>
          </a:custGeom>
          <a:solidFill>
            <a:srgbClr val="2C3531"/>
          </a:solidFill>
          <a:ln/>
        </p:spPr>
      </p:sp>
      <p:sp>
        <p:nvSpPr>
          <p:cNvPr id="21" name="Text 19"/>
          <p:cNvSpPr/>
          <p:nvPr/>
        </p:nvSpPr>
        <p:spPr>
          <a:xfrm>
            <a:off x="5778027" y="658659"/>
            <a:ext cx="2407511" cy="281633"/>
          </a:xfrm>
          <a:prstGeom prst="rect">
            <a:avLst/>
          </a:prstGeom>
          <a:noFill/>
          <a:ln/>
        </p:spPr>
        <p:txBody>
          <a:bodyPr wrap="square" lIns="0" tIns="0" rIns="0" bIns="0" rtlCol="0" anchor="ctr"/>
          <a:lstStyle/>
          <a:p>
            <a:pPr>
              <a:lnSpc>
                <a:spcPct val="110000"/>
              </a:lnSpc>
            </a:pPr>
            <a:r>
              <a:rPr lang="en-US" sz="1717" b="1" dirty="0">
                <a:solidFill>
                  <a:srgbClr val="4A5D52"/>
                </a:solidFill>
                <a:latin typeface="Unna" pitchFamily="34" charset="0"/>
                <a:ea typeface="Unna" pitchFamily="34" charset="-122"/>
                <a:cs typeface="Unna" pitchFamily="34" charset="-120"/>
              </a:rPr>
              <a:t>Job Title &amp; Classification</a:t>
            </a:r>
            <a:endParaRPr lang="en-US" sz="1600" dirty="0"/>
          </a:p>
        </p:txBody>
      </p:sp>
      <p:sp>
        <p:nvSpPr>
          <p:cNvPr id="22" name="Shape 20"/>
          <p:cNvSpPr/>
          <p:nvPr/>
        </p:nvSpPr>
        <p:spPr>
          <a:xfrm>
            <a:off x="5251100" y="1162873"/>
            <a:ext cx="36340" cy="472417"/>
          </a:xfrm>
          <a:custGeom>
            <a:avLst/>
            <a:gdLst/>
            <a:ahLst/>
            <a:cxnLst/>
            <a:rect l="l" t="t" r="r" b="b"/>
            <a:pathLst>
              <a:path w="36340" h="472417">
                <a:moveTo>
                  <a:pt x="0" y="0"/>
                </a:moveTo>
                <a:lnTo>
                  <a:pt x="36340" y="0"/>
                </a:lnTo>
                <a:lnTo>
                  <a:pt x="36340" y="472417"/>
                </a:lnTo>
                <a:lnTo>
                  <a:pt x="0" y="472417"/>
                </a:lnTo>
                <a:lnTo>
                  <a:pt x="0" y="0"/>
                </a:lnTo>
                <a:close/>
              </a:path>
            </a:pathLst>
          </a:custGeom>
          <a:solidFill>
            <a:srgbClr val="4A5D52"/>
          </a:solidFill>
          <a:ln/>
        </p:spPr>
      </p:sp>
      <p:sp>
        <p:nvSpPr>
          <p:cNvPr id="23" name="Text 21"/>
          <p:cNvSpPr/>
          <p:nvPr/>
        </p:nvSpPr>
        <p:spPr>
          <a:xfrm>
            <a:off x="5414629" y="1162873"/>
            <a:ext cx="6259529" cy="181699"/>
          </a:xfrm>
          <a:prstGeom prst="rect">
            <a:avLst/>
          </a:prstGeom>
          <a:noFill/>
          <a:ln/>
        </p:spPr>
        <p:txBody>
          <a:bodyPr wrap="square" lIns="0" tIns="0" rIns="0" bIns="0" rtlCol="0" anchor="ctr"/>
          <a:lstStyle/>
          <a:p>
            <a:pPr>
              <a:lnSpc>
                <a:spcPct val="120000"/>
              </a:lnSpc>
            </a:pPr>
            <a:r>
              <a:rPr lang="en-US" sz="1001" b="1" spc="25" kern="0" dirty="0">
                <a:solidFill>
                  <a:srgbClr val="A88B6A"/>
                </a:solidFill>
                <a:latin typeface="Liter" pitchFamily="34" charset="0"/>
                <a:ea typeface="Liter" pitchFamily="34" charset="-122"/>
                <a:cs typeface="Liter" pitchFamily="34" charset="-120"/>
              </a:rPr>
              <a:t>Official Title</a:t>
            </a:r>
            <a:endParaRPr lang="en-US" sz="1600" dirty="0"/>
          </a:p>
        </p:txBody>
      </p:sp>
      <p:sp>
        <p:nvSpPr>
          <p:cNvPr id="24" name="Text 22"/>
          <p:cNvSpPr/>
          <p:nvPr/>
        </p:nvSpPr>
        <p:spPr>
          <a:xfrm>
            <a:off x="5414629" y="1380912"/>
            <a:ext cx="6286784" cy="254379"/>
          </a:xfrm>
          <a:prstGeom prst="rect">
            <a:avLst/>
          </a:prstGeom>
          <a:noFill/>
          <a:ln/>
        </p:spPr>
        <p:txBody>
          <a:bodyPr wrap="square" lIns="0" tIns="0" rIns="0" bIns="0" rtlCol="0" anchor="ctr"/>
          <a:lstStyle/>
          <a:p>
            <a:pPr>
              <a:lnSpc>
                <a:spcPct val="120000"/>
              </a:lnSpc>
            </a:pPr>
            <a:r>
              <a:rPr lang="en-US" sz="1431" b="1" dirty="0">
                <a:solidFill>
                  <a:srgbClr val="2C3531"/>
                </a:solidFill>
                <a:latin typeface="Liter" pitchFamily="34" charset="0"/>
                <a:ea typeface="Liter" pitchFamily="34" charset="-122"/>
                <a:cs typeface="Liter" pitchFamily="34" charset="-120"/>
              </a:rPr>
              <a:t>Greenhouse Agricultural Worker</a:t>
            </a:r>
            <a:endParaRPr lang="en-US" sz="1600" dirty="0"/>
          </a:p>
        </p:txBody>
      </p:sp>
      <p:sp>
        <p:nvSpPr>
          <p:cNvPr id="25" name="Shape 23"/>
          <p:cNvSpPr/>
          <p:nvPr/>
        </p:nvSpPr>
        <p:spPr>
          <a:xfrm>
            <a:off x="5251100" y="1744310"/>
            <a:ext cx="36340" cy="472417"/>
          </a:xfrm>
          <a:custGeom>
            <a:avLst/>
            <a:gdLst/>
            <a:ahLst/>
            <a:cxnLst/>
            <a:rect l="l" t="t" r="r" b="b"/>
            <a:pathLst>
              <a:path w="36340" h="472417">
                <a:moveTo>
                  <a:pt x="0" y="0"/>
                </a:moveTo>
                <a:lnTo>
                  <a:pt x="36340" y="0"/>
                </a:lnTo>
                <a:lnTo>
                  <a:pt x="36340" y="472417"/>
                </a:lnTo>
                <a:lnTo>
                  <a:pt x="0" y="472417"/>
                </a:lnTo>
                <a:lnTo>
                  <a:pt x="0" y="0"/>
                </a:lnTo>
                <a:close/>
              </a:path>
            </a:pathLst>
          </a:custGeom>
          <a:solidFill>
            <a:srgbClr val="A88B6A"/>
          </a:solidFill>
          <a:ln/>
        </p:spPr>
      </p:sp>
      <p:sp>
        <p:nvSpPr>
          <p:cNvPr id="26" name="Text 24"/>
          <p:cNvSpPr/>
          <p:nvPr/>
        </p:nvSpPr>
        <p:spPr>
          <a:xfrm>
            <a:off x="5414629" y="1744310"/>
            <a:ext cx="6259529" cy="181699"/>
          </a:xfrm>
          <a:prstGeom prst="rect">
            <a:avLst/>
          </a:prstGeom>
          <a:noFill/>
          <a:ln/>
        </p:spPr>
        <p:txBody>
          <a:bodyPr wrap="square" lIns="0" tIns="0" rIns="0" bIns="0" rtlCol="0" anchor="ctr"/>
          <a:lstStyle/>
          <a:p>
            <a:pPr>
              <a:lnSpc>
                <a:spcPct val="120000"/>
              </a:lnSpc>
            </a:pPr>
            <a:r>
              <a:rPr lang="en-US" sz="1001" b="1" spc="25" kern="0" dirty="0">
                <a:solidFill>
                  <a:srgbClr val="A88B6A"/>
                </a:solidFill>
                <a:latin typeface="Liter" pitchFamily="34" charset="0"/>
                <a:ea typeface="Liter" pitchFamily="34" charset="-122"/>
                <a:cs typeface="Liter" pitchFamily="34" charset="-120"/>
              </a:rPr>
              <a:t>Department</a:t>
            </a:r>
            <a:endParaRPr lang="en-US" sz="1600" dirty="0"/>
          </a:p>
        </p:txBody>
      </p:sp>
      <p:sp>
        <p:nvSpPr>
          <p:cNvPr id="27" name="Text 25"/>
          <p:cNvSpPr/>
          <p:nvPr/>
        </p:nvSpPr>
        <p:spPr>
          <a:xfrm>
            <a:off x="5414629" y="1962349"/>
            <a:ext cx="6286784" cy="254379"/>
          </a:xfrm>
          <a:prstGeom prst="rect">
            <a:avLst/>
          </a:prstGeom>
          <a:noFill/>
          <a:ln/>
        </p:spPr>
        <p:txBody>
          <a:bodyPr wrap="square" lIns="0" tIns="0" rIns="0" bIns="0" rtlCol="0" anchor="ctr"/>
          <a:lstStyle/>
          <a:p>
            <a:pPr>
              <a:lnSpc>
                <a:spcPct val="120000"/>
              </a:lnSpc>
            </a:pPr>
            <a:r>
              <a:rPr lang="en-US" sz="1431" b="1" dirty="0">
                <a:solidFill>
                  <a:srgbClr val="2C3531"/>
                </a:solidFill>
                <a:latin typeface="Liter" pitchFamily="34" charset="0"/>
                <a:ea typeface="Liter" pitchFamily="34" charset="-122"/>
                <a:cs typeface="Liter" pitchFamily="34" charset="-120"/>
              </a:rPr>
              <a:t>Crop Production - Habanero Division</a:t>
            </a:r>
            <a:endParaRPr lang="en-US" sz="1600" dirty="0"/>
          </a:p>
        </p:txBody>
      </p:sp>
      <p:sp>
        <p:nvSpPr>
          <p:cNvPr id="28" name="Shape 26"/>
          <p:cNvSpPr/>
          <p:nvPr/>
        </p:nvSpPr>
        <p:spPr>
          <a:xfrm>
            <a:off x="5251100" y="2325747"/>
            <a:ext cx="36340" cy="472417"/>
          </a:xfrm>
          <a:custGeom>
            <a:avLst/>
            <a:gdLst/>
            <a:ahLst/>
            <a:cxnLst/>
            <a:rect l="l" t="t" r="r" b="b"/>
            <a:pathLst>
              <a:path w="36340" h="472417">
                <a:moveTo>
                  <a:pt x="0" y="0"/>
                </a:moveTo>
                <a:lnTo>
                  <a:pt x="36340" y="0"/>
                </a:lnTo>
                <a:lnTo>
                  <a:pt x="36340" y="472417"/>
                </a:lnTo>
                <a:lnTo>
                  <a:pt x="0" y="472417"/>
                </a:lnTo>
                <a:lnTo>
                  <a:pt x="0" y="0"/>
                </a:lnTo>
                <a:close/>
              </a:path>
            </a:pathLst>
          </a:custGeom>
          <a:solidFill>
            <a:srgbClr val="D4A056"/>
          </a:solidFill>
          <a:ln/>
        </p:spPr>
      </p:sp>
      <p:sp>
        <p:nvSpPr>
          <p:cNvPr id="29" name="Text 27"/>
          <p:cNvSpPr/>
          <p:nvPr/>
        </p:nvSpPr>
        <p:spPr>
          <a:xfrm>
            <a:off x="5414629" y="2325747"/>
            <a:ext cx="6259529" cy="181699"/>
          </a:xfrm>
          <a:prstGeom prst="rect">
            <a:avLst/>
          </a:prstGeom>
          <a:noFill/>
          <a:ln/>
        </p:spPr>
        <p:txBody>
          <a:bodyPr wrap="square" lIns="0" tIns="0" rIns="0" bIns="0" rtlCol="0" anchor="ctr"/>
          <a:lstStyle/>
          <a:p>
            <a:pPr>
              <a:lnSpc>
                <a:spcPct val="120000"/>
              </a:lnSpc>
            </a:pPr>
            <a:r>
              <a:rPr lang="en-US" sz="1001" b="1" spc="25" kern="0" dirty="0">
                <a:solidFill>
                  <a:srgbClr val="A88B6A"/>
                </a:solidFill>
                <a:latin typeface="Liter" pitchFamily="34" charset="0"/>
                <a:ea typeface="Liter" pitchFamily="34" charset="-122"/>
                <a:cs typeface="Liter" pitchFamily="34" charset="-120"/>
              </a:rPr>
              <a:t>Employment Type</a:t>
            </a:r>
            <a:endParaRPr lang="en-US" sz="1600" dirty="0"/>
          </a:p>
        </p:txBody>
      </p:sp>
      <p:sp>
        <p:nvSpPr>
          <p:cNvPr id="30" name="Text 28"/>
          <p:cNvSpPr/>
          <p:nvPr/>
        </p:nvSpPr>
        <p:spPr>
          <a:xfrm>
            <a:off x="5414629" y="2543785"/>
            <a:ext cx="6286784" cy="254379"/>
          </a:xfrm>
          <a:prstGeom prst="rect">
            <a:avLst/>
          </a:prstGeom>
          <a:noFill/>
          <a:ln/>
        </p:spPr>
        <p:txBody>
          <a:bodyPr wrap="square" lIns="0" tIns="0" rIns="0" bIns="0" rtlCol="0" anchor="ctr"/>
          <a:lstStyle/>
          <a:p>
            <a:pPr>
              <a:lnSpc>
                <a:spcPct val="120000"/>
              </a:lnSpc>
            </a:pPr>
            <a:r>
              <a:rPr lang="en-US" sz="1431" b="1" dirty="0">
                <a:solidFill>
                  <a:srgbClr val="2C3531"/>
                </a:solidFill>
                <a:latin typeface="Liter" pitchFamily="34" charset="0"/>
                <a:ea typeface="Liter" pitchFamily="34" charset="-122"/>
                <a:cs typeface="Liter" pitchFamily="34" charset="-120"/>
              </a:rPr>
              <a:t>Seasonal Full-Time Position</a:t>
            </a:r>
            <a:endParaRPr lang="en-US" sz="1600" dirty="0"/>
          </a:p>
        </p:txBody>
      </p:sp>
      <p:sp>
        <p:nvSpPr>
          <p:cNvPr id="31" name="Shape 29"/>
          <p:cNvSpPr/>
          <p:nvPr/>
        </p:nvSpPr>
        <p:spPr>
          <a:xfrm>
            <a:off x="5014891" y="3197902"/>
            <a:ext cx="6813711" cy="2443851"/>
          </a:xfrm>
          <a:custGeom>
            <a:avLst/>
            <a:gdLst/>
            <a:ahLst/>
            <a:cxnLst/>
            <a:rect l="l" t="t" r="r" b="b"/>
            <a:pathLst>
              <a:path w="6813711" h="2443851">
                <a:moveTo>
                  <a:pt x="72680" y="0"/>
                </a:moveTo>
                <a:lnTo>
                  <a:pt x="6741031" y="0"/>
                </a:lnTo>
                <a:cubicBezTo>
                  <a:pt x="6781171" y="0"/>
                  <a:pt x="6813711" y="32540"/>
                  <a:pt x="6813711" y="72680"/>
                </a:cubicBezTo>
                <a:lnTo>
                  <a:pt x="6813711" y="2371171"/>
                </a:lnTo>
                <a:cubicBezTo>
                  <a:pt x="6813711" y="2411311"/>
                  <a:pt x="6781171" y="2443851"/>
                  <a:pt x="6741031" y="2443851"/>
                </a:cubicBezTo>
                <a:lnTo>
                  <a:pt x="72680" y="2443851"/>
                </a:lnTo>
                <a:cubicBezTo>
                  <a:pt x="32540" y="2443851"/>
                  <a:pt x="0" y="2411311"/>
                  <a:pt x="0" y="2371171"/>
                </a:cubicBezTo>
                <a:lnTo>
                  <a:pt x="0" y="72680"/>
                </a:lnTo>
                <a:cubicBezTo>
                  <a:pt x="0" y="32567"/>
                  <a:pt x="32567" y="0"/>
                  <a:pt x="72680" y="0"/>
                </a:cubicBezTo>
                <a:close/>
              </a:path>
            </a:pathLst>
          </a:custGeom>
          <a:solidFill>
            <a:srgbClr val="FFFFFF"/>
          </a:solidFill>
          <a:ln/>
          <a:effectLst>
            <a:outerShdw sx="100000" sy="100000" kx="0" ky="0" algn="bl" rotWithShape="0" blurRad="54510" dist="36340" dir="5400000">
              <a:srgbClr val="000000">
                <a:alpha val="10196"/>
              </a:srgbClr>
            </a:outerShdw>
          </a:effectLst>
        </p:spPr>
      </p:sp>
      <p:sp>
        <p:nvSpPr>
          <p:cNvPr id="32" name="Shape 30"/>
          <p:cNvSpPr/>
          <p:nvPr/>
        </p:nvSpPr>
        <p:spPr>
          <a:xfrm>
            <a:off x="5232930" y="3415940"/>
            <a:ext cx="436077" cy="436077"/>
          </a:xfrm>
          <a:custGeom>
            <a:avLst/>
            <a:gdLst/>
            <a:ahLst/>
            <a:cxnLst/>
            <a:rect l="l" t="t" r="r" b="b"/>
            <a:pathLst>
              <a:path w="436077" h="436077">
                <a:moveTo>
                  <a:pt x="72681" y="0"/>
                </a:moveTo>
                <a:lnTo>
                  <a:pt x="363396" y="0"/>
                </a:lnTo>
                <a:cubicBezTo>
                  <a:pt x="403510" y="0"/>
                  <a:pt x="436077" y="32567"/>
                  <a:pt x="436077" y="72681"/>
                </a:cubicBezTo>
                <a:lnTo>
                  <a:pt x="436077" y="363396"/>
                </a:lnTo>
                <a:cubicBezTo>
                  <a:pt x="436077" y="403510"/>
                  <a:pt x="403510" y="436077"/>
                  <a:pt x="363396" y="436077"/>
                </a:cubicBezTo>
                <a:lnTo>
                  <a:pt x="72681" y="436077"/>
                </a:lnTo>
                <a:cubicBezTo>
                  <a:pt x="32567" y="436077"/>
                  <a:pt x="0" y="403510"/>
                  <a:pt x="0" y="363396"/>
                </a:cubicBezTo>
                <a:lnTo>
                  <a:pt x="0" y="72681"/>
                </a:lnTo>
                <a:cubicBezTo>
                  <a:pt x="0" y="32567"/>
                  <a:pt x="32567" y="0"/>
                  <a:pt x="72681" y="0"/>
                </a:cubicBezTo>
                <a:close/>
              </a:path>
            </a:pathLst>
          </a:custGeom>
          <a:solidFill>
            <a:srgbClr val="4A5D52"/>
          </a:solidFill>
          <a:ln/>
        </p:spPr>
      </p:sp>
      <p:sp>
        <p:nvSpPr>
          <p:cNvPr id="33" name="Shape 31"/>
          <p:cNvSpPr/>
          <p:nvPr/>
        </p:nvSpPr>
        <p:spPr>
          <a:xfrm>
            <a:off x="5382832" y="3543130"/>
            <a:ext cx="136274" cy="181699"/>
          </a:xfrm>
          <a:custGeom>
            <a:avLst/>
            <a:gdLst/>
            <a:ahLst/>
            <a:cxnLst/>
            <a:rect l="l" t="t" r="r" b="b"/>
            <a:pathLst>
              <a:path w="136274" h="181699">
                <a:moveTo>
                  <a:pt x="0" y="66931"/>
                </a:moveTo>
                <a:cubicBezTo>
                  <a:pt x="0" y="29952"/>
                  <a:pt x="30520" y="0"/>
                  <a:pt x="68137" y="0"/>
                </a:cubicBezTo>
                <a:cubicBezTo>
                  <a:pt x="105754" y="0"/>
                  <a:pt x="136274" y="29952"/>
                  <a:pt x="136274" y="66931"/>
                </a:cubicBezTo>
                <a:cubicBezTo>
                  <a:pt x="136274" y="109268"/>
                  <a:pt x="93618" y="160016"/>
                  <a:pt x="75803" y="179357"/>
                </a:cubicBezTo>
                <a:cubicBezTo>
                  <a:pt x="71615" y="183899"/>
                  <a:pt x="64624" y="183899"/>
                  <a:pt x="60436" y="179357"/>
                </a:cubicBezTo>
                <a:cubicBezTo>
                  <a:pt x="42621" y="160016"/>
                  <a:pt x="-35" y="109268"/>
                  <a:pt x="-35" y="66931"/>
                </a:cubicBezTo>
                <a:close/>
                <a:moveTo>
                  <a:pt x="68137" y="90849"/>
                </a:moveTo>
                <a:cubicBezTo>
                  <a:pt x="80672" y="90849"/>
                  <a:pt x="90849" y="80672"/>
                  <a:pt x="90849" y="68137"/>
                </a:cubicBezTo>
                <a:cubicBezTo>
                  <a:pt x="90849" y="55602"/>
                  <a:pt x="80672" y="45425"/>
                  <a:pt x="68137" y="45425"/>
                </a:cubicBezTo>
                <a:cubicBezTo>
                  <a:pt x="55602" y="45425"/>
                  <a:pt x="45425" y="55602"/>
                  <a:pt x="45425" y="68137"/>
                </a:cubicBezTo>
                <a:cubicBezTo>
                  <a:pt x="45425" y="80672"/>
                  <a:pt x="55602" y="90849"/>
                  <a:pt x="68137" y="90849"/>
                </a:cubicBezTo>
                <a:close/>
              </a:path>
            </a:pathLst>
          </a:custGeom>
          <a:solidFill>
            <a:srgbClr val="F8F7F2"/>
          </a:solidFill>
          <a:ln/>
        </p:spPr>
      </p:sp>
      <p:sp>
        <p:nvSpPr>
          <p:cNvPr id="34" name="Text 32"/>
          <p:cNvSpPr/>
          <p:nvPr/>
        </p:nvSpPr>
        <p:spPr>
          <a:xfrm>
            <a:off x="5778027" y="3493162"/>
            <a:ext cx="1471762" cy="281633"/>
          </a:xfrm>
          <a:prstGeom prst="rect">
            <a:avLst/>
          </a:prstGeom>
          <a:noFill/>
          <a:ln/>
        </p:spPr>
        <p:txBody>
          <a:bodyPr wrap="square" lIns="0" tIns="0" rIns="0" bIns="0" rtlCol="0" anchor="ctr"/>
          <a:lstStyle/>
          <a:p>
            <a:pPr>
              <a:lnSpc>
                <a:spcPct val="110000"/>
              </a:lnSpc>
            </a:pPr>
            <a:r>
              <a:rPr lang="en-US" sz="1717" b="1" dirty="0">
                <a:solidFill>
                  <a:srgbClr val="4A5D52"/>
                </a:solidFill>
                <a:latin typeface="Unna" pitchFamily="34" charset="0"/>
                <a:ea typeface="Unna" pitchFamily="34" charset="-122"/>
                <a:cs typeface="Unna" pitchFamily="34" charset="-120"/>
              </a:rPr>
              <a:t>Work Location</a:t>
            </a:r>
            <a:endParaRPr lang="en-US" sz="1600" dirty="0"/>
          </a:p>
        </p:txBody>
      </p:sp>
      <p:sp>
        <p:nvSpPr>
          <p:cNvPr id="35" name="Text 33"/>
          <p:cNvSpPr/>
          <p:nvPr/>
        </p:nvSpPr>
        <p:spPr>
          <a:xfrm>
            <a:off x="5232930" y="3997377"/>
            <a:ext cx="6441228" cy="181699"/>
          </a:xfrm>
          <a:prstGeom prst="rect">
            <a:avLst/>
          </a:prstGeom>
          <a:noFill/>
          <a:ln/>
        </p:spPr>
        <p:txBody>
          <a:bodyPr wrap="square" lIns="0" tIns="0" rIns="0" bIns="0" rtlCol="0" anchor="ctr"/>
          <a:lstStyle/>
          <a:p>
            <a:pPr>
              <a:lnSpc>
                <a:spcPct val="120000"/>
              </a:lnSpc>
            </a:pPr>
            <a:r>
              <a:rPr lang="en-US" sz="1001" b="1" spc="25" kern="0" dirty="0">
                <a:solidFill>
                  <a:srgbClr val="A88B6A"/>
                </a:solidFill>
                <a:latin typeface="Liter" pitchFamily="34" charset="0"/>
                <a:ea typeface="Liter" pitchFamily="34" charset="-122"/>
                <a:cs typeface="Liter" pitchFamily="34" charset="-120"/>
              </a:rPr>
              <a:t>Primary Facility</a:t>
            </a:r>
            <a:endParaRPr lang="en-US" sz="1600" dirty="0"/>
          </a:p>
        </p:txBody>
      </p:sp>
      <p:sp>
        <p:nvSpPr>
          <p:cNvPr id="36" name="Text 34"/>
          <p:cNvSpPr/>
          <p:nvPr/>
        </p:nvSpPr>
        <p:spPr>
          <a:xfrm>
            <a:off x="5232930" y="4251756"/>
            <a:ext cx="6459398" cy="263463"/>
          </a:xfrm>
          <a:prstGeom prst="rect">
            <a:avLst/>
          </a:prstGeom>
          <a:noFill/>
          <a:ln/>
        </p:spPr>
        <p:txBody>
          <a:bodyPr wrap="square" lIns="0" tIns="0" rIns="0" bIns="0" rtlCol="0" anchor="ctr"/>
          <a:lstStyle/>
          <a:p>
            <a:pPr>
              <a:lnSpc>
                <a:spcPct val="140000"/>
              </a:lnSpc>
            </a:pPr>
            <a:r>
              <a:rPr lang="en-US" sz="1288" dirty="0">
                <a:solidFill>
                  <a:srgbClr val="2C3531"/>
                </a:solidFill>
                <a:latin typeface="Liter" pitchFamily="34" charset="0"/>
                <a:ea typeface="Liter" pitchFamily="34" charset="-122"/>
                <a:cs typeface="Liter" pitchFamily="34" charset="-120"/>
              </a:rPr>
              <a:t>[Greenhouse Facility Name &amp; Address]</a:t>
            </a:r>
            <a:endParaRPr lang="en-US" sz="1600" dirty="0"/>
          </a:p>
        </p:txBody>
      </p:sp>
      <p:sp>
        <p:nvSpPr>
          <p:cNvPr id="37" name="Shape 35"/>
          <p:cNvSpPr/>
          <p:nvPr/>
        </p:nvSpPr>
        <p:spPr>
          <a:xfrm>
            <a:off x="5232930" y="4660578"/>
            <a:ext cx="6377633" cy="763136"/>
          </a:xfrm>
          <a:custGeom>
            <a:avLst/>
            <a:gdLst/>
            <a:ahLst/>
            <a:cxnLst/>
            <a:rect l="l" t="t" r="r" b="b"/>
            <a:pathLst>
              <a:path w="6377633" h="763136">
                <a:moveTo>
                  <a:pt x="72681" y="0"/>
                </a:moveTo>
                <a:lnTo>
                  <a:pt x="6304952" y="0"/>
                </a:lnTo>
                <a:cubicBezTo>
                  <a:pt x="6345093" y="0"/>
                  <a:pt x="6377633" y="32540"/>
                  <a:pt x="6377633" y="72681"/>
                </a:cubicBezTo>
                <a:lnTo>
                  <a:pt x="6377633" y="690455"/>
                </a:lnTo>
                <a:cubicBezTo>
                  <a:pt x="6377633" y="730595"/>
                  <a:pt x="6345093" y="763136"/>
                  <a:pt x="6304952" y="763136"/>
                </a:cubicBezTo>
                <a:lnTo>
                  <a:pt x="72681" y="763136"/>
                </a:lnTo>
                <a:cubicBezTo>
                  <a:pt x="32540" y="763136"/>
                  <a:pt x="0" y="730595"/>
                  <a:pt x="0" y="690455"/>
                </a:cubicBezTo>
                <a:lnTo>
                  <a:pt x="0" y="72681"/>
                </a:lnTo>
                <a:cubicBezTo>
                  <a:pt x="0" y="32567"/>
                  <a:pt x="32567" y="0"/>
                  <a:pt x="72681" y="0"/>
                </a:cubicBezTo>
                <a:close/>
              </a:path>
            </a:pathLst>
          </a:custGeom>
          <a:solidFill>
            <a:srgbClr val="4A5D52">
              <a:alpha val="5098"/>
            </a:srgbClr>
          </a:solidFill>
          <a:ln/>
        </p:spPr>
      </p:sp>
      <p:sp>
        <p:nvSpPr>
          <p:cNvPr id="38" name="Shape 36"/>
          <p:cNvSpPr/>
          <p:nvPr/>
        </p:nvSpPr>
        <p:spPr>
          <a:xfrm>
            <a:off x="5396459" y="4851362"/>
            <a:ext cx="145359" cy="145359"/>
          </a:xfrm>
          <a:custGeom>
            <a:avLst/>
            <a:gdLst/>
            <a:ahLst/>
            <a:cxnLst/>
            <a:rect l="l" t="t" r="r" b="b"/>
            <a:pathLst>
              <a:path w="145359" h="145359">
                <a:moveTo>
                  <a:pt x="72680" y="145359"/>
                </a:moveTo>
                <a:cubicBezTo>
                  <a:pt x="112793" y="145359"/>
                  <a:pt x="145359" y="112793"/>
                  <a:pt x="145359" y="72680"/>
                </a:cubicBezTo>
                <a:cubicBezTo>
                  <a:pt x="145359" y="32567"/>
                  <a:pt x="112793" y="0"/>
                  <a:pt x="72680" y="0"/>
                </a:cubicBezTo>
                <a:cubicBezTo>
                  <a:pt x="32567" y="0"/>
                  <a:pt x="0" y="32567"/>
                  <a:pt x="0" y="72680"/>
                </a:cubicBezTo>
                <a:cubicBezTo>
                  <a:pt x="0" y="112793"/>
                  <a:pt x="32567" y="145359"/>
                  <a:pt x="72680" y="145359"/>
                </a:cubicBezTo>
                <a:close/>
                <a:moveTo>
                  <a:pt x="63595" y="45425"/>
                </a:moveTo>
                <a:cubicBezTo>
                  <a:pt x="63595" y="40411"/>
                  <a:pt x="67665" y="36340"/>
                  <a:pt x="72680" y="36340"/>
                </a:cubicBezTo>
                <a:cubicBezTo>
                  <a:pt x="77694" y="36340"/>
                  <a:pt x="81765" y="40411"/>
                  <a:pt x="81765" y="45425"/>
                </a:cubicBezTo>
                <a:cubicBezTo>
                  <a:pt x="81765" y="50439"/>
                  <a:pt x="77694" y="54510"/>
                  <a:pt x="72680" y="54510"/>
                </a:cubicBezTo>
                <a:cubicBezTo>
                  <a:pt x="67665" y="54510"/>
                  <a:pt x="63595" y="50439"/>
                  <a:pt x="63595" y="45425"/>
                </a:cubicBezTo>
                <a:close/>
                <a:moveTo>
                  <a:pt x="61323" y="63595"/>
                </a:moveTo>
                <a:lnTo>
                  <a:pt x="74951" y="63595"/>
                </a:lnTo>
                <a:cubicBezTo>
                  <a:pt x="78727" y="63595"/>
                  <a:pt x="81765" y="66632"/>
                  <a:pt x="81765" y="70408"/>
                </a:cubicBezTo>
                <a:lnTo>
                  <a:pt x="81765" y="95392"/>
                </a:lnTo>
                <a:lnTo>
                  <a:pt x="84036" y="95392"/>
                </a:lnTo>
                <a:cubicBezTo>
                  <a:pt x="87812" y="95392"/>
                  <a:pt x="90849" y="98430"/>
                  <a:pt x="90849" y="102206"/>
                </a:cubicBezTo>
                <a:cubicBezTo>
                  <a:pt x="90849" y="105982"/>
                  <a:pt x="87812" y="109019"/>
                  <a:pt x="84036" y="109019"/>
                </a:cubicBezTo>
                <a:lnTo>
                  <a:pt x="61323" y="109019"/>
                </a:lnTo>
                <a:cubicBezTo>
                  <a:pt x="57547" y="109019"/>
                  <a:pt x="54510" y="105982"/>
                  <a:pt x="54510" y="102206"/>
                </a:cubicBezTo>
                <a:cubicBezTo>
                  <a:pt x="54510" y="98430"/>
                  <a:pt x="57547" y="95392"/>
                  <a:pt x="61323" y="95392"/>
                </a:cubicBezTo>
                <a:lnTo>
                  <a:pt x="68137" y="95392"/>
                </a:lnTo>
                <a:lnTo>
                  <a:pt x="68137" y="77222"/>
                </a:lnTo>
                <a:lnTo>
                  <a:pt x="61323" y="77222"/>
                </a:lnTo>
                <a:cubicBezTo>
                  <a:pt x="57547" y="77222"/>
                  <a:pt x="54510" y="74184"/>
                  <a:pt x="54510" y="70408"/>
                </a:cubicBezTo>
                <a:cubicBezTo>
                  <a:pt x="54510" y="66632"/>
                  <a:pt x="57547" y="63595"/>
                  <a:pt x="61323" y="63595"/>
                </a:cubicBezTo>
                <a:close/>
              </a:path>
            </a:pathLst>
          </a:custGeom>
          <a:solidFill>
            <a:srgbClr val="4A5D52"/>
          </a:solidFill>
          <a:ln/>
        </p:spPr>
      </p:sp>
      <p:sp>
        <p:nvSpPr>
          <p:cNvPr id="39" name="Text 37"/>
          <p:cNvSpPr/>
          <p:nvPr/>
        </p:nvSpPr>
        <p:spPr>
          <a:xfrm>
            <a:off x="5611979" y="4805937"/>
            <a:ext cx="5925904" cy="472417"/>
          </a:xfrm>
          <a:prstGeom prst="rect">
            <a:avLst/>
          </a:prstGeom>
          <a:noFill/>
          <a:ln/>
        </p:spPr>
        <p:txBody>
          <a:bodyPr wrap="square" lIns="0" tIns="0" rIns="0" bIns="0" rtlCol="0" anchor="ctr"/>
          <a:lstStyle/>
          <a:p>
            <a:pPr>
              <a:lnSpc>
                <a:spcPct val="140000"/>
              </a:lnSpc>
            </a:pPr>
            <a:r>
              <a:rPr lang="en-US" sz="1145" dirty="0">
                <a:solidFill>
                  <a:srgbClr val="2C3531"/>
                </a:solidFill>
                <a:latin typeface="Liter" pitchFamily="34" charset="0"/>
                <a:ea typeface="Liter" pitchFamily="34" charset="-122"/>
                <a:cs typeface="Liter" pitchFamily="34" charset="-120"/>
              </a:rPr>
              <a:t>Employee is expected to work exclusively at the designated greenhouse facility. Any travel to secondary locations must be pre-approved by the supervisor.</a:t>
            </a:r>
            <a:endParaRPr lang="en-US" sz="1600" dirty="0"/>
          </a:p>
        </p:txBody>
      </p:sp>
      <p:sp>
        <p:nvSpPr>
          <p:cNvPr id="40" name="Shape 38"/>
          <p:cNvSpPr/>
          <p:nvPr/>
        </p:nvSpPr>
        <p:spPr>
          <a:xfrm>
            <a:off x="5023976" y="5832537"/>
            <a:ext cx="6795541" cy="1017514"/>
          </a:xfrm>
          <a:custGeom>
            <a:avLst/>
            <a:gdLst/>
            <a:ahLst/>
            <a:cxnLst/>
            <a:rect l="l" t="t" r="r" b="b"/>
            <a:pathLst>
              <a:path w="6795541" h="1017514">
                <a:moveTo>
                  <a:pt x="72681" y="0"/>
                </a:moveTo>
                <a:lnTo>
                  <a:pt x="6722860" y="0"/>
                </a:lnTo>
                <a:cubicBezTo>
                  <a:pt x="6763001" y="0"/>
                  <a:pt x="6795541" y="32540"/>
                  <a:pt x="6795541" y="72681"/>
                </a:cubicBezTo>
                <a:lnTo>
                  <a:pt x="6795541" y="944833"/>
                </a:lnTo>
                <a:cubicBezTo>
                  <a:pt x="6795541" y="984974"/>
                  <a:pt x="6763001" y="1017514"/>
                  <a:pt x="6722860" y="1017514"/>
                </a:cubicBezTo>
                <a:lnTo>
                  <a:pt x="72681" y="1017514"/>
                </a:lnTo>
                <a:cubicBezTo>
                  <a:pt x="32540" y="1017514"/>
                  <a:pt x="0" y="984974"/>
                  <a:pt x="0" y="944833"/>
                </a:cubicBezTo>
                <a:lnTo>
                  <a:pt x="0" y="72681"/>
                </a:lnTo>
                <a:cubicBezTo>
                  <a:pt x="0" y="32567"/>
                  <a:pt x="32567" y="0"/>
                  <a:pt x="72681" y="0"/>
                </a:cubicBezTo>
                <a:close/>
              </a:path>
            </a:pathLst>
          </a:custGeom>
          <a:solidFill>
            <a:srgbClr val="D4A056">
              <a:alpha val="10196"/>
            </a:srgbClr>
          </a:solidFill>
          <a:ln w="25400">
            <a:solidFill>
              <a:srgbClr val="D4A056"/>
            </a:solidFill>
            <a:prstDash val="solid"/>
          </a:ln>
        </p:spPr>
      </p:sp>
      <p:sp>
        <p:nvSpPr>
          <p:cNvPr id="41" name="Shape 39"/>
          <p:cNvSpPr/>
          <p:nvPr/>
        </p:nvSpPr>
        <p:spPr>
          <a:xfrm>
            <a:off x="5160250" y="6023320"/>
            <a:ext cx="181699" cy="181699"/>
          </a:xfrm>
          <a:custGeom>
            <a:avLst/>
            <a:gdLst/>
            <a:ahLst/>
            <a:cxnLst/>
            <a:rect l="l" t="t" r="r" b="b"/>
            <a:pathLst>
              <a:path w="181699" h="181699">
                <a:moveTo>
                  <a:pt x="90849" y="0"/>
                </a:moveTo>
                <a:cubicBezTo>
                  <a:pt x="96066" y="0"/>
                  <a:pt x="100857" y="2875"/>
                  <a:pt x="103341" y="7452"/>
                </a:cubicBezTo>
                <a:lnTo>
                  <a:pt x="179996" y="149405"/>
                </a:lnTo>
                <a:cubicBezTo>
                  <a:pt x="182373" y="153805"/>
                  <a:pt x="182267" y="159129"/>
                  <a:pt x="179712" y="163423"/>
                </a:cubicBezTo>
                <a:cubicBezTo>
                  <a:pt x="177156" y="167717"/>
                  <a:pt x="172508" y="170343"/>
                  <a:pt x="167504" y="170343"/>
                </a:cubicBezTo>
                <a:lnTo>
                  <a:pt x="14195" y="170343"/>
                </a:lnTo>
                <a:cubicBezTo>
                  <a:pt x="9191" y="170343"/>
                  <a:pt x="4578" y="167717"/>
                  <a:pt x="1987" y="163423"/>
                </a:cubicBezTo>
                <a:cubicBezTo>
                  <a:pt x="-603" y="159129"/>
                  <a:pt x="-674" y="153805"/>
                  <a:pt x="1703" y="149405"/>
                </a:cubicBezTo>
                <a:lnTo>
                  <a:pt x="78358" y="7452"/>
                </a:lnTo>
                <a:cubicBezTo>
                  <a:pt x="80842" y="2875"/>
                  <a:pt x="85633" y="0"/>
                  <a:pt x="90849" y="0"/>
                </a:cubicBezTo>
                <a:close/>
                <a:moveTo>
                  <a:pt x="90849" y="59620"/>
                </a:moveTo>
                <a:cubicBezTo>
                  <a:pt x="86130" y="59620"/>
                  <a:pt x="82332" y="63417"/>
                  <a:pt x="82332" y="68137"/>
                </a:cubicBezTo>
                <a:lnTo>
                  <a:pt x="82332" y="107884"/>
                </a:lnTo>
                <a:cubicBezTo>
                  <a:pt x="82332" y="112604"/>
                  <a:pt x="86130" y="116401"/>
                  <a:pt x="90849" y="116401"/>
                </a:cubicBezTo>
                <a:cubicBezTo>
                  <a:pt x="95569" y="116401"/>
                  <a:pt x="99367" y="112604"/>
                  <a:pt x="99367" y="107884"/>
                </a:cubicBezTo>
                <a:lnTo>
                  <a:pt x="99367" y="68137"/>
                </a:lnTo>
                <a:cubicBezTo>
                  <a:pt x="99367" y="63417"/>
                  <a:pt x="95569" y="59620"/>
                  <a:pt x="90849" y="59620"/>
                </a:cubicBezTo>
                <a:close/>
                <a:moveTo>
                  <a:pt x="100325" y="136274"/>
                </a:moveTo>
                <a:cubicBezTo>
                  <a:pt x="100540" y="132757"/>
                  <a:pt x="98786" y="129411"/>
                  <a:pt x="95771" y="127587"/>
                </a:cubicBezTo>
                <a:cubicBezTo>
                  <a:pt x="92756" y="125763"/>
                  <a:pt x="88978" y="125763"/>
                  <a:pt x="85963" y="127587"/>
                </a:cubicBezTo>
                <a:cubicBezTo>
                  <a:pt x="82948" y="129411"/>
                  <a:pt x="81194" y="132757"/>
                  <a:pt x="81410" y="136274"/>
                </a:cubicBezTo>
                <a:cubicBezTo>
                  <a:pt x="81194" y="139791"/>
                  <a:pt x="82948" y="143138"/>
                  <a:pt x="85963" y="144961"/>
                </a:cubicBezTo>
                <a:cubicBezTo>
                  <a:pt x="88978" y="146785"/>
                  <a:pt x="92756" y="146785"/>
                  <a:pt x="95771" y="144961"/>
                </a:cubicBezTo>
                <a:cubicBezTo>
                  <a:pt x="98786" y="143138"/>
                  <a:pt x="100540" y="139791"/>
                  <a:pt x="100325" y="136274"/>
                </a:cubicBezTo>
                <a:close/>
              </a:path>
            </a:pathLst>
          </a:custGeom>
          <a:solidFill>
            <a:srgbClr val="D4A056"/>
          </a:solidFill>
          <a:ln/>
        </p:spPr>
      </p:sp>
      <p:sp>
        <p:nvSpPr>
          <p:cNvPr id="42" name="Text 40"/>
          <p:cNvSpPr/>
          <p:nvPr/>
        </p:nvSpPr>
        <p:spPr>
          <a:xfrm>
            <a:off x="5428824" y="5986981"/>
            <a:ext cx="6314039" cy="708626"/>
          </a:xfrm>
          <a:prstGeom prst="rect">
            <a:avLst/>
          </a:prstGeom>
          <a:noFill/>
          <a:ln/>
        </p:spPr>
        <p:txBody>
          <a:bodyPr wrap="square" lIns="0" tIns="0" rIns="0" bIns="0" rtlCol="0" anchor="ctr"/>
          <a:lstStyle/>
          <a:p>
            <a:pPr>
              <a:lnSpc>
                <a:spcPct val="140000"/>
              </a:lnSpc>
            </a:pPr>
            <a:r>
              <a:rPr lang="en-US" sz="1145" b="1" dirty="0">
                <a:solidFill>
                  <a:srgbClr val="2C3531"/>
                </a:solidFill>
                <a:latin typeface="Liter" pitchFamily="34" charset="0"/>
                <a:ea typeface="Liter" pitchFamily="34" charset="-122"/>
                <a:cs typeface="Liter" pitchFamily="34" charset="-120"/>
              </a:rPr>
              <a:t>Important Notice:</a:t>
            </a:r>
            <a:pPr>
              <a:lnSpc>
                <a:spcPct val="140000"/>
              </a:lnSpc>
            </a:pPr>
            <a:r>
              <a:rPr lang="en-US" sz="1145" dirty="0">
                <a:solidFill>
                  <a:srgbClr val="2C3531"/>
                </a:solidFill>
                <a:latin typeface="Liter" pitchFamily="34" charset="0"/>
                <a:ea typeface="Liter" pitchFamily="34" charset="-122"/>
                <a:cs typeface="Liter" pitchFamily="34" charset="-120"/>
              </a:rPr>
              <a:t> This is a seasonal position with a defined end date. Employment automatically concludes at the end of the 8-month season unless a separate agreement is made for extension or permanent employment.</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68338" y="368338"/>
            <a:ext cx="11519782" cy="184169"/>
          </a:xfrm>
          <a:prstGeom prst="rect">
            <a:avLst/>
          </a:prstGeom>
          <a:noFill/>
          <a:ln/>
        </p:spPr>
        <p:txBody>
          <a:bodyPr wrap="square" lIns="0" tIns="0" rIns="0" bIns="0" rtlCol="0" anchor="ctr"/>
          <a:lstStyle/>
          <a:p>
            <a:pPr>
              <a:lnSpc>
                <a:spcPct val="120000"/>
              </a:lnSpc>
            </a:pPr>
            <a:r>
              <a:rPr lang="en-US" sz="1015" b="1" spc="102" kern="0" dirty="0">
                <a:solidFill>
                  <a:srgbClr val="A88B6A"/>
                </a:solidFill>
                <a:latin typeface="Liter" pitchFamily="34" charset="0"/>
                <a:ea typeface="Liter" pitchFamily="34" charset="-122"/>
                <a:cs typeface="Liter" pitchFamily="34" charset="-120"/>
              </a:rPr>
              <a:t>Section 3</a:t>
            </a:r>
            <a:endParaRPr lang="en-US" sz="1600" dirty="0"/>
          </a:p>
        </p:txBody>
      </p:sp>
      <p:sp>
        <p:nvSpPr>
          <p:cNvPr id="3" name="Text 1"/>
          <p:cNvSpPr/>
          <p:nvPr/>
        </p:nvSpPr>
        <p:spPr>
          <a:xfrm>
            <a:off x="368338" y="626175"/>
            <a:ext cx="11676326" cy="442006"/>
          </a:xfrm>
          <a:prstGeom prst="rect">
            <a:avLst/>
          </a:prstGeom>
          <a:noFill/>
          <a:ln/>
        </p:spPr>
        <p:txBody>
          <a:bodyPr wrap="square" lIns="0" tIns="0" rIns="0" bIns="0" rtlCol="0" anchor="ctr"/>
          <a:lstStyle/>
          <a:p>
            <a:pPr>
              <a:lnSpc>
                <a:spcPct val="80000"/>
              </a:lnSpc>
            </a:pPr>
            <a:r>
              <a:rPr lang="en-US" sz="3480" b="1" dirty="0">
                <a:solidFill>
                  <a:srgbClr val="4A5D52"/>
                </a:solidFill>
                <a:latin typeface="Oranienbaum" pitchFamily="34" charset="0"/>
                <a:ea typeface="Oranienbaum" pitchFamily="34" charset="-122"/>
                <a:cs typeface="Oranienbaum" pitchFamily="34" charset="-120"/>
              </a:rPr>
              <a:t>Compensation &amp; Benefits</a:t>
            </a:r>
            <a:endParaRPr lang="en-US" sz="1600" dirty="0"/>
          </a:p>
        </p:txBody>
      </p:sp>
      <p:sp>
        <p:nvSpPr>
          <p:cNvPr id="4" name="Shape 2"/>
          <p:cNvSpPr/>
          <p:nvPr/>
        </p:nvSpPr>
        <p:spPr>
          <a:xfrm>
            <a:off x="368338" y="1178683"/>
            <a:ext cx="736677" cy="36834"/>
          </a:xfrm>
          <a:custGeom>
            <a:avLst/>
            <a:gdLst/>
            <a:ahLst/>
            <a:cxnLst/>
            <a:rect l="l" t="t" r="r" b="b"/>
            <a:pathLst>
              <a:path w="736677" h="36834">
                <a:moveTo>
                  <a:pt x="0" y="0"/>
                </a:moveTo>
                <a:lnTo>
                  <a:pt x="736677" y="0"/>
                </a:lnTo>
                <a:lnTo>
                  <a:pt x="736677" y="36834"/>
                </a:lnTo>
                <a:lnTo>
                  <a:pt x="0" y="36834"/>
                </a:lnTo>
                <a:lnTo>
                  <a:pt x="0" y="0"/>
                </a:lnTo>
                <a:close/>
              </a:path>
            </a:pathLst>
          </a:custGeom>
          <a:solidFill>
            <a:srgbClr val="D4A056"/>
          </a:solidFill>
          <a:ln/>
        </p:spPr>
      </p:sp>
      <p:sp>
        <p:nvSpPr>
          <p:cNvPr id="5" name="Shape 3"/>
          <p:cNvSpPr/>
          <p:nvPr/>
        </p:nvSpPr>
        <p:spPr>
          <a:xfrm>
            <a:off x="368338" y="1399686"/>
            <a:ext cx="3692592" cy="4235891"/>
          </a:xfrm>
          <a:custGeom>
            <a:avLst/>
            <a:gdLst/>
            <a:ahLst/>
            <a:cxnLst/>
            <a:rect l="l" t="t" r="r" b="b"/>
            <a:pathLst>
              <a:path w="3692592" h="4235891">
                <a:moveTo>
                  <a:pt x="73667" y="0"/>
                </a:moveTo>
                <a:lnTo>
                  <a:pt x="3618925" y="0"/>
                </a:lnTo>
                <a:cubicBezTo>
                  <a:pt x="3659610" y="0"/>
                  <a:pt x="3692592" y="32982"/>
                  <a:pt x="3692592" y="73667"/>
                </a:cubicBezTo>
                <a:lnTo>
                  <a:pt x="3692592" y="4162224"/>
                </a:lnTo>
                <a:cubicBezTo>
                  <a:pt x="3692592" y="4202909"/>
                  <a:pt x="3659610" y="4235891"/>
                  <a:pt x="3618925" y="4235891"/>
                </a:cubicBezTo>
                <a:lnTo>
                  <a:pt x="73667" y="4235891"/>
                </a:lnTo>
                <a:cubicBezTo>
                  <a:pt x="32982" y="4235891"/>
                  <a:pt x="0" y="4202909"/>
                  <a:pt x="0" y="4162224"/>
                </a:cubicBezTo>
                <a:lnTo>
                  <a:pt x="0" y="73667"/>
                </a:lnTo>
                <a:cubicBezTo>
                  <a:pt x="0" y="33009"/>
                  <a:pt x="33009" y="0"/>
                  <a:pt x="73667" y="0"/>
                </a:cubicBezTo>
                <a:close/>
              </a:path>
            </a:pathLst>
          </a:custGeom>
          <a:solidFill>
            <a:srgbClr val="FFFFFF"/>
          </a:solidFill>
          <a:ln/>
          <a:effectLst>
            <a:outerShdw sx="100000" sy="100000" kx="0" ky="0" algn="bl" rotWithShape="0" blurRad="55251" dist="36834" dir="5400000">
              <a:srgbClr val="000000">
                <a:alpha val="10196"/>
              </a:srgbClr>
            </a:outerShdw>
          </a:effectLst>
        </p:spPr>
      </p:sp>
      <p:sp>
        <p:nvSpPr>
          <p:cNvPr id="6" name="Shape 4"/>
          <p:cNvSpPr/>
          <p:nvPr/>
        </p:nvSpPr>
        <p:spPr>
          <a:xfrm>
            <a:off x="589341" y="1620689"/>
            <a:ext cx="442006" cy="442006"/>
          </a:xfrm>
          <a:custGeom>
            <a:avLst/>
            <a:gdLst/>
            <a:ahLst/>
            <a:cxnLst/>
            <a:rect l="l" t="t" r="r" b="b"/>
            <a:pathLst>
              <a:path w="442006" h="442006">
                <a:moveTo>
                  <a:pt x="73669" y="0"/>
                </a:moveTo>
                <a:lnTo>
                  <a:pt x="368337" y="0"/>
                </a:lnTo>
                <a:cubicBezTo>
                  <a:pt x="408996" y="0"/>
                  <a:pt x="442006" y="33010"/>
                  <a:pt x="442006" y="73669"/>
                </a:cubicBezTo>
                <a:lnTo>
                  <a:pt x="442006" y="368337"/>
                </a:lnTo>
                <a:cubicBezTo>
                  <a:pt x="442006" y="408996"/>
                  <a:pt x="408996" y="442006"/>
                  <a:pt x="368337" y="442006"/>
                </a:cubicBezTo>
                <a:lnTo>
                  <a:pt x="73669" y="442006"/>
                </a:lnTo>
                <a:cubicBezTo>
                  <a:pt x="33010" y="442006"/>
                  <a:pt x="0" y="408996"/>
                  <a:pt x="0" y="368337"/>
                </a:cubicBezTo>
                <a:lnTo>
                  <a:pt x="0" y="73669"/>
                </a:lnTo>
                <a:cubicBezTo>
                  <a:pt x="0" y="33010"/>
                  <a:pt x="33010" y="0"/>
                  <a:pt x="73669" y="0"/>
                </a:cubicBezTo>
                <a:close/>
              </a:path>
            </a:pathLst>
          </a:custGeom>
          <a:solidFill>
            <a:srgbClr val="D4A056"/>
          </a:solidFill>
          <a:ln/>
        </p:spPr>
      </p:sp>
      <p:sp>
        <p:nvSpPr>
          <p:cNvPr id="7" name="Shape 5"/>
          <p:cNvSpPr/>
          <p:nvPr/>
        </p:nvSpPr>
        <p:spPr>
          <a:xfrm>
            <a:off x="752792" y="1749607"/>
            <a:ext cx="115106" cy="184169"/>
          </a:xfrm>
          <a:custGeom>
            <a:avLst/>
            <a:gdLst/>
            <a:ahLst/>
            <a:cxnLst/>
            <a:rect l="l" t="t" r="r" b="b"/>
            <a:pathLst>
              <a:path w="115106" h="184169">
                <a:moveTo>
                  <a:pt x="48920" y="8633"/>
                </a:moveTo>
                <a:cubicBezTo>
                  <a:pt x="48920" y="3849"/>
                  <a:pt x="52769" y="0"/>
                  <a:pt x="57553" y="0"/>
                </a:cubicBezTo>
                <a:cubicBezTo>
                  <a:pt x="62337" y="0"/>
                  <a:pt x="66186" y="3849"/>
                  <a:pt x="66186" y="8633"/>
                </a:cubicBezTo>
                <a:lnTo>
                  <a:pt x="66186" y="23021"/>
                </a:lnTo>
                <a:lnTo>
                  <a:pt x="86329" y="23021"/>
                </a:lnTo>
                <a:cubicBezTo>
                  <a:pt x="92696" y="23021"/>
                  <a:pt x="97840" y="28165"/>
                  <a:pt x="97840" y="34532"/>
                </a:cubicBezTo>
                <a:cubicBezTo>
                  <a:pt x="97840" y="40899"/>
                  <a:pt x="92696" y="46042"/>
                  <a:pt x="86329" y="46042"/>
                </a:cubicBezTo>
                <a:lnTo>
                  <a:pt x="44999" y="46042"/>
                </a:lnTo>
                <a:cubicBezTo>
                  <a:pt x="36042" y="46042"/>
                  <a:pt x="28776" y="53308"/>
                  <a:pt x="28776" y="62265"/>
                </a:cubicBezTo>
                <a:cubicBezTo>
                  <a:pt x="28776" y="70358"/>
                  <a:pt x="34712" y="77193"/>
                  <a:pt x="42697" y="78344"/>
                </a:cubicBezTo>
                <a:lnTo>
                  <a:pt x="75646" y="83056"/>
                </a:lnTo>
                <a:cubicBezTo>
                  <a:pt x="94998" y="85826"/>
                  <a:pt x="109350" y="102372"/>
                  <a:pt x="109350" y="121904"/>
                </a:cubicBezTo>
                <a:cubicBezTo>
                  <a:pt x="109350" y="143594"/>
                  <a:pt x="91761" y="161148"/>
                  <a:pt x="70107" y="161148"/>
                </a:cubicBezTo>
                <a:lnTo>
                  <a:pt x="66186" y="161148"/>
                </a:lnTo>
                <a:lnTo>
                  <a:pt x="66186" y="175536"/>
                </a:lnTo>
                <a:cubicBezTo>
                  <a:pt x="66186" y="180320"/>
                  <a:pt x="62337" y="184169"/>
                  <a:pt x="57553" y="184169"/>
                </a:cubicBezTo>
                <a:cubicBezTo>
                  <a:pt x="52769" y="184169"/>
                  <a:pt x="48920" y="180320"/>
                  <a:pt x="48920" y="175536"/>
                </a:cubicBezTo>
                <a:lnTo>
                  <a:pt x="48920" y="161148"/>
                </a:lnTo>
                <a:lnTo>
                  <a:pt x="23021" y="161148"/>
                </a:lnTo>
                <a:cubicBezTo>
                  <a:pt x="16654" y="161148"/>
                  <a:pt x="11511" y="156004"/>
                  <a:pt x="11511" y="149637"/>
                </a:cubicBezTo>
                <a:cubicBezTo>
                  <a:pt x="11511" y="143271"/>
                  <a:pt x="16654" y="138127"/>
                  <a:pt x="23021" y="138127"/>
                </a:cubicBezTo>
                <a:lnTo>
                  <a:pt x="70107" y="138127"/>
                </a:lnTo>
                <a:cubicBezTo>
                  <a:pt x="79063" y="138127"/>
                  <a:pt x="86329" y="130861"/>
                  <a:pt x="86329" y="121904"/>
                </a:cubicBezTo>
                <a:cubicBezTo>
                  <a:pt x="86329" y="113811"/>
                  <a:pt x="80394" y="106976"/>
                  <a:pt x="72409" y="105825"/>
                </a:cubicBezTo>
                <a:lnTo>
                  <a:pt x="39460" y="101113"/>
                </a:lnTo>
                <a:cubicBezTo>
                  <a:pt x="20108" y="98379"/>
                  <a:pt x="5755" y="81797"/>
                  <a:pt x="5755" y="62265"/>
                </a:cubicBezTo>
                <a:cubicBezTo>
                  <a:pt x="5755" y="40611"/>
                  <a:pt x="23345" y="23021"/>
                  <a:pt x="44999" y="23021"/>
                </a:cubicBezTo>
                <a:lnTo>
                  <a:pt x="48920" y="23021"/>
                </a:lnTo>
                <a:lnTo>
                  <a:pt x="48920" y="8633"/>
                </a:lnTo>
                <a:close/>
              </a:path>
            </a:pathLst>
          </a:custGeom>
          <a:solidFill>
            <a:srgbClr val="2C3531"/>
          </a:solidFill>
          <a:ln/>
        </p:spPr>
      </p:sp>
      <p:sp>
        <p:nvSpPr>
          <p:cNvPr id="8" name="Text 6"/>
          <p:cNvSpPr/>
          <p:nvPr/>
        </p:nvSpPr>
        <p:spPr>
          <a:xfrm>
            <a:off x="1141849" y="1712773"/>
            <a:ext cx="939263" cy="257837"/>
          </a:xfrm>
          <a:prstGeom prst="rect">
            <a:avLst/>
          </a:prstGeom>
          <a:noFill/>
          <a:ln/>
        </p:spPr>
        <p:txBody>
          <a:bodyPr wrap="square" lIns="0" tIns="0" rIns="0" bIns="0" rtlCol="0" anchor="ctr"/>
          <a:lstStyle/>
          <a:p>
            <a:pPr>
              <a:lnSpc>
                <a:spcPct val="120000"/>
              </a:lnSpc>
            </a:pPr>
            <a:r>
              <a:rPr lang="en-US" sz="1450" b="1" dirty="0">
                <a:solidFill>
                  <a:srgbClr val="4A5D52"/>
                </a:solidFill>
                <a:latin typeface="Unna" pitchFamily="34" charset="0"/>
                <a:ea typeface="Unna" pitchFamily="34" charset="-122"/>
                <a:cs typeface="Unna" pitchFamily="34" charset="-120"/>
              </a:rPr>
              <a:t>Base Wage</a:t>
            </a:r>
            <a:endParaRPr lang="en-US" sz="1600" dirty="0"/>
          </a:p>
        </p:txBody>
      </p:sp>
      <p:sp>
        <p:nvSpPr>
          <p:cNvPr id="9" name="Shape 7"/>
          <p:cNvSpPr/>
          <p:nvPr/>
        </p:nvSpPr>
        <p:spPr>
          <a:xfrm>
            <a:off x="589341" y="2210030"/>
            <a:ext cx="3250586" cy="1105015"/>
          </a:xfrm>
          <a:custGeom>
            <a:avLst/>
            <a:gdLst/>
            <a:ahLst/>
            <a:cxnLst/>
            <a:rect l="l" t="t" r="r" b="b"/>
            <a:pathLst>
              <a:path w="3250586" h="1105015">
                <a:moveTo>
                  <a:pt x="73671" y="0"/>
                </a:moveTo>
                <a:lnTo>
                  <a:pt x="3176915" y="0"/>
                </a:lnTo>
                <a:cubicBezTo>
                  <a:pt x="3217602" y="0"/>
                  <a:pt x="3250586" y="32984"/>
                  <a:pt x="3250586" y="73671"/>
                </a:cubicBezTo>
                <a:lnTo>
                  <a:pt x="3250586" y="1031344"/>
                </a:lnTo>
                <a:cubicBezTo>
                  <a:pt x="3250586" y="1072031"/>
                  <a:pt x="3217602" y="1105015"/>
                  <a:pt x="3176915" y="1105015"/>
                </a:cubicBezTo>
                <a:lnTo>
                  <a:pt x="73671" y="1105015"/>
                </a:lnTo>
                <a:cubicBezTo>
                  <a:pt x="32984" y="1105015"/>
                  <a:pt x="0" y="1072031"/>
                  <a:pt x="0" y="1031344"/>
                </a:cubicBezTo>
                <a:lnTo>
                  <a:pt x="0" y="73671"/>
                </a:lnTo>
                <a:cubicBezTo>
                  <a:pt x="0" y="33011"/>
                  <a:pt x="33011" y="0"/>
                  <a:pt x="73671" y="0"/>
                </a:cubicBezTo>
                <a:close/>
              </a:path>
            </a:pathLst>
          </a:custGeom>
          <a:solidFill>
            <a:srgbClr val="4A5D52">
              <a:alpha val="5098"/>
            </a:srgbClr>
          </a:solidFill>
          <a:ln/>
        </p:spPr>
      </p:sp>
      <p:sp>
        <p:nvSpPr>
          <p:cNvPr id="10" name="Text 8"/>
          <p:cNvSpPr/>
          <p:nvPr/>
        </p:nvSpPr>
        <p:spPr>
          <a:xfrm>
            <a:off x="704447" y="2357366"/>
            <a:ext cx="3020375" cy="184169"/>
          </a:xfrm>
          <a:prstGeom prst="rect">
            <a:avLst/>
          </a:prstGeom>
          <a:noFill/>
          <a:ln/>
        </p:spPr>
        <p:txBody>
          <a:bodyPr wrap="square" lIns="0" tIns="0" rIns="0" bIns="0" rtlCol="0" anchor="ctr"/>
          <a:lstStyle/>
          <a:p>
            <a:pPr algn="ctr">
              <a:lnSpc>
                <a:spcPct val="120000"/>
              </a:lnSpc>
            </a:pPr>
            <a:r>
              <a:rPr lang="en-US" sz="1015" spc="25" kern="0" dirty="0">
                <a:solidFill>
                  <a:srgbClr val="A88B6A"/>
                </a:solidFill>
                <a:latin typeface="Liter" pitchFamily="34" charset="0"/>
                <a:ea typeface="Liter" pitchFamily="34" charset="-122"/>
                <a:cs typeface="Liter" pitchFamily="34" charset="-120"/>
              </a:rPr>
              <a:t>Hourly Rate</a:t>
            </a:r>
            <a:endParaRPr lang="en-US" sz="1600" dirty="0"/>
          </a:p>
        </p:txBody>
      </p:sp>
      <p:sp>
        <p:nvSpPr>
          <p:cNvPr id="11" name="Text 9"/>
          <p:cNvSpPr/>
          <p:nvPr/>
        </p:nvSpPr>
        <p:spPr>
          <a:xfrm>
            <a:off x="653801" y="2578369"/>
            <a:ext cx="3121668" cy="368338"/>
          </a:xfrm>
          <a:prstGeom prst="rect">
            <a:avLst/>
          </a:prstGeom>
          <a:noFill/>
          <a:ln/>
        </p:spPr>
        <p:txBody>
          <a:bodyPr wrap="square" lIns="0" tIns="0" rIns="0" bIns="0" rtlCol="0" anchor="ctr"/>
          <a:lstStyle/>
          <a:p>
            <a:pPr algn="ctr">
              <a:lnSpc>
                <a:spcPct val="90000"/>
              </a:lnSpc>
            </a:pPr>
            <a:r>
              <a:rPr lang="en-US" sz="2610" b="1" dirty="0">
                <a:solidFill>
                  <a:srgbClr val="4A5D52"/>
                </a:solidFill>
                <a:latin typeface="Oranienbaum" pitchFamily="34" charset="0"/>
                <a:ea typeface="Oranienbaum" pitchFamily="34" charset="-122"/>
                <a:cs typeface="Oranienbaum" pitchFamily="34" charset="-120"/>
              </a:rPr>
              <a:t>$[XX.XX]</a:t>
            </a:r>
            <a:endParaRPr lang="en-US" sz="1600" dirty="0"/>
          </a:p>
        </p:txBody>
      </p:sp>
      <p:sp>
        <p:nvSpPr>
          <p:cNvPr id="12" name="Text 10"/>
          <p:cNvSpPr/>
          <p:nvPr/>
        </p:nvSpPr>
        <p:spPr>
          <a:xfrm>
            <a:off x="704447" y="2983541"/>
            <a:ext cx="3020375" cy="184169"/>
          </a:xfrm>
          <a:prstGeom prst="rect">
            <a:avLst/>
          </a:prstGeom>
          <a:noFill/>
          <a:ln/>
        </p:spPr>
        <p:txBody>
          <a:bodyPr wrap="square" lIns="0" tIns="0" rIns="0" bIns="0" rtlCol="0" anchor="ctr"/>
          <a:lstStyle/>
          <a:p>
            <a:pPr algn="ctr">
              <a:lnSpc>
                <a:spcPct val="120000"/>
              </a:lnSpc>
            </a:pPr>
            <a:r>
              <a:rPr lang="en-US" sz="1015" dirty="0">
                <a:solidFill>
                  <a:srgbClr val="2C3531">
                    <a:alpha val="70000"/>
                  </a:srgbClr>
                </a:solidFill>
                <a:latin typeface="Liter" pitchFamily="34" charset="0"/>
                <a:ea typeface="Liter" pitchFamily="34" charset="-122"/>
                <a:cs typeface="Liter" pitchFamily="34" charset="-120"/>
              </a:rPr>
              <a:t>per hour worked</a:t>
            </a:r>
            <a:endParaRPr lang="en-US" sz="1600" dirty="0"/>
          </a:p>
        </p:txBody>
      </p:sp>
      <p:sp>
        <p:nvSpPr>
          <p:cNvPr id="13" name="Text 11"/>
          <p:cNvSpPr/>
          <p:nvPr/>
        </p:nvSpPr>
        <p:spPr>
          <a:xfrm>
            <a:off x="589341" y="3462381"/>
            <a:ext cx="3315045" cy="184169"/>
          </a:xfrm>
          <a:prstGeom prst="rect">
            <a:avLst/>
          </a:prstGeom>
          <a:noFill/>
          <a:ln/>
        </p:spPr>
        <p:txBody>
          <a:bodyPr wrap="square" lIns="0" tIns="0" rIns="0" bIns="0" rtlCol="0" anchor="ctr"/>
          <a:lstStyle/>
          <a:p>
            <a:pPr>
              <a:lnSpc>
                <a:spcPct val="120000"/>
              </a:lnSpc>
            </a:pPr>
            <a:r>
              <a:rPr lang="en-US" sz="1015" b="1" spc="25" kern="0" dirty="0">
                <a:solidFill>
                  <a:srgbClr val="A88B6A"/>
                </a:solidFill>
                <a:latin typeface="Liter" pitchFamily="34" charset="0"/>
                <a:ea typeface="Liter" pitchFamily="34" charset="-122"/>
                <a:cs typeface="Liter" pitchFamily="34" charset="-120"/>
              </a:rPr>
              <a:t>Payment Structure</a:t>
            </a:r>
            <a:endParaRPr lang="en-US" sz="1600" dirty="0"/>
          </a:p>
        </p:txBody>
      </p:sp>
      <p:sp>
        <p:nvSpPr>
          <p:cNvPr id="14" name="Shape 12"/>
          <p:cNvSpPr/>
          <p:nvPr/>
        </p:nvSpPr>
        <p:spPr>
          <a:xfrm>
            <a:off x="616967" y="3757051"/>
            <a:ext cx="128918" cy="147335"/>
          </a:xfrm>
          <a:custGeom>
            <a:avLst/>
            <a:gdLst/>
            <a:ahLst/>
            <a:cxnLst/>
            <a:rect l="l" t="t" r="r" b="b"/>
            <a:pathLst>
              <a:path w="128918" h="147335">
                <a:moveTo>
                  <a:pt x="125120" y="20172"/>
                </a:moveTo>
                <a:cubicBezTo>
                  <a:pt x="129235" y="23165"/>
                  <a:pt x="130156" y="28920"/>
                  <a:pt x="127163" y="33035"/>
                </a:cubicBezTo>
                <a:lnTo>
                  <a:pt x="53495" y="134328"/>
                </a:lnTo>
                <a:cubicBezTo>
                  <a:pt x="51913" y="136515"/>
                  <a:pt x="49467" y="137868"/>
                  <a:pt x="46762" y="138098"/>
                </a:cubicBezTo>
                <a:cubicBezTo>
                  <a:pt x="44057" y="138328"/>
                  <a:pt x="41438" y="137321"/>
                  <a:pt x="39539" y="135422"/>
                </a:cubicBezTo>
                <a:lnTo>
                  <a:pt x="2705" y="98588"/>
                </a:lnTo>
                <a:cubicBezTo>
                  <a:pt x="-892" y="94991"/>
                  <a:pt x="-892" y="89149"/>
                  <a:pt x="2705" y="85552"/>
                </a:cubicBezTo>
                <a:cubicBezTo>
                  <a:pt x="6302" y="81955"/>
                  <a:pt x="12144" y="81955"/>
                  <a:pt x="15741" y="85552"/>
                </a:cubicBezTo>
                <a:lnTo>
                  <a:pt x="44949" y="114760"/>
                </a:lnTo>
                <a:lnTo>
                  <a:pt x="112286" y="22187"/>
                </a:lnTo>
                <a:cubicBezTo>
                  <a:pt x="115278" y="18072"/>
                  <a:pt x="121034" y="17151"/>
                  <a:pt x="125149" y="20144"/>
                </a:cubicBezTo>
                <a:close/>
              </a:path>
            </a:pathLst>
          </a:custGeom>
          <a:solidFill>
            <a:srgbClr val="4A5D52"/>
          </a:solidFill>
          <a:ln/>
        </p:spPr>
      </p:sp>
      <p:sp>
        <p:nvSpPr>
          <p:cNvPr id="15" name="Text 13"/>
          <p:cNvSpPr/>
          <p:nvPr/>
        </p:nvSpPr>
        <p:spPr>
          <a:xfrm>
            <a:off x="847178" y="3720218"/>
            <a:ext cx="2127154" cy="221003"/>
          </a:xfrm>
          <a:prstGeom prst="rect">
            <a:avLst/>
          </a:prstGeom>
          <a:noFill/>
          <a:ln/>
        </p:spPr>
        <p:txBody>
          <a:bodyPr wrap="square" lIns="0" tIns="0" rIns="0" bIns="0" rtlCol="0" anchor="ctr"/>
          <a:lstStyle/>
          <a:p>
            <a:pPr>
              <a:lnSpc>
                <a:spcPct val="130000"/>
              </a:lnSpc>
            </a:pPr>
            <a:r>
              <a:rPr lang="en-US" sz="1160" dirty="0">
                <a:solidFill>
                  <a:srgbClr val="2C3531"/>
                </a:solidFill>
                <a:latin typeface="Liter" pitchFamily="34" charset="0"/>
                <a:ea typeface="Liter" pitchFamily="34" charset="-122"/>
                <a:cs typeface="Liter" pitchFamily="34" charset="-120"/>
              </a:rPr>
              <a:t>Regular hours: Base rate applies</a:t>
            </a:r>
            <a:endParaRPr lang="en-US" sz="1600" dirty="0"/>
          </a:p>
        </p:txBody>
      </p:sp>
      <p:sp>
        <p:nvSpPr>
          <p:cNvPr id="16" name="Shape 14"/>
          <p:cNvSpPr/>
          <p:nvPr/>
        </p:nvSpPr>
        <p:spPr>
          <a:xfrm>
            <a:off x="616967" y="4051722"/>
            <a:ext cx="128918" cy="147335"/>
          </a:xfrm>
          <a:custGeom>
            <a:avLst/>
            <a:gdLst/>
            <a:ahLst/>
            <a:cxnLst/>
            <a:rect l="l" t="t" r="r" b="b"/>
            <a:pathLst>
              <a:path w="128918" h="147335">
                <a:moveTo>
                  <a:pt x="125120" y="20172"/>
                </a:moveTo>
                <a:cubicBezTo>
                  <a:pt x="129235" y="23165"/>
                  <a:pt x="130156" y="28920"/>
                  <a:pt x="127163" y="33035"/>
                </a:cubicBezTo>
                <a:lnTo>
                  <a:pt x="53495" y="134328"/>
                </a:lnTo>
                <a:cubicBezTo>
                  <a:pt x="51913" y="136515"/>
                  <a:pt x="49467" y="137868"/>
                  <a:pt x="46762" y="138098"/>
                </a:cubicBezTo>
                <a:cubicBezTo>
                  <a:pt x="44057" y="138328"/>
                  <a:pt x="41438" y="137321"/>
                  <a:pt x="39539" y="135422"/>
                </a:cubicBezTo>
                <a:lnTo>
                  <a:pt x="2705" y="98588"/>
                </a:lnTo>
                <a:cubicBezTo>
                  <a:pt x="-892" y="94991"/>
                  <a:pt x="-892" y="89149"/>
                  <a:pt x="2705" y="85552"/>
                </a:cubicBezTo>
                <a:cubicBezTo>
                  <a:pt x="6302" y="81955"/>
                  <a:pt x="12144" y="81955"/>
                  <a:pt x="15741" y="85552"/>
                </a:cubicBezTo>
                <a:lnTo>
                  <a:pt x="44949" y="114760"/>
                </a:lnTo>
                <a:lnTo>
                  <a:pt x="112286" y="22187"/>
                </a:lnTo>
                <a:cubicBezTo>
                  <a:pt x="115278" y="18072"/>
                  <a:pt x="121034" y="17151"/>
                  <a:pt x="125149" y="20144"/>
                </a:cubicBezTo>
                <a:close/>
              </a:path>
            </a:pathLst>
          </a:custGeom>
          <a:solidFill>
            <a:srgbClr val="4A5D52"/>
          </a:solidFill>
          <a:ln/>
        </p:spPr>
      </p:sp>
      <p:sp>
        <p:nvSpPr>
          <p:cNvPr id="17" name="Text 15"/>
          <p:cNvSpPr/>
          <p:nvPr/>
        </p:nvSpPr>
        <p:spPr>
          <a:xfrm>
            <a:off x="847178" y="4014888"/>
            <a:ext cx="2652036" cy="221003"/>
          </a:xfrm>
          <a:prstGeom prst="rect">
            <a:avLst/>
          </a:prstGeom>
          <a:noFill/>
          <a:ln/>
        </p:spPr>
        <p:txBody>
          <a:bodyPr wrap="square" lIns="0" tIns="0" rIns="0" bIns="0" rtlCol="0" anchor="ctr"/>
          <a:lstStyle/>
          <a:p>
            <a:pPr>
              <a:lnSpc>
                <a:spcPct val="130000"/>
              </a:lnSpc>
            </a:pPr>
            <a:r>
              <a:rPr lang="en-US" sz="1160" dirty="0">
                <a:solidFill>
                  <a:srgbClr val="2C3531"/>
                </a:solidFill>
                <a:latin typeface="Liter" pitchFamily="34" charset="0"/>
                <a:ea typeface="Liter" pitchFamily="34" charset="-122"/>
                <a:cs typeface="Liter" pitchFamily="34" charset="-120"/>
              </a:rPr>
              <a:t>Overtime (40+ hrs/week): 1.5x base rate</a:t>
            </a:r>
            <a:endParaRPr lang="en-US" sz="1600" dirty="0"/>
          </a:p>
        </p:txBody>
      </p:sp>
      <p:sp>
        <p:nvSpPr>
          <p:cNvPr id="18" name="Shape 16"/>
          <p:cNvSpPr/>
          <p:nvPr/>
        </p:nvSpPr>
        <p:spPr>
          <a:xfrm>
            <a:off x="616967" y="4346393"/>
            <a:ext cx="128918" cy="147335"/>
          </a:xfrm>
          <a:custGeom>
            <a:avLst/>
            <a:gdLst/>
            <a:ahLst/>
            <a:cxnLst/>
            <a:rect l="l" t="t" r="r" b="b"/>
            <a:pathLst>
              <a:path w="128918" h="147335">
                <a:moveTo>
                  <a:pt x="125120" y="20172"/>
                </a:moveTo>
                <a:cubicBezTo>
                  <a:pt x="129235" y="23165"/>
                  <a:pt x="130156" y="28920"/>
                  <a:pt x="127163" y="33035"/>
                </a:cubicBezTo>
                <a:lnTo>
                  <a:pt x="53495" y="134328"/>
                </a:lnTo>
                <a:cubicBezTo>
                  <a:pt x="51913" y="136515"/>
                  <a:pt x="49467" y="137868"/>
                  <a:pt x="46762" y="138098"/>
                </a:cubicBezTo>
                <a:cubicBezTo>
                  <a:pt x="44057" y="138328"/>
                  <a:pt x="41438" y="137321"/>
                  <a:pt x="39539" y="135422"/>
                </a:cubicBezTo>
                <a:lnTo>
                  <a:pt x="2705" y="98588"/>
                </a:lnTo>
                <a:cubicBezTo>
                  <a:pt x="-892" y="94991"/>
                  <a:pt x="-892" y="89149"/>
                  <a:pt x="2705" y="85552"/>
                </a:cubicBezTo>
                <a:cubicBezTo>
                  <a:pt x="6302" y="81955"/>
                  <a:pt x="12144" y="81955"/>
                  <a:pt x="15741" y="85552"/>
                </a:cubicBezTo>
                <a:lnTo>
                  <a:pt x="44949" y="114760"/>
                </a:lnTo>
                <a:lnTo>
                  <a:pt x="112286" y="22187"/>
                </a:lnTo>
                <a:cubicBezTo>
                  <a:pt x="115278" y="18072"/>
                  <a:pt x="121034" y="17151"/>
                  <a:pt x="125149" y="20144"/>
                </a:cubicBezTo>
                <a:close/>
              </a:path>
            </a:pathLst>
          </a:custGeom>
          <a:solidFill>
            <a:srgbClr val="4A5D52"/>
          </a:solidFill>
          <a:ln/>
        </p:spPr>
      </p:sp>
      <p:sp>
        <p:nvSpPr>
          <p:cNvPr id="19" name="Text 17"/>
          <p:cNvSpPr/>
          <p:nvPr/>
        </p:nvSpPr>
        <p:spPr>
          <a:xfrm>
            <a:off x="847178" y="4309559"/>
            <a:ext cx="2688870" cy="221003"/>
          </a:xfrm>
          <a:prstGeom prst="rect">
            <a:avLst/>
          </a:prstGeom>
          <a:noFill/>
          <a:ln/>
        </p:spPr>
        <p:txBody>
          <a:bodyPr wrap="square" lIns="0" tIns="0" rIns="0" bIns="0" rtlCol="0" anchor="ctr"/>
          <a:lstStyle/>
          <a:p>
            <a:pPr>
              <a:lnSpc>
                <a:spcPct val="130000"/>
              </a:lnSpc>
            </a:pPr>
            <a:r>
              <a:rPr lang="en-US" sz="1160" dirty="0">
                <a:solidFill>
                  <a:srgbClr val="2C3531"/>
                </a:solidFill>
                <a:latin typeface="Liter" pitchFamily="34" charset="0"/>
                <a:ea typeface="Liter" pitchFamily="34" charset="-122"/>
                <a:cs typeface="Liter" pitchFamily="34" charset="-120"/>
              </a:rPr>
              <a:t>Holiday work: 2x base rate (if applicable)</a:t>
            </a:r>
            <a:endParaRPr lang="en-US" sz="1600" dirty="0"/>
          </a:p>
        </p:txBody>
      </p:sp>
      <p:sp>
        <p:nvSpPr>
          <p:cNvPr id="20" name="Shape 18"/>
          <p:cNvSpPr/>
          <p:nvPr/>
        </p:nvSpPr>
        <p:spPr>
          <a:xfrm>
            <a:off x="4249416" y="1399686"/>
            <a:ext cx="3692592" cy="4235891"/>
          </a:xfrm>
          <a:custGeom>
            <a:avLst/>
            <a:gdLst/>
            <a:ahLst/>
            <a:cxnLst/>
            <a:rect l="l" t="t" r="r" b="b"/>
            <a:pathLst>
              <a:path w="3692592" h="4235891">
                <a:moveTo>
                  <a:pt x="73667" y="0"/>
                </a:moveTo>
                <a:lnTo>
                  <a:pt x="3618925" y="0"/>
                </a:lnTo>
                <a:cubicBezTo>
                  <a:pt x="3659610" y="0"/>
                  <a:pt x="3692592" y="32982"/>
                  <a:pt x="3692592" y="73667"/>
                </a:cubicBezTo>
                <a:lnTo>
                  <a:pt x="3692592" y="4162224"/>
                </a:lnTo>
                <a:cubicBezTo>
                  <a:pt x="3692592" y="4202909"/>
                  <a:pt x="3659610" y="4235891"/>
                  <a:pt x="3618925" y="4235891"/>
                </a:cubicBezTo>
                <a:lnTo>
                  <a:pt x="73667" y="4235891"/>
                </a:lnTo>
                <a:cubicBezTo>
                  <a:pt x="32982" y="4235891"/>
                  <a:pt x="0" y="4202909"/>
                  <a:pt x="0" y="4162224"/>
                </a:cubicBezTo>
                <a:lnTo>
                  <a:pt x="0" y="73667"/>
                </a:lnTo>
                <a:cubicBezTo>
                  <a:pt x="0" y="33009"/>
                  <a:pt x="33009" y="0"/>
                  <a:pt x="73667" y="0"/>
                </a:cubicBezTo>
                <a:close/>
              </a:path>
            </a:pathLst>
          </a:custGeom>
          <a:solidFill>
            <a:srgbClr val="FFFFFF"/>
          </a:solidFill>
          <a:ln/>
          <a:effectLst>
            <a:outerShdw sx="100000" sy="100000" kx="0" ky="0" algn="bl" rotWithShape="0" blurRad="55251" dist="36834" dir="5400000">
              <a:srgbClr val="000000">
                <a:alpha val="10196"/>
              </a:srgbClr>
            </a:outerShdw>
          </a:effectLst>
        </p:spPr>
      </p:sp>
      <p:sp>
        <p:nvSpPr>
          <p:cNvPr id="21" name="Shape 19"/>
          <p:cNvSpPr/>
          <p:nvPr/>
        </p:nvSpPr>
        <p:spPr>
          <a:xfrm>
            <a:off x="4470419" y="1620689"/>
            <a:ext cx="442006" cy="442006"/>
          </a:xfrm>
          <a:custGeom>
            <a:avLst/>
            <a:gdLst/>
            <a:ahLst/>
            <a:cxnLst/>
            <a:rect l="l" t="t" r="r" b="b"/>
            <a:pathLst>
              <a:path w="442006" h="442006">
                <a:moveTo>
                  <a:pt x="73669" y="0"/>
                </a:moveTo>
                <a:lnTo>
                  <a:pt x="368337" y="0"/>
                </a:lnTo>
                <a:cubicBezTo>
                  <a:pt x="408996" y="0"/>
                  <a:pt x="442006" y="33010"/>
                  <a:pt x="442006" y="73669"/>
                </a:cubicBezTo>
                <a:lnTo>
                  <a:pt x="442006" y="368337"/>
                </a:lnTo>
                <a:cubicBezTo>
                  <a:pt x="442006" y="408996"/>
                  <a:pt x="408996" y="442006"/>
                  <a:pt x="368337" y="442006"/>
                </a:cubicBezTo>
                <a:lnTo>
                  <a:pt x="73669" y="442006"/>
                </a:lnTo>
                <a:cubicBezTo>
                  <a:pt x="33010" y="442006"/>
                  <a:pt x="0" y="408996"/>
                  <a:pt x="0" y="368337"/>
                </a:cubicBezTo>
                <a:lnTo>
                  <a:pt x="0" y="73669"/>
                </a:lnTo>
                <a:cubicBezTo>
                  <a:pt x="0" y="33010"/>
                  <a:pt x="33010" y="0"/>
                  <a:pt x="73669" y="0"/>
                </a:cubicBezTo>
                <a:close/>
              </a:path>
            </a:pathLst>
          </a:custGeom>
          <a:solidFill>
            <a:srgbClr val="4A5D52"/>
          </a:solidFill>
          <a:ln/>
        </p:spPr>
      </p:sp>
      <p:sp>
        <p:nvSpPr>
          <p:cNvPr id="22" name="Shape 20"/>
          <p:cNvSpPr/>
          <p:nvPr/>
        </p:nvSpPr>
        <p:spPr>
          <a:xfrm>
            <a:off x="4610848" y="1749607"/>
            <a:ext cx="161148" cy="184169"/>
          </a:xfrm>
          <a:custGeom>
            <a:avLst/>
            <a:gdLst/>
            <a:ahLst/>
            <a:cxnLst/>
            <a:rect l="l" t="t" r="r" b="b"/>
            <a:pathLst>
              <a:path w="161148" h="184169">
                <a:moveTo>
                  <a:pt x="46042" y="0"/>
                </a:moveTo>
                <a:cubicBezTo>
                  <a:pt x="52409" y="0"/>
                  <a:pt x="57553" y="5144"/>
                  <a:pt x="57553" y="11511"/>
                </a:cubicBezTo>
                <a:lnTo>
                  <a:pt x="57553" y="23021"/>
                </a:lnTo>
                <a:lnTo>
                  <a:pt x="103595" y="23021"/>
                </a:lnTo>
                <a:lnTo>
                  <a:pt x="103595" y="11511"/>
                </a:lnTo>
                <a:cubicBezTo>
                  <a:pt x="103595" y="5144"/>
                  <a:pt x="108739" y="0"/>
                  <a:pt x="115106" y="0"/>
                </a:cubicBezTo>
                <a:cubicBezTo>
                  <a:pt x="121473" y="0"/>
                  <a:pt x="126616" y="5144"/>
                  <a:pt x="126616" y="11511"/>
                </a:cubicBezTo>
                <a:lnTo>
                  <a:pt x="126616" y="23021"/>
                </a:lnTo>
                <a:lnTo>
                  <a:pt x="138127" y="23021"/>
                </a:lnTo>
                <a:cubicBezTo>
                  <a:pt x="150824" y="23021"/>
                  <a:pt x="161148" y="33345"/>
                  <a:pt x="161148" y="46042"/>
                </a:cubicBezTo>
                <a:lnTo>
                  <a:pt x="161148" y="149637"/>
                </a:lnTo>
                <a:cubicBezTo>
                  <a:pt x="161148" y="162335"/>
                  <a:pt x="150824" y="172659"/>
                  <a:pt x="138127" y="172659"/>
                </a:cubicBezTo>
                <a:lnTo>
                  <a:pt x="23021" y="172659"/>
                </a:lnTo>
                <a:cubicBezTo>
                  <a:pt x="10324" y="172659"/>
                  <a:pt x="0" y="162335"/>
                  <a:pt x="0" y="149637"/>
                </a:cubicBezTo>
                <a:lnTo>
                  <a:pt x="0" y="46042"/>
                </a:lnTo>
                <a:cubicBezTo>
                  <a:pt x="0" y="33345"/>
                  <a:pt x="10324" y="23021"/>
                  <a:pt x="23021" y="23021"/>
                </a:cubicBezTo>
                <a:lnTo>
                  <a:pt x="34532" y="23021"/>
                </a:lnTo>
                <a:lnTo>
                  <a:pt x="34532" y="11511"/>
                </a:lnTo>
                <a:cubicBezTo>
                  <a:pt x="34532" y="5144"/>
                  <a:pt x="39676" y="0"/>
                  <a:pt x="46042" y="0"/>
                </a:cubicBezTo>
                <a:close/>
                <a:moveTo>
                  <a:pt x="46042" y="92085"/>
                </a:moveTo>
                <a:cubicBezTo>
                  <a:pt x="39676" y="92085"/>
                  <a:pt x="34532" y="97228"/>
                  <a:pt x="34532" y="103595"/>
                </a:cubicBezTo>
                <a:lnTo>
                  <a:pt x="34532" y="126616"/>
                </a:lnTo>
                <a:cubicBezTo>
                  <a:pt x="34532" y="132983"/>
                  <a:pt x="39676" y="138127"/>
                  <a:pt x="46042" y="138127"/>
                </a:cubicBezTo>
                <a:lnTo>
                  <a:pt x="69063" y="138127"/>
                </a:lnTo>
                <a:cubicBezTo>
                  <a:pt x="75430" y="138127"/>
                  <a:pt x="80574" y="132983"/>
                  <a:pt x="80574" y="126616"/>
                </a:cubicBezTo>
                <a:lnTo>
                  <a:pt x="80574" y="103595"/>
                </a:lnTo>
                <a:cubicBezTo>
                  <a:pt x="80574" y="97228"/>
                  <a:pt x="75430" y="92085"/>
                  <a:pt x="69063" y="92085"/>
                </a:cubicBezTo>
                <a:lnTo>
                  <a:pt x="46042" y="92085"/>
                </a:lnTo>
                <a:close/>
              </a:path>
            </a:pathLst>
          </a:custGeom>
          <a:solidFill>
            <a:srgbClr val="F8F7F2"/>
          </a:solidFill>
          <a:ln/>
        </p:spPr>
      </p:sp>
      <p:sp>
        <p:nvSpPr>
          <p:cNvPr id="23" name="Text 21"/>
          <p:cNvSpPr/>
          <p:nvPr/>
        </p:nvSpPr>
        <p:spPr>
          <a:xfrm>
            <a:off x="5022927" y="1712773"/>
            <a:ext cx="1537813" cy="257837"/>
          </a:xfrm>
          <a:prstGeom prst="rect">
            <a:avLst/>
          </a:prstGeom>
          <a:noFill/>
          <a:ln/>
        </p:spPr>
        <p:txBody>
          <a:bodyPr wrap="square" lIns="0" tIns="0" rIns="0" bIns="0" rtlCol="0" anchor="ctr"/>
          <a:lstStyle/>
          <a:p>
            <a:pPr>
              <a:lnSpc>
                <a:spcPct val="120000"/>
              </a:lnSpc>
            </a:pPr>
            <a:r>
              <a:rPr lang="en-US" sz="1450" b="1" dirty="0">
                <a:solidFill>
                  <a:srgbClr val="4A5D52"/>
                </a:solidFill>
                <a:latin typeface="Unna" pitchFamily="34" charset="0"/>
                <a:ea typeface="Unna" pitchFamily="34" charset="-122"/>
                <a:cs typeface="Unna" pitchFamily="34" charset="-120"/>
              </a:rPr>
              <a:t>Payment Schedule</a:t>
            </a:r>
            <a:endParaRPr lang="en-US" sz="1600" dirty="0"/>
          </a:p>
        </p:txBody>
      </p:sp>
      <p:sp>
        <p:nvSpPr>
          <p:cNvPr id="24" name="Text 22"/>
          <p:cNvSpPr/>
          <p:nvPr/>
        </p:nvSpPr>
        <p:spPr>
          <a:xfrm>
            <a:off x="4470419" y="2210030"/>
            <a:ext cx="3315045" cy="184169"/>
          </a:xfrm>
          <a:prstGeom prst="rect">
            <a:avLst/>
          </a:prstGeom>
          <a:noFill/>
          <a:ln/>
        </p:spPr>
        <p:txBody>
          <a:bodyPr wrap="square" lIns="0" tIns="0" rIns="0" bIns="0" rtlCol="0" anchor="ctr"/>
          <a:lstStyle/>
          <a:p>
            <a:pPr>
              <a:lnSpc>
                <a:spcPct val="120000"/>
              </a:lnSpc>
            </a:pPr>
            <a:r>
              <a:rPr lang="en-US" sz="1015" b="1" spc="25" kern="0" dirty="0">
                <a:solidFill>
                  <a:srgbClr val="A88B6A"/>
                </a:solidFill>
                <a:latin typeface="Liter" pitchFamily="34" charset="0"/>
                <a:ea typeface="Liter" pitchFamily="34" charset="-122"/>
                <a:cs typeface="Liter" pitchFamily="34" charset="-120"/>
              </a:rPr>
              <a:t>Pay Period</a:t>
            </a:r>
            <a:endParaRPr lang="en-US" sz="1600" dirty="0"/>
          </a:p>
        </p:txBody>
      </p:sp>
      <p:sp>
        <p:nvSpPr>
          <p:cNvPr id="25" name="Text 23"/>
          <p:cNvSpPr/>
          <p:nvPr/>
        </p:nvSpPr>
        <p:spPr>
          <a:xfrm>
            <a:off x="4470419" y="2467867"/>
            <a:ext cx="3333462" cy="267045"/>
          </a:xfrm>
          <a:prstGeom prst="rect">
            <a:avLst/>
          </a:prstGeom>
          <a:noFill/>
          <a:ln/>
        </p:spPr>
        <p:txBody>
          <a:bodyPr wrap="square" lIns="0" tIns="0" rIns="0" bIns="0" rtlCol="0" anchor="ctr"/>
          <a:lstStyle/>
          <a:p>
            <a:pPr>
              <a:lnSpc>
                <a:spcPct val="140000"/>
              </a:lnSpc>
            </a:pPr>
            <a:r>
              <a:rPr lang="en-US" sz="1305" dirty="0">
                <a:solidFill>
                  <a:srgbClr val="2C3531"/>
                </a:solidFill>
                <a:latin typeface="Liter" pitchFamily="34" charset="0"/>
                <a:ea typeface="Liter" pitchFamily="34" charset="-122"/>
                <a:cs typeface="Liter" pitchFamily="34" charset="-120"/>
              </a:rPr>
              <a:t>Bi-weekly (Every 2 weeks)</a:t>
            </a:r>
            <a:endParaRPr lang="en-US" sz="1600" dirty="0"/>
          </a:p>
        </p:txBody>
      </p:sp>
      <p:sp>
        <p:nvSpPr>
          <p:cNvPr id="26" name="Text 24"/>
          <p:cNvSpPr/>
          <p:nvPr/>
        </p:nvSpPr>
        <p:spPr>
          <a:xfrm>
            <a:off x="4470419" y="2882248"/>
            <a:ext cx="3315045" cy="184169"/>
          </a:xfrm>
          <a:prstGeom prst="rect">
            <a:avLst/>
          </a:prstGeom>
          <a:noFill/>
          <a:ln/>
        </p:spPr>
        <p:txBody>
          <a:bodyPr wrap="square" lIns="0" tIns="0" rIns="0" bIns="0" rtlCol="0" anchor="ctr"/>
          <a:lstStyle/>
          <a:p>
            <a:pPr>
              <a:lnSpc>
                <a:spcPct val="120000"/>
              </a:lnSpc>
            </a:pPr>
            <a:r>
              <a:rPr lang="en-US" sz="1015" b="1" spc="25" kern="0" dirty="0">
                <a:solidFill>
                  <a:srgbClr val="A88B6A"/>
                </a:solidFill>
                <a:latin typeface="Liter" pitchFamily="34" charset="0"/>
                <a:ea typeface="Liter" pitchFamily="34" charset="-122"/>
                <a:cs typeface="Liter" pitchFamily="34" charset="-120"/>
              </a:rPr>
              <a:t>Payday</a:t>
            </a:r>
            <a:endParaRPr lang="en-US" sz="1600" dirty="0"/>
          </a:p>
        </p:txBody>
      </p:sp>
      <p:sp>
        <p:nvSpPr>
          <p:cNvPr id="27" name="Text 25"/>
          <p:cNvSpPr/>
          <p:nvPr/>
        </p:nvSpPr>
        <p:spPr>
          <a:xfrm>
            <a:off x="4470419" y="3140085"/>
            <a:ext cx="3333462" cy="534091"/>
          </a:xfrm>
          <a:prstGeom prst="rect">
            <a:avLst/>
          </a:prstGeom>
          <a:noFill/>
          <a:ln/>
        </p:spPr>
        <p:txBody>
          <a:bodyPr wrap="square" lIns="0" tIns="0" rIns="0" bIns="0" rtlCol="0" anchor="ctr"/>
          <a:lstStyle/>
          <a:p>
            <a:pPr>
              <a:lnSpc>
                <a:spcPct val="140000"/>
              </a:lnSpc>
            </a:pPr>
            <a:r>
              <a:rPr lang="en-US" sz="1305" dirty="0">
                <a:solidFill>
                  <a:srgbClr val="2C3531"/>
                </a:solidFill>
                <a:latin typeface="Liter" pitchFamily="34" charset="0"/>
                <a:ea typeface="Liter" pitchFamily="34" charset="-122"/>
                <a:cs typeface="Liter" pitchFamily="34" charset="-120"/>
              </a:rPr>
              <a:t>Every [Day of Week] following pay period end</a:t>
            </a:r>
            <a:endParaRPr lang="en-US" sz="1600" dirty="0"/>
          </a:p>
        </p:txBody>
      </p:sp>
      <p:sp>
        <p:nvSpPr>
          <p:cNvPr id="28" name="Shape 26"/>
          <p:cNvSpPr/>
          <p:nvPr/>
        </p:nvSpPr>
        <p:spPr>
          <a:xfrm>
            <a:off x="4470419" y="3821511"/>
            <a:ext cx="3250586" cy="1031347"/>
          </a:xfrm>
          <a:custGeom>
            <a:avLst/>
            <a:gdLst/>
            <a:ahLst/>
            <a:cxnLst/>
            <a:rect l="l" t="t" r="r" b="b"/>
            <a:pathLst>
              <a:path w="3250586" h="1031347">
                <a:moveTo>
                  <a:pt x="73669" y="0"/>
                </a:moveTo>
                <a:lnTo>
                  <a:pt x="3176917" y="0"/>
                </a:lnTo>
                <a:cubicBezTo>
                  <a:pt x="3217603" y="0"/>
                  <a:pt x="3250586" y="32983"/>
                  <a:pt x="3250586" y="73669"/>
                </a:cubicBezTo>
                <a:lnTo>
                  <a:pt x="3250586" y="957678"/>
                </a:lnTo>
                <a:cubicBezTo>
                  <a:pt x="3250586" y="998365"/>
                  <a:pt x="3217603" y="1031347"/>
                  <a:pt x="3176917" y="1031347"/>
                </a:cubicBezTo>
                <a:lnTo>
                  <a:pt x="73669" y="1031347"/>
                </a:lnTo>
                <a:cubicBezTo>
                  <a:pt x="32983" y="1031347"/>
                  <a:pt x="0" y="998365"/>
                  <a:pt x="0" y="957678"/>
                </a:cubicBezTo>
                <a:lnTo>
                  <a:pt x="0" y="73669"/>
                </a:lnTo>
                <a:cubicBezTo>
                  <a:pt x="0" y="33010"/>
                  <a:pt x="33010" y="0"/>
                  <a:pt x="73669" y="0"/>
                </a:cubicBezTo>
                <a:close/>
              </a:path>
            </a:pathLst>
          </a:custGeom>
          <a:solidFill>
            <a:srgbClr val="4A5D52">
              <a:alpha val="5098"/>
            </a:srgbClr>
          </a:solidFill>
          <a:ln/>
        </p:spPr>
      </p:sp>
      <p:sp>
        <p:nvSpPr>
          <p:cNvPr id="29" name="Text 27"/>
          <p:cNvSpPr/>
          <p:nvPr/>
        </p:nvSpPr>
        <p:spPr>
          <a:xfrm>
            <a:off x="4617755" y="3968846"/>
            <a:ext cx="3020375" cy="184169"/>
          </a:xfrm>
          <a:prstGeom prst="rect">
            <a:avLst/>
          </a:prstGeom>
          <a:noFill/>
          <a:ln/>
        </p:spPr>
        <p:txBody>
          <a:bodyPr wrap="square" lIns="0" tIns="0" rIns="0" bIns="0" rtlCol="0" anchor="ctr"/>
          <a:lstStyle/>
          <a:p>
            <a:pPr>
              <a:lnSpc>
                <a:spcPct val="120000"/>
              </a:lnSpc>
            </a:pPr>
            <a:r>
              <a:rPr lang="en-US" sz="1015" b="1" spc="25" kern="0" dirty="0">
                <a:solidFill>
                  <a:srgbClr val="A88B6A"/>
                </a:solidFill>
                <a:latin typeface="Liter" pitchFamily="34" charset="0"/>
                <a:ea typeface="Liter" pitchFamily="34" charset="-122"/>
                <a:cs typeface="Liter" pitchFamily="34" charset="-120"/>
              </a:rPr>
              <a:t>Payment Method</a:t>
            </a:r>
            <a:endParaRPr lang="en-US" sz="1600" dirty="0"/>
          </a:p>
        </p:txBody>
      </p:sp>
      <p:sp>
        <p:nvSpPr>
          <p:cNvPr id="30" name="Text 28"/>
          <p:cNvSpPr/>
          <p:nvPr/>
        </p:nvSpPr>
        <p:spPr>
          <a:xfrm>
            <a:off x="4617755" y="4226683"/>
            <a:ext cx="3029583" cy="478840"/>
          </a:xfrm>
          <a:prstGeom prst="rect">
            <a:avLst/>
          </a:prstGeom>
          <a:noFill/>
          <a:ln/>
        </p:spPr>
        <p:txBody>
          <a:bodyPr wrap="square" lIns="0" tIns="0" rIns="0" bIns="0" rtlCol="0" anchor="ctr"/>
          <a:lstStyle/>
          <a:p>
            <a:pPr>
              <a:lnSpc>
                <a:spcPct val="140000"/>
              </a:lnSpc>
            </a:pPr>
            <a:r>
              <a:rPr lang="en-US" sz="1160" dirty="0">
                <a:solidFill>
                  <a:srgbClr val="2C3531"/>
                </a:solidFill>
                <a:latin typeface="Liter" pitchFamily="34" charset="0"/>
                <a:ea typeface="Liter" pitchFamily="34" charset="-122"/>
                <a:cs typeface="Liter" pitchFamily="34" charset="-120"/>
              </a:rPr>
              <a:t>Direct deposit to designated bank account or paper check (employee choice)</a:t>
            </a:r>
            <a:endParaRPr lang="en-US" sz="1600" dirty="0"/>
          </a:p>
        </p:txBody>
      </p:sp>
      <p:sp>
        <p:nvSpPr>
          <p:cNvPr id="31" name="Shape 29"/>
          <p:cNvSpPr/>
          <p:nvPr/>
        </p:nvSpPr>
        <p:spPr>
          <a:xfrm>
            <a:off x="8130638" y="1399686"/>
            <a:ext cx="3692592" cy="4235891"/>
          </a:xfrm>
          <a:custGeom>
            <a:avLst/>
            <a:gdLst/>
            <a:ahLst/>
            <a:cxnLst/>
            <a:rect l="l" t="t" r="r" b="b"/>
            <a:pathLst>
              <a:path w="3692592" h="4235891">
                <a:moveTo>
                  <a:pt x="73667" y="0"/>
                </a:moveTo>
                <a:lnTo>
                  <a:pt x="3618925" y="0"/>
                </a:lnTo>
                <a:cubicBezTo>
                  <a:pt x="3659610" y="0"/>
                  <a:pt x="3692592" y="32982"/>
                  <a:pt x="3692592" y="73667"/>
                </a:cubicBezTo>
                <a:lnTo>
                  <a:pt x="3692592" y="4162224"/>
                </a:lnTo>
                <a:cubicBezTo>
                  <a:pt x="3692592" y="4202909"/>
                  <a:pt x="3659610" y="4235891"/>
                  <a:pt x="3618925" y="4235891"/>
                </a:cubicBezTo>
                <a:lnTo>
                  <a:pt x="73667" y="4235891"/>
                </a:lnTo>
                <a:cubicBezTo>
                  <a:pt x="32982" y="4235891"/>
                  <a:pt x="0" y="4202909"/>
                  <a:pt x="0" y="4162224"/>
                </a:cubicBezTo>
                <a:lnTo>
                  <a:pt x="0" y="73667"/>
                </a:lnTo>
                <a:cubicBezTo>
                  <a:pt x="0" y="33009"/>
                  <a:pt x="33009" y="0"/>
                  <a:pt x="73667" y="0"/>
                </a:cubicBezTo>
                <a:close/>
              </a:path>
            </a:pathLst>
          </a:custGeom>
          <a:solidFill>
            <a:srgbClr val="FFFFFF"/>
          </a:solidFill>
          <a:ln/>
          <a:effectLst>
            <a:outerShdw sx="100000" sy="100000" kx="0" ky="0" algn="bl" rotWithShape="0" blurRad="55251" dist="36834" dir="5400000">
              <a:srgbClr val="000000">
                <a:alpha val="10196"/>
              </a:srgbClr>
            </a:outerShdw>
          </a:effectLst>
        </p:spPr>
      </p:sp>
      <p:sp>
        <p:nvSpPr>
          <p:cNvPr id="32" name="Shape 30"/>
          <p:cNvSpPr/>
          <p:nvPr/>
        </p:nvSpPr>
        <p:spPr>
          <a:xfrm>
            <a:off x="8351641" y="1620689"/>
            <a:ext cx="442006" cy="442006"/>
          </a:xfrm>
          <a:custGeom>
            <a:avLst/>
            <a:gdLst/>
            <a:ahLst/>
            <a:cxnLst/>
            <a:rect l="l" t="t" r="r" b="b"/>
            <a:pathLst>
              <a:path w="442006" h="442006">
                <a:moveTo>
                  <a:pt x="73669" y="0"/>
                </a:moveTo>
                <a:lnTo>
                  <a:pt x="368337" y="0"/>
                </a:lnTo>
                <a:cubicBezTo>
                  <a:pt x="408996" y="0"/>
                  <a:pt x="442006" y="33010"/>
                  <a:pt x="442006" y="73669"/>
                </a:cubicBezTo>
                <a:lnTo>
                  <a:pt x="442006" y="368337"/>
                </a:lnTo>
                <a:cubicBezTo>
                  <a:pt x="442006" y="408996"/>
                  <a:pt x="408996" y="442006"/>
                  <a:pt x="368337" y="442006"/>
                </a:cubicBezTo>
                <a:lnTo>
                  <a:pt x="73669" y="442006"/>
                </a:lnTo>
                <a:cubicBezTo>
                  <a:pt x="33010" y="442006"/>
                  <a:pt x="0" y="408996"/>
                  <a:pt x="0" y="368337"/>
                </a:cubicBezTo>
                <a:lnTo>
                  <a:pt x="0" y="73669"/>
                </a:lnTo>
                <a:cubicBezTo>
                  <a:pt x="0" y="33010"/>
                  <a:pt x="33010" y="0"/>
                  <a:pt x="73669" y="0"/>
                </a:cubicBezTo>
                <a:close/>
              </a:path>
            </a:pathLst>
          </a:custGeom>
          <a:solidFill>
            <a:srgbClr val="A88B6A"/>
          </a:solidFill>
          <a:ln/>
        </p:spPr>
      </p:sp>
      <p:sp>
        <p:nvSpPr>
          <p:cNvPr id="33" name="Shape 31"/>
          <p:cNvSpPr/>
          <p:nvPr/>
        </p:nvSpPr>
        <p:spPr>
          <a:xfrm>
            <a:off x="8480559" y="1749607"/>
            <a:ext cx="184169" cy="184169"/>
          </a:xfrm>
          <a:custGeom>
            <a:avLst/>
            <a:gdLst/>
            <a:ahLst/>
            <a:cxnLst/>
            <a:rect l="l" t="t" r="r" b="b"/>
            <a:pathLst>
              <a:path w="184169" h="184169">
                <a:moveTo>
                  <a:pt x="115645" y="24748"/>
                </a:moveTo>
                <a:cubicBezTo>
                  <a:pt x="118379" y="20108"/>
                  <a:pt x="123343" y="17266"/>
                  <a:pt x="128703" y="17266"/>
                </a:cubicBezTo>
                <a:lnTo>
                  <a:pt x="129494" y="17266"/>
                </a:lnTo>
                <a:cubicBezTo>
                  <a:pt x="137443" y="17266"/>
                  <a:pt x="143882" y="23705"/>
                  <a:pt x="143882" y="31654"/>
                </a:cubicBezTo>
                <a:cubicBezTo>
                  <a:pt x="143882" y="39604"/>
                  <a:pt x="137443" y="46042"/>
                  <a:pt x="129494" y="46042"/>
                </a:cubicBezTo>
                <a:lnTo>
                  <a:pt x="103128" y="46042"/>
                </a:lnTo>
                <a:lnTo>
                  <a:pt x="115645" y="24748"/>
                </a:lnTo>
                <a:close/>
                <a:moveTo>
                  <a:pt x="68524" y="24748"/>
                </a:moveTo>
                <a:lnTo>
                  <a:pt x="81042" y="46042"/>
                </a:lnTo>
                <a:lnTo>
                  <a:pt x="54675" y="46042"/>
                </a:lnTo>
                <a:cubicBezTo>
                  <a:pt x="46726" y="46042"/>
                  <a:pt x="40287" y="39604"/>
                  <a:pt x="40287" y="31654"/>
                </a:cubicBezTo>
                <a:cubicBezTo>
                  <a:pt x="40287" y="23705"/>
                  <a:pt x="46726" y="17266"/>
                  <a:pt x="54675" y="17266"/>
                </a:cubicBezTo>
                <a:lnTo>
                  <a:pt x="55467" y="17266"/>
                </a:lnTo>
                <a:cubicBezTo>
                  <a:pt x="60826" y="17266"/>
                  <a:pt x="65826" y="20108"/>
                  <a:pt x="68524" y="24748"/>
                </a:cubicBezTo>
                <a:close/>
                <a:moveTo>
                  <a:pt x="100753" y="16007"/>
                </a:moveTo>
                <a:lnTo>
                  <a:pt x="92085" y="30755"/>
                </a:lnTo>
                <a:lnTo>
                  <a:pt x="83416" y="16007"/>
                </a:lnTo>
                <a:cubicBezTo>
                  <a:pt x="77588" y="6079"/>
                  <a:pt x="66941" y="0"/>
                  <a:pt x="55467" y="0"/>
                </a:cubicBezTo>
                <a:lnTo>
                  <a:pt x="54675" y="0"/>
                </a:lnTo>
                <a:cubicBezTo>
                  <a:pt x="37194" y="0"/>
                  <a:pt x="23021" y="14172"/>
                  <a:pt x="23021" y="31654"/>
                </a:cubicBezTo>
                <a:cubicBezTo>
                  <a:pt x="23021" y="36834"/>
                  <a:pt x="24280" y="41726"/>
                  <a:pt x="26474" y="46042"/>
                </a:cubicBezTo>
                <a:lnTo>
                  <a:pt x="11511" y="46042"/>
                </a:lnTo>
                <a:cubicBezTo>
                  <a:pt x="5144" y="46042"/>
                  <a:pt x="0" y="51186"/>
                  <a:pt x="0" y="57553"/>
                </a:cubicBezTo>
                <a:lnTo>
                  <a:pt x="0" y="69063"/>
                </a:lnTo>
                <a:cubicBezTo>
                  <a:pt x="0" y="75430"/>
                  <a:pt x="5144" y="80574"/>
                  <a:pt x="11511" y="80574"/>
                </a:cubicBezTo>
                <a:lnTo>
                  <a:pt x="172659" y="80574"/>
                </a:lnTo>
                <a:cubicBezTo>
                  <a:pt x="179025" y="80574"/>
                  <a:pt x="184169" y="75430"/>
                  <a:pt x="184169" y="69063"/>
                </a:cubicBezTo>
                <a:lnTo>
                  <a:pt x="184169" y="57553"/>
                </a:lnTo>
                <a:cubicBezTo>
                  <a:pt x="184169" y="51186"/>
                  <a:pt x="179025" y="46042"/>
                  <a:pt x="172659" y="46042"/>
                </a:cubicBezTo>
                <a:lnTo>
                  <a:pt x="157695" y="46042"/>
                </a:lnTo>
                <a:cubicBezTo>
                  <a:pt x="159889" y="41726"/>
                  <a:pt x="161148" y="36834"/>
                  <a:pt x="161148" y="31654"/>
                </a:cubicBezTo>
                <a:cubicBezTo>
                  <a:pt x="161148" y="14172"/>
                  <a:pt x="146976" y="0"/>
                  <a:pt x="129494" y="0"/>
                </a:cubicBezTo>
                <a:lnTo>
                  <a:pt x="128703" y="0"/>
                </a:lnTo>
                <a:cubicBezTo>
                  <a:pt x="117228" y="0"/>
                  <a:pt x="106581" y="6079"/>
                  <a:pt x="100753" y="15971"/>
                </a:cubicBezTo>
                <a:close/>
                <a:moveTo>
                  <a:pt x="172659" y="97840"/>
                </a:moveTo>
                <a:lnTo>
                  <a:pt x="100718" y="97840"/>
                </a:lnTo>
                <a:lnTo>
                  <a:pt x="100718" y="172659"/>
                </a:lnTo>
                <a:lnTo>
                  <a:pt x="149637" y="172659"/>
                </a:lnTo>
                <a:cubicBezTo>
                  <a:pt x="162335" y="172659"/>
                  <a:pt x="172659" y="162335"/>
                  <a:pt x="172659" y="149637"/>
                </a:cubicBezTo>
                <a:lnTo>
                  <a:pt x="172659" y="97840"/>
                </a:lnTo>
                <a:close/>
                <a:moveTo>
                  <a:pt x="83452" y="97840"/>
                </a:moveTo>
                <a:lnTo>
                  <a:pt x="11511" y="97840"/>
                </a:lnTo>
                <a:lnTo>
                  <a:pt x="11511" y="149637"/>
                </a:lnTo>
                <a:cubicBezTo>
                  <a:pt x="11511" y="162335"/>
                  <a:pt x="21834" y="172659"/>
                  <a:pt x="34532" y="172659"/>
                </a:cubicBezTo>
                <a:lnTo>
                  <a:pt x="83452" y="172659"/>
                </a:lnTo>
                <a:lnTo>
                  <a:pt x="83452" y="97840"/>
                </a:lnTo>
                <a:close/>
              </a:path>
            </a:pathLst>
          </a:custGeom>
          <a:solidFill>
            <a:srgbClr val="F8F7F2"/>
          </a:solidFill>
          <a:ln/>
        </p:spPr>
      </p:sp>
      <p:sp>
        <p:nvSpPr>
          <p:cNvPr id="34" name="Text 32"/>
          <p:cNvSpPr/>
          <p:nvPr/>
        </p:nvSpPr>
        <p:spPr>
          <a:xfrm>
            <a:off x="8904148" y="1712773"/>
            <a:ext cx="1583855" cy="257837"/>
          </a:xfrm>
          <a:prstGeom prst="rect">
            <a:avLst/>
          </a:prstGeom>
          <a:noFill/>
          <a:ln/>
        </p:spPr>
        <p:txBody>
          <a:bodyPr wrap="square" lIns="0" tIns="0" rIns="0" bIns="0" rtlCol="0" anchor="ctr"/>
          <a:lstStyle/>
          <a:p>
            <a:pPr>
              <a:lnSpc>
                <a:spcPct val="120000"/>
              </a:lnSpc>
            </a:pPr>
            <a:r>
              <a:rPr lang="en-US" sz="1450" b="1" dirty="0">
                <a:solidFill>
                  <a:srgbClr val="4A5D52"/>
                </a:solidFill>
                <a:latin typeface="Unna" pitchFamily="34" charset="0"/>
                <a:ea typeface="Unna" pitchFamily="34" charset="-122"/>
                <a:cs typeface="Unna" pitchFamily="34" charset="-120"/>
              </a:rPr>
              <a:t>Additional Benefits</a:t>
            </a:r>
            <a:endParaRPr lang="en-US" sz="1600" dirty="0"/>
          </a:p>
        </p:txBody>
      </p:sp>
      <p:sp>
        <p:nvSpPr>
          <p:cNvPr id="35" name="Shape 33"/>
          <p:cNvSpPr/>
          <p:nvPr/>
        </p:nvSpPr>
        <p:spPr>
          <a:xfrm>
            <a:off x="8351641" y="2210030"/>
            <a:ext cx="3250586" cy="810344"/>
          </a:xfrm>
          <a:custGeom>
            <a:avLst/>
            <a:gdLst/>
            <a:ahLst/>
            <a:cxnLst/>
            <a:rect l="l" t="t" r="r" b="b"/>
            <a:pathLst>
              <a:path w="3250586" h="810344">
                <a:moveTo>
                  <a:pt x="73668" y="0"/>
                </a:moveTo>
                <a:lnTo>
                  <a:pt x="3176918" y="0"/>
                </a:lnTo>
                <a:cubicBezTo>
                  <a:pt x="3217604" y="0"/>
                  <a:pt x="3250586" y="32982"/>
                  <a:pt x="3250586" y="73668"/>
                </a:cubicBezTo>
                <a:lnTo>
                  <a:pt x="3250586" y="736676"/>
                </a:lnTo>
                <a:cubicBezTo>
                  <a:pt x="3250586" y="777362"/>
                  <a:pt x="3217604" y="810344"/>
                  <a:pt x="3176918" y="810344"/>
                </a:cubicBezTo>
                <a:lnTo>
                  <a:pt x="73668" y="810344"/>
                </a:lnTo>
                <a:cubicBezTo>
                  <a:pt x="33010" y="810344"/>
                  <a:pt x="0" y="777335"/>
                  <a:pt x="0" y="736676"/>
                </a:cubicBezTo>
                <a:lnTo>
                  <a:pt x="0" y="73668"/>
                </a:lnTo>
                <a:cubicBezTo>
                  <a:pt x="0" y="33010"/>
                  <a:pt x="33010" y="0"/>
                  <a:pt x="73668" y="0"/>
                </a:cubicBezTo>
                <a:close/>
              </a:path>
            </a:pathLst>
          </a:custGeom>
          <a:solidFill>
            <a:srgbClr val="4A5D52">
              <a:alpha val="5098"/>
            </a:srgbClr>
          </a:solidFill>
          <a:ln/>
        </p:spPr>
      </p:sp>
      <p:sp>
        <p:nvSpPr>
          <p:cNvPr id="36" name="Shape 34"/>
          <p:cNvSpPr/>
          <p:nvPr/>
        </p:nvSpPr>
        <p:spPr>
          <a:xfrm>
            <a:off x="8477106" y="2357366"/>
            <a:ext cx="145033" cy="165752"/>
          </a:xfrm>
          <a:custGeom>
            <a:avLst/>
            <a:gdLst/>
            <a:ahLst/>
            <a:cxnLst/>
            <a:rect l="l" t="t" r="r" b="b"/>
            <a:pathLst>
              <a:path w="145033" h="165752">
                <a:moveTo>
                  <a:pt x="72517" y="36258"/>
                </a:moveTo>
                <a:cubicBezTo>
                  <a:pt x="69668" y="36258"/>
                  <a:pt x="67337" y="33927"/>
                  <a:pt x="67337" y="31079"/>
                </a:cubicBezTo>
                <a:lnTo>
                  <a:pt x="67337" y="25899"/>
                </a:lnTo>
                <a:cubicBezTo>
                  <a:pt x="67337" y="11590"/>
                  <a:pt x="78927" y="0"/>
                  <a:pt x="93236" y="0"/>
                </a:cubicBezTo>
                <a:lnTo>
                  <a:pt x="98415" y="0"/>
                </a:lnTo>
                <a:cubicBezTo>
                  <a:pt x="101264" y="0"/>
                  <a:pt x="103595" y="2331"/>
                  <a:pt x="103595" y="5180"/>
                </a:cubicBezTo>
                <a:lnTo>
                  <a:pt x="103595" y="10360"/>
                </a:lnTo>
                <a:cubicBezTo>
                  <a:pt x="103595" y="24669"/>
                  <a:pt x="92005" y="36258"/>
                  <a:pt x="77696" y="36258"/>
                </a:cubicBezTo>
                <a:lnTo>
                  <a:pt x="72517" y="36258"/>
                </a:lnTo>
                <a:close/>
                <a:moveTo>
                  <a:pt x="0" y="93236"/>
                </a:moveTo>
                <a:cubicBezTo>
                  <a:pt x="0" y="68535"/>
                  <a:pt x="11557" y="41438"/>
                  <a:pt x="36258" y="41438"/>
                </a:cubicBezTo>
                <a:cubicBezTo>
                  <a:pt x="45096" y="41438"/>
                  <a:pt x="55585" y="44773"/>
                  <a:pt x="63031" y="47686"/>
                </a:cubicBezTo>
                <a:cubicBezTo>
                  <a:pt x="69117" y="50049"/>
                  <a:pt x="75948" y="50049"/>
                  <a:pt x="82034" y="47686"/>
                </a:cubicBezTo>
                <a:cubicBezTo>
                  <a:pt x="89448" y="44805"/>
                  <a:pt x="99969" y="41438"/>
                  <a:pt x="108807" y="41438"/>
                </a:cubicBezTo>
                <a:cubicBezTo>
                  <a:pt x="133508" y="41438"/>
                  <a:pt x="145066" y="68535"/>
                  <a:pt x="145066" y="93236"/>
                </a:cubicBezTo>
                <a:cubicBezTo>
                  <a:pt x="145066" y="134674"/>
                  <a:pt x="119167" y="165752"/>
                  <a:pt x="93268" y="165752"/>
                </a:cubicBezTo>
                <a:cubicBezTo>
                  <a:pt x="87926" y="165752"/>
                  <a:pt x="80934" y="163616"/>
                  <a:pt x="76596" y="162094"/>
                </a:cubicBezTo>
                <a:cubicBezTo>
                  <a:pt x="73973" y="161188"/>
                  <a:pt x="71125" y="161188"/>
                  <a:pt x="68502" y="162094"/>
                </a:cubicBezTo>
                <a:cubicBezTo>
                  <a:pt x="64164" y="163616"/>
                  <a:pt x="57172" y="165752"/>
                  <a:pt x="51830" y="165752"/>
                </a:cubicBezTo>
                <a:cubicBezTo>
                  <a:pt x="25931" y="165752"/>
                  <a:pt x="32" y="134674"/>
                  <a:pt x="32" y="93236"/>
                </a:cubicBezTo>
                <a:close/>
              </a:path>
            </a:pathLst>
          </a:custGeom>
          <a:solidFill>
            <a:srgbClr val="4A5D52"/>
          </a:solidFill>
          <a:ln/>
        </p:spPr>
      </p:sp>
      <p:sp>
        <p:nvSpPr>
          <p:cNvPr id="37" name="Text 35"/>
          <p:cNvSpPr/>
          <p:nvPr/>
        </p:nvSpPr>
        <p:spPr>
          <a:xfrm>
            <a:off x="8745302" y="2320532"/>
            <a:ext cx="2826997" cy="221003"/>
          </a:xfrm>
          <a:prstGeom prst="rect">
            <a:avLst/>
          </a:prstGeom>
          <a:noFill/>
          <a:ln/>
        </p:spPr>
        <p:txBody>
          <a:bodyPr wrap="square" lIns="0" tIns="0" rIns="0" bIns="0" rtlCol="0" anchor="ctr"/>
          <a:lstStyle/>
          <a:p>
            <a:pPr>
              <a:lnSpc>
                <a:spcPct val="130000"/>
              </a:lnSpc>
            </a:pPr>
            <a:r>
              <a:rPr lang="en-US" sz="1160" b="1" dirty="0">
                <a:solidFill>
                  <a:srgbClr val="2C3531"/>
                </a:solidFill>
                <a:latin typeface="Liter" pitchFamily="34" charset="0"/>
                <a:ea typeface="Liter" pitchFamily="34" charset="-122"/>
                <a:cs typeface="Liter" pitchFamily="34" charset="-120"/>
              </a:rPr>
              <a:t>Produce Allowance</a:t>
            </a:r>
            <a:endParaRPr lang="en-US" sz="1600" dirty="0"/>
          </a:p>
        </p:txBody>
      </p:sp>
      <p:sp>
        <p:nvSpPr>
          <p:cNvPr id="38" name="Text 36"/>
          <p:cNvSpPr/>
          <p:nvPr/>
        </p:nvSpPr>
        <p:spPr>
          <a:xfrm>
            <a:off x="8745302" y="2541535"/>
            <a:ext cx="2817789" cy="368338"/>
          </a:xfrm>
          <a:prstGeom prst="rect">
            <a:avLst/>
          </a:prstGeom>
          <a:noFill/>
          <a:ln/>
        </p:spPr>
        <p:txBody>
          <a:bodyPr wrap="square" lIns="0" tIns="0" rIns="0" bIns="0" rtlCol="0" anchor="ctr"/>
          <a:lstStyle/>
          <a:p>
            <a:pPr>
              <a:lnSpc>
                <a:spcPct val="120000"/>
              </a:lnSpc>
            </a:pPr>
            <a:r>
              <a:rPr lang="en-US" sz="1015" dirty="0">
                <a:solidFill>
                  <a:srgbClr val="2C3531">
                    <a:alpha val="70000"/>
                  </a:srgbClr>
                </a:solidFill>
                <a:latin typeface="Liter" pitchFamily="34" charset="0"/>
                <a:ea typeface="Liter" pitchFamily="34" charset="-122"/>
                <a:cs typeface="Liter" pitchFamily="34" charset="-120"/>
              </a:rPr>
              <a:t>Reasonable quantity of Habanero peppers for personal use</a:t>
            </a:r>
            <a:endParaRPr lang="en-US" sz="1600" dirty="0"/>
          </a:p>
        </p:txBody>
      </p:sp>
      <p:sp>
        <p:nvSpPr>
          <p:cNvPr id="39" name="Shape 37"/>
          <p:cNvSpPr/>
          <p:nvPr/>
        </p:nvSpPr>
        <p:spPr>
          <a:xfrm>
            <a:off x="8351641" y="3130876"/>
            <a:ext cx="3250586" cy="810344"/>
          </a:xfrm>
          <a:custGeom>
            <a:avLst/>
            <a:gdLst/>
            <a:ahLst/>
            <a:cxnLst/>
            <a:rect l="l" t="t" r="r" b="b"/>
            <a:pathLst>
              <a:path w="3250586" h="810344">
                <a:moveTo>
                  <a:pt x="73668" y="0"/>
                </a:moveTo>
                <a:lnTo>
                  <a:pt x="3176918" y="0"/>
                </a:lnTo>
                <a:cubicBezTo>
                  <a:pt x="3217604" y="0"/>
                  <a:pt x="3250586" y="32982"/>
                  <a:pt x="3250586" y="73668"/>
                </a:cubicBezTo>
                <a:lnTo>
                  <a:pt x="3250586" y="736676"/>
                </a:lnTo>
                <a:cubicBezTo>
                  <a:pt x="3250586" y="777362"/>
                  <a:pt x="3217604" y="810344"/>
                  <a:pt x="3176918" y="810344"/>
                </a:cubicBezTo>
                <a:lnTo>
                  <a:pt x="73668" y="810344"/>
                </a:lnTo>
                <a:cubicBezTo>
                  <a:pt x="33010" y="810344"/>
                  <a:pt x="0" y="777335"/>
                  <a:pt x="0" y="736676"/>
                </a:cubicBezTo>
                <a:lnTo>
                  <a:pt x="0" y="73668"/>
                </a:lnTo>
                <a:cubicBezTo>
                  <a:pt x="0" y="33010"/>
                  <a:pt x="33010" y="0"/>
                  <a:pt x="73668" y="0"/>
                </a:cubicBezTo>
                <a:close/>
              </a:path>
            </a:pathLst>
          </a:custGeom>
          <a:solidFill>
            <a:srgbClr val="A88B6A">
              <a:alpha val="5098"/>
            </a:srgbClr>
          </a:solidFill>
          <a:ln/>
        </p:spPr>
      </p:sp>
      <p:sp>
        <p:nvSpPr>
          <p:cNvPr id="40" name="Shape 38"/>
          <p:cNvSpPr/>
          <p:nvPr/>
        </p:nvSpPr>
        <p:spPr>
          <a:xfrm>
            <a:off x="8470200" y="3278211"/>
            <a:ext cx="186471" cy="165752"/>
          </a:xfrm>
          <a:custGeom>
            <a:avLst/>
            <a:gdLst/>
            <a:ahLst/>
            <a:cxnLst/>
            <a:rect l="l" t="t" r="r" b="b"/>
            <a:pathLst>
              <a:path w="186471" h="165752">
                <a:moveTo>
                  <a:pt x="72549" y="31435"/>
                </a:moveTo>
                <a:lnTo>
                  <a:pt x="72549" y="47492"/>
                </a:lnTo>
                <a:lnTo>
                  <a:pt x="72711" y="47654"/>
                </a:lnTo>
                <a:cubicBezTo>
                  <a:pt x="74815" y="20978"/>
                  <a:pt x="97120" y="0"/>
                  <a:pt x="124347" y="0"/>
                </a:cubicBezTo>
                <a:cubicBezTo>
                  <a:pt x="130854" y="0"/>
                  <a:pt x="137102" y="1198"/>
                  <a:pt x="142832" y="3399"/>
                </a:cubicBezTo>
                <a:cubicBezTo>
                  <a:pt x="146069" y="4629"/>
                  <a:pt x="146652" y="8741"/>
                  <a:pt x="144224" y="11201"/>
                </a:cubicBezTo>
                <a:lnTo>
                  <a:pt x="115509" y="39917"/>
                </a:lnTo>
                <a:cubicBezTo>
                  <a:pt x="114537" y="40888"/>
                  <a:pt x="113987" y="42215"/>
                  <a:pt x="113987" y="43575"/>
                </a:cubicBezTo>
                <a:lnTo>
                  <a:pt x="113987" y="56977"/>
                </a:lnTo>
                <a:cubicBezTo>
                  <a:pt x="113987" y="59826"/>
                  <a:pt x="116318" y="62157"/>
                  <a:pt x="119167" y="62157"/>
                </a:cubicBezTo>
                <a:lnTo>
                  <a:pt x="132569" y="62157"/>
                </a:lnTo>
                <a:cubicBezTo>
                  <a:pt x="133929" y="62157"/>
                  <a:pt x="135256" y="61607"/>
                  <a:pt x="136228" y="60636"/>
                </a:cubicBezTo>
                <a:lnTo>
                  <a:pt x="164943" y="31920"/>
                </a:lnTo>
                <a:cubicBezTo>
                  <a:pt x="167403" y="29460"/>
                  <a:pt x="171515" y="30075"/>
                  <a:pt x="172745" y="33312"/>
                </a:cubicBezTo>
                <a:cubicBezTo>
                  <a:pt x="174946" y="39042"/>
                  <a:pt x="176144" y="45291"/>
                  <a:pt x="176144" y="51798"/>
                </a:cubicBezTo>
                <a:cubicBezTo>
                  <a:pt x="176144" y="71416"/>
                  <a:pt x="165234" y="88509"/>
                  <a:pt x="149112" y="97282"/>
                </a:cubicBezTo>
                <a:lnTo>
                  <a:pt x="175497" y="123667"/>
                </a:lnTo>
                <a:cubicBezTo>
                  <a:pt x="181551" y="129721"/>
                  <a:pt x="181551" y="139562"/>
                  <a:pt x="175497" y="145648"/>
                </a:cubicBezTo>
                <a:lnTo>
                  <a:pt x="156040" y="165105"/>
                </a:lnTo>
                <a:cubicBezTo>
                  <a:pt x="149986" y="171159"/>
                  <a:pt x="140145" y="171159"/>
                  <a:pt x="134059" y="165105"/>
                </a:cubicBezTo>
                <a:lnTo>
                  <a:pt x="93268" y="124314"/>
                </a:lnTo>
                <a:cubicBezTo>
                  <a:pt x="84398" y="115444"/>
                  <a:pt x="82391" y="102333"/>
                  <a:pt x="87279" y="91520"/>
                </a:cubicBezTo>
                <a:lnTo>
                  <a:pt x="57916" y="62157"/>
                </a:lnTo>
                <a:lnTo>
                  <a:pt x="41859" y="62157"/>
                </a:lnTo>
                <a:cubicBezTo>
                  <a:pt x="38395" y="62157"/>
                  <a:pt x="35158" y="60441"/>
                  <a:pt x="33248" y="57560"/>
                </a:cubicBezTo>
                <a:lnTo>
                  <a:pt x="7575" y="19068"/>
                </a:lnTo>
                <a:cubicBezTo>
                  <a:pt x="6216" y="17028"/>
                  <a:pt x="6475" y="14277"/>
                  <a:pt x="8223" y="12529"/>
                </a:cubicBezTo>
                <a:lnTo>
                  <a:pt x="22920" y="-2169"/>
                </a:lnTo>
                <a:cubicBezTo>
                  <a:pt x="24669" y="-3917"/>
                  <a:pt x="27388" y="-4176"/>
                  <a:pt x="29460" y="-2816"/>
                </a:cubicBezTo>
                <a:lnTo>
                  <a:pt x="67952" y="22823"/>
                </a:lnTo>
                <a:cubicBezTo>
                  <a:pt x="70833" y="24733"/>
                  <a:pt x="72549" y="27971"/>
                  <a:pt x="72549" y="31435"/>
                </a:cubicBezTo>
                <a:close/>
                <a:moveTo>
                  <a:pt x="69797" y="96020"/>
                </a:moveTo>
                <a:cubicBezTo>
                  <a:pt x="67758" y="107998"/>
                  <a:pt x="70574" y="120656"/>
                  <a:pt x="78344" y="130789"/>
                </a:cubicBezTo>
                <a:lnTo>
                  <a:pt x="47589" y="161511"/>
                </a:lnTo>
                <a:cubicBezTo>
                  <a:pt x="38492" y="170608"/>
                  <a:pt x="23730" y="170608"/>
                  <a:pt x="14633" y="161511"/>
                </a:cubicBezTo>
                <a:cubicBezTo>
                  <a:pt x="5536" y="152414"/>
                  <a:pt x="5536" y="137652"/>
                  <a:pt x="14633" y="128555"/>
                </a:cubicBezTo>
                <a:lnTo>
                  <a:pt x="58467" y="84721"/>
                </a:lnTo>
                <a:lnTo>
                  <a:pt x="69797" y="96052"/>
                </a:lnTo>
                <a:close/>
              </a:path>
            </a:pathLst>
          </a:custGeom>
          <a:solidFill>
            <a:srgbClr val="A88B6A"/>
          </a:solidFill>
          <a:ln/>
        </p:spPr>
      </p:sp>
      <p:sp>
        <p:nvSpPr>
          <p:cNvPr id="41" name="Text 39"/>
          <p:cNvSpPr/>
          <p:nvPr/>
        </p:nvSpPr>
        <p:spPr>
          <a:xfrm>
            <a:off x="8773935" y="3241378"/>
            <a:ext cx="2799372" cy="221003"/>
          </a:xfrm>
          <a:prstGeom prst="rect">
            <a:avLst/>
          </a:prstGeom>
          <a:noFill/>
          <a:ln/>
        </p:spPr>
        <p:txBody>
          <a:bodyPr wrap="square" lIns="0" tIns="0" rIns="0" bIns="0" rtlCol="0" anchor="ctr"/>
          <a:lstStyle/>
          <a:p>
            <a:pPr>
              <a:lnSpc>
                <a:spcPct val="130000"/>
              </a:lnSpc>
            </a:pPr>
            <a:r>
              <a:rPr lang="en-US" sz="1160" b="1" dirty="0">
                <a:solidFill>
                  <a:srgbClr val="2C3531"/>
                </a:solidFill>
                <a:latin typeface="Liter" pitchFamily="34" charset="0"/>
                <a:ea typeface="Liter" pitchFamily="34" charset="-122"/>
                <a:cs typeface="Liter" pitchFamily="34" charset="-120"/>
              </a:rPr>
              <a:t>Equipment Provided</a:t>
            </a:r>
            <a:endParaRPr lang="en-US" sz="1600" dirty="0"/>
          </a:p>
        </p:txBody>
      </p:sp>
      <p:sp>
        <p:nvSpPr>
          <p:cNvPr id="42" name="Text 40"/>
          <p:cNvSpPr/>
          <p:nvPr/>
        </p:nvSpPr>
        <p:spPr>
          <a:xfrm>
            <a:off x="8773935" y="3462381"/>
            <a:ext cx="2790163" cy="368338"/>
          </a:xfrm>
          <a:prstGeom prst="rect">
            <a:avLst/>
          </a:prstGeom>
          <a:noFill/>
          <a:ln/>
        </p:spPr>
        <p:txBody>
          <a:bodyPr wrap="square" lIns="0" tIns="0" rIns="0" bIns="0" rtlCol="0" anchor="ctr"/>
          <a:lstStyle/>
          <a:p>
            <a:pPr>
              <a:lnSpc>
                <a:spcPct val="120000"/>
              </a:lnSpc>
            </a:pPr>
            <a:r>
              <a:rPr lang="en-US" sz="1015" dirty="0">
                <a:solidFill>
                  <a:srgbClr val="2C3531">
                    <a:alpha val="70000"/>
                  </a:srgbClr>
                </a:solidFill>
                <a:latin typeface="Liter" pitchFamily="34" charset="0"/>
                <a:ea typeface="Liter" pitchFamily="34" charset="-122"/>
                <a:cs typeface="Liter" pitchFamily="34" charset="-120"/>
              </a:rPr>
              <a:t>Work gloves, protective gear, and necessary tools</a:t>
            </a:r>
            <a:endParaRPr lang="en-US" sz="1600" dirty="0"/>
          </a:p>
        </p:txBody>
      </p:sp>
      <p:sp>
        <p:nvSpPr>
          <p:cNvPr id="43" name="Shape 41"/>
          <p:cNvSpPr/>
          <p:nvPr/>
        </p:nvSpPr>
        <p:spPr>
          <a:xfrm>
            <a:off x="8351641" y="4051722"/>
            <a:ext cx="3250586" cy="626175"/>
          </a:xfrm>
          <a:custGeom>
            <a:avLst/>
            <a:gdLst/>
            <a:ahLst/>
            <a:cxnLst/>
            <a:rect l="l" t="t" r="r" b="b"/>
            <a:pathLst>
              <a:path w="3250586" h="626175">
                <a:moveTo>
                  <a:pt x="73670" y="0"/>
                </a:moveTo>
                <a:lnTo>
                  <a:pt x="3176917" y="0"/>
                </a:lnTo>
                <a:cubicBezTo>
                  <a:pt x="3217603" y="0"/>
                  <a:pt x="3250586" y="32983"/>
                  <a:pt x="3250586" y="73670"/>
                </a:cubicBezTo>
                <a:lnTo>
                  <a:pt x="3250586" y="552506"/>
                </a:lnTo>
                <a:cubicBezTo>
                  <a:pt x="3250586" y="593192"/>
                  <a:pt x="3217603" y="626175"/>
                  <a:pt x="3176917" y="626175"/>
                </a:cubicBezTo>
                <a:lnTo>
                  <a:pt x="73670" y="626175"/>
                </a:lnTo>
                <a:cubicBezTo>
                  <a:pt x="32983" y="626175"/>
                  <a:pt x="0" y="593192"/>
                  <a:pt x="0" y="552506"/>
                </a:cubicBezTo>
                <a:lnTo>
                  <a:pt x="0" y="73670"/>
                </a:lnTo>
                <a:cubicBezTo>
                  <a:pt x="0" y="33010"/>
                  <a:pt x="33010" y="0"/>
                  <a:pt x="73670" y="0"/>
                </a:cubicBezTo>
                <a:close/>
              </a:path>
            </a:pathLst>
          </a:custGeom>
          <a:solidFill>
            <a:srgbClr val="D4A056">
              <a:alpha val="5098"/>
            </a:srgbClr>
          </a:solidFill>
          <a:ln/>
        </p:spPr>
      </p:sp>
      <p:sp>
        <p:nvSpPr>
          <p:cNvPr id="44" name="Shape 42"/>
          <p:cNvSpPr/>
          <p:nvPr/>
        </p:nvSpPr>
        <p:spPr>
          <a:xfrm>
            <a:off x="8474804" y="4199057"/>
            <a:ext cx="186471" cy="165752"/>
          </a:xfrm>
          <a:custGeom>
            <a:avLst/>
            <a:gdLst/>
            <a:ahLst/>
            <a:cxnLst/>
            <a:rect l="l" t="t" r="r" b="b"/>
            <a:pathLst>
              <a:path w="186471" h="165752">
                <a:moveTo>
                  <a:pt x="15539" y="63387"/>
                </a:moveTo>
                <a:lnTo>
                  <a:pt x="83265" y="91261"/>
                </a:lnTo>
                <a:cubicBezTo>
                  <a:pt x="86437" y="92556"/>
                  <a:pt x="89804" y="93236"/>
                  <a:pt x="93236" y="93236"/>
                </a:cubicBezTo>
                <a:cubicBezTo>
                  <a:pt x="96667" y="93236"/>
                  <a:pt x="100034" y="92556"/>
                  <a:pt x="103207" y="91261"/>
                </a:cubicBezTo>
                <a:lnTo>
                  <a:pt x="181680" y="58952"/>
                </a:lnTo>
                <a:cubicBezTo>
                  <a:pt x="184594" y="57754"/>
                  <a:pt x="186471" y="54938"/>
                  <a:pt x="186471" y="51798"/>
                </a:cubicBezTo>
                <a:cubicBezTo>
                  <a:pt x="186471" y="48657"/>
                  <a:pt x="184594" y="45841"/>
                  <a:pt x="181680" y="44643"/>
                </a:cubicBezTo>
                <a:lnTo>
                  <a:pt x="103207" y="12334"/>
                </a:lnTo>
                <a:cubicBezTo>
                  <a:pt x="100034" y="11039"/>
                  <a:pt x="96667" y="10360"/>
                  <a:pt x="93236" y="10360"/>
                </a:cubicBezTo>
                <a:cubicBezTo>
                  <a:pt x="89804" y="10360"/>
                  <a:pt x="86437" y="11039"/>
                  <a:pt x="83265" y="12334"/>
                </a:cubicBezTo>
                <a:lnTo>
                  <a:pt x="4791" y="44643"/>
                </a:lnTo>
                <a:cubicBezTo>
                  <a:pt x="1878" y="45841"/>
                  <a:pt x="0" y="48657"/>
                  <a:pt x="0" y="51798"/>
                </a:cubicBezTo>
                <a:lnTo>
                  <a:pt x="0" y="147623"/>
                </a:lnTo>
                <a:cubicBezTo>
                  <a:pt x="0" y="151929"/>
                  <a:pt x="3464" y="155393"/>
                  <a:pt x="7770" y="155393"/>
                </a:cubicBezTo>
                <a:cubicBezTo>
                  <a:pt x="12075" y="155393"/>
                  <a:pt x="15539" y="151929"/>
                  <a:pt x="15539" y="147623"/>
                </a:cubicBezTo>
                <a:lnTo>
                  <a:pt x="15539" y="63387"/>
                </a:lnTo>
                <a:close/>
                <a:moveTo>
                  <a:pt x="31079" y="86599"/>
                </a:moveTo>
                <a:lnTo>
                  <a:pt x="31079" y="124314"/>
                </a:lnTo>
                <a:cubicBezTo>
                  <a:pt x="31079" y="141472"/>
                  <a:pt x="58920" y="155393"/>
                  <a:pt x="93236" y="155393"/>
                </a:cubicBezTo>
                <a:cubicBezTo>
                  <a:pt x="127552" y="155393"/>
                  <a:pt x="155393" y="141472"/>
                  <a:pt x="155393" y="124314"/>
                </a:cubicBezTo>
                <a:lnTo>
                  <a:pt x="155393" y="86567"/>
                </a:lnTo>
                <a:lnTo>
                  <a:pt x="109131" y="105635"/>
                </a:lnTo>
                <a:cubicBezTo>
                  <a:pt x="104081" y="107707"/>
                  <a:pt x="98707" y="108775"/>
                  <a:pt x="93236" y="108775"/>
                </a:cubicBezTo>
                <a:cubicBezTo>
                  <a:pt x="87765" y="108775"/>
                  <a:pt x="82391" y="107707"/>
                  <a:pt x="77340" y="105635"/>
                </a:cubicBezTo>
                <a:lnTo>
                  <a:pt x="31079" y="86567"/>
                </a:lnTo>
                <a:close/>
              </a:path>
            </a:pathLst>
          </a:custGeom>
          <a:solidFill>
            <a:srgbClr val="D4A056"/>
          </a:solidFill>
          <a:ln/>
        </p:spPr>
      </p:sp>
      <p:sp>
        <p:nvSpPr>
          <p:cNvPr id="45" name="Text 43"/>
          <p:cNvSpPr/>
          <p:nvPr/>
        </p:nvSpPr>
        <p:spPr>
          <a:xfrm>
            <a:off x="8779834" y="4162224"/>
            <a:ext cx="2670453" cy="221003"/>
          </a:xfrm>
          <a:prstGeom prst="rect">
            <a:avLst/>
          </a:prstGeom>
          <a:noFill/>
          <a:ln/>
        </p:spPr>
        <p:txBody>
          <a:bodyPr wrap="square" lIns="0" tIns="0" rIns="0" bIns="0" rtlCol="0" anchor="ctr"/>
          <a:lstStyle/>
          <a:p>
            <a:pPr>
              <a:lnSpc>
                <a:spcPct val="130000"/>
              </a:lnSpc>
            </a:pPr>
            <a:r>
              <a:rPr lang="en-US" sz="1160" b="1" dirty="0">
                <a:solidFill>
                  <a:srgbClr val="2C3531"/>
                </a:solidFill>
                <a:latin typeface="Liter" pitchFamily="34" charset="0"/>
                <a:ea typeface="Liter" pitchFamily="34" charset="-122"/>
                <a:cs typeface="Liter" pitchFamily="34" charset="-120"/>
              </a:rPr>
              <a:t>Training</a:t>
            </a:r>
            <a:endParaRPr lang="en-US" sz="1600" dirty="0"/>
          </a:p>
        </p:txBody>
      </p:sp>
      <p:sp>
        <p:nvSpPr>
          <p:cNvPr id="46" name="Text 44"/>
          <p:cNvSpPr/>
          <p:nvPr/>
        </p:nvSpPr>
        <p:spPr>
          <a:xfrm>
            <a:off x="8779834" y="4383227"/>
            <a:ext cx="2661245" cy="184169"/>
          </a:xfrm>
          <a:prstGeom prst="rect">
            <a:avLst/>
          </a:prstGeom>
          <a:noFill/>
          <a:ln/>
        </p:spPr>
        <p:txBody>
          <a:bodyPr wrap="square" lIns="0" tIns="0" rIns="0" bIns="0" rtlCol="0" anchor="ctr"/>
          <a:lstStyle/>
          <a:p>
            <a:pPr>
              <a:lnSpc>
                <a:spcPct val="120000"/>
              </a:lnSpc>
            </a:pPr>
            <a:r>
              <a:rPr lang="en-US" sz="1015" dirty="0">
                <a:solidFill>
                  <a:srgbClr val="2C3531">
                    <a:alpha val="70000"/>
                  </a:srgbClr>
                </a:solidFill>
                <a:latin typeface="Liter" pitchFamily="34" charset="0"/>
                <a:ea typeface="Liter" pitchFamily="34" charset="-122"/>
                <a:cs typeface="Liter" pitchFamily="34" charset="-120"/>
              </a:rPr>
              <a:t>On-the-job training for greenhouse operations</a:t>
            </a:r>
            <a:endParaRPr lang="en-US" sz="1600" dirty="0"/>
          </a:p>
        </p:txBody>
      </p:sp>
      <p:sp>
        <p:nvSpPr>
          <p:cNvPr id="47" name="Shape 45"/>
          <p:cNvSpPr/>
          <p:nvPr/>
        </p:nvSpPr>
        <p:spPr>
          <a:xfrm>
            <a:off x="8351641" y="4788399"/>
            <a:ext cx="3250586" cy="626175"/>
          </a:xfrm>
          <a:custGeom>
            <a:avLst/>
            <a:gdLst/>
            <a:ahLst/>
            <a:cxnLst/>
            <a:rect l="l" t="t" r="r" b="b"/>
            <a:pathLst>
              <a:path w="3250586" h="626175">
                <a:moveTo>
                  <a:pt x="73670" y="0"/>
                </a:moveTo>
                <a:lnTo>
                  <a:pt x="3176917" y="0"/>
                </a:lnTo>
                <a:cubicBezTo>
                  <a:pt x="3217603" y="0"/>
                  <a:pt x="3250586" y="32983"/>
                  <a:pt x="3250586" y="73670"/>
                </a:cubicBezTo>
                <a:lnTo>
                  <a:pt x="3250586" y="552506"/>
                </a:lnTo>
                <a:cubicBezTo>
                  <a:pt x="3250586" y="593192"/>
                  <a:pt x="3217603" y="626175"/>
                  <a:pt x="3176917" y="626175"/>
                </a:cubicBezTo>
                <a:lnTo>
                  <a:pt x="73670" y="626175"/>
                </a:lnTo>
                <a:cubicBezTo>
                  <a:pt x="32983" y="626175"/>
                  <a:pt x="0" y="593192"/>
                  <a:pt x="0" y="552506"/>
                </a:cubicBezTo>
                <a:lnTo>
                  <a:pt x="0" y="73670"/>
                </a:lnTo>
                <a:cubicBezTo>
                  <a:pt x="0" y="33010"/>
                  <a:pt x="33010" y="0"/>
                  <a:pt x="73670" y="0"/>
                </a:cubicBezTo>
                <a:close/>
              </a:path>
            </a:pathLst>
          </a:custGeom>
          <a:solidFill>
            <a:srgbClr val="4A5D52">
              <a:alpha val="5098"/>
            </a:srgbClr>
          </a:solidFill>
          <a:ln/>
        </p:spPr>
      </p:sp>
      <p:sp>
        <p:nvSpPr>
          <p:cNvPr id="48" name="Shape 46"/>
          <p:cNvSpPr/>
          <p:nvPr/>
        </p:nvSpPr>
        <p:spPr>
          <a:xfrm>
            <a:off x="8485164" y="4935734"/>
            <a:ext cx="165752" cy="165752"/>
          </a:xfrm>
          <a:custGeom>
            <a:avLst/>
            <a:gdLst/>
            <a:ahLst/>
            <a:cxnLst/>
            <a:rect l="l" t="t" r="r" b="b"/>
            <a:pathLst>
              <a:path w="165752" h="165752">
                <a:moveTo>
                  <a:pt x="82876" y="-10360"/>
                </a:moveTo>
                <a:cubicBezTo>
                  <a:pt x="88606" y="-10360"/>
                  <a:pt x="93236" y="-5730"/>
                  <a:pt x="93236" y="0"/>
                </a:cubicBezTo>
                <a:lnTo>
                  <a:pt x="93236" y="647"/>
                </a:lnTo>
                <a:cubicBezTo>
                  <a:pt x="134123" y="5730"/>
                  <a:pt x="165752" y="40629"/>
                  <a:pt x="165752" y="82876"/>
                </a:cubicBezTo>
                <a:cubicBezTo>
                  <a:pt x="165752" y="84106"/>
                  <a:pt x="165720" y="85304"/>
                  <a:pt x="165688" y="86534"/>
                </a:cubicBezTo>
                <a:cubicBezTo>
                  <a:pt x="165590" y="88768"/>
                  <a:pt x="164069" y="90678"/>
                  <a:pt x="161900" y="91293"/>
                </a:cubicBezTo>
                <a:cubicBezTo>
                  <a:pt x="159731" y="91908"/>
                  <a:pt x="157432" y="91067"/>
                  <a:pt x="156202" y="89189"/>
                </a:cubicBezTo>
                <a:cubicBezTo>
                  <a:pt x="151540" y="82261"/>
                  <a:pt x="143641" y="77696"/>
                  <a:pt x="134674" y="77696"/>
                </a:cubicBezTo>
                <a:cubicBezTo>
                  <a:pt x="125188" y="77696"/>
                  <a:pt x="116901" y="82779"/>
                  <a:pt x="112368" y="90419"/>
                </a:cubicBezTo>
                <a:cubicBezTo>
                  <a:pt x="111494" y="91908"/>
                  <a:pt x="109908" y="92880"/>
                  <a:pt x="108160" y="92944"/>
                </a:cubicBezTo>
                <a:cubicBezTo>
                  <a:pt x="106412" y="93009"/>
                  <a:pt x="104761" y="92232"/>
                  <a:pt x="103725" y="90840"/>
                </a:cubicBezTo>
                <a:cubicBezTo>
                  <a:pt x="98998" y="84430"/>
                  <a:pt x="91423" y="80286"/>
                  <a:pt x="82844" y="80286"/>
                </a:cubicBezTo>
                <a:cubicBezTo>
                  <a:pt x="74265" y="80286"/>
                  <a:pt x="66689" y="84430"/>
                  <a:pt x="61963" y="90840"/>
                </a:cubicBezTo>
                <a:cubicBezTo>
                  <a:pt x="60927" y="92232"/>
                  <a:pt x="59276" y="93041"/>
                  <a:pt x="57528" y="92944"/>
                </a:cubicBezTo>
                <a:cubicBezTo>
                  <a:pt x="55780" y="92847"/>
                  <a:pt x="54226" y="91908"/>
                  <a:pt x="53319" y="90419"/>
                </a:cubicBezTo>
                <a:cubicBezTo>
                  <a:pt x="48787" y="82779"/>
                  <a:pt x="40499" y="77696"/>
                  <a:pt x="31014" y="77696"/>
                </a:cubicBezTo>
                <a:cubicBezTo>
                  <a:pt x="22046" y="77696"/>
                  <a:pt x="14147" y="82261"/>
                  <a:pt x="9485" y="89189"/>
                </a:cubicBezTo>
                <a:cubicBezTo>
                  <a:pt x="8223" y="91034"/>
                  <a:pt x="5924" y="91908"/>
                  <a:pt x="3788" y="91293"/>
                </a:cubicBezTo>
                <a:cubicBezTo>
                  <a:pt x="1651" y="90678"/>
                  <a:pt x="162" y="88768"/>
                  <a:pt x="65" y="86534"/>
                </a:cubicBezTo>
                <a:cubicBezTo>
                  <a:pt x="32" y="85304"/>
                  <a:pt x="0" y="84106"/>
                  <a:pt x="0" y="82876"/>
                </a:cubicBezTo>
                <a:cubicBezTo>
                  <a:pt x="0" y="40629"/>
                  <a:pt x="31629" y="5730"/>
                  <a:pt x="72517" y="647"/>
                </a:cubicBezTo>
                <a:lnTo>
                  <a:pt x="72517" y="0"/>
                </a:lnTo>
                <a:cubicBezTo>
                  <a:pt x="72517" y="-5730"/>
                  <a:pt x="77146" y="-10360"/>
                  <a:pt x="82876" y="-10360"/>
                </a:cubicBezTo>
                <a:close/>
                <a:moveTo>
                  <a:pt x="93236" y="106185"/>
                </a:moveTo>
                <a:lnTo>
                  <a:pt x="93236" y="139400"/>
                </a:lnTo>
                <a:cubicBezTo>
                  <a:pt x="93236" y="153968"/>
                  <a:pt x="81419" y="165752"/>
                  <a:pt x="66884" y="165752"/>
                </a:cubicBezTo>
                <a:cubicBezTo>
                  <a:pt x="56913" y="165752"/>
                  <a:pt x="47783" y="160119"/>
                  <a:pt x="43316" y="151184"/>
                </a:cubicBezTo>
                <a:lnTo>
                  <a:pt x="42571" y="149663"/>
                </a:lnTo>
                <a:cubicBezTo>
                  <a:pt x="40014" y="144548"/>
                  <a:pt x="42086" y="138332"/>
                  <a:pt x="47201" y="135774"/>
                </a:cubicBezTo>
                <a:cubicBezTo>
                  <a:pt x="52316" y="133217"/>
                  <a:pt x="58531" y="135289"/>
                  <a:pt x="61089" y="140404"/>
                </a:cubicBezTo>
                <a:lnTo>
                  <a:pt x="61833" y="141925"/>
                </a:lnTo>
                <a:cubicBezTo>
                  <a:pt x="62805" y="143835"/>
                  <a:pt x="64747" y="145033"/>
                  <a:pt x="66884" y="145033"/>
                </a:cubicBezTo>
                <a:cubicBezTo>
                  <a:pt x="69991" y="145033"/>
                  <a:pt x="72517" y="142508"/>
                  <a:pt x="72517" y="139400"/>
                </a:cubicBezTo>
                <a:lnTo>
                  <a:pt x="72517" y="106185"/>
                </a:lnTo>
                <a:cubicBezTo>
                  <a:pt x="72517" y="100455"/>
                  <a:pt x="77146" y="95826"/>
                  <a:pt x="82876" y="95826"/>
                </a:cubicBezTo>
                <a:cubicBezTo>
                  <a:pt x="88606" y="95826"/>
                  <a:pt x="93236" y="100455"/>
                  <a:pt x="93236" y="106185"/>
                </a:cubicBezTo>
                <a:close/>
              </a:path>
            </a:pathLst>
          </a:custGeom>
          <a:solidFill>
            <a:srgbClr val="4A5D52"/>
          </a:solidFill>
          <a:ln/>
        </p:spPr>
      </p:sp>
      <p:sp>
        <p:nvSpPr>
          <p:cNvPr id="49" name="Text 47"/>
          <p:cNvSpPr/>
          <p:nvPr/>
        </p:nvSpPr>
        <p:spPr>
          <a:xfrm>
            <a:off x="8779834" y="4898900"/>
            <a:ext cx="1998236" cy="221003"/>
          </a:xfrm>
          <a:prstGeom prst="rect">
            <a:avLst/>
          </a:prstGeom>
          <a:noFill/>
          <a:ln/>
        </p:spPr>
        <p:txBody>
          <a:bodyPr wrap="square" lIns="0" tIns="0" rIns="0" bIns="0" rtlCol="0" anchor="ctr"/>
          <a:lstStyle/>
          <a:p>
            <a:pPr>
              <a:lnSpc>
                <a:spcPct val="130000"/>
              </a:lnSpc>
            </a:pPr>
            <a:r>
              <a:rPr lang="en-US" sz="1160" b="1" dirty="0">
                <a:solidFill>
                  <a:srgbClr val="2C3531"/>
                </a:solidFill>
                <a:latin typeface="Liter" pitchFamily="34" charset="0"/>
                <a:ea typeface="Liter" pitchFamily="34" charset="-122"/>
                <a:cs typeface="Liter" pitchFamily="34" charset="-120"/>
              </a:rPr>
              <a:t>Workers' Compensation</a:t>
            </a:r>
            <a:endParaRPr lang="en-US" sz="1600" dirty="0"/>
          </a:p>
        </p:txBody>
      </p:sp>
      <p:sp>
        <p:nvSpPr>
          <p:cNvPr id="50" name="Text 48"/>
          <p:cNvSpPr/>
          <p:nvPr/>
        </p:nvSpPr>
        <p:spPr>
          <a:xfrm>
            <a:off x="8779834" y="5119903"/>
            <a:ext cx="1989027" cy="184169"/>
          </a:xfrm>
          <a:prstGeom prst="rect">
            <a:avLst/>
          </a:prstGeom>
          <a:noFill/>
          <a:ln/>
        </p:spPr>
        <p:txBody>
          <a:bodyPr wrap="square" lIns="0" tIns="0" rIns="0" bIns="0" rtlCol="0" anchor="ctr"/>
          <a:lstStyle/>
          <a:p>
            <a:pPr>
              <a:lnSpc>
                <a:spcPct val="120000"/>
              </a:lnSpc>
            </a:pPr>
            <a:r>
              <a:rPr lang="en-US" sz="1015" dirty="0">
                <a:solidFill>
                  <a:srgbClr val="2C3531">
                    <a:alpha val="70000"/>
                  </a:srgbClr>
                </a:solidFill>
                <a:latin typeface="Liter" pitchFamily="34" charset="0"/>
                <a:ea typeface="Liter" pitchFamily="34" charset="-122"/>
                <a:cs typeface="Liter" pitchFamily="34" charset="-120"/>
              </a:rPr>
              <a:t>Coverage for work-related injuries</a:t>
            </a:r>
            <a:endParaRPr lang="en-US" sz="1600" dirty="0"/>
          </a:p>
        </p:txBody>
      </p:sp>
      <p:sp>
        <p:nvSpPr>
          <p:cNvPr id="51" name="Shape 49"/>
          <p:cNvSpPr/>
          <p:nvPr/>
        </p:nvSpPr>
        <p:spPr>
          <a:xfrm>
            <a:off x="377547" y="5828955"/>
            <a:ext cx="11436906" cy="837970"/>
          </a:xfrm>
          <a:custGeom>
            <a:avLst/>
            <a:gdLst/>
            <a:ahLst/>
            <a:cxnLst/>
            <a:rect l="l" t="t" r="r" b="b"/>
            <a:pathLst>
              <a:path w="11436906" h="837970">
                <a:moveTo>
                  <a:pt x="73666" y="0"/>
                </a:moveTo>
                <a:lnTo>
                  <a:pt x="11363240" y="0"/>
                </a:lnTo>
                <a:cubicBezTo>
                  <a:pt x="11403925" y="0"/>
                  <a:pt x="11436906" y="32981"/>
                  <a:pt x="11436906" y="73666"/>
                </a:cubicBezTo>
                <a:lnTo>
                  <a:pt x="11436906" y="764304"/>
                </a:lnTo>
                <a:cubicBezTo>
                  <a:pt x="11436906" y="804988"/>
                  <a:pt x="11403925" y="837970"/>
                  <a:pt x="11363240" y="837970"/>
                </a:cubicBezTo>
                <a:lnTo>
                  <a:pt x="73666" y="837970"/>
                </a:lnTo>
                <a:cubicBezTo>
                  <a:pt x="33009" y="837970"/>
                  <a:pt x="0" y="804961"/>
                  <a:pt x="0" y="764304"/>
                </a:cubicBezTo>
                <a:lnTo>
                  <a:pt x="0" y="73666"/>
                </a:lnTo>
                <a:cubicBezTo>
                  <a:pt x="0" y="33009"/>
                  <a:pt x="33009" y="0"/>
                  <a:pt x="73666" y="0"/>
                </a:cubicBezTo>
                <a:close/>
              </a:path>
            </a:pathLst>
          </a:custGeom>
          <a:solidFill>
            <a:srgbClr val="D4A056">
              <a:alpha val="10196"/>
            </a:srgbClr>
          </a:solidFill>
          <a:ln w="25400">
            <a:solidFill>
              <a:srgbClr val="D4A056"/>
            </a:solidFill>
            <a:prstDash val="solid"/>
          </a:ln>
        </p:spPr>
      </p:sp>
      <p:sp>
        <p:nvSpPr>
          <p:cNvPr id="52" name="Shape 50"/>
          <p:cNvSpPr/>
          <p:nvPr/>
        </p:nvSpPr>
        <p:spPr>
          <a:xfrm>
            <a:off x="589341" y="5985498"/>
            <a:ext cx="165752" cy="221003"/>
          </a:xfrm>
          <a:custGeom>
            <a:avLst/>
            <a:gdLst/>
            <a:ahLst/>
            <a:cxnLst/>
            <a:rect l="l" t="t" r="r" b="b"/>
            <a:pathLst>
              <a:path w="165752" h="221003">
                <a:moveTo>
                  <a:pt x="27625" y="0"/>
                </a:moveTo>
                <a:cubicBezTo>
                  <a:pt x="12388" y="0"/>
                  <a:pt x="0" y="12388"/>
                  <a:pt x="0" y="27625"/>
                </a:cubicBezTo>
                <a:lnTo>
                  <a:pt x="0" y="193378"/>
                </a:lnTo>
                <a:cubicBezTo>
                  <a:pt x="0" y="208615"/>
                  <a:pt x="12388" y="221003"/>
                  <a:pt x="27625" y="221003"/>
                </a:cubicBezTo>
                <a:lnTo>
                  <a:pt x="138127" y="221003"/>
                </a:lnTo>
                <a:cubicBezTo>
                  <a:pt x="153364" y="221003"/>
                  <a:pt x="165752" y="208615"/>
                  <a:pt x="165752" y="193378"/>
                </a:cubicBezTo>
                <a:lnTo>
                  <a:pt x="165752" y="27625"/>
                </a:lnTo>
                <a:cubicBezTo>
                  <a:pt x="165752" y="12388"/>
                  <a:pt x="153364" y="0"/>
                  <a:pt x="138127" y="0"/>
                </a:cubicBezTo>
                <a:lnTo>
                  <a:pt x="27625" y="0"/>
                </a:lnTo>
                <a:close/>
                <a:moveTo>
                  <a:pt x="41438" y="27625"/>
                </a:moveTo>
                <a:lnTo>
                  <a:pt x="124314" y="27625"/>
                </a:lnTo>
                <a:cubicBezTo>
                  <a:pt x="131954" y="27625"/>
                  <a:pt x="138127" y="33798"/>
                  <a:pt x="138127" y="41438"/>
                </a:cubicBezTo>
                <a:lnTo>
                  <a:pt x="138127" y="55251"/>
                </a:lnTo>
                <a:cubicBezTo>
                  <a:pt x="138127" y="62891"/>
                  <a:pt x="131954" y="69063"/>
                  <a:pt x="124314" y="69063"/>
                </a:cubicBezTo>
                <a:lnTo>
                  <a:pt x="41438" y="69063"/>
                </a:lnTo>
                <a:cubicBezTo>
                  <a:pt x="33798" y="69063"/>
                  <a:pt x="27625" y="62891"/>
                  <a:pt x="27625" y="55251"/>
                </a:cubicBezTo>
                <a:lnTo>
                  <a:pt x="27625" y="41438"/>
                </a:lnTo>
                <a:cubicBezTo>
                  <a:pt x="27625" y="33798"/>
                  <a:pt x="33798" y="27625"/>
                  <a:pt x="41438" y="27625"/>
                </a:cubicBezTo>
                <a:close/>
                <a:moveTo>
                  <a:pt x="48344" y="100142"/>
                </a:moveTo>
                <a:cubicBezTo>
                  <a:pt x="48344" y="105860"/>
                  <a:pt x="43702" y="110502"/>
                  <a:pt x="37985" y="110502"/>
                </a:cubicBezTo>
                <a:cubicBezTo>
                  <a:pt x="32267" y="110502"/>
                  <a:pt x="27625" y="105860"/>
                  <a:pt x="27625" y="100142"/>
                </a:cubicBezTo>
                <a:cubicBezTo>
                  <a:pt x="27625" y="94424"/>
                  <a:pt x="32267" y="89782"/>
                  <a:pt x="37985" y="89782"/>
                </a:cubicBezTo>
                <a:cubicBezTo>
                  <a:pt x="43702" y="89782"/>
                  <a:pt x="48344" y="94424"/>
                  <a:pt x="48344" y="100142"/>
                </a:cubicBezTo>
                <a:close/>
                <a:moveTo>
                  <a:pt x="82876" y="110502"/>
                </a:moveTo>
                <a:cubicBezTo>
                  <a:pt x="77159" y="110502"/>
                  <a:pt x="72517" y="105860"/>
                  <a:pt x="72517" y="100142"/>
                </a:cubicBezTo>
                <a:cubicBezTo>
                  <a:pt x="72517" y="94424"/>
                  <a:pt x="77159" y="89782"/>
                  <a:pt x="82876" y="89782"/>
                </a:cubicBezTo>
                <a:cubicBezTo>
                  <a:pt x="88594" y="89782"/>
                  <a:pt x="93236" y="94424"/>
                  <a:pt x="93236" y="100142"/>
                </a:cubicBezTo>
                <a:cubicBezTo>
                  <a:pt x="93236" y="105860"/>
                  <a:pt x="88594" y="110502"/>
                  <a:pt x="82876" y="110502"/>
                </a:cubicBezTo>
                <a:close/>
                <a:moveTo>
                  <a:pt x="138127" y="100142"/>
                </a:moveTo>
                <a:cubicBezTo>
                  <a:pt x="138127" y="105860"/>
                  <a:pt x="133485" y="110502"/>
                  <a:pt x="127767" y="110502"/>
                </a:cubicBezTo>
                <a:cubicBezTo>
                  <a:pt x="122050" y="110502"/>
                  <a:pt x="117408" y="105860"/>
                  <a:pt x="117408" y="100142"/>
                </a:cubicBezTo>
                <a:cubicBezTo>
                  <a:pt x="117408" y="94424"/>
                  <a:pt x="122050" y="89782"/>
                  <a:pt x="127767" y="89782"/>
                </a:cubicBezTo>
                <a:cubicBezTo>
                  <a:pt x="133485" y="89782"/>
                  <a:pt x="138127" y="94424"/>
                  <a:pt x="138127" y="100142"/>
                </a:cubicBezTo>
                <a:close/>
                <a:moveTo>
                  <a:pt x="37985" y="151940"/>
                </a:moveTo>
                <a:cubicBezTo>
                  <a:pt x="32267" y="151940"/>
                  <a:pt x="27625" y="147298"/>
                  <a:pt x="27625" y="141580"/>
                </a:cubicBezTo>
                <a:cubicBezTo>
                  <a:pt x="27625" y="135862"/>
                  <a:pt x="32267" y="131221"/>
                  <a:pt x="37985" y="131221"/>
                </a:cubicBezTo>
                <a:cubicBezTo>
                  <a:pt x="43702" y="131221"/>
                  <a:pt x="48344" y="135862"/>
                  <a:pt x="48344" y="141580"/>
                </a:cubicBezTo>
                <a:cubicBezTo>
                  <a:pt x="48344" y="147298"/>
                  <a:pt x="43702" y="151940"/>
                  <a:pt x="37985" y="151940"/>
                </a:cubicBezTo>
                <a:close/>
                <a:moveTo>
                  <a:pt x="93236" y="141580"/>
                </a:moveTo>
                <a:cubicBezTo>
                  <a:pt x="93236" y="147298"/>
                  <a:pt x="88594" y="151940"/>
                  <a:pt x="82876" y="151940"/>
                </a:cubicBezTo>
                <a:cubicBezTo>
                  <a:pt x="77159" y="151940"/>
                  <a:pt x="72517" y="147298"/>
                  <a:pt x="72517" y="141580"/>
                </a:cubicBezTo>
                <a:cubicBezTo>
                  <a:pt x="72517" y="135862"/>
                  <a:pt x="77159" y="131221"/>
                  <a:pt x="82876" y="131221"/>
                </a:cubicBezTo>
                <a:cubicBezTo>
                  <a:pt x="88594" y="131221"/>
                  <a:pt x="93236" y="135862"/>
                  <a:pt x="93236" y="141580"/>
                </a:cubicBezTo>
                <a:close/>
                <a:moveTo>
                  <a:pt x="127767" y="151940"/>
                </a:moveTo>
                <a:cubicBezTo>
                  <a:pt x="122050" y="151940"/>
                  <a:pt x="117408" y="147298"/>
                  <a:pt x="117408" y="141580"/>
                </a:cubicBezTo>
                <a:cubicBezTo>
                  <a:pt x="117408" y="135862"/>
                  <a:pt x="122050" y="131221"/>
                  <a:pt x="127767" y="131221"/>
                </a:cubicBezTo>
                <a:cubicBezTo>
                  <a:pt x="133485" y="131221"/>
                  <a:pt x="138127" y="135862"/>
                  <a:pt x="138127" y="141580"/>
                </a:cubicBezTo>
                <a:cubicBezTo>
                  <a:pt x="138127" y="147298"/>
                  <a:pt x="133485" y="151940"/>
                  <a:pt x="127767" y="151940"/>
                </a:cubicBezTo>
                <a:close/>
                <a:moveTo>
                  <a:pt x="27625" y="183018"/>
                </a:moveTo>
                <a:cubicBezTo>
                  <a:pt x="27625" y="177277"/>
                  <a:pt x="32244" y="172659"/>
                  <a:pt x="37985" y="172659"/>
                </a:cubicBezTo>
                <a:lnTo>
                  <a:pt x="86329" y="172659"/>
                </a:lnTo>
                <a:cubicBezTo>
                  <a:pt x="92070" y="172659"/>
                  <a:pt x="96689" y="177277"/>
                  <a:pt x="96689" y="183018"/>
                </a:cubicBezTo>
                <a:cubicBezTo>
                  <a:pt x="96689" y="188759"/>
                  <a:pt x="92070" y="193378"/>
                  <a:pt x="86329" y="193378"/>
                </a:cubicBezTo>
                <a:lnTo>
                  <a:pt x="37985" y="193378"/>
                </a:lnTo>
                <a:cubicBezTo>
                  <a:pt x="32244" y="193378"/>
                  <a:pt x="27625" y="188759"/>
                  <a:pt x="27625" y="183018"/>
                </a:cubicBezTo>
                <a:close/>
                <a:moveTo>
                  <a:pt x="127767" y="172659"/>
                </a:moveTo>
                <a:cubicBezTo>
                  <a:pt x="133508" y="172659"/>
                  <a:pt x="138127" y="177277"/>
                  <a:pt x="138127" y="183018"/>
                </a:cubicBezTo>
                <a:cubicBezTo>
                  <a:pt x="138127" y="188759"/>
                  <a:pt x="133508" y="193378"/>
                  <a:pt x="127767" y="193378"/>
                </a:cubicBezTo>
                <a:cubicBezTo>
                  <a:pt x="122026" y="193378"/>
                  <a:pt x="117408" y="188759"/>
                  <a:pt x="117408" y="183018"/>
                </a:cubicBezTo>
                <a:cubicBezTo>
                  <a:pt x="117408" y="177277"/>
                  <a:pt x="122026" y="172659"/>
                  <a:pt x="127767" y="172659"/>
                </a:cubicBezTo>
                <a:close/>
              </a:path>
            </a:pathLst>
          </a:custGeom>
          <a:solidFill>
            <a:srgbClr val="D4A056"/>
          </a:solidFill>
          <a:ln/>
        </p:spPr>
      </p:sp>
      <p:sp>
        <p:nvSpPr>
          <p:cNvPr id="53" name="Text 51"/>
          <p:cNvSpPr/>
          <p:nvPr/>
        </p:nvSpPr>
        <p:spPr>
          <a:xfrm>
            <a:off x="920846" y="5985498"/>
            <a:ext cx="10810731" cy="524882"/>
          </a:xfrm>
          <a:prstGeom prst="rect">
            <a:avLst/>
          </a:prstGeom>
          <a:noFill/>
          <a:ln/>
        </p:spPr>
        <p:txBody>
          <a:bodyPr wrap="square" lIns="0" tIns="0" rIns="0" bIns="0" rtlCol="0" anchor="ctr"/>
          <a:lstStyle/>
          <a:p>
            <a:pPr>
              <a:lnSpc>
                <a:spcPct val="140000"/>
              </a:lnSpc>
            </a:pPr>
            <a:r>
              <a:rPr lang="en-US" sz="1160" b="1" dirty="0">
                <a:solidFill>
                  <a:srgbClr val="2C3531"/>
                </a:solidFill>
                <a:latin typeface="Liter" pitchFamily="34" charset="0"/>
                <a:ea typeface="Liter" pitchFamily="34" charset="-122"/>
                <a:cs typeface="Liter" pitchFamily="34" charset="-120"/>
              </a:rPr>
              <a:t>Estimated Season Earnings:</a:t>
            </a:r>
            <a:pPr>
              <a:lnSpc>
                <a:spcPct val="140000"/>
              </a:lnSpc>
            </a:pPr>
            <a:r>
              <a:rPr lang="en-US" sz="1160" dirty="0">
                <a:solidFill>
                  <a:srgbClr val="2C3531"/>
                </a:solidFill>
                <a:latin typeface="Liter" pitchFamily="34" charset="0"/>
                <a:ea typeface="Liter" pitchFamily="34" charset="-122"/>
                <a:cs typeface="Liter" pitchFamily="34" charset="-120"/>
              </a:rPr>
              <a:t> Based on a 40-hour work week for 34 weeks, gross earnings would be approximately </a:t>
            </a:r>
            <a:pPr>
              <a:lnSpc>
                <a:spcPct val="140000"/>
              </a:lnSpc>
            </a:pPr>
            <a:r>
              <a:rPr lang="en-US" sz="1740" b="1" dirty="0">
                <a:solidFill>
                  <a:srgbClr val="4A5D52"/>
                </a:solidFill>
                <a:latin typeface="Oranienbaum" pitchFamily="34" charset="0"/>
                <a:ea typeface="Oranienbaum" pitchFamily="34" charset="-122"/>
                <a:cs typeface="Oranienbaum" pitchFamily="34" charset="-120"/>
              </a:rPr>
              <a:t>$[XX,XXX]</a:t>
            </a:r>
            <a:pPr>
              <a:lnSpc>
                <a:spcPct val="140000"/>
              </a:lnSpc>
            </a:pPr>
            <a:r>
              <a:rPr lang="en-US" sz="1160" dirty="0">
                <a:solidFill>
                  <a:srgbClr val="2C3531"/>
                </a:solidFill>
                <a:latin typeface="Liter" pitchFamily="34" charset="0"/>
                <a:ea typeface="Liter" pitchFamily="34" charset="-122"/>
                <a:cs typeface="Liter" pitchFamily="34" charset="-120"/>
              </a:rPr>
              <a:t> before taxes and deductions. Actual earnings may vary based on overtime hours worked.</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34486" y="334486"/>
            <a:ext cx="3403391" cy="167243"/>
          </a:xfrm>
          <a:prstGeom prst="rect">
            <a:avLst/>
          </a:prstGeom>
          <a:noFill/>
          <a:ln/>
        </p:spPr>
        <p:txBody>
          <a:bodyPr wrap="square" lIns="0" tIns="0" rIns="0" bIns="0" rtlCol="0" anchor="ctr"/>
          <a:lstStyle/>
          <a:p>
            <a:pPr>
              <a:lnSpc>
                <a:spcPct val="120000"/>
              </a:lnSpc>
            </a:pPr>
            <a:r>
              <a:rPr lang="en-US" sz="922" b="1" spc="92" kern="0" dirty="0">
                <a:solidFill>
                  <a:srgbClr val="A88B6A"/>
                </a:solidFill>
                <a:latin typeface="Liter" pitchFamily="34" charset="0"/>
                <a:ea typeface="Liter" pitchFamily="34" charset="-122"/>
                <a:cs typeface="Liter" pitchFamily="34" charset="-120"/>
              </a:rPr>
              <a:t>Section 4.1</a:t>
            </a:r>
            <a:endParaRPr lang="en-US" sz="1600" dirty="0"/>
          </a:p>
        </p:txBody>
      </p:sp>
      <p:sp>
        <p:nvSpPr>
          <p:cNvPr id="3" name="Text 1"/>
          <p:cNvSpPr/>
          <p:nvPr/>
        </p:nvSpPr>
        <p:spPr>
          <a:xfrm>
            <a:off x="334486" y="568626"/>
            <a:ext cx="3545547" cy="1003457"/>
          </a:xfrm>
          <a:prstGeom prst="rect">
            <a:avLst/>
          </a:prstGeom>
          <a:noFill/>
          <a:ln/>
        </p:spPr>
        <p:txBody>
          <a:bodyPr wrap="square" lIns="0" tIns="0" rIns="0" bIns="0" rtlCol="0" anchor="ctr"/>
          <a:lstStyle/>
          <a:p>
            <a:pPr>
              <a:lnSpc>
                <a:spcPct val="100000"/>
              </a:lnSpc>
            </a:pPr>
            <a:r>
              <a:rPr lang="en-US" sz="3160" b="1" dirty="0">
                <a:solidFill>
                  <a:srgbClr val="4A5D52"/>
                </a:solidFill>
                <a:latin typeface="Oranienbaum" pitchFamily="34" charset="0"/>
                <a:ea typeface="Oranienbaum" pitchFamily="34" charset="-122"/>
                <a:cs typeface="Oranienbaum" pitchFamily="34" charset="-120"/>
              </a:rPr>
              <a:t>Plant Care &amp;</a:t>
            </a:r>
            <a:endParaRPr lang="en-US" sz="1600" dirty="0"/>
          </a:p>
          <a:p>
            <a:pPr>
              <a:lnSpc>
                <a:spcPct val="100000"/>
              </a:lnSpc>
            </a:pPr>
            <a:r>
              <a:rPr lang="en-US" sz="3160" b="1" dirty="0">
                <a:solidFill>
                  <a:srgbClr val="4A5D52"/>
                </a:solidFill>
                <a:latin typeface="Oranienbaum" pitchFamily="34" charset="0"/>
                <a:ea typeface="Oranienbaum" pitchFamily="34" charset="-122"/>
                <a:cs typeface="Oranienbaum" pitchFamily="34" charset="-120"/>
              </a:rPr>
              <a:t>Maintenance</a:t>
            </a:r>
            <a:endParaRPr lang="en-US" sz="1600" dirty="0"/>
          </a:p>
        </p:txBody>
      </p:sp>
      <p:sp>
        <p:nvSpPr>
          <p:cNvPr id="4" name="Shape 2"/>
          <p:cNvSpPr/>
          <p:nvPr/>
        </p:nvSpPr>
        <p:spPr>
          <a:xfrm>
            <a:off x="334486" y="1672428"/>
            <a:ext cx="668971" cy="33449"/>
          </a:xfrm>
          <a:custGeom>
            <a:avLst/>
            <a:gdLst/>
            <a:ahLst/>
            <a:cxnLst/>
            <a:rect l="l" t="t" r="r" b="b"/>
            <a:pathLst>
              <a:path w="668971" h="33449">
                <a:moveTo>
                  <a:pt x="0" y="0"/>
                </a:moveTo>
                <a:lnTo>
                  <a:pt x="668971" y="0"/>
                </a:lnTo>
                <a:lnTo>
                  <a:pt x="668971" y="33449"/>
                </a:lnTo>
                <a:lnTo>
                  <a:pt x="0" y="33449"/>
                </a:lnTo>
                <a:lnTo>
                  <a:pt x="0" y="0"/>
                </a:lnTo>
                <a:close/>
              </a:path>
            </a:pathLst>
          </a:custGeom>
          <a:solidFill>
            <a:srgbClr val="D4A056"/>
          </a:solidFill>
          <a:ln/>
        </p:spPr>
      </p:sp>
      <p:sp>
        <p:nvSpPr>
          <p:cNvPr id="5" name="Shape 3"/>
          <p:cNvSpPr/>
          <p:nvPr/>
        </p:nvSpPr>
        <p:spPr>
          <a:xfrm>
            <a:off x="334486" y="1906568"/>
            <a:ext cx="3344856" cy="4615901"/>
          </a:xfrm>
          <a:custGeom>
            <a:avLst/>
            <a:gdLst/>
            <a:ahLst/>
            <a:cxnLst/>
            <a:rect l="l" t="t" r="r" b="b"/>
            <a:pathLst>
              <a:path w="3344856" h="4615901">
                <a:moveTo>
                  <a:pt x="66897" y="0"/>
                </a:moveTo>
                <a:lnTo>
                  <a:pt x="3277959" y="0"/>
                </a:lnTo>
                <a:cubicBezTo>
                  <a:pt x="3314905" y="0"/>
                  <a:pt x="3344856" y="29951"/>
                  <a:pt x="3344856" y="66897"/>
                </a:cubicBezTo>
                <a:lnTo>
                  <a:pt x="3344856" y="4549004"/>
                </a:lnTo>
                <a:cubicBezTo>
                  <a:pt x="3344856" y="4585950"/>
                  <a:pt x="3314905" y="4615901"/>
                  <a:pt x="3277959" y="4615901"/>
                </a:cubicBezTo>
                <a:lnTo>
                  <a:pt x="66897" y="4615901"/>
                </a:lnTo>
                <a:cubicBezTo>
                  <a:pt x="29951" y="4615901"/>
                  <a:pt x="0" y="4585950"/>
                  <a:pt x="0" y="4549004"/>
                </a:cubicBezTo>
                <a:lnTo>
                  <a:pt x="0" y="66897"/>
                </a:lnTo>
                <a:cubicBezTo>
                  <a:pt x="0" y="29976"/>
                  <a:pt x="29976" y="0"/>
                  <a:pt x="66897" y="0"/>
                </a:cubicBezTo>
                <a:close/>
              </a:path>
            </a:pathLst>
          </a:custGeom>
          <a:solidFill>
            <a:srgbClr val="4A5D52"/>
          </a:solidFill>
          <a:ln/>
        </p:spPr>
      </p:sp>
      <p:sp>
        <p:nvSpPr>
          <p:cNvPr id="6" name="Shape 4"/>
          <p:cNvSpPr/>
          <p:nvPr/>
        </p:nvSpPr>
        <p:spPr>
          <a:xfrm>
            <a:off x="585350" y="2107259"/>
            <a:ext cx="401383" cy="401383"/>
          </a:xfrm>
          <a:custGeom>
            <a:avLst/>
            <a:gdLst/>
            <a:ahLst/>
            <a:cxnLst/>
            <a:rect l="l" t="t" r="r" b="b"/>
            <a:pathLst>
              <a:path w="401383" h="401383">
                <a:moveTo>
                  <a:pt x="401383" y="25086"/>
                </a:moveTo>
                <a:cubicBezTo>
                  <a:pt x="401383" y="109831"/>
                  <a:pt x="341332" y="180544"/>
                  <a:pt x="261526" y="197085"/>
                </a:cubicBezTo>
                <a:cubicBezTo>
                  <a:pt x="255333" y="151538"/>
                  <a:pt x="234872" y="110537"/>
                  <a:pt x="204690" y="78787"/>
                </a:cubicBezTo>
                <a:cubicBezTo>
                  <a:pt x="236126" y="31358"/>
                  <a:pt x="289983" y="0"/>
                  <a:pt x="351210" y="0"/>
                </a:cubicBezTo>
                <a:lnTo>
                  <a:pt x="376296" y="0"/>
                </a:lnTo>
                <a:cubicBezTo>
                  <a:pt x="390172" y="0"/>
                  <a:pt x="401383" y="11210"/>
                  <a:pt x="401383" y="25086"/>
                </a:cubicBezTo>
                <a:close/>
                <a:moveTo>
                  <a:pt x="0" y="75259"/>
                </a:moveTo>
                <a:cubicBezTo>
                  <a:pt x="0" y="61383"/>
                  <a:pt x="11210" y="50173"/>
                  <a:pt x="25086" y="50173"/>
                </a:cubicBezTo>
                <a:lnTo>
                  <a:pt x="50173" y="50173"/>
                </a:lnTo>
                <a:cubicBezTo>
                  <a:pt x="147148" y="50173"/>
                  <a:pt x="225778" y="128803"/>
                  <a:pt x="225778" y="225778"/>
                </a:cubicBezTo>
                <a:lnTo>
                  <a:pt x="225778" y="376296"/>
                </a:lnTo>
                <a:cubicBezTo>
                  <a:pt x="225778" y="390172"/>
                  <a:pt x="214567" y="401383"/>
                  <a:pt x="200691" y="401383"/>
                </a:cubicBezTo>
                <a:cubicBezTo>
                  <a:pt x="186815" y="401383"/>
                  <a:pt x="175605" y="390172"/>
                  <a:pt x="175605" y="376296"/>
                </a:cubicBezTo>
                <a:lnTo>
                  <a:pt x="175605" y="250864"/>
                </a:lnTo>
                <a:cubicBezTo>
                  <a:pt x="78630" y="250864"/>
                  <a:pt x="0" y="172234"/>
                  <a:pt x="0" y="75259"/>
                </a:cubicBezTo>
                <a:close/>
              </a:path>
            </a:pathLst>
          </a:custGeom>
          <a:solidFill>
            <a:srgbClr val="D4A056"/>
          </a:solidFill>
          <a:ln/>
        </p:spPr>
      </p:sp>
      <p:sp>
        <p:nvSpPr>
          <p:cNvPr id="7" name="Text 5"/>
          <p:cNvSpPr/>
          <p:nvPr/>
        </p:nvSpPr>
        <p:spPr>
          <a:xfrm>
            <a:off x="535177" y="2642436"/>
            <a:ext cx="3043819" cy="259226"/>
          </a:xfrm>
          <a:prstGeom prst="rect">
            <a:avLst/>
          </a:prstGeom>
          <a:noFill/>
          <a:ln/>
        </p:spPr>
        <p:txBody>
          <a:bodyPr wrap="square" lIns="0" tIns="0" rIns="0" bIns="0" rtlCol="0" anchor="ctr"/>
          <a:lstStyle/>
          <a:p>
            <a:pPr>
              <a:lnSpc>
                <a:spcPct val="110000"/>
              </a:lnSpc>
            </a:pPr>
            <a:r>
              <a:rPr lang="en-US" sz="1580" b="1" dirty="0">
                <a:solidFill>
                  <a:srgbClr val="F8F7F2"/>
                </a:solidFill>
                <a:latin typeface="Unna" pitchFamily="34" charset="0"/>
                <a:ea typeface="Unna" pitchFamily="34" charset="-122"/>
                <a:cs typeface="Unna" pitchFamily="34" charset="-120"/>
              </a:rPr>
              <a:t>Primary Duty</a:t>
            </a:r>
            <a:endParaRPr lang="en-US" sz="1600" dirty="0"/>
          </a:p>
        </p:txBody>
      </p:sp>
      <p:sp>
        <p:nvSpPr>
          <p:cNvPr id="8" name="Text 6"/>
          <p:cNvSpPr/>
          <p:nvPr/>
        </p:nvSpPr>
        <p:spPr>
          <a:xfrm>
            <a:off x="535177" y="3002008"/>
            <a:ext cx="3010370" cy="869663"/>
          </a:xfrm>
          <a:prstGeom prst="rect">
            <a:avLst/>
          </a:prstGeom>
          <a:noFill/>
          <a:ln/>
        </p:spPr>
        <p:txBody>
          <a:bodyPr wrap="square" lIns="0" tIns="0" rIns="0" bIns="0" rtlCol="0" anchor="ctr"/>
          <a:lstStyle/>
          <a:p>
            <a:pPr>
              <a:lnSpc>
                <a:spcPct val="140000"/>
              </a:lnSpc>
            </a:pPr>
            <a:r>
              <a:rPr lang="en-US" sz="1053" dirty="0">
                <a:solidFill>
                  <a:srgbClr val="F8F7F2">
                    <a:alpha val="90000"/>
                  </a:srgbClr>
                </a:solidFill>
                <a:latin typeface="Liter" pitchFamily="34" charset="0"/>
                <a:ea typeface="Liter" pitchFamily="34" charset="-122"/>
                <a:cs typeface="Liter" pitchFamily="34" charset="-120"/>
              </a:rPr>
              <a:t>The employee's principal responsibility is the daily care and maintenance of Habanero pepper plants throughout the entire 8-month growing season, ensuring optimal health, growth, and productivity.</a:t>
            </a:r>
            <a:endParaRPr lang="en-US" sz="1600" dirty="0"/>
          </a:p>
        </p:txBody>
      </p:sp>
      <p:sp>
        <p:nvSpPr>
          <p:cNvPr id="9" name="Shape 7"/>
          <p:cNvSpPr/>
          <p:nvPr/>
        </p:nvSpPr>
        <p:spPr>
          <a:xfrm>
            <a:off x="535177" y="4950387"/>
            <a:ext cx="2943473" cy="1371391"/>
          </a:xfrm>
          <a:custGeom>
            <a:avLst/>
            <a:gdLst/>
            <a:ahLst/>
            <a:cxnLst/>
            <a:rect l="l" t="t" r="r" b="b"/>
            <a:pathLst>
              <a:path w="2943473" h="1371391">
                <a:moveTo>
                  <a:pt x="66896" y="0"/>
                </a:moveTo>
                <a:lnTo>
                  <a:pt x="2876577" y="0"/>
                </a:lnTo>
                <a:cubicBezTo>
                  <a:pt x="2913523" y="0"/>
                  <a:pt x="2943473" y="29951"/>
                  <a:pt x="2943473" y="66896"/>
                </a:cubicBezTo>
                <a:lnTo>
                  <a:pt x="2943473" y="1304494"/>
                </a:lnTo>
                <a:cubicBezTo>
                  <a:pt x="2943473" y="1341440"/>
                  <a:pt x="2913523" y="1371391"/>
                  <a:pt x="2876577" y="1371391"/>
                </a:cubicBezTo>
                <a:lnTo>
                  <a:pt x="66896" y="1371391"/>
                </a:lnTo>
                <a:cubicBezTo>
                  <a:pt x="29951" y="1371391"/>
                  <a:pt x="0" y="1341440"/>
                  <a:pt x="0" y="1304494"/>
                </a:cubicBezTo>
                <a:lnTo>
                  <a:pt x="0" y="66896"/>
                </a:lnTo>
                <a:cubicBezTo>
                  <a:pt x="0" y="29975"/>
                  <a:pt x="29975" y="0"/>
                  <a:pt x="66896" y="0"/>
                </a:cubicBezTo>
                <a:close/>
              </a:path>
            </a:pathLst>
          </a:custGeom>
          <a:solidFill>
            <a:srgbClr val="F8F7F2">
              <a:alpha val="10196"/>
            </a:srgbClr>
          </a:solidFill>
          <a:ln/>
        </p:spPr>
      </p:sp>
      <p:sp>
        <p:nvSpPr>
          <p:cNvPr id="10" name="Text 8"/>
          <p:cNvSpPr/>
          <p:nvPr/>
        </p:nvSpPr>
        <p:spPr>
          <a:xfrm>
            <a:off x="668971" y="5084181"/>
            <a:ext cx="2734420" cy="167243"/>
          </a:xfrm>
          <a:prstGeom prst="rect">
            <a:avLst/>
          </a:prstGeom>
          <a:noFill/>
          <a:ln/>
        </p:spPr>
        <p:txBody>
          <a:bodyPr wrap="square" lIns="0" tIns="0" rIns="0" bIns="0" rtlCol="0" anchor="ctr"/>
          <a:lstStyle/>
          <a:p>
            <a:pPr>
              <a:lnSpc>
                <a:spcPct val="120000"/>
              </a:lnSpc>
            </a:pPr>
            <a:r>
              <a:rPr lang="en-US" sz="922" b="1" spc="23" kern="0" dirty="0">
                <a:solidFill>
                  <a:srgbClr val="D4A056"/>
                </a:solidFill>
                <a:latin typeface="Liter" pitchFamily="34" charset="0"/>
                <a:ea typeface="Liter" pitchFamily="34" charset="-122"/>
                <a:cs typeface="Liter" pitchFamily="34" charset="-120"/>
              </a:rPr>
              <a:t>Growing Season Phases</a:t>
            </a:r>
            <a:endParaRPr lang="en-US" sz="1600" dirty="0"/>
          </a:p>
        </p:txBody>
      </p:sp>
      <p:sp>
        <p:nvSpPr>
          <p:cNvPr id="11" name="Shape 9"/>
          <p:cNvSpPr/>
          <p:nvPr/>
        </p:nvSpPr>
        <p:spPr>
          <a:xfrm>
            <a:off x="668971" y="5351770"/>
            <a:ext cx="100346" cy="100346"/>
          </a:xfrm>
          <a:custGeom>
            <a:avLst/>
            <a:gdLst/>
            <a:ahLst/>
            <a:cxnLst/>
            <a:rect l="l" t="t" r="r" b="b"/>
            <a:pathLst>
              <a:path w="100346" h="100346">
                <a:moveTo>
                  <a:pt x="50173" y="0"/>
                </a:moveTo>
                <a:lnTo>
                  <a:pt x="50173" y="0"/>
                </a:lnTo>
                <a:cubicBezTo>
                  <a:pt x="77864" y="0"/>
                  <a:pt x="100346" y="22482"/>
                  <a:pt x="100346" y="50173"/>
                </a:cubicBezTo>
                <a:lnTo>
                  <a:pt x="100346" y="50173"/>
                </a:lnTo>
                <a:cubicBezTo>
                  <a:pt x="100346" y="77864"/>
                  <a:pt x="77864" y="100346"/>
                  <a:pt x="50173" y="100346"/>
                </a:cubicBezTo>
                <a:lnTo>
                  <a:pt x="50173" y="100346"/>
                </a:lnTo>
                <a:cubicBezTo>
                  <a:pt x="22482" y="100346"/>
                  <a:pt x="0" y="77864"/>
                  <a:pt x="0" y="50173"/>
                </a:cubicBezTo>
                <a:lnTo>
                  <a:pt x="0" y="50173"/>
                </a:lnTo>
                <a:cubicBezTo>
                  <a:pt x="0" y="22482"/>
                  <a:pt x="22482" y="0"/>
                  <a:pt x="50173" y="0"/>
                </a:cubicBezTo>
                <a:close/>
              </a:path>
            </a:pathLst>
          </a:custGeom>
          <a:solidFill>
            <a:srgbClr val="D4A056"/>
          </a:solidFill>
          <a:ln/>
        </p:spPr>
      </p:sp>
      <p:sp>
        <p:nvSpPr>
          <p:cNvPr id="12" name="Text 10"/>
          <p:cNvSpPr/>
          <p:nvPr/>
        </p:nvSpPr>
        <p:spPr>
          <a:xfrm>
            <a:off x="836214" y="5318321"/>
            <a:ext cx="1931654" cy="167243"/>
          </a:xfrm>
          <a:prstGeom prst="rect">
            <a:avLst/>
          </a:prstGeom>
          <a:noFill/>
          <a:ln/>
        </p:spPr>
        <p:txBody>
          <a:bodyPr wrap="square" lIns="0" tIns="0" rIns="0" bIns="0" rtlCol="0" anchor="ctr"/>
          <a:lstStyle/>
          <a:p>
            <a:pPr>
              <a:lnSpc>
                <a:spcPct val="120000"/>
              </a:lnSpc>
            </a:pPr>
            <a:r>
              <a:rPr lang="en-US" sz="922" dirty="0">
                <a:solidFill>
                  <a:srgbClr val="F8F7F2"/>
                </a:solidFill>
                <a:latin typeface="Liter" pitchFamily="34" charset="0"/>
                <a:ea typeface="Liter" pitchFamily="34" charset="-122"/>
                <a:cs typeface="Liter" pitchFamily="34" charset="-120"/>
              </a:rPr>
              <a:t>Germination &amp; Seedling (Weeks 1-4)</a:t>
            </a:r>
            <a:endParaRPr lang="en-US" sz="1600" dirty="0"/>
          </a:p>
        </p:txBody>
      </p:sp>
      <p:sp>
        <p:nvSpPr>
          <p:cNvPr id="13" name="Shape 11"/>
          <p:cNvSpPr/>
          <p:nvPr/>
        </p:nvSpPr>
        <p:spPr>
          <a:xfrm>
            <a:off x="668971" y="5585909"/>
            <a:ext cx="100346" cy="100346"/>
          </a:xfrm>
          <a:custGeom>
            <a:avLst/>
            <a:gdLst/>
            <a:ahLst/>
            <a:cxnLst/>
            <a:rect l="l" t="t" r="r" b="b"/>
            <a:pathLst>
              <a:path w="100346" h="100346">
                <a:moveTo>
                  <a:pt x="50173" y="0"/>
                </a:moveTo>
                <a:lnTo>
                  <a:pt x="50173" y="0"/>
                </a:lnTo>
                <a:cubicBezTo>
                  <a:pt x="77864" y="0"/>
                  <a:pt x="100346" y="22482"/>
                  <a:pt x="100346" y="50173"/>
                </a:cubicBezTo>
                <a:lnTo>
                  <a:pt x="100346" y="50173"/>
                </a:lnTo>
                <a:cubicBezTo>
                  <a:pt x="100346" y="77864"/>
                  <a:pt x="77864" y="100346"/>
                  <a:pt x="50173" y="100346"/>
                </a:cubicBezTo>
                <a:lnTo>
                  <a:pt x="50173" y="100346"/>
                </a:lnTo>
                <a:cubicBezTo>
                  <a:pt x="22482" y="100346"/>
                  <a:pt x="0" y="77864"/>
                  <a:pt x="0" y="50173"/>
                </a:cubicBezTo>
                <a:lnTo>
                  <a:pt x="0" y="50173"/>
                </a:lnTo>
                <a:cubicBezTo>
                  <a:pt x="0" y="22482"/>
                  <a:pt x="22482" y="0"/>
                  <a:pt x="50173" y="0"/>
                </a:cubicBezTo>
                <a:close/>
              </a:path>
            </a:pathLst>
          </a:custGeom>
          <a:solidFill>
            <a:srgbClr val="D4A056"/>
          </a:solidFill>
          <a:ln/>
        </p:spPr>
      </p:sp>
      <p:sp>
        <p:nvSpPr>
          <p:cNvPr id="14" name="Text 12"/>
          <p:cNvSpPr/>
          <p:nvPr/>
        </p:nvSpPr>
        <p:spPr>
          <a:xfrm>
            <a:off x="836214" y="5552461"/>
            <a:ext cx="1747687" cy="167243"/>
          </a:xfrm>
          <a:prstGeom prst="rect">
            <a:avLst/>
          </a:prstGeom>
          <a:noFill/>
          <a:ln/>
        </p:spPr>
        <p:txBody>
          <a:bodyPr wrap="square" lIns="0" tIns="0" rIns="0" bIns="0" rtlCol="0" anchor="ctr"/>
          <a:lstStyle/>
          <a:p>
            <a:pPr>
              <a:lnSpc>
                <a:spcPct val="120000"/>
              </a:lnSpc>
            </a:pPr>
            <a:r>
              <a:rPr lang="en-US" sz="922" dirty="0">
                <a:solidFill>
                  <a:srgbClr val="F8F7F2"/>
                </a:solidFill>
                <a:latin typeface="Liter" pitchFamily="34" charset="0"/>
                <a:ea typeface="Liter" pitchFamily="34" charset="-122"/>
                <a:cs typeface="Liter" pitchFamily="34" charset="-120"/>
              </a:rPr>
              <a:t>Vegetative Growth (Weeks 5-12)</a:t>
            </a:r>
            <a:endParaRPr lang="en-US" sz="1600" dirty="0"/>
          </a:p>
        </p:txBody>
      </p:sp>
      <p:sp>
        <p:nvSpPr>
          <p:cNvPr id="15" name="Shape 13"/>
          <p:cNvSpPr/>
          <p:nvPr/>
        </p:nvSpPr>
        <p:spPr>
          <a:xfrm>
            <a:off x="668971" y="5820049"/>
            <a:ext cx="100346" cy="100346"/>
          </a:xfrm>
          <a:custGeom>
            <a:avLst/>
            <a:gdLst/>
            <a:ahLst/>
            <a:cxnLst/>
            <a:rect l="l" t="t" r="r" b="b"/>
            <a:pathLst>
              <a:path w="100346" h="100346">
                <a:moveTo>
                  <a:pt x="50173" y="0"/>
                </a:moveTo>
                <a:lnTo>
                  <a:pt x="50173" y="0"/>
                </a:lnTo>
                <a:cubicBezTo>
                  <a:pt x="77864" y="0"/>
                  <a:pt x="100346" y="22482"/>
                  <a:pt x="100346" y="50173"/>
                </a:cubicBezTo>
                <a:lnTo>
                  <a:pt x="100346" y="50173"/>
                </a:lnTo>
                <a:cubicBezTo>
                  <a:pt x="100346" y="77864"/>
                  <a:pt x="77864" y="100346"/>
                  <a:pt x="50173" y="100346"/>
                </a:cubicBezTo>
                <a:lnTo>
                  <a:pt x="50173" y="100346"/>
                </a:lnTo>
                <a:cubicBezTo>
                  <a:pt x="22482" y="100346"/>
                  <a:pt x="0" y="77864"/>
                  <a:pt x="0" y="50173"/>
                </a:cubicBezTo>
                <a:lnTo>
                  <a:pt x="0" y="50173"/>
                </a:lnTo>
                <a:cubicBezTo>
                  <a:pt x="0" y="22482"/>
                  <a:pt x="22482" y="0"/>
                  <a:pt x="50173" y="0"/>
                </a:cubicBezTo>
                <a:close/>
              </a:path>
            </a:pathLst>
          </a:custGeom>
          <a:solidFill>
            <a:srgbClr val="D4A056"/>
          </a:solidFill>
          <a:ln/>
        </p:spPr>
      </p:sp>
      <p:sp>
        <p:nvSpPr>
          <p:cNvPr id="16" name="Text 14"/>
          <p:cNvSpPr/>
          <p:nvPr/>
        </p:nvSpPr>
        <p:spPr>
          <a:xfrm>
            <a:off x="836214" y="5786601"/>
            <a:ext cx="1940016" cy="167243"/>
          </a:xfrm>
          <a:prstGeom prst="rect">
            <a:avLst/>
          </a:prstGeom>
          <a:noFill/>
          <a:ln/>
        </p:spPr>
        <p:txBody>
          <a:bodyPr wrap="square" lIns="0" tIns="0" rIns="0" bIns="0" rtlCol="0" anchor="ctr"/>
          <a:lstStyle/>
          <a:p>
            <a:pPr>
              <a:lnSpc>
                <a:spcPct val="120000"/>
              </a:lnSpc>
            </a:pPr>
            <a:r>
              <a:rPr lang="en-US" sz="922" dirty="0">
                <a:solidFill>
                  <a:srgbClr val="F8F7F2"/>
                </a:solidFill>
                <a:latin typeface="Liter" pitchFamily="34" charset="0"/>
                <a:ea typeface="Liter" pitchFamily="34" charset="-122"/>
                <a:cs typeface="Liter" pitchFamily="34" charset="-120"/>
              </a:rPr>
              <a:t>Flowering &amp; Fruit Set (Weeks 13-20)</a:t>
            </a:r>
            <a:endParaRPr lang="en-US" sz="1600" dirty="0"/>
          </a:p>
        </p:txBody>
      </p:sp>
      <p:sp>
        <p:nvSpPr>
          <p:cNvPr id="17" name="Shape 15"/>
          <p:cNvSpPr/>
          <p:nvPr/>
        </p:nvSpPr>
        <p:spPr>
          <a:xfrm>
            <a:off x="668971" y="6054189"/>
            <a:ext cx="100346" cy="100346"/>
          </a:xfrm>
          <a:custGeom>
            <a:avLst/>
            <a:gdLst/>
            <a:ahLst/>
            <a:cxnLst/>
            <a:rect l="l" t="t" r="r" b="b"/>
            <a:pathLst>
              <a:path w="100346" h="100346">
                <a:moveTo>
                  <a:pt x="50173" y="0"/>
                </a:moveTo>
                <a:lnTo>
                  <a:pt x="50173" y="0"/>
                </a:lnTo>
                <a:cubicBezTo>
                  <a:pt x="77864" y="0"/>
                  <a:pt x="100346" y="22482"/>
                  <a:pt x="100346" y="50173"/>
                </a:cubicBezTo>
                <a:lnTo>
                  <a:pt x="100346" y="50173"/>
                </a:lnTo>
                <a:cubicBezTo>
                  <a:pt x="100346" y="77864"/>
                  <a:pt x="77864" y="100346"/>
                  <a:pt x="50173" y="100346"/>
                </a:cubicBezTo>
                <a:lnTo>
                  <a:pt x="50173" y="100346"/>
                </a:lnTo>
                <a:cubicBezTo>
                  <a:pt x="22482" y="100346"/>
                  <a:pt x="0" y="77864"/>
                  <a:pt x="0" y="50173"/>
                </a:cubicBezTo>
                <a:lnTo>
                  <a:pt x="0" y="50173"/>
                </a:lnTo>
                <a:cubicBezTo>
                  <a:pt x="0" y="22482"/>
                  <a:pt x="22482" y="0"/>
                  <a:pt x="50173" y="0"/>
                </a:cubicBezTo>
                <a:close/>
              </a:path>
            </a:pathLst>
          </a:custGeom>
          <a:solidFill>
            <a:srgbClr val="D4A056"/>
          </a:solidFill>
          <a:ln/>
        </p:spPr>
      </p:sp>
      <p:sp>
        <p:nvSpPr>
          <p:cNvPr id="18" name="Text 16"/>
          <p:cNvSpPr/>
          <p:nvPr/>
        </p:nvSpPr>
        <p:spPr>
          <a:xfrm>
            <a:off x="836214" y="6020741"/>
            <a:ext cx="1613893" cy="167243"/>
          </a:xfrm>
          <a:prstGeom prst="rect">
            <a:avLst/>
          </a:prstGeom>
          <a:noFill/>
          <a:ln/>
        </p:spPr>
        <p:txBody>
          <a:bodyPr wrap="square" lIns="0" tIns="0" rIns="0" bIns="0" rtlCol="0" anchor="ctr"/>
          <a:lstStyle/>
          <a:p>
            <a:pPr>
              <a:lnSpc>
                <a:spcPct val="120000"/>
              </a:lnSpc>
            </a:pPr>
            <a:r>
              <a:rPr lang="en-US" sz="922" dirty="0">
                <a:solidFill>
                  <a:srgbClr val="F8F7F2"/>
                </a:solidFill>
                <a:latin typeface="Liter" pitchFamily="34" charset="0"/>
                <a:ea typeface="Liter" pitchFamily="34" charset="-122"/>
                <a:cs typeface="Liter" pitchFamily="34" charset="-120"/>
              </a:rPr>
              <a:t>Harvest Period (Weeks 21-32)</a:t>
            </a:r>
            <a:endParaRPr lang="en-US" sz="1600" dirty="0"/>
          </a:p>
        </p:txBody>
      </p:sp>
      <p:sp>
        <p:nvSpPr>
          <p:cNvPr id="19" name="Shape 17"/>
          <p:cNvSpPr/>
          <p:nvPr/>
        </p:nvSpPr>
        <p:spPr>
          <a:xfrm>
            <a:off x="3946930" y="334486"/>
            <a:ext cx="7910584" cy="2174156"/>
          </a:xfrm>
          <a:custGeom>
            <a:avLst/>
            <a:gdLst/>
            <a:ahLst/>
            <a:cxnLst/>
            <a:rect l="l" t="t" r="r" b="b"/>
            <a:pathLst>
              <a:path w="7910584" h="2174156">
                <a:moveTo>
                  <a:pt x="66899" y="0"/>
                </a:moveTo>
                <a:lnTo>
                  <a:pt x="7843686" y="0"/>
                </a:lnTo>
                <a:cubicBezTo>
                  <a:pt x="7880633" y="0"/>
                  <a:pt x="7910584" y="29952"/>
                  <a:pt x="7910584" y="66899"/>
                </a:cubicBezTo>
                <a:lnTo>
                  <a:pt x="7910584" y="2107258"/>
                </a:lnTo>
                <a:cubicBezTo>
                  <a:pt x="7910584" y="2144205"/>
                  <a:pt x="7880633" y="2174156"/>
                  <a:pt x="7843686" y="2174156"/>
                </a:cubicBezTo>
                <a:lnTo>
                  <a:pt x="66899" y="2174156"/>
                </a:lnTo>
                <a:cubicBezTo>
                  <a:pt x="29952" y="2174156"/>
                  <a:pt x="0" y="2144205"/>
                  <a:pt x="0" y="2107258"/>
                </a:cubicBezTo>
                <a:lnTo>
                  <a:pt x="0" y="66899"/>
                </a:lnTo>
                <a:cubicBezTo>
                  <a:pt x="0" y="29976"/>
                  <a:pt x="29976" y="0"/>
                  <a:pt x="66899" y="0"/>
                </a:cubicBezTo>
                <a:close/>
              </a:path>
            </a:pathLst>
          </a:custGeom>
          <a:solidFill>
            <a:srgbClr val="FFFFFF"/>
          </a:solidFill>
          <a:ln/>
          <a:effectLst>
            <a:outerShdw sx="100000" sy="100000" kx="0" ky="0" algn="bl" rotWithShape="0" blurRad="50173" dist="33449" dir="5400000">
              <a:srgbClr val="000000">
                <a:alpha val="10196"/>
              </a:srgbClr>
            </a:outerShdw>
          </a:effectLst>
        </p:spPr>
      </p:sp>
      <p:sp>
        <p:nvSpPr>
          <p:cNvPr id="20" name="Shape 18"/>
          <p:cNvSpPr/>
          <p:nvPr/>
        </p:nvSpPr>
        <p:spPr>
          <a:xfrm>
            <a:off x="4147621" y="535177"/>
            <a:ext cx="401383" cy="401383"/>
          </a:xfrm>
          <a:custGeom>
            <a:avLst/>
            <a:gdLst/>
            <a:ahLst/>
            <a:cxnLst/>
            <a:rect l="l" t="t" r="r" b="b"/>
            <a:pathLst>
              <a:path w="401383" h="401383">
                <a:moveTo>
                  <a:pt x="66898" y="0"/>
                </a:moveTo>
                <a:lnTo>
                  <a:pt x="334484" y="0"/>
                </a:lnTo>
                <a:cubicBezTo>
                  <a:pt x="371407" y="0"/>
                  <a:pt x="401383" y="29976"/>
                  <a:pt x="401383" y="66898"/>
                </a:cubicBezTo>
                <a:lnTo>
                  <a:pt x="401383" y="334484"/>
                </a:lnTo>
                <a:cubicBezTo>
                  <a:pt x="401383" y="371407"/>
                  <a:pt x="371407" y="401383"/>
                  <a:pt x="334484" y="401383"/>
                </a:cubicBezTo>
                <a:lnTo>
                  <a:pt x="66898" y="401383"/>
                </a:lnTo>
                <a:cubicBezTo>
                  <a:pt x="29976" y="401383"/>
                  <a:pt x="0" y="371407"/>
                  <a:pt x="0" y="334484"/>
                </a:cubicBezTo>
                <a:lnTo>
                  <a:pt x="0" y="66898"/>
                </a:lnTo>
                <a:cubicBezTo>
                  <a:pt x="0" y="29976"/>
                  <a:pt x="29976" y="0"/>
                  <a:pt x="66898" y="0"/>
                </a:cubicBezTo>
                <a:close/>
              </a:path>
            </a:pathLst>
          </a:custGeom>
          <a:solidFill>
            <a:srgbClr val="4A5D52"/>
          </a:solidFill>
          <a:ln/>
        </p:spPr>
      </p:sp>
      <p:sp>
        <p:nvSpPr>
          <p:cNvPr id="21" name="Shape 19"/>
          <p:cNvSpPr/>
          <p:nvPr/>
        </p:nvSpPr>
        <p:spPr>
          <a:xfrm>
            <a:off x="4264691" y="652247"/>
            <a:ext cx="167243" cy="167243"/>
          </a:xfrm>
          <a:custGeom>
            <a:avLst/>
            <a:gdLst/>
            <a:ahLst/>
            <a:cxnLst/>
            <a:rect l="l" t="t" r="r" b="b"/>
            <a:pathLst>
              <a:path w="167243" h="167243">
                <a:moveTo>
                  <a:pt x="83621" y="35245"/>
                </a:moveTo>
                <a:lnTo>
                  <a:pt x="78722" y="28451"/>
                </a:lnTo>
                <a:cubicBezTo>
                  <a:pt x="70556" y="17149"/>
                  <a:pt x="57457" y="10453"/>
                  <a:pt x="43477" y="10453"/>
                </a:cubicBezTo>
                <a:cubicBezTo>
                  <a:pt x="19468" y="10453"/>
                  <a:pt x="0" y="29921"/>
                  <a:pt x="0" y="53929"/>
                </a:cubicBezTo>
                <a:lnTo>
                  <a:pt x="0" y="54779"/>
                </a:lnTo>
                <a:cubicBezTo>
                  <a:pt x="0" y="62487"/>
                  <a:pt x="2025" y="70458"/>
                  <a:pt x="5422" y="78395"/>
                </a:cubicBezTo>
                <a:lnTo>
                  <a:pt x="40047" y="78395"/>
                </a:lnTo>
                <a:cubicBezTo>
                  <a:pt x="41092" y="78395"/>
                  <a:pt x="42039" y="77774"/>
                  <a:pt x="42464" y="76794"/>
                </a:cubicBezTo>
                <a:lnTo>
                  <a:pt x="52851" y="51871"/>
                </a:lnTo>
                <a:cubicBezTo>
                  <a:pt x="54060" y="48997"/>
                  <a:pt x="56869" y="47102"/>
                  <a:pt x="59972" y="47037"/>
                </a:cubicBezTo>
                <a:cubicBezTo>
                  <a:pt x="63075" y="46972"/>
                  <a:pt x="65950" y="48801"/>
                  <a:pt x="67224" y="51643"/>
                </a:cubicBezTo>
                <a:lnTo>
                  <a:pt x="83981" y="88848"/>
                </a:lnTo>
                <a:lnTo>
                  <a:pt x="97504" y="61801"/>
                </a:lnTo>
                <a:cubicBezTo>
                  <a:pt x="98843" y="59156"/>
                  <a:pt x="101554" y="57457"/>
                  <a:pt x="104527" y="57457"/>
                </a:cubicBezTo>
                <a:cubicBezTo>
                  <a:pt x="107499" y="57457"/>
                  <a:pt x="110210" y="59123"/>
                  <a:pt x="111550" y="61801"/>
                </a:cubicBezTo>
                <a:lnTo>
                  <a:pt x="119128" y="76925"/>
                </a:lnTo>
                <a:cubicBezTo>
                  <a:pt x="119585" y="77807"/>
                  <a:pt x="120467" y="78362"/>
                  <a:pt x="121480" y="78362"/>
                </a:cubicBezTo>
                <a:lnTo>
                  <a:pt x="161853" y="78362"/>
                </a:lnTo>
                <a:cubicBezTo>
                  <a:pt x="165283" y="70425"/>
                  <a:pt x="167275" y="62455"/>
                  <a:pt x="167275" y="54746"/>
                </a:cubicBezTo>
                <a:lnTo>
                  <a:pt x="167275" y="53897"/>
                </a:lnTo>
                <a:cubicBezTo>
                  <a:pt x="167243" y="29921"/>
                  <a:pt x="147775" y="10453"/>
                  <a:pt x="123766" y="10453"/>
                </a:cubicBezTo>
                <a:cubicBezTo>
                  <a:pt x="109818" y="10453"/>
                  <a:pt x="96687" y="17149"/>
                  <a:pt x="88521" y="28451"/>
                </a:cubicBezTo>
                <a:lnTo>
                  <a:pt x="83621" y="35212"/>
                </a:lnTo>
                <a:close/>
                <a:moveTo>
                  <a:pt x="153393" y="94074"/>
                </a:moveTo>
                <a:lnTo>
                  <a:pt x="121447" y="94074"/>
                </a:lnTo>
                <a:cubicBezTo>
                  <a:pt x="114522" y="94074"/>
                  <a:pt x="108185" y="90154"/>
                  <a:pt x="105082" y="83948"/>
                </a:cubicBezTo>
                <a:lnTo>
                  <a:pt x="104527" y="82837"/>
                </a:lnTo>
                <a:lnTo>
                  <a:pt x="90644" y="110635"/>
                </a:lnTo>
                <a:cubicBezTo>
                  <a:pt x="89305" y="113346"/>
                  <a:pt x="86496" y="115045"/>
                  <a:pt x="83458" y="114979"/>
                </a:cubicBezTo>
                <a:cubicBezTo>
                  <a:pt x="80420" y="114914"/>
                  <a:pt x="77709" y="113118"/>
                  <a:pt x="76468" y="110374"/>
                </a:cubicBezTo>
                <a:lnTo>
                  <a:pt x="60364" y="74606"/>
                </a:lnTo>
                <a:lnTo>
                  <a:pt x="56934" y="82837"/>
                </a:lnTo>
                <a:cubicBezTo>
                  <a:pt x="54093" y="89664"/>
                  <a:pt x="47429" y="94107"/>
                  <a:pt x="40047" y="94107"/>
                </a:cubicBezTo>
                <a:lnTo>
                  <a:pt x="13850" y="94107"/>
                </a:lnTo>
                <a:cubicBezTo>
                  <a:pt x="29267" y="118213"/>
                  <a:pt x="54027" y="140392"/>
                  <a:pt x="69510" y="152217"/>
                </a:cubicBezTo>
                <a:cubicBezTo>
                  <a:pt x="73561" y="155288"/>
                  <a:pt x="78526" y="156823"/>
                  <a:pt x="83589" y="156823"/>
                </a:cubicBezTo>
                <a:cubicBezTo>
                  <a:pt x="88652" y="156823"/>
                  <a:pt x="93649" y="155320"/>
                  <a:pt x="97667" y="152217"/>
                </a:cubicBezTo>
                <a:cubicBezTo>
                  <a:pt x="113216" y="140360"/>
                  <a:pt x="137975" y="118181"/>
                  <a:pt x="153393" y="94074"/>
                </a:cubicBezTo>
                <a:close/>
              </a:path>
            </a:pathLst>
          </a:custGeom>
          <a:solidFill>
            <a:srgbClr val="F8F7F2"/>
          </a:solidFill>
          <a:ln/>
        </p:spPr>
      </p:sp>
      <p:sp>
        <p:nvSpPr>
          <p:cNvPr id="22" name="Text 20"/>
          <p:cNvSpPr/>
          <p:nvPr/>
        </p:nvSpPr>
        <p:spPr>
          <a:xfrm>
            <a:off x="4649350" y="606255"/>
            <a:ext cx="2667523" cy="259226"/>
          </a:xfrm>
          <a:prstGeom prst="rect">
            <a:avLst/>
          </a:prstGeom>
          <a:noFill/>
          <a:ln/>
        </p:spPr>
        <p:txBody>
          <a:bodyPr wrap="square" lIns="0" tIns="0" rIns="0" bIns="0" rtlCol="0" anchor="ctr"/>
          <a:lstStyle/>
          <a:p>
            <a:pPr>
              <a:lnSpc>
                <a:spcPct val="110000"/>
              </a:lnSpc>
            </a:pPr>
            <a:r>
              <a:rPr lang="en-US" sz="1580" b="1" dirty="0">
                <a:solidFill>
                  <a:srgbClr val="4A5D52"/>
                </a:solidFill>
                <a:latin typeface="Unna" pitchFamily="34" charset="0"/>
                <a:ea typeface="Unna" pitchFamily="34" charset="-122"/>
                <a:cs typeface="Unna" pitchFamily="34" charset="-120"/>
              </a:rPr>
              <a:t>Daily Plant Health Monitoring</a:t>
            </a:r>
            <a:endParaRPr lang="en-US" sz="1600" dirty="0"/>
          </a:p>
        </p:txBody>
      </p:sp>
      <p:sp>
        <p:nvSpPr>
          <p:cNvPr id="23" name="Shape 21"/>
          <p:cNvSpPr/>
          <p:nvPr/>
        </p:nvSpPr>
        <p:spPr>
          <a:xfrm>
            <a:off x="4147621" y="1070354"/>
            <a:ext cx="3704428" cy="568626"/>
          </a:xfrm>
          <a:custGeom>
            <a:avLst/>
            <a:gdLst/>
            <a:ahLst/>
            <a:cxnLst/>
            <a:rect l="l" t="t" r="r" b="b"/>
            <a:pathLst>
              <a:path w="3704428" h="568626">
                <a:moveTo>
                  <a:pt x="66899" y="0"/>
                </a:moveTo>
                <a:lnTo>
                  <a:pt x="3637529" y="0"/>
                </a:lnTo>
                <a:cubicBezTo>
                  <a:pt x="3674476" y="0"/>
                  <a:pt x="3704428" y="29952"/>
                  <a:pt x="3704428" y="66899"/>
                </a:cubicBezTo>
                <a:lnTo>
                  <a:pt x="3704428" y="501727"/>
                </a:lnTo>
                <a:cubicBezTo>
                  <a:pt x="3704428" y="538674"/>
                  <a:pt x="3674476" y="568626"/>
                  <a:pt x="3637529" y="568626"/>
                </a:cubicBezTo>
                <a:lnTo>
                  <a:pt x="66899" y="568626"/>
                </a:lnTo>
                <a:cubicBezTo>
                  <a:pt x="29952" y="568626"/>
                  <a:pt x="0" y="538674"/>
                  <a:pt x="0" y="501727"/>
                </a:cubicBezTo>
                <a:lnTo>
                  <a:pt x="0" y="66899"/>
                </a:lnTo>
                <a:cubicBezTo>
                  <a:pt x="0" y="29976"/>
                  <a:pt x="29976" y="0"/>
                  <a:pt x="66899" y="0"/>
                </a:cubicBezTo>
                <a:close/>
              </a:path>
            </a:pathLst>
          </a:custGeom>
          <a:solidFill>
            <a:srgbClr val="4A5D52">
              <a:alpha val="5098"/>
            </a:srgbClr>
          </a:solidFill>
          <a:ln/>
        </p:spPr>
      </p:sp>
      <p:sp>
        <p:nvSpPr>
          <p:cNvPr id="24" name="Shape 22"/>
          <p:cNvSpPr/>
          <p:nvPr/>
        </p:nvSpPr>
        <p:spPr>
          <a:xfrm>
            <a:off x="4259465" y="1204148"/>
            <a:ext cx="169333" cy="150519"/>
          </a:xfrm>
          <a:custGeom>
            <a:avLst/>
            <a:gdLst/>
            <a:ahLst/>
            <a:cxnLst/>
            <a:rect l="l" t="t" r="r" b="b"/>
            <a:pathLst>
              <a:path w="169333" h="150519">
                <a:moveTo>
                  <a:pt x="84667" y="9407"/>
                </a:moveTo>
                <a:cubicBezTo>
                  <a:pt x="60913" y="9407"/>
                  <a:pt x="41892" y="20226"/>
                  <a:pt x="28046" y="33102"/>
                </a:cubicBezTo>
                <a:cubicBezTo>
                  <a:pt x="14288" y="45891"/>
                  <a:pt x="5086" y="61148"/>
                  <a:pt x="706" y="71643"/>
                </a:cubicBezTo>
                <a:cubicBezTo>
                  <a:pt x="-265" y="73966"/>
                  <a:pt x="-265" y="76553"/>
                  <a:pt x="706" y="78875"/>
                </a:cubicBezTo>
                <a:cubicBezTo>
                  <a:pt x="5086" y="89370"/>
                  <a:pt x="14288" y="104657"/>
                  <a:pt x="28046" y="117416"/>
                </a:cubicBezTo>
                <a:cubicBezTo>
                  <a:pt x="41892" y="130263"/>
                  <a:pt x="60913" y="141111"/>
                  <a:pt x="84667" y="141111"/>
                </a:cubicBezTo>
                <a:cubicBezTo>
                  <a:pt x="108420" y="141111"/>
                  <a:pt x="127441" y="130293"/>
                  <a:pt x="141288" y="117416"/>
                </a:cubicBezTo>
                <a:cubicBezTo>
                  <a:pt x="155046" y="104628"/>
                  <a:pt x="164247" y="89370"/>
                  <a:pt x="168628" y="78875"/>
                </a:cubicBezTo>
                <a:cubicBezTo>
                  <a:pt x="169598" y="76553"/>
                  <a:pt x="169598" y="73966"/>
                  <a:pt x="168628" y="71643"/>
                </a:cubicBezTo>
                <a:cubicBezTo>
                  <a:pt x="164247" y="61148"/>
                  <a:pt x="155046" y="45861"/>
                  <a:pt x="141288" y="33102"/>
                </a:cubicBezTo>
                <a:cubicBezTo>
                  <a:pt x="127441" y="20255"/>
                  <a:pt x="108420" y="9407"/>
                  <a:pt x="84667" y="9407"/>
                </a:cubicBezTo>
                <a:close/>
                <a:moveTo>
                  <a:pt x="42333" y="75259"/>
                </a:moveTo>
                <a:cubicBezTo>
                  <a:pt x="42333" y="51895"/>
                  <a:pt x="61302" y="32926"/>
                  <a:pt x="84667" y="32926"/>
                </a:cubicBezTo>
                <a:cubicBezTo>
                  <a:pt x="108031" y="32926"/>
                  <a:pt x="127000" y="51895"/>
                  <a:pt x="127000" y="75259"/>
                </a:cubicBezTo>
                <a:cubicBezTo>
                  <a:pt x="127000" y="98624"/>
                  <a:pt x="108031" y="117593"/>
                  <a:pt x="84667" y="117593"/>
                </a:cubicBezTo>
                <a:cubicBezTo>
                  <a:pt x="61302" y="117593"/>
                  <a:pt x="42333" y="98624"/>
                  <a:pt x="42333" y="75259"/>
                </a:cubicBezTo>
                <a:close/>
                <a:moveTo>
                  <a:pt x="84667" y="56444"/>
                </a:moveTo>
                <a:cubicBezTo>
                  <a:pt x="84667" y="66822"/>
                  <a:pt x="76229" y="75259"/>
                  <a:pt x="65852" y="75259"/>
                </a:cubicBezTo>
                <a:cubicBezTo>
                  <a:pt x="62471" y="75259"/>
                  <a:pt x="59296" y="74377"/>
                  <a:pt x="56533" y="72790"/>
                </a:cubicBezTo>
                <a:cubicBezTo>
                  <a:pt x="56239" y="75994"/>
                  <a:pt x="56503" y="79287"/>
                  <a:pt x="57385" y="82550"/>
                </a:cubicBezTo>
                <a:cubicBezTo>
                  <a:pt x="61413" y="97602"/>
                  <a:pt x="76906" y="106539"/>
                  <a:pt x="91957" y="102511"/>
                </a:cubicBezTo>
                <a:cubicBezTo>
                  <a:pt x="107009" y="98484"/>
                  <a:pt x="115946" y="82991"/>
                  <a:pt x="111919" y="67939"/>
                </a:cubicBezTo>
                <a:cubicBezTo>
                  <a:pt x="108332" y="54504"/>
                  <a:pt x="95603" y="45949"/>
                  <a:pt x="82197" y="47125"/>
                </a:cubicBezTo>
                <a:cubicBezTo>
                  <a:pt x="83755" y="49859"/>
                  <a:pt x="84667" y="53034"/>
                  <a:pt x="84667" y="56444"/>
                </a:cubicBezTo>
                <a:close/>
              </a:path>
            </a:pathLst>
          </a:custGeom>
          <a:solidFill>
            <a:srgbClr val="4A5D52"/>
          </a:solidFill>
          <a:ln/>
        </p:spPr>
      </p:sp>
      <p:sp>
        <p:nvSpPr>
          <p:cNvPr id="25" name="Text 23"/>
          <p:cNvSpPr/>
          <p:nvPr/>
        </p:nvSpPr>
        <p:spPr>
          <a:xfrm>
            <a:off x="4536461" y="1170700"/>
            <a:ext cx="2241053" cy="200691"/>
          </a:xfrm>
          <a:prstGeom prst="rect">
            <a:avLst/>
          </a:prstGeom>
          <a:noFill/>
          <a:ln/>
        </p:spPr>
        <p:txBody>
          <a:bodyPr wrap="square" lIns="0" tIns="0" rIns="0" bIns="0" rtlCol="0" anchor="ctr"/>
          <a:lstStyle/>
          <a:p>
            <a:pPr>
              <a:lnSpc>
                <a:spcPct val="130000"/>
              </a:lnSpc>
            </a:pPr>
            <a:r>
              <a:rPr lang="en-US" sz="1053" b="1" dirty="0">
                <a:solidFill>
                  <a:srgbClr val="2C3531"/>
                </a:solidFill>
                <a:latin typeface="Liter" pitchFamily="34" charset="0"/>
                <a:ea typeface="Liter" pitchFamily="34" charset="-122"/>
                <a:cs typeface="Liter" pitchFamily="34" charset="-120"/>
              </a:rPr>
              <a:t>Visual Inspection</a:t>
            </a:r>
            <a:endParaRPr lang="en-US" sz="1600" dirty="0"/>
          </a:p>
        </p:txBody>
      </p:sp>
      <p:sp>
        <p:nvSpPr>
          <p:cNvPr id="26" name="Text 24"/>
          <p:cNvSpPr/>
          <p:nvPr/>
        </p:nvSpPr>
        <p:spPr>
          <a:xfrm>
            <a:off x="4536461" y="1371391"/>
            <a:ext cx="2232691" cy="167243"/>
          </a:xfrm>
          <a:prstGeom prst="rect">
            <a:avLst/>
          </a:prstGeom>
          <a:noFill/>
          <a:ln/>
        </p:spPr>
        <p:txBody>
          <a:bodyPr wrap="square" lIns="0" tIns="0" rIns="0" bIns="0" rtlCol="0" anchor="ctr"/>
          <a:lstStyle/>
          <a:p>
            <a:pPr>
              <a:lnSpc>
                <a:spcPct val="120000"/>
              </a:lnSpc>
            </a:pPr>
            <a:r>
              <a:rPr lang="en-US" sz="922" dirty="0">
                <a:solidFill>
                  <a:srgbClr val="2C3531">
                    <a:alpha val="70000"/>
                  </a:srgbClr>
                </a:solidFill>
                <a:latin typeface="Liter" pitchFamily="34" charset="0"/>
                <a:ea typeface="Liter" pitchFamily="34" charset="-122"/>
                <a:cs typeface="Liter" pitchFamily="34" charset="-120"/>
              </a:rPr>
              <a:t>Check for signs of disease, pests, or stress</a:t>
            </a:r>
            <a:endParaRPr lang="en-US" sz="1600" dirty="0"/>
          </a:p>
        </p:txBody>
      </p:sp>
      <p:sp>
        <p:nvSpPr>
          <p:cNvPr id="27" name="Shape 25"/>
          <p:cNvSpPr/>
          <p:nvPr/>
        </p:nvSpPr>
        <p:spPr>
          <a:xfrm>
            <a:off x="7951350" y="1070354"/>
            <a:ext cx="3704428" cy="568626"/>
          </a:xfrm>
          <a:custGeom>
            <a:avLst/>
            <a:gdLst/>
            <a:ahLst/>
            <a:cxnLst/>
            <a:rect l="l" t="t" r="r" b="b"/>
            <a:pathLst>
              <a:path w="3704428" h="568626">
                <a:moveTo>
                  <a:pt x="66899" y="0"/>
                </a:moveTo>
                <a:lnTo>
                  <a:pt x="3637529" y="0"/>
                </a:lnTo>
                <a:cubicBezTo>
                  <a:pt x="3674476" y="0"/>
                  <a:pt x="3704428" y="29952"/>
                  <a:pt x="3704428" y="66899"/>
                </a:cubicBezTo>
                <a:lnTo>
                  <a:pt x="3704428" y="501727"/>
                </a:lnTo>
                <a:cubicBezTo>
                  <a:pt x="3704428" y="538674"/>
                  <a:pt x="3674476" y="568626"/>
                  <a:pt x="3637529" y="568626"/>
                </a:cubicBezTo>
                <a:lnTo>
                  <a:pt x="66899" y="568626"/>
                </a:lnTo>
                <a:cubicBezTo>
                  <a:pt x="29952" y="568626"/>
                  <a:pt x="0" y="538674"/>
                  <a:pt x="0" y="501727"/>
                </a:cubicBezTo>
                <a:lnTo>
                  <a:pt x="0" y="66899"/>
                </a:lnTo>
                <a:cubicBezTo>
                  <a:pt x="0" y="29976"/>
                  <a:pt x="29976" y="0"/>
                  <a:pt x="66899" y="0"/>
                </a:cubicBezTo>
                <a:close/>
              </a:path>
            </a:pathLst>
          </a:custGeom>
          <a:solidFill>
            <a:srgbClr val="A88B6A">
              <a:alpha val="5098"/>
            </a:srgbClr>
          </a:solidFill>
          <a:ln/>
        </p:spPr>
      </p:sp>
      <p:sp>
        <p:nvSpPr>
          <p:cNvPr id="28" name="Shape 26"/>
          <p:cNvSpPr/>
          <p:nvPr/>
        </p:nvSpPr>
        <p:spPr>
          <a:xfrm>
            <a:off x="8110230" y="1204148"/>
            <a:ext cx="75259" cy="150519"/>
          </a:xfrm>
          <a:custGeom>
            <a:avLst/>
            <a:gdLst/>
            <a:ahLst/>
            <a:cxnLst/>
            <a:rect l="l" t="t" r="r" b="b"/>
            <a:pathLst>
              <a:path w="75259" h="150519">
                <a:moveTo>
                  <a:pt x="0" y="4704"/>
                </a:moveTo>
                <a:cubicBezTo>
                  <a:pt x="0" y="-3087"/>
                  <a:pt x="6321" y="-9407"/>
                  <a:pt x="14111" y="-9407"/>
                </a:cubicBezTo>
                <a:lnTo>
                  <a:pt x="61148" y="-9407"/>
                </a:lnTo>
                <a:cubicBezTo>
                  <a:pt x="68939" y="-9407"/>
                  <a:pt x="75259" y="-3087"/>
                  <a:pt x="75259" y="4704"/>
                </a:cubicBezTo>
                <a:lnTo>
                  <a:pt x="75259" y="11759"/>
                </a:lnTo>
                <a:lnTo>
                  <a:pt x="44685" y="11759"/>
                </a:lnTo>
                <a:cubicBezTo>
                  <a:pt x="40775" y="11759"/>
                  <a:pt x="37630" y="14905"/>
                  <a:pt x="37630" y="18815"/>
                </a:cubicBezTo>
                <a:cubicBezTo>
                  <a:pt x="37630" y="22725"/>
                  <a:pt x="40775" y="25870"/>
                  <a:pt x="44685" y="25870"/>
                </a:cubicBezTo>
                <a:lnTo>
                  <a:pt x="75259" y="25870"/>
                </a:lnTo>
                <a:lnTo>
                  <a:pt x="75259" y="39981"/>
                </a:lnTo>
                <a:lnTo>
                  <a:pt x="54093" y="39981"/>
                </a:lnTo>
                <a:cubicBezTo>
                  <a:pt x="50183" y="39981"/>
                  <a:pt x="47037" y="43127"/>
                  <a:pt x="47037" y="47037"/>
                </a:cubicBezTo>
                <a:cubicBezTo>
                  <a:pt x="47037" y="50947"/>
                  <a:pt x="50183" y="54093"/>
                  <a:pt x="54093" y="54093"/>
                </a:cubicBezTo>
                <a:lnTo>
                  <a:pt x="75259" y="54093"/>
                </a:lnTo>
                <a:lnTo>
                  <a:pt x="75259" y="68204"/>
                </a:lnTo>
                <a:lnTo>
                  <a:pt x="44685" y="68204"/>
                </a:lnTo>
                <a:cubicBezTo>
                  <a:pt x="40775" y="68204"/>
                  <a:pt x="37630" y="71349"/>
                  <a:pt x="37630" y="75259"/>
                </a:cubicBezTo>
                <a:cubicBezTo>
                  <a:pt x="37630" y="79169"/>
                  <a:pt x="40775" y="82315"/>
                  <a:pt x="44685" y="82315"/>
                </a:cubicBezTo>
                <a:lnTo>
                  <a:pt x="75259" y="82315"/>
                </a:lnTo>
                <a:lnTo>
                  <a:pt x="75259" y="96426"/>
                </a:lnTo>
                <a:lnTo>
                  <a:pt x="54093" y="96426"/>
                </a:lnTo>
                <a:cubicBezTo>
                  <a:pt x="50183" y="96426"/>
                  <a:pt x="47037" y="99572"/>
                  <a:pt x="47037" y="103481"/>
                </a:cubicBezTo>
                <a:cubicBezTo>
                  <a:pt x="47037" y="107391"/>
                  <a:pt x="50183" y="110537"/>
                  <a:pt x="54093" y="110537"/>
                </a:cubicBezTo>
                <a:lnTo>
                  <a:pt x="75259" y="110537"/>
                </a:lnTo>
                <a:lnTo>
                  <a:pt x="75259" y="124648"/>
                </a:lnTo>
                <a:lnTo>
                  <a:pt x="44685" y="124648"/>
                </a:lnTo>
                <a:cubicBezTo>
                  <a:pt x="40775" y="124648"/>
                  <a:pt x="37630" y="127794"/>
                  <a:pt x="37630" y="131704"/>
                </a:cubicBezTo>
                <a:cubicBezTo>
                  <a:pt x="37630" y="135614"/>
                  <a:pt x="40775" y="138759"/>
                  <a:pt x="44685" y="138759"/>
                </a:cubicBezTo>
                <a:lnTo>
                  <a:pt x="75259" y="138759"/>
                </a:lnTo>
                <a:lnTo>
                  <a:pt x="75259" y="145815"/>
                </a:lnTo>
                <a:cubicBezTo>
                  <a:pt x="75259" y="153605"/>
                  <a:pt x="68939" y="159926"/>
                  <a:pt x="61148" y="159926"/>
                </a:cubicBezTo>
                <a:lnTo>
                  <a:pt x="14111" y="159926"/>
                </a:lnTo>
                <a:cubicBezTo>
                  <a:pt x="6321" y="159926"/>
                  <a:pt x="0" y="153605"/>
                  <a:pt x="0" y="145815"/>
                </a:cubicBezTo>
                <a:lnTo>
                  <a:pt x="0" y="4704"/>
                </a:lnTo>
                <a:close/>
              </a:path>
            </a:pathLst>
          </a:custGeom>
          <a:solidFill>
            <a:srgbClr val="A88B6A"/>
          </a:solidFill>
          <a:ln/>
        </p:spPr>
      </p:sp>
      <p:sp>
        <p:nvSpPr>
          <p:cNvPr id="29" name="Text 27"/>
          <p:cNvSpPr/>
          <p:nvPr/>
        </p:nvSpPr>
        <p:spPr>
          <a:xfrm>
            <a:off x="8340189" y="1170700"/>
            <a:ext cx="3110716" cy="200691"/>
          </a:xfrm>
          <a:prstGeom prst="rect">
            <a:avLst/>
          </a:prstGeom>
          <a:noFill/>
          <a:ln/>
        </p:spPr>
        <p:txBody>
          <a:bodyPr wrap="square" lIns="0" tIns="0" rIns="0" bIns="0" rtlCol="0" anchor="ctr"/>
          <a:lstStyle/>
          <a:p>
            <a:pPr>
              <a:lnSpc>
                <a:spcPct val="130000"/>
              </a:lnSpc>
            </a:pPr>
            <a:r>
              <a:rPr lang="en-US" sz="1053" b="1" dirty="0">
                <a:solidFill>
                  <a:srgbClr val="2C3531"/>
                </a:solidFill>
                <a:latin typeface="Liter" pitchFamily="34" charset="0"/>
                <a:ea typeface="Liter" pitchFamily="34" charset="-122"/>
                <a:cs typeface="Liter" pitchFamily="34" charset="-120"/>
              </a:rPr>
              <a:t>Growth Tracking</a:t>
            </a:r>
            <a:endParaRPr lang="en-US" sz="1600" dirty="0"/>
          </a:p>
        </p:txBody>
      </p:sp>
      <p:sp>
        <p:nvSpPr>
          <p:cNvPr id="30" name="Text 28"/>
          <p:cNvSpPr/>
          <p:nvPr/>
        </p:nvSpPr>
        <p:spPr>
          <a:xfrm>
            <a:off x="8340189" y="1371391"/>
            <a:ext cx="3102354" cy="167243"/>
          </a:xfrm>
          <a:prstGeom prst="rect">
            <a:avLst/>
          </a:prstGeom>
          <a:noFill/>
          <a:ln/>
        </p:spPr>
        <p:txBody>
          <a:bodyPr wrap="square" lIns="0" tIns="0" rIns="0" bIns="0" rtlCol="0" anchor="ctr"/>
          <a:lstStyle/>
          <a:p>
            <a:pPr>
              <a:lnSpc>
                <a:spcPct val="120000"/>
              </a:lnSpc>
            </a:pPr>
            <a:r>
              <a:rPr lang="en-US" sz="922" dirty="0">
                <a:solidFill>
                  <a:srgbClr val="2C3531">
                    <a:alpha val="70000"/>
                  </a:srgbClr>
                </a:solidFill>
                <a:latin typeface="Liter" pitchFamily="34" charset="0"/>
                <a:ea typeface="Liter" pitchFamily="34" charset="-122"/>
                <a:cs typeface="Liter" pitchFamily="34" charset="-120"/>
              </a:rPr>
              <a:t>Monitor plant height, leaf development, and fruit production</a:t>
            </a:r>
            <a:endParaRPr lang="en-US" sz="1600" dirty="0"/>
          </a:p>
        </p:txBody>
      </p:sp>
      <p:sp>
        <p:nvSpPr>
          <p:cNvPr id="31" name="Shape 29"/>
          <p:cNvSpPr/>
          <p:nvPr/>
        </p:nvSpPr>
        <p:spPr>
          <a:xfrm>
            <a:off x="4147621" y="1739325"/>
            <a:ext cx="3704428" cy="568626"/>
          </a:xfrm>
          <a:custGeom>
            <a:avLst/>
            <a:gdLst/>
            <a:ahLst/>
            <a:cxnLst/>
            <a:rect l="l" t="t" r="r" b="b"/>
            <a:pathLst>
              <a:path w="3704428" h="568626">
                <a:moveTo>
                  <a:pt x="66899" y="0"/>
                </a:moveTo>
                <a:lnTo>
                  <a:pt x="3637529" y="0"/>
                </a:lnTo>
                <a:cubicBezTo>
                  <a:pt x="3674476" y="0"/>
                  <a:pt x="3704428" y="29952"/>
                  <a:pt x="3704428" y="66899"/>
                </a:cubicBezTo>
                <a:lnTo>
                  <a:pt x="3704428" y="501727"/>
                </a:lnTo>
                <a:cubicBezTo>
                  <a:pt x="3704428" y="538674"/>
                  <a:pt x="3674476" y="568626"/>
                  <a:pt x="3637529" y="568626"/>
                </a:cubicBezTo>
                <a:lnTo>
                  <a:pt x="66899" y="568626"/>
                </a:lnTo>
                <a:cubicBezTo>
                  <a:pt x="29952" y="568626"/>
                  <a:pt x="0" y="538674"/>
                  <a:pt x="0" y="501727"/>
                </a:cubicBezTo>
                <a:lnTo>
                  <a:pt x="0" y="66899"/>
                </a:lnTo>
                <a:cubicBezTo>
                  <a:pt x="0" y="29976"/>
                  <a:pt x="29976" y="0"/>
                  <a:pt x="66899" y="0"/>
                </a:cubicBezTo>
                <a:close/>
              </a:path>
            </a:pathLst>
          </a:custGeom>
          <a:solidFill>
            <a:srgbClr val="D4A056">
              <a:alpha val="5098"/>
            </a:srgbClr>
          </a:solidFill>
          <a:ln/>
        </p:spPr>
      </p:sp>
      <p:sp>
        <p:nvSpPr>
          <p:cNvPr id="32" name="Shape 30"/>
          <p:cNvSpPr/>
          <p:nvPr/>
        </p:nvSpPr>
        <p:spPr>
          <a:xfrm>
            <a:off x="4268872" y="1873119"/>
            <a:ext cx="150519" cy="150519"/>
          </a:xfrm>
          <a:custGeom>
            <a:avLst/>
            <a:gdLst/>
            <a:ahLst/>
            <a:cxnLst/>
            <a:rect l="l" t="t" r="r" b="b"/>
            <a:pathLst>
              <a:path w="150519" h="150519">
                <a:moveTo>
                  <a:pt x="138553" y="1970"/>
                </a:moveTo>
                <a:cubicBezTo>
                  <a:pt x="140435" y="176"/>
                  <a:pt x="143169" y="-470"/>
                  <a:pt x="145697" y="353"/>
                </a:cubicBezTo>
                <a:cubicBezTo>
                  <a:pt x="148578" y="1323"/>
                  <a:pt x="150519" y="4028"/>
                  <a:pt x="150519" y="7056"/>
                </a:cubicBezTo>
                <a:lnTo>
                  <a:pt x="150519" y="62001"/>
                </a:lnTo>
                <a:cubicBezTo>
                  <a:pt x="150519" y="100571"/>
                  <a:pt x="118739" y="131704"/>
                  <a:pt x="80316" y="131704"/>
                </a:cubicBezTo>
                <a:cubicBezTo>
                  <a:pt x="57679" y="131704"/>
                  <a:pt x="38159" y="117152"/>
                  <a:pt x="31074" y="96808"/>
                </a:cubicBezTo>
                <a:cubicBezTo>
                  <a:pt x="20667" y="105863"/>
                  <a:pt x="14111" y="119180"/>
                  <a:pt x="14111" y="134056"/>
                </a:cubicBezTo>
                <a:cubicBezTo>
                  <a:pt x="14111" y="137966"/>
                  <a:pt x="10966" y="141111"/>
                  <a:pt x="7056" y="141111"/>
                </a:cubicBezTo>
                <a:cubicBezTo>
                  <a:pt x="3146" y="141111"/>
                  <a:pt x="0" y="137966"/>
                  <a:pt x="0" y="134056"/>
                </a:cubicBezTo>
                <a:cubicBezTo>
                  <a:pt x="0" y="112036"/>
                  <a:pt x="11230" y="92634"/>
                  <a:pt x="28252" y="81227"/>
                </a:cubicBezTo>
                <a:cubicBezTo>
                  <a:pt x="38629" y="74289"/>
                  <a:pt x="51006" y="70556"/>
                  <a:pt x="63500" y="70556"/>
                </a:cubicBezTo>
                <a:lnTo>
                  <a:pt x="87019" y="70556"/>
                </a:lnTo>
                <a:cubicBezTo>
                  <a:pt x="90928" y="70556"/>
                  <a:pt x="94074" y="67410"/>
                  <a:pt x="94074" y="63500"/>
                </a:cubicBezTo>
                <a:cubicBezTo>
                  <a:pt x="94074" y="59590"/>
                  <a:pt x="90928" y="56444"/>
                  <a:pt x="87019" y="56444"/>
                </a:cubicBezTo>
                <a:lnTo>
                  <a:pt x="63500" y="56444"/>
                </a:lnTo>
                <a:cubicBezTo>
                  <a:pt x="51829" y="56444"/>
                  <a:pt x="40775" y="59031"/>
                  <a:pt x="30868" y="63647"/>
                </a:cubicBezTo>
                <a:cubicBezTo>
                  <a:pt x="37718" y="43068"/>
                  <a:pt x="57091" y="28222"/>
                  <a:pt x="79963" y="28222"/>
                </a:cubicBezTo>
                <a:cubicBezTo>
                  <a:pt x="99483" y="28222"/>
                  <a:pt x="114006" y="21725"/>
                  <a:pt x="123678" y="15287"/>
                </a:cubicBezTo>
                <a:cubicBezTo>
                  <a:pt x="129322" y="11524"/>
                  <a:pt x="134114" y="7026"/>
                  <a:pt x="138583" y="1970"/>
                </a:cubicBezTo>
                <a:close/>
              </a:path>
            </a:pathLst>
          </a:custGeom>
          <a:solidFill>
            <a:srgbClr val="D4A056"/>
          </a:solidFill>
          <a:ln/>
        </p:spPr>
      </p:sp>
      <p:sp>
        <p:nvSpPr>
          <p:cNvPr id="33" name="Text 31"/>
          <p:cNvSpPr/>
          <p:nvPr/>
        </p:nvSpPr>
        <p:spPr>
          <a:xfrm>
            <a:off x="4536461" y="1839671"/>
            <a:ext cx="2792955" cy="200691"/>
          </a:xfrm>
          <a:prstGeom prst="rect">
            <a:avLst/>
          </a:prstGeom>
          <a:noFill/>
          <a:ln/>
        </p:spPr>
        <p:txBody>
          <a:bodyPr wrap="square" lIns="0" tIns="0" rIns="0" bIns="0" rtlCol="0" anchor="ctr"/>
          <a:lstStyle/>
          <a:p>
            <a:pPr>
              <a:lnSpc>
                <a:spcPct val="130000"/>
              </a:lnSpc>
            </a:pPr>
            <a:r>
              <a:rPr lang="en-US" sz="1053" b="1" dirty="0">
                <a:solidFill>
                  <a:srgbClr val="2C3531"/>
                </a:solidFill>
                <a:latin typeface="Liter" pitchFamily="34" charset="0"/>
                <a:ea typeface="Liter" pitchFamily="34" charset="-122"/>
                <a:cs typeface="Liter" pitchFamily="34" charset="-120"/>
              </a:rPr>
              <a:t>Leaf Condition</a:t>
            </a:r>
            <a:endParaRPr lang="en-US" sz="1600" dirty="0"/>
          </a:p>
        </p:txBody>
      </p:sp>
      <p:sp>
        <p:nvSpPr>
          <p:cNvPr id="34" name="Text 32"/>
          <p:cNvSpPr/>
          <p:nvPr/>
        </p:nvSpPr>
        <p:spPr>
          <a:xfrm>
            <a:off x="4536461" y="2040362"/>
            <a:ext cx="2784593" cy="167243"/>
          </a:xfrm>
          <a:prstGeom prst="rect">
            <a:avLst/>
          </a:prstGeom>
          <a:noFill/>
          <a:ln/>
        </p:spPr>
        <p:txBody>
          <a:bodyPr wrap="square" lIns="0" tIns="0" rIns="0" bIns="0" rtlCol="0" anchor="ctr"/>
          <a:lstStyle/>
          <a:p>
            <a:pPr>
              <a:lnSpc>
                <a:spcPct val="120000"/>
              </a:lnSpc>
            </a:pPr>
            <a:r>
              <a:rPr lang="en-US" sz="922" dirty="0">
                <a:solidFill>
                  <a:srgbClr val="2C3531">
                    <a:alpha val="70000"/>
                  </a:srgbClr>
                </a:solidFill>
                <a:latin typeface="Liter" pitchFamily="34" charset="0"/>
                <a:ea typeface="Liter" pitchFamily="34" charset="-122"/>
                <a:cs typeface="Liter" pitchFamily="34" charset="-120"/>
              </a:rPr>
              <a:t>Assess color, texture, and signs of nutrient deficiency</a:t>
            </a:r>
            <a:endParaRPr lang="en-US" sz="1600" dirty="0"/>
          </a:p>
        </p:txBody>
      </p:sp>
      <p:sp>
        <p:nvSpPr>
          <p:cNvPr id="35" name="Shape 33"/>
          <p:cNvSpPr/>
          <p:nvPr/>
        </p:nvSpPr>
        <p:spPr>
          <a:xfrm>
            <a:off x="7951350" y="1739325"/>
            <a:ext cx="3704428" cy="568626"/>
          </a:xfrm>
          <a:custGeom>
            <a:avLst/>
            <a:gdLst/>
            <a:ahLst/>
            <a:cxnLst/>
            <a:rect l="l" t="t" r="r" b="b"/>
            <a:pathLst>
              <a:path w="3704428" h="568626">
                <a:moveTo>
                  <a:pt x="66899" y="0"/>
                </a:moveTo>
                <a:lnTo>
                  <a:pt x="3637529" y="0"/>
                </a:lnTo>
                <a:cubicBezTo>
                  <a:pt x="3674476" y="0"/>
                  <a:pt x="3704428" y="29952"/>
                  <a:pt x="3704428" y="66899"/>
                </a:cubicBezTo>
                <a:lnTo>
                  <a:pt x="3704428" y="501727"/>
                </a:lnTo>
                <a:cubicBezTo>
                  <a:pt x="3704428" y="538674"/>
                  <a:pt x="3674476" y="568626"/>
                  <a:pt x="3637529" y="568626"/>
                </a:cubicBezTo>
                <a:lnTo>
                  <a:pt x="66899" y="568626"/>
                </a:lnTo>
                <a:cubicBezTo>
                  <a:pt x="29952" y="568626"/>
                  <a:pt x="0" y="538674"/>
                  <a:pt x="0" y="501727"/>
                </a:cubicBezTo>
                <a:lnTo>
                  <a:pt x="0" y="66899"/>
                </a:lnTo>
                <a:cubicBezTo>
                  <a:pt x="0" y="29976"/>
                  <a:pt x="29976" y="0"/>
                  <a:pt x="66899" y="0"/>
                </a:cubicBezTo>
                <a:close/>
              </a:path>
            </a:pathLst>
          </a:custGeom>
          <a:solidFill>
            <a:srgbClr val="4A5D52">
              <a:alpha val="5098"/>
            </a:srgbClr>
          </a:solidFill>
          <a:ln/>
        </p:spPr>
      </p:sp>
      <p:sp>
        <p:nvSpPr>
          <p:cNvPr id="36" name="Shape 34"/>
          <p:cNvSpPr/>
          <p:nvPr/>
        </p:nvSpPr>
        <p:spPr>
          <a:xfrm>
            <a:off x="8063193" y="1873119"/>
            <a:ext cx="169333" cy="150519"/>
          </a:xfrm>
          <a:custGeom>
            <a:avLst/>
            <a:gdLst/>
            <a:ahLst/>
            <a:cxnLst/>
            <a:rect l="l" t="t" r="r" b="b"/>
            <a:pathLst>
              <a:path w="169333" h="150519">
                <a:moveTo>
                  <a:pt x="160220" y="19109"/>
                </a:moveTo>
                <a:cubicBezTo>
                  <a:pt x="162983" y="16345"/>
                  <a:pt x="162983" y="11877"/>
                  <a:pt x="160220" y="9143"/>
                </a:cubicBezTo>
                <a:cubicBezTo>
                  <a:pt x="157456" y="6409"/>
                  <a:pt x="152988" y="6379"/>
                  <a:pt x="150254" y="9143"/>
                </a:cubicBezTo>
                <a:lnTo>
                  <a:pt x="140788" y="18580"/>
                </a:lnTo>
                <a:cubicBezTo>
                  <a:pt x="132968" y="12818"/>
                  <a:pt x="123325" y="9407"/>
                  <a:pt x="112889" y="9407"/>
                </a:cubicBezTo>
                <a:cubicBezTo>
                  <a:pt x="102570" y="9407"/>
                  <a:pt x="93045" y="12729"/>
                  <a:pt x="85284" y="18344"/>
                </a:cubicBezTo>
                <a:cubicBezTo>
                  <a:pt x="80580" y="21784"/>
                  <a:pt x="83550" y="28222"/>
                  <a:pt x="89370" y="28222"/>
                </a:cubicBezTo>
                <a:lnTo>
                  <a:pt x="96426" y="28222"/>
                </a:lnTo>
                <a:cubicBezTo>
                  <a:pt x="100336" y="28222"/>
                  <a:pt x="103481" y="31368"/>
                  <a:pt x="103481" y="35278"/>
                </a:cubicBezTo>
                <a:lnTo>
                  <a:pt x="103481" y="58796"/>
                </a:lnTo>
                <a:cubicBezTo>
                  <a:pt x="103481" y="62706"/>
                  <a:pt x="106627" y="65852"/>
                  <a:pt x="110537" y="65852"/>
                </a:cubicBezTo>
                <a:lnTo>
                  <a:pt x="134056" y="65852"/>
                </a:lnTo>
                <a:cubicBezTo>
                  <a:pt x="137966" y="65852"/>
                  <a:pt x="141111" y="68997"/>
                  <a:pt x="141111" y="72907"/>
                </a:cubicBezTo>
                <a:lnTo>
                  <a:pt x="141111" y="79963"/>
                </a:lnTo>
                <a:cubicBezTo>
                  <a:pt x="141111" y="85784"/>
                  <a:pt x="147549" y="88753"/>
                  <a:pt x="150989" y="84049"/>
                </a:cubicBezTo>
                <a:cubicBezTo>
                  <a:pt x="156604" y="76288"/>
                  <a:pt x="159926" y="66763"/>
                  <a:pt x="159926" y="56444"/>
                </a:cubicBezTo>
                <a:cubicBezTo>
                  <a:pt x="159926" y="46008"/>
                  <a:pt x="156516" y="36366"/>
                  <a:pt x="150754" y="28546"/>
                </a:cubicBezTo>
                <a:lnTo>
                  <a:pt x="160220" y="19109"/>
                </a:lnTo>
                <a:close/>
                <a:moveTo>
                  <a:pt x="79375" y="39834"/>
                </a:moveTo>
                <a:lnTo>
                  <a:pt x="32456" y="106862"/>
                </a:lnTo>
                <a:cubicBezTo>
                  <a:pt x="29780" y="110655"/>
                  <a:pt x="25488" y="112889"/>
                  <a:pt x="20873" y="112889"/>
                </a:cubicBezTo>
                <a:lnTo>
                  <a:pt x="18815" y="112889"/>
                </a:lnTo>
                <a:cubicBezTo>
                  <a:pt x="11024" y="112889"/>
                  <a:pt x="4704" y="119209"/>
                  <a:pt x="4704" y="127000"/>
                </a:cubicBezTo>
                <a:cubicBezTo>
                  <a:pt x="4704" y="134791"/>
                  <a:pt x="11024" y="141111"/>
                  <a:pt x="18815" y="141111"/>
                </a:cubicBezTo>
                <a:lnTo>
                  <a:pt x="26782" y="141111"/>
                </a:lnTo>
                <a:cubicBezTo>
                  <a:pt x="46096" y="141111"/>
                  <a:pt x="64911" y="135173"/>
                  <a:pt x="80727" y="124119"/>
                </a:cubicBezTo>
                <a:lnTo>
                  <a:pt x="129499" y="89988"/>
                </a:lnTo>
                <a:cubicBezTo>
                  <a:pt x="127882" y="86989"/>
                  <a:pt x="127000" y="83550"/>
                  <a:pt x="127000" y="79963"/>
                </a:cubicBezTo>
                <a:lnTo>
                  <a:pt x="110537" y="79963"/>
                </a:lnTo>
                <a:cubicBezTo>
                  <a:pt x="98837" y="79963"/>
                  <a:pt x="89370" y="70497"/>
                  <a:pt x="89370" y="58796"/>
                </a:cubicBezTo>
                <a:lnTo>
                  <a:pt x="89370" y="42333"/>
                </a:lnTo>
                <a:cubicBezTo>
                  <a:pt x="85784" y="42333"/>
                  <a:pt x="82344" y="41451"/>
                  <a:pt x="79375" y="39834"/>
                </a:cubicBezTo>
                <a:close/>
              </a:path>
            </a:pathLst>
          </a:custGeom>
          <a:solidFill>
            <a:srgbClr val="4A5D52"/>
          </a:solidFill>
          <a:ln/>
        </p:spPr>
      </p:sp>
      <p:sp>
        <p:nvSpPr>
          <p:cNvPr id="37" name="Text 35"/>
          <p:cNvSpPr/>
          <p:nvPr/>
        </p:nvSpPr>
        <p:spPr>
          <a:xfrm>
            <a:off x="8340189" y="1839671"/>
            <a:ext cx="3185975" cy="200691"/>
          </a:xfrm>
          <a:prstGeom prst="rect">
            <a:avLst/>
          </a:prstGeom>
          <a:noFill/>
          <a:ln/>
        </p:spPr>
        <p:txBody>
          <a:bodyPr wrap="square" lIns="0" tIns="0" rIns="0" bIns="0" rtlCol="0" anchor="ctr"/>
          <a:lstStyle/>
          <a:p>
            <a:pPr>
              <a:lnSpc>
                <a:spcPct val="130000"/>
              </a:lnSpc>
            </a:pPr>
            <a:r>
              <a:rPr lang="en-US" sz="1053" b="1" dirty="0">
                <a:solidFill>
                  <a:srgbClr val="2C3531"/>
                </a:solidFill>
                <a:latin typeface="Liter" pitchFamily="34" charset="0"/>
                <a:ea typeface="Liter" pitchFamily="34" charset="-122"/>
                <a:cs typeface="Liter" pitchFamily="34" charset="-120"/>
              </a:rPr>
              <a:t>Fruit Development</a:t>
            </a:r>
            <a:endParaRPr lang="en-US" sz="1600" dirty="0"/>
          </a:p>
        </p:txBody>
      </p:sp>
      <p:sp>
        <p:nvSpPr>
          <p:cNvPr id="38" name="Text 36"/>
          <p:cNvSpPr/>
          <p:nvPr/>
        </p:nvSpPr>
        <p:spPr>
          <a:xfrm>
            <a:off x="8340189" y="2040362"/>
            <a:ext cx="3177613" cy="167243"/>
          </a:xfrm>
          <a:prstGeom prst="rect">
            <a:avLst/>
          </a:prstGeom>
          <a:noFill/>
          <a:ln/>
        </p:spPr>
        <p:txBody>
          <a:bodyPr wrap="square" lIns="0" tIns="0" rIns="0" bIns="0" rtlCol="0" anchor="ctr"/>
          <a:lstStyle/>
          <a:p>
            <a:pPr>
              <a:lnSpc>
                <a:spcPct val="120000"/>
              </a:lnSpc>
            </a:pPr>
            <a:r>
              <a:rPr lang="en-US" sz="922" dirty="0">
                <a:solidFill>
                  <a:srgbClr val="2C3531">
                    <a:alpha val="70000"/>
                  </a:srgbClr>
                </a:solidFill>
                <a:latin typeface="Liter" pitchFamily="34" charset="0"/>
                <a:ea typeface="Liter" pitchFamily="34" charset="-122"/>
                <a:cs typeface="Liter" pitchFamily="34" charset="-120"/>
              </a:rPr>
              <a:t>Track pepper formation, size, color progression, and ripeness</a:t>
            </a:r>
            <a:endParaRPr lang="en-US" sz="1600" dirty="0"/>
          </a:p>
        </p:txBody>
      </p:sp>
      <p:sp>
        <p:nvSpPr>
          <p:cNvPr id="39" name="Shape 37"/>
          <p:cNvSpPr/>
          <p:nvPr/>
        </p:nvSpPr>
        <p:spPr>
          <a:xfrm>
            <a:off x="3946930" y="2675885"/>
            <a:ext cx="7910584" cy="2943473"/>
          </a:xfrm>
          <a:custGeom>
            <a:avLst/>
            <a:gdLst/>
            <a:ahLst/>
            <a:cxnLst/>
            <a:rect l="l" t="t" r="r" b="b"/>
            <a:pathLst>
              <a:path w="7910584" h="2943473">
                <a:moveTo>
                  <a:pt x="66905" y="0"/>
                </a:moveTo>
                <a:lnTo>
                  <a:pt x="7843679" y="0"/>
                </a:lnTo>
                <a:cubicBezTo>
                  <a:pt x="7880630" y="0"/>
                  <a:pt x="7910584" y="29954"/>
                  <a:pt x="7910584" y="66905"/>
                </a:cubicBezTo>
                <a:lnTo>
                  <a:pt x="7910584" y="2876568"/>
                </a:lnTo>
                <a:cubicBezTo>
                  <a:pt x="7910584" y="2913519"/>
                  <a:pt x="7880630" y="2943473"/>
                  <a:pt x="7843679" y="2943473"/>
                </a:cubicBezTo>
                <a:lnTo>
                  <a:pt x="66905" y="2943473"/>
                </a:lnTo>
                <a:cubicBezTo>
                  <a:pt x="29954" y="2943473"/>
                  <a:pt x="0" y="2913519"/>
                  <a:pt x="0" y="2876568"/>
                </a:cubicBezTo>
                <a:lnTo>
                  <a:pt x="0" y="66905"/>
                </a:lnTo>
                <a:cubicBezTo>
                  <a:pt x="0" y="29979"/>
                  <a:pt x="29979" y="0"/>
                  <a:pt x="66905" y="0"/>
                </a:cubicBezTo>
                <a:close/>
              </a:path>
            </a:pathLst>
          </a:custGeom>
          <a:solidFill>
            <a:srgbClr val="FFFFFF"/>
          </a:solidFill>
          <a:ln/>
          <a:effectLst>
            <a:outerShdw sx="100000" sy="100000" kx="0" ky="0" algn="bl" rotWithShape="0" blurRad="50173" dist="33449" dir="5400000">
              <a:srgbClr val="000000">
                <a:alpha val="10196"/>
              </a:srgbClr>
            </a:outerShdw>
          </a:effectLst>
        </p:spPr>
      </p:sp>
      <p:sp>
        <p:nvSpPr>
          <p:cNvPr id="40" name="Shape 38"/>
          <p:cNvSpPr/>
          <p:nvPr/>
        </p:nvSpPr>
        <p:spPr>
          <a:xfrm>
            <a:off x="4147621" y="2876576"/>
            <a:ext cx="401383" cy="401383"/>
          </a:xfrm>
          <a:custGeom>
            <a:avLst/>
            <a:gdLst/>
            <a:ahLst/>
            <a:cxnLst/>
            <a:rect l="l" t="t" r="r" b="b"/>
            <a:pathLst>
              <a:path w="401383" h="401383">
                <a:moveTo>
                  <a:pt x="66898" y="0"/>
                </a:moveTo>
                <a:lnTo>
                  <a:pt x="334484" y="0"/>
                </a:lnTo>
                <a:cubicBezTo>
                  <a:pt x="371407" y="0"/>
                  <a:pt x="401383" y="29976"/>
                  <a:pt x="401383" y="66898"/>
                </a:cubicBezTo>
                <a:lnTo>
                  <a:pt x="401383" y="334484"/>
                </a:lnTo>
                <a:cubicBezTo>
                  <a:pt x="401383" y="371407"/>
                  <a:pt x="371407" y="401383"/>
                  <a:pt x="334484" y="401383"/>
                </a:cubicBezTo>
                <a:lnTo>
                  <a:pt x="66898" y="401383"/>
                </a:lnTo>
                <a:cubicBezTo>
                  <a:pt x="29976" y="401383"/>
                  <a:pt x="0" y="371407"/>
                  <a:pt x="0" y="334484"/>
                </a:cubicBezTo>
                <a:lnTo>
                  <a:pt x="0" y="66898"/>
                </a:lnTo>
                <a:cubicBezTo>
                  <a:pt x="0" y="29976"/>
                  <a:pt x="29976" y="0"/>
                  <a:pt x="66898" y="0"/>
                </a:cubicBezTo>
                <a:close/>
              </a:path>
            </a:pathLst>
          </a:custGeom>
          <a:solidFill>
            <a:srgbClr val="A88B6A"/>
          </a:solidFill>
          <a:ln/>
        </p:spPr>
      </p:sp>
      <p:sp>
        <p:nvSpPr>
          <p:cNvPr id="41" name="Shape 39"/>
          <p:cNvSpPr/>
          <p:nvPr/>
        </p:nvSpPr>
        <p:spPr>
          <a:xfrm>
            <a:off x="4296049" y="2993646"/>
            <a:ext cx="104527" cy="167243"/>
          </a:xfrm>
          <a:custGeom>
            <a:avLst/>
            <a:gdLst/>
            <a:ahLst/>
            <a:cxnLst/>
            <a:rect l="l" t="t" r="r" b="b"/>
            <a:pathLst>
              <a:path w="104527" h="167243">
                <a:moveTo>
                  <a:pt x="52263" y="0"/>
                </a:moveTo>
                <a:cubicBezTo>
                  <a:pt x="34951" y="0"/>
                  <a:pt x="20905" y="14046"/>
                  <a:pt x="20905" y="31358"/>
                </a:cubicBezTo>
                <a:lnTo>
                  <a:pt x="20905" y="85157"/>
                </a:lnTo>
                <a:cubicBezTo>
                  <a:pt x="11269" y="93747"/>
                  <a:pt x="5226" y="106291"/>
                  <a:pt x="5226" y="120206"/>
                </a:cubicBezTo>
                <a:cubicBezTo>
                  <a:pt x="5226" y="146174"/>
                  <a:pt x="26295" y="167243"/>
                  <a:pt x="52263" y="167243"/>
                </a:cubicBezTo>
                <a:cubicBezTo>
                  <a:pt x="78232" y="167243"/>
                  <a:pt x="99300" y="146174"/>
                  <a:pt x="99300" y="120206"/>
                </a:cubicBezTo>
                <a:cubicBezTo>
                  <a:pt x="99300" y="106291"/>
                  <a:pt x="93257" y="93747"/>
                  <a:pt x="83621" y="85157"/>
                </a:cubicBezTo>
                <a:lnTo>
                  <a:pt x="83621" y="31358"/>
                </a:lnTo>
                <a:cubicBezTo>
                  <a:pt x="83621" y="14046"/>
                  <a:pt x="69576" y="0"/>
                  <a:pt x="52263" y="0"/>
                </a:cubicBezTo>
                <a:close/>
                <a:moveTo>
                  <a:pt x="73169" y="120206"/>
                </a:moveTo>
                <a:cubicBezTo>
                  <a:pt x="73169" y="131736"/>
                  <a:pt x="63794" y="141111"/>
                  <a:pt x="52263" y="141111"/>
                </a:cubicBezTo>
                <a:cubicBezTo>
                  <a:pt x="40733" y="141111"/>
                  <a:pt x="31358" y="131736"/>
                  <a:pt x="31358" y="120206"/>
                </a:cubicBezTo>
                <a:cubicBezTo>
                  <a:pt x="31358" y="111419"/>
                  <a:pt x="36748" y="103906"/>
                  <a:pt x="44424" y="100836"/>
                </a:cubicBezTo>
                <a:lnTo>
                  <a:pt x="44424" y="70556"/>
                </a:lnTo>
                <a:cubicBezTo>
                  <a:pt x="44424" y="66211"/>
                  <a:pt x="47919" y="62716"/>
                  <a:pt x="52263" y="62716"/>
                </a:cubicBezTo>
                <a:cubicBezTo>
                  <a:pt x="56608" y="62716"/>
                  <a:pt x="60103" y="66211"/>
                  <a:pt x="60103" y="70556"/>
                </a:cubicBezTo>
                <a:lnTo>
                  <a:pt x="60103" y="100836"/>
                </a:lnTo>
                <a:cubicBezTo>
                  <a:pt x="67779" y="103939"/>
                  <a:pt x="73169" y="111452"/>
                  <a:pt x="73169" y="120206"/>
                </a:cubicBezTo>
                <a:close/>
              </a:path>
            </a:pathLst>
          </a:custGeom>
          <a:solidFill>
            <a:srgbClr val="F8F7F2"/>
          </a:solidFill>
          <a:ln/>
        </p:spPr>
      </p:sp>
      <p:sp>
        <p:nvSpPr>
          <p:cNvPr id="42" name="Text 40"/>
          <p:cNvSpPr/>
          <p:nvPr/>
        </p:nvSpPr>
        <p:spPr>
          <a:xfrm>
            <a:off x="4649350" y="2947654"/>
            <a:ext cx="2533728" cy="259226"/>
          </a:xfrm>
          <a:prstGeom prst="rect">
            <a:avLst/>
          </a:prstGeom>
          <a:noFill/>
          <a:ln/>
        </p:spPr>
        <p:txBody>
          <a:bodyPr wrap="square" lIns="0" tIns="0" rIns="0" bIns="0" rtlCol="0" anchor="ctr"/>
          <a:lstStyle/>
          <a:p>
            <a:pPr>
              <a:lnSpc>
                <a:spcPct val="110000"/>
              </a:lnSpc>
            </a:pPr>
            <a:r>
              <a:rPr lang="en-US" sz="1580" b="1" dirty="0">
                <a:solidFill>
                  <a:srgbClr val="4A5D52"/>
                </a:solidFill>
                <a:latin typeface="Unna" pitchFamily="34" charset="0"/>
                <a:ea typeface="Unna" pitchFamily="34" charset="-122"/>
                <a:cs typeface="Unna" pitchFamily="34" charset="-120"/>
              </a:rPr>
              <a:t>Environmental Management</a:t>
            </a:r>
            <a:endParaRPr lang="en-US" sz="1600" dirty="0"/>
          </a:p>
        </p:txBody>
      </p:sp>
      <p:sp>
        <p:nvSpPr>
          <p:cNvPr id="43" name="Shape 41"/>
          <p:cNvSpPr/>
          <p:nvPr/>
        </p:nvSpPr>
        <p:spPr>
          <a:xfrm>
            <a:off x="4164346" y="3411753"/>
            <a:ext cx="33449" cy="602074"/>
          </a:xfrm>
          <a:custGeom>
            <a:avLst/>
            <a:gdLst/>
            <a:ahLst/>
            <a:cxnLst/>
            <a:rect l="l" t="t" r="r" b="b"/>
            <a:pathLst>
              <a:path w="33449" h="602074">
                <a:moveTo>
                  <a:pt x="0" y="0"/>
                </a:moveTo>
                <a:lnTo>
                  <a:pt x="33449" y="0"/>
                </a:lnTo>
                <a:lnTo>
                  <a:pt x="33449" y="602074"/>
                </a:lnTo>
                <a:lnTo>
                  <a:pt x="0" y="602074"/>
                </a:lnTo>
                <a:lnTo>
                  <a:pt x="0" y="0"/>
                </a:lnTo>
                <a:close/>
              </a:path>
            </a:pathLst>
          </a:custGeom>
          <a:solidFill>
            <a:srgbClr val="4A5D52"/>
          </a:solidFill>
          <a:ln/>
        </p:spPr>
      </p:sp>
      <p:sp>
        <p:nvSpPr>
          <p:cNvPr id="44" name="Text 42"/>
          <p:cNvSpPr/>
          <p:nvPr/>
        </p:nvSpPr>
        <p:spPr>
          <a:xfrm>
            <a:off x="4314864" y="3411753"/>
            <a:ext cx="7408856" cy="200691"/>
          </a:xfrm>
          <a:prstGeom prst="rect">
            <a:avLst/>
          </a:prstGeom>
          <a:noFill/>
          <a:ln/>
        </p:spPr>
        <p:txBody>
          <a:bodyPr wrap="square" lIns="0" tIns="0" rIns="0" bIns="0" rtlCol="0" anchor="ctr"/>
          <a:lstStyle/>
          <a:p>
            <a:pPr>
              <a:lnSpc>
                <a:spcPct val="130000"/>
              </a:lnSpc>
            </a:pPr>
            <a:r>
              <a:rPr lang="en-US" sz="1053" b="1" dirty="0">
                <a:solidFill>
                  <a:srgbClr val="2C3531"/>
                </a:solidFill>
                <a:latin typeface="Liter" pitchFamily="34" charset="0"/>
                <a:ea typeface="Liter" pitchFamily="34" charset="-122"/>
                <a:cs typeface="Liter" pitchFamily="34" charset="-120"/>
              </a:rPr>
              <a:t>Temperature Control</a:t>
            </a:r>
            <a:endParaRPr lang="en-US" sz="1600" dirty="0"/>
          </a:p>
        </p:txBody>
      </p:sp>
      <p:sp>
        <p:nvSpPr>
          <p:cNvPr id="45" name="Text 43"/>
          <p:cNvSpPr/>
          <p:nvPr/>
        </p:nvSpPr>
        <p:spPr>
          <a:xfrm>
            <a:off x="4314864" y="3645893"/>
            <a:ext cx="7400494" cy="367934"/>
          </a:xfrm>
          <a:prstGeom prst="rect">
            <a:avLst/>
          </a:prstGeom>
          <a:noFill/>
          <a:ln/>
        </p:spPr>
        <p:txBody>
          <a:bodyPr wrap="square" lIns="0" tIns="0" rIns="0" bIns="0" rtlCol="0" anchor="ctr"/>
          <a:lstStyle/>
          <a:p>
            <a:pPr>
              <a:lnSpc>
                <a:spcPct val="140000"/>
              </a:lnSpc>
            </a:pPr>
            <a:r>
              <a:rPr lang="en-US" sz="922" dirty="0">
                <a:solidFill>
                  <a:srgbClr val="2C3531">
                    <a:alpha val="70000"/>
                  </a:srgbClr>
                </a:solidFill>
                <a:latin typeface="Liter" pitchFamily="34" charset="0"/>
                <a:ea typeface="Liter" pitchFamily="34" charset="-122"/>
                <a:cs typeface="Liter" pitchFamily="34" charset="-120"/>
              </a:rPr>
              <a:t>Monitor greenhouse temperature daily, ensure ventilation systems are functioning, and report temperature fluctuations outside optimal range (70-85°F / 21-29°C)</a:t>
            </a:r>
            <a:endParaRPr lang="en-US" sz="1600" dirty="0"/>
          </a:p>
        </p:txBody>
      </p:sp>
      <p:sp>
        <p:nvSpPr>
          <p:cNvPr id="46" name="Shape 44"/>
          <p:cNvSpPr/>
          <p:nvPr/>
        </p:nvSpPr>
        <p:spPr>
          <a:xfrm>
            <a:off x="4164346" y="4114173"/>
            <a:ext cx="33449" cy="418107"/>
          </a:xfrm>
          <a:custGeom>
            <a:avLst/>
            <a:gdLst/>
            <a:ahLst/>
            <a:cxnLst/>
            <a:rect l="l" t="t" r="r" b="b"/>
            <a:pathLst>
              <a:path w="33449" h="418107">
                <a:moveTo>
                  <a:pt x="0" y="0"/>
                </a:moveTo>
                <a:lnTo>
                  <a:pt x="33449" y="0"/>
                </a:lnTo>
                <a:lnTo>
                  <a:pt x="33449" y="418107"/>
                </a:lnTo>
                <a:lnTo>
                  <a:pt x="0" y="418107"/>
                </a:lnTo>
                <a:lnTo>
                  <a:pt x="0" y="0"/>
                </a:lnTo>
                <a:close/>
              </a:path>
            </a:pathLst>
          </a:custGeom>
          <a:solidFill>
            <a:srgbClr val="A88B6A"/>
          </a:solidFill>
          <a:ln/>
        </p:spPr>
      </p:sp>
      <p:sp>
        <p:nvSpPr>
          <p:cNvPr id="47" name="Text 45"/>
          <p:cNvSpPr/>
          <p:nvPr/>
        </p:nvSpPr>
        <p:spPr>
          <a:xfrm>
            <a:off x="4314864" y="4114173"/>
            <a:ext cx="7408856" cy="200691"/>
          </a:xfrm>
          <a:prstGeom prst="rect">
            <a:avLst/>
          </a:prstGeom>
          <a:noFill/>
          <a:ln/>
        </p:spPr>
        <p:txBody>
          <a:bodyPr wrap="square" lIns="0" tIns="0" rIns="0" bIns="0" rtlCol="0" anchor="ctr"/>
          <a:lstStyle/>
          <a:p>
            <a:pPr>
              <a:lnSpc>
                <a:spcPct val="130000"/>
              </a:lnSpc>
            </a:pPr>
            <a:r>
              <a:rPr lang="en-US" sz="1053" b="1" dirty="0">
                <a:solidFill>
                  <a:srgbClr val="2C3531"/>
                </a:solidFill>
                <a:latin typeface="Liter" pitchFamily="34" charset="0"/>
                <a:ea typeface="Liter" pitchFamily="34" charset="-122"/>
                <a:cs typeface="Liter" pitchFamily="34" charset="-120"/>
              </a:rPr>
              <a:t>Humidity Management</a:t>
            </a:r>
            <a:endParaRPr lang="en-US" sz="1600" dirty="0"/>
          </a:p>
        </p:txBody>
      </p:sp>
      <p:sp>
        <p:nvSpPr>
          <p:cNvPr id="48" name="Text 46"/>
          <p:cNvSpPr/>
          <p:nvPr/>
        </p:nvSpPr>
        <p:spPr>
          <a:xfrm>
            <a:off x="4314864" y="4348313"/>
            <a:ext cx="7400494" cy="183967"/>
          </a:xfrm>
          <a:prstGeom prst="rect">
            <a:avLst/>
          </a:prstGeom>
          <a:noFill/>
          <a:ln/>
        </p:spPr>
        <p:txBody>
          <a:bodyPr wrap="square" lIns="0" tIns="0" rIns="0" bIns="0" rtlCol="0" anchor="ctr"/>
          <a:lstStyle/>
          <a:p>
            <a:pPr>
              <a:lnSpc>
                <a:spcPct val="140000"/>
              </a:lnSpc>
            </a:pPr>
            <a:r>
              <a:rPr lang="en-US" sz="922" dirty="0">
                <a:solidFill>
                  <a:srgbClr val="2C3531">
                    <a:alpha val="70000"/>
                  </a:srgbClr>
                </a:solidFill>
                <a:latin typeface="Liter" pitchFamily="34" charset="0"/>
                <a:ea typeface="Liter" pitchFamily="34" charset="-122"/>
                <a:cs typeface="Liter" pitchFamily="34" charset="-120"/>
              </a:rPr>
              <a:t>Maintain appropriate humidity levels (50-70%), operate misting systems as directed, and prevent conditions that promote fungal growth</a:t>
            </a:r>
            <a:endParaRPr lang="en-US" sz="1600" dirty="0"/>
          </a:p>
        </p:txBody>
      </p:sp>
      <p:sp>
        <p:nvSpPr>
          <p:cNvPr id="49" name="Shape 47"/>
          <p:cNvSpPr/>
          <p:nvPr/>
        </p:nvSpPr>
        <p:spPr>
          <a:xfrm>
            <a:off x="4164346" y="4632626"/>
            <a:ext cx="33449" cy="418107"/>
          </a:xfrm>
          <a:custGeom>
            <a:avLst/>
            <a:gdLst/>
            <a:ahLst/>
            <a:cxnLst/>
            <a:rect l="l" t="t" r="r" b="b"/>
            <a:pathLst>
              <a:path w="33449" h="418107">
                <a:moveTo>
                  <a:pt x="0" y="0"/>
                </a:moveTo>
                <a:lnTo>
                  <a:pt x="33449" y="0"/>
                </a:lnTo>
                <a:lnTo>
                  <a:pt x="33449" y="418107"/>
                </a:lnTo>
                <a:lnTo>
                  <a:pt x="0" y="418107"/>
                </a:lnTo>
                <a:lnTo>
                  <a:pt x="0" y="0"/>
                </a:lnTo>
                <a:close/>
              </a:path>
            </a:pathLst>
          </a:custGeom>
          <a:solidFill>
            <a:srgbClr val="D4A056"/>
          </a:solidFill>
          <a:ln/>
        </p:spPr>
      </p:sp>
      <p:sp>
        <p:nvSpPr>
          <p:cNvPr id="50" name="Text 48"/>
          <p:cNvSpPr/>
          <p:nvPr/>
        </p:nvSpPr>
        <p:spPr>
          <a:xfrm>
            <a:off x="4314864" y="4632626"/>
            <a:ext cx="7408856" cy="200691"/>
          </a:xfrm>
          <a:prstGeom prst="rect">
            <a:avLst/>
          </a:prstGeom>
          <a:noFill/>
          <a:ln/>
        </p:spPr>
        <p:txBody>
          <a:bodyPr wrap="square" lIns="0" tIns="0" rIns="0" bIns="0" rtlCol="0" anchor="ctr"/>
          <a:lstStyle/>
          <a:p>
            <a:pPr>
              <a:lnSpc>
                <a:spcPct val="130000"/>
              </a:lnSpc>
            </a:pPr>
            <a:r>
              <a:rPr lang="en-US" sz="1053" b="1" dirty="0">
                <a:solidFill>
                  <a:srgbClr val="2C3531"/>
                </a:solidFill>
                <a:latin typeface="Liter" pitchFamily="34" charset="0"/>
                <a:ea typeface="Liter" pitchFamily="34" charset="-122"/>
                <a:cs typeface="Liter" pitchFamily="34" charset="-120"/>
              </a:rPr>
              <a:t>Light Exposure</a:t>
            </a:r>
            <a:endParaRPr lang="en-US" sz="1600" dirty="0"/>
          </a:p>
        </p:txBody>
      </p:sp>
      <p:sp>
        <p:nvSpPr>
          <p:cNvPr id="51" name="Text 49"/>
          <p:cNvSpPr/>
          <p:nvPr/>
        </p:nvSpPr>
        <p:spPr>
          <a:xfrm>
            <a:off x="4314864" y="4866765"/>
            <a:ext cx="7400494" cy="183967"/>
          </a:xfrm>
          <a:prstGeom prst="rect">
            <a:avLst/>
          </a:prstGeom>
          <a:noFill/>
          <a:ln/>
        </p:spPr>
        <p:txBody>
          <a:bodyPr wrap="square" lIns="0" tIns="0" rIns="0" bIns="0" rtlCol="0" anchor="ctr"/>
          <a:lstStyle/>
          <a:p>
            <a:pPr>
              <a:lnSpc>
                <a:spcPct val="140000"/>
              </a:lnSpc>
            </a:pPr>
            <a:r>
              <a:rPr lang="en-US" sz="922" dirty="0">
                <a:solidFill>
                  <a:srgbClr val="2C3531">
                    <a:alpha val="70000"/>
                  </a:srgbClr>
                </a:solidFill>
                <a:latin typeface="Liter" pitchFamily="34" charset="0"/>
                <a:ea typeface="Liter" pitchFamily="34" charset="-122"/>
                <a:cs typeface="Liter" pitchFamily="34" charset="-120"/>
              </a:rPr>
              <a:t>Ensure plants receive adequate light exposure, manage shade systems when necessary, and report lighting equipment malfunctions</a:t>
            </a:r>
            <a:endParaRPr lang="en-US" sz="1600" dirty="0"/>
          </a:p>
        </p:txBody>
      </p:sp>
      <p:sp>
        <p:nvSpPr>
          <p:cNvPr id="52" name="Shape 50"/>
          <p:cNvSpPr/>
          <p:nvPr/>
        </p:nvSpPr>
        <p:spPr>
          <a:xfrm>
            <a:off x="3955292" y="5794963"/>
            <a:ext cx="7893860" cy="719144"/>
          </a:xfrm>
          <a:custGeom>
            <a:avLst/>
            <a:gdLst/>
            <a:ahLst/>
            <a:cxnLst/>
            <a:rect l="l" t="t" r="r" b="b"/>
            <a:pathLst>
              <a:path w="7893860" h="719144">
                <a:moveTo>
                  <a:pt x="66895" y="0"/>
                </a:moveTo>
                <a:lnTo>
                  <a:pt x="7826965" y="0"/>
                </a:lnTo>
                <a:cubicBezTo>
                  <a:pt x="7863910" y="0"/>
                  <a:pt x="7893860" y="29950"/>
                  <a:pt x="7893860" y="66895"/>
                </a:cubicBezTo>
                <a:lnTo>
                  <a:pt x="7893860" y="652249"/>
                </a:lnTo>
                <a:cubicBezTo>
                  <a:pt x="7893860" y="689169"/>
                  <a:pt x="7863886" y="719144"/>
                  <a:pt x="7826965" y="719144"/>
                </a:cubicBezTo>
                <a:lnTo>
                  <a:pt x="66895" y="719144"/>
                </a:lnTo>
                <a:cubicBezTo>
                  <a:pt x="29950" y="719144"/>
                  <a:pt x="0" y="689194"/>
                  <a:pt x="0" y="652249"/>
                </a:cubicBezTo>
                <a:lnTo>
                  <a:pt x="0" y="66895"/>
                </a:lnTo>
                <a:cubicBezTo>
                  <a:pt x="0" y="29975"/>
                  <a:pt x="29975" y="0"/>
                  <a:pt x="66895" y="0"/>
                </a:cubicBezTo>
                <a:close/>
              </a:path>
            </a:pathLst>
          </a:custGeom>
          <a:solidFill>
            <a:srgbClr val="D4A056">
              <a:alpha val="10196"/>
            </a:srgbClr>
          </a:solidFill>
          <a:ln w="25400">
            <a:solidFill>
              <a:srgbClr val="D4A056"/>
            </a:solidFill>
            <a:prstDash val="solid"/>
          </a:ln>
        </p:spPr>
      </p:sp>
      <p:sp>
        <p:nvSpPr>
          <p:cNvPr id="53" name="Shape 51"/>
          <p:cNvSpPr/>
          <p:nvPr/>
        </p:nvSpPr>
        <p:spPr>
          <a:xfrm>
            <a:off x="4089086" y="5970568"/>
            <a:ext cx="167243" cy="167243"/>
          </a:xfrm>
          <a:custGeom>
            <a:avLst/>
            <a:gdLst/>
            <a:ahLst/>
            <a:cxnLst/>
            <a:rect l="l" t="t" r="r" b="b"/>
            <a:pathLst>
              <a:path w="167243" h="167243">
                <a:moveTo>
                  <a:pt x="83621" y="167243"/>
                </a:moveTo>
                <a:cubicBezTo>
                  <a:pt x="129773" y="167243"/>
                  <a:pt x="167243" y="129773"/>
                  <a:pt x="167243" y="83621"/>
                </a:cubicBezTo>
                <a:cubicBezTo>
                  <a:pt x="167243" y="37469"/>
                  <a:pt x="129773" y="0"/>
                  <a:pt x="83621" y="0"/>
                </a:cubicBezTo>
                <a:cubicBezTo>
                  <a:pt x="37469" y="0"/>
                  <a:pt x="0" y="37469"/>
                  <a:pt x="0" y="83621"/>
                </a:cubicBezTo>
                <a:cubicBezTo>
                  <a:pt x="0" y="129773"/>
                  <a:pt x="37469" y="167243"/>
                  <a:pt x="83621" y="167243"/>
                </a:cubicBezTo>
                <a:close/>
                <a:moveTo>
                  <a:pt x="83621" y="44424"/>
                </a:moveTo>
                <a:cubicBezTo>
                  <a:pt x="87966" y="44424"/>
                  <a:pt x="91461" y="47919"/>
                  <a:pt x="91461" y="52263"/>
                </a:cubicBezTo>
                <a:lnTo>
                  <a:pt x="91461" y="88848"/>
                </a:lnTo>
                <a:cubicBezTo>
                  <a:pt x="91461" y="93192"/>
                  <a:pt x="87966" y="96687"/>
                  <a:pt x="83621" y="96687"/>
                </a:cubicBezTo>
                <a:cubicBezTo>
                  <a:pt x="79277" y="96687"/>
                  <a:pt x="75782" y="93192"/>
                  <a:pt x="75782" y="88848"/>
                </a:cubicBezTo>
                <a:lnTo>
                  <a:pt x="75782" y="52263"/>
                </a:lnTo>
                <a:cubicBezTo>
                  <a:pt x="75782" y="47919"/>
                  <a:pt x="79277" y="44424"/>
                  <a:pt x="83621" y="44424"/>
                </a:cubicBezTo>
                <a:close/>
                <a:moveTo>
                  <a:pt x="74900" y="114979"/>
                </a:moveTo>
                <a:cubicBezTo>
                  <a:pt x="74702" y="111742"/>
                  <a:pt x="76316" y="108662"/>
                  <a:pt x="79091" y="106983"/>
                </a:cubicBezTo>
                <a:cubicBezTo>
                  <a:pt x="81866" y="105305"/>
                  <a:pt x="85344" y="105305"/>
                  <a:pt x="88119" y="106983"/>
                </a:cubicBezTo>
                <a:cubicBezTo>
                  <a:pt x="90894" y="108662"/>
                  <a:pt x="92509" y="111742"/>
                  <a:pt x="92310" y="114979"/>
                </a:cubicBezTo>
                <a:cubicBezTo>
                  <a:pt x="92509" y="118217"/>
                  <a:pt x="90894" y="121297"/>
                  <a:pt x="88119" y="122975"/>
                </a:cubicBezTo>
                <a:cubicBezTo>
                  <a:pt x="85344" y="124654"/>
                  <a:pt x="81866" y="124654"/>
                  <a:pt x="79091" y="122975"/>
                </a:cubicBezTo>
                <a:cubicBezTo>
                  <a:pt x="76316" y="121297"/>
                  <a:pt x="74702" y="118217"/>
                  <a:pt x="74900" y="114979"/>
                </a:cubicBezTo>
                <a:close/>
              </a:path>
            </a:pathLst>
          </a:custGeom>
          <a:solidFill>
            <a:srgbClr val="D4A056"/>
          </a:solidFill>
          <a:ln/>
        </p:spPr>
      </p:sp>
      <p:sp>
        <p:nvSpPr>
          <p:cNvPr id="54" name="Text 52"/>
          <p:cNvSpPr/>
          <p:nvPr/>
        </p:nvSpPr>
        <p:spPr>
          <a:xfrm>
            <a:off x="4344916" y="5937119"/>
            <a:ext cx="7425580" cy="434831"/>
          </a:xfrm>
          <a:prstGeom prst="rect">
            <a:avLst/>
          </a:prstGeom>
          <a:noFill/>
          <a:ln/>
        </p:spPr>
        <p:txBody>
          <a:bodyPr wrap="square" lIns="0" tIns="0" rIns="0" bIns="0" rtlCol="0" anchor="ctr"/>
          <a:lstStyle/>
          <a:p>
            <a:pPr>
              <a:lnSpc>
                <a:spcPct val="140000"/>
              </a:lnSpc>
            </a:pPr>
            <a:r>
              <a:rPr lang="en-US" sz="1053" b="1" dirty="0">
                <a:solidFill>
                  <a:srgbClr val="2C3531"/>
                </a:solidFill>
                <a:latin typeface="Liter" pitchFamily="34" charset="0"/>
                <a:ea typeface="Liter" pitchFamily="34" charset="-122"/>
                <a:cs typeface="Liter" pitchFamily="34" charset="-120"/>
              </a:rPr>
              <a:t>Critical Responsibility:</a:t>
            </a:r>
            <a:pPr>
              <a:lnSpc>
                <a:spcPct val="140000"/>
              </a:lnSpc>
            </a:pPr>
            <a:r>
              <a:rPr lang="en-US" sz="1053" dirty="0">
                <a:solidFill>
                  <a:srgbClr val="2C3531"/>
                </a:solidFill>
                <a:latin typeface="Liter" pitchFamily="34" charset="0"/>
                <a:ea typeface="Liter" pitchFamily="34" charset="-122"/>
                <a:cs typeface="Liter" pitchFamily="34" charset="-120"/>
              </a:rPr>
              <a:t> Plant health directly impacts crop yield and company revenue. Negligence in monitoring or failure to report issues promptly may result in disciplinary action.</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38667" y="338667"/>
            <a:ext cx="11573933" cy="169333"/>
          </a:xfrm>
          <a:prstGeom prst="rect">
            <a:avLst/>
          </a:prstGeom>
          <a:noFill/>
          <a:ln/>
        </p:spPr>
        <p:txBody>
          <a:bodyPr wrap="square" lIns="0" tIns="0" rIns="0" bIns="0" rtlCol="0" anchor="ctr"/>
          <a:lstStyle/>
          <a:p>
            <a:pPr>
              <a:lnSpc>
                <a:spcPct val="120000"/>
              </a:lnSpc>
            </a:pPr>
            <a:r>
              <a:rPr lang="en-US" sz="933" b="1" spc="93" kern="0" dirty="0">
                <a:solidFill>
                  <a:srgbClr val="A88B6A"/>
                </a:solidFill>
                <a:latin typeface="Liter" pitchFamily="34" charset="0"/>
                <a:ea typeface="Liter" pitchFamily="34" charset="-122"/>
                <a:cs typeface="Liter" pitchFamily="34" charset="-120"/>
              </a:rPr>
              <a:t>Section 4.2</a:t>
            </a:r>
            <a:endParaRPr lang="en-US" sz="1600" dirty="0"/>
          </a:p>
        </p:txBody>
      </p:sp>
      <p:sp>
        <p:nvSpPr>
          <p:cNvPr id="3" name="Text 1"/>
          <p:cNvSpPr/>
          <p:nvPr/>
        </p:nvSpPr>
        <p:spPr>
          <a:xfrm>
            <a:off x="338667" y="575733"/>
            <a:ext cx="11717867" cy="406400"/>
          </a:xfrm>
          <a:prstGeom prst="rect">
            <a:avLst/>
          </a:prstGeom>
          <a:noFill/>
          <a:ln/>
        </p:spPr>
        <p:txBody>
          <a:bodyPr wrap="square" lIns="0" tIns="0" rIns="0" bIns="0" rtlCol="0" anchor="ctr"/>
          <a:lstStyle/>
          <a:p>
            <a:pPr>
              <a:lnSpc>
                <a:spcPct val="80000"/>
              </a:lnSpc>
            </a:pPr>
            <a:r>
              <a:rPr lang="en-US" sz="3200" b="1" dirty="0">
                <a:solidFill>
                  <a:srgbClr val="4A5D52"/>
                </a:solidFill>
                <a:latin typeface="Oranienbaum" pitchFamily="34" charset="0"/>
                <a:ea typeface="Oranienbaum" pitchFamily="34" charset="-122"/>
                <a:cs typeface="Oranienbaum" pitchFamily="34" charset="-120"/>
              </a:rPr>
              <a:t>Area Maintenance &amp; Administration</a:t>
            </a:r>
            <a:endParaRPr lang="en-US" sz="1600" dirty="0"/>
          </a:p>
        </p:txBody>
      </p:sp>
      <p:sp>
        <p:nvSpPr>
          <p:cNvPr id="4" name="Shape 2"/>
          <p:cNvSpPr/>
          <p:nvPr/>
        </p:nvSpPr>
        <p:spPr>
          <a:xfrm>
            <a:off x="338667" y="1083733"/>
            <a:ext cx="677333" cy="33867"/>
          </a:xfrm>
          <a:custGeom>
            <a:avLst/>
            <a:gdLst/>
            <a:ahLst/>
            <a:cxnLst/>
            <a:rect l="l" t="t" r="r" b="b"/>
            <a:pathLst>
              <a:path w="677333" h="33867">
                <a:moveTo>
                  <a:pt x="0" y="0"/>
                </a:moveTo>
                <a:lnTo>
                  <a:pt x="677333" y="0"/>
                </a:lnTo>
                <a:lnTo>
                  <a:pt x="677333" y="33867"/>
                </a:lnTo>
                <a:lnTo>
                  <a:pt x="0" y="33867"/>
                </a:lnTo>
                <a:lnTo>
                  <a:pt x="0" y="0"/>
                </a:lnTo>
                <a:close/>
              </a:path>
            </a:pathLst>
          </a:custGeom>
          <a:solidFill>
            <a:srgbClr val="D4A056"/>
          </a:solidFill>
          <a:ln/>
        </p:spPr>
      </p:sp>
      <p:sp>
        <p:nvSpPr>
          <p:cNvPr id="5" name="Shape 3"/>
          <p:cNvSpPr/>
          <p:nvPr/>
        </p:nvSpPr>
        <p:spPr>
          <a:xfrm>
            <a:off x="338667" y="1286933"/>
            <a:ext cx="5655733" cy="4385733"/>
          </a:xfrm>
          <a:custGeom>
            <a:avLst/>
            <a:gdLst/>
            <a:ahLst/>
            <a:cxnLst/>
            <a:rect l="l" t="t" r="r" b="b"/>
            <a:pathLst>
              <a:path w="5655733" h="4385733">
                <a:moveTo>
                  <a:pt x="67716" y="0"/>
                </a:moveTo>
                <a:lnTo>
                  <a:pt x="5588018" y="0"/>
                </a:lnTo>
                <a:cubicBezTo>
                  <a:pt x="5625416" y="0"/>
                  <a:pt x="5655733" y="30317"/>
                  <a:pt x="5655733" y="67716"/>
                </a:cubicBezTo>
                <a:lnTo>
                  <a:pt x="5655733" y="4318018"/>
                </a:lnTo>
                <a:cubicBezTo>
                  <a:pt x="5655733" y="4355416"/>
                  <a:pt x="5625416" y="4385733"/>
                  <a:pt x="5588018" y="4385733"/>
                </a:cubicBezTo>
                <a:lnTo>
                  <a:pt x="67716" y="4385733"/>
                </a:lnTo>
                <a:cubicBezTo>
                  <a:pt x="30317" y="4385733"/>
                  <a:pt x="0" y="4355416"/>
                  <a:pt x="0" y="4318018"/>
                </a:cubicBezTo>
                <a:lnTo>
                  <a:pt x="0" y="67716"/>
                </a:lnTo>
                <a:cubicBezTo>
                  <a:pt x="0" y="30342"/>
                  <a:pt x="30342" y="0"/>
                  <a:pt x="67716" y="0"/>
                </a:cubicBezTo>
                <a:close/>
              </a:path>
            </a:pathLst>
          </a:custGeom>
          <a:solidFill>
            <a:srgbClr val="FFFFFF"/>
          </a:solidFill>
          <a:ln/>
          <a:effectLst>
            <a:outerShdw sx="100000" sy="100000" kx="0" ky="0" algn="bl" rotWithShape="0" blurRad="50800" dist="33867" dir="5400000">
              <a:srgbClr val="000000">
                <a:alpha val="10196"/>
              </a:srgbClr>
            </a:outerShdw>
          </a:effectLst>
        </p:spPr>
      </p:sp>
      <p:sp>
        <p:nvSpPr>
          <p:cNvPr id="6" name="Shape 4"/>
          <p:cNvSpPr/>
          <p:nvPr/>
        </p:nvSpPr>
        <p:spPr>
          <a:xfrm>
            <a:off x="541867" y="1490133"/>
            <a:ext cx="406400" cy="406400"/>
          </a:xfrm>
          <a:custGeom>
            <a:avLst/>
            <a:gdLst/>
            <a:ahLst/>
            <a:cxnLst/>
            <a:rect l="l" t="t" r="r" b="b"/>
            <a:pathLst>
              <a:path w="406400" h="406400">
                <a:moveTo>
                  <a:pt x="67735" y="0"/>
                </a:moveTo>
                <a:lnTo>
                  <a:pt x="338665" y="0"/>
                </a:lnTo>
                <a:cubicBezTo>
                  <a:pt x="376049" y="0"/>
                  <a:pt x="406400" y="30351"/>
                  <a:pt x="406400" y="67735"/>
                </a:cubicBezTo>
                <a:lnTo>
                  <a:pt x="406400" y="338665"/>
                </a:lnTo>
                <a:cubicBezTo>
                  <a:pt x="406400" y="376049"/>
                  <a:pt x="376049" y="406400"/>
                  <a:pt x="338665" y="406400"/>
                </a:cubicBezTo>
                <a:lnTo>
                  <a:pt x="67735" y="406400"/>
                </a:lnTo>
                <a:cubicBezTo>
                  <a:pt x="30351" y="406400"/>
                  <a:pt x="0" y="376049"/>
                  <a:pt x="0" y="338665"/>
                </a:cubicBezTo>
                <a:lnTo>
                  <a:pt x="0" y="67735"/>
                </a:lnTo>
                <a:cubicBezTo>
                  <a:pt x="0" y="30351"/>
                  <a:pt x="30351" y="0"/>
                  <a:pt x="67735" y="0"/>
                </a:cubicBezTo>
                <a:close/>
              </a:path>
            </a:pathLst>
          </a:custGeom>
          <a:solidFill>
            <a:srgbClr val="4A5D52"/>
          </a:solidFill>
          <a:ln/>
        </p:spPr>
      </p:sp>
      <p:sp>
        <p:nvSpPr>
          <p:cNvPr id="7" name="Shape 5"/>
          <p:cNvSpPr/>
          <p:nvPr/>
        </p:nvSpPr>
        <p:spPr>
          <a:xfrm>
            <a:off x="649817" y="1608667"/>
            <a:ext cx="190500" cy="169333"/>
          </a:xfrm>
          <a:custGeom>
            <a:avLst/>
            <a:gdLst/>
            <a:ahLst/>
            <a:cxnLst/>
            <a:rect l="l" t="t" r="r" b="b"/>
            <a:pathLst>
              <a:path w="190500" h="169333">
                <a:moveTo>
                  <a:pt x="187391" y="18058"/>
                </a:moveTo>
                <a:cubicBezTo>
                  <a:pt x="191525" y="13924"/>
                  <a:pt x="191525" y="7210"/>
                  <a:pt x="187391" y="3076"/>
                </a:cubicBezTo>
                <a:cubicBezTo>
                  <a:pt x="183257" y="-1058"/>
                  <a:pt x="176543" y="-1058"/>
                  <a:pt x="172409" y="3076"/>
                </a:cubicBezTo>
                <a:lnTo>
                  <a:pt x="108909" y="66576"/>
                </a:lnTo>
                <a:lnTo>
                  <a:pt x="97433" y="55099"/>
                </a:lnTo>
                <a:cubicBezTo>
                  <a:pt x="96044" y="53710"/>
                  <a:pt x="94126" y="52917"/>
                  <a:pt x="92141" y="52917"/>
                </a:cubicBezTo>
                <a:cubicBezTo>
                  <a:pt x="88007" y="52917"/>
                  <a:pt x="84667" y="56257"/>
                  <a:pt x="84667" y="60391"/>
                </a:cubicBezTo>
                <a:lnTo>
                  <a:pt x="84667" y="70015"/>
                </a:lnTo>
                <a:lnTo>
                  <a:pt x="120485" y="105833"/>
                </a:lnTo>
                <a:lnTo>
                  <a:pt x="130109" y="105833"/>
                </a:lnTo>
                <a:cubicBezTo>
                  <a:pt x="134243" y="105833"/>
                  <a:pt x="137583" y="102493"/>
                  <a:pt x="137583" y="98359"/>
                </a:cubicBezTo>
                <a:cubicBezTo>
                  <a:pt x="137583" y="96374"/>
                  <a:pt x="136790" y="94456"/>
                  <a:pt x="135401" y="93067"/>
                </a:cubicBezTo>
                <a:lnTo>
                  <a:pt x="123924" y="81591"/>
                </a:lnTo>
                <a:lnTo>
                  <a:pt x="187424" y="18091"/>
                </a:lnTo>
                <a:close/>
                <a:moveTo>
                  <a:pt x="112812" y="116880"/>
                </a:moveTo>
                <a:lnTo>
                  <a:pt x="73620" y="77688"/>
                </a:lnTo>
                <a:cubicBezTo>
                  <a:pt x="59498" y="76465"/>
                  <a:pt x="45442" y="81558"/>
                  <a:pt x="35322" y="91678"/>
                </a:cubicBezTo>
                <a:lnTo>
                  <a:pt x="32676" y="94324"/>
                </a:lnTo>
                <a:cubicBezTo>
                  <a:pt x="25301" y="101699"/>
                  <a:pt x="21167" y="111687"/>
                  <a:pt x="21167" y="122105"/>
                </a:cubicBezTo>
                <a:cubicBezTo>
                  <a:pt x="21167" y="124354"/>
                  <a:pt x="23515" y="125809"/>
                  <a:pt x="25532" y="124817"/>
                </a:cubicBezTo>
                <a:lnTo>
                  <a:pt x="42433" y="116384"/>
                </a:lnTo>
                <a:cubicBezTo>
                  <a:pt x="44086" y="115557"/>
                  <a:pt x="45574" y="117740"/>
                  <a:pt x="44218" y="118996"/>
                </a:cubicBezTo>
                <a:lnTo>
                  <a:pt x="2414" y="156567"/>
                </a:lnTo>
                <a:cubicBezTo>
                  <a:pt x="893" y="157956"/>
                  <a:pt x="0" y="159941"/>
                  <a:pt x="0" y="162024"/>
                </a:cubicBezTo>
                <a:cubicBezTo>
                  <a:pt x="0" y="166059"/>
                  <a:pt x="3274" y="169333"/>
                  <a:pt x="7309" y="169333"/>
                </a:cubicBezTo>
                <a:lnTo>
                  <a:pt x="64624" y="169333"/>
                </a:lnTo>
                <a:cubicBezTo>
                  <a:pt x="77457" y="169333"/>
                  <a:pt x="89727" y="164240"/>
                  <a:pt x="98822" y="155178"/>
                </a:cubicBezTo>
                <a:cubicBezTo>
                  <a:pt x="108942" y="145058"/>
                  <a:pt x="114002" y="131002"/>
                  <a:pt x="112812" y="116880"/>
                </a:cubicBezTo>
                <a:close/>
              </a:path>
            </a:pathLst>
          </a:custGeom>
          <a:solidFill>
            <a:srgbClr val="F8F7F2"/>
          </a:solidFill>
          <a:ln/>
        </p:spPr>
      </p:sp>
      <p:sp>
        <p:nvSpPr>
          <p:cNvPr id="8" name="Text 6"/>
          <p:cNvSpPr/>
          <p:nvPr/>
        </p:nvSpPr>
        <p:spPr>
          <a:xfrm>
            <a:off x="1049867" y="1562100"/>
            <a:ext cx="2048933" cy="262467"/>
          </a:xfrm>
          <a:prstGeom prst="rect">
            <a:avLst/>
          </a:prstGeom>
          <a:noFill/>
          <a:ln/>
        </p:spPr>
        <p:txBody>
          <a:bodyPr wrap="square" lIns="0" tIns="0" rIns="0" bIns="0" rtlCol="0" anchor="ctr"/>
          <a:lstStyle/>
          <a:p>
            <a:pPr>
              <a:lnSpc>
                <a:spcPct val="110000"/>
              </a:lnSpc>
            </a:pPr>
            <a:r>
              <a:rPr lang="en-US" sz="1600" b="1" dirty="0">
                <a:solidFill>
                  <a:srgbClr val="4A5D52"/>
                </a:solidFill>
                <a:latin typeface="Unna" pitchFamily="34" charset="0"/>
                <a:ea typeface="Unna" pitchFamily="34" charset="-122"/>
                <a:cs typeface="Unna" pitchFamily="34" charset="-120"/>
              </a:rPr>
              <a:t>Plant Area Cleanliness</a:t>
            </a:r>
            <a:endParaRPr lang="en-US" sz="1600" dirty="0"/>
          </a:p>
        </p:txBody>
      </p:sp>
      <p:sp>
        <p:nvSpPr>
          <p:cNvPr id="9" name="Text 7"/>
          <p:cNvSpPr/>
          <p:nvPr/>
        </p:nvSpPr>
        <p:spPr>
          <a:xfrm>
            <a:off x="541867" y="2065867"/>
            <a:ext cx="5317067" cy="440267"/>
          </a:xfrm>
          <a:prstGeom prst="rect">
            <a:avLst/>
          </a:prstGeom>
          <a:noFill/>
          <a:ln/>
        </p:spPr>
        <p:txBody>
          <a:bodyPr wrap="square" lIns="0" tIns="0" rIns="0" bIns="0" rtlCol="0" anchor="ctr"/>
          <a:lstStyle/>
          <a:p>
            <a:pPr>
              <a:lnSpc>
                <a:spcPct val="140000"/>
              </a:lnSpc>
            </a:pPr>
            <a:r>
              <a:rPr lang="en-US" sz="1067" dirty="0">
                <a:solidFill>
                  <a:srgbClr val="2C3531"/>
                </a:solidFill>
                <a:latin typeface="Liter" pitchFamily="34" charset="0"/>
                <a:ea typeface="Liter" pitchFamily="34" charset="-122"/>
                <a:cs typeface="Liter" pitchFamily="34" charset="-120"/>
              </a:rPr>
              <a:t>Employee must maintain a clean, organized, and sanitary work environment throughout the greenhouse facility to prevent disease, pests, and workplace hazards.</a:t>
            </a:r>
            <a:endParaRPr lang="en-US" sz="1600" dirty="0"/>
          </a:p>
        </p:txBody>
      </p:sp>
      <p:sp>
        <p:nvSpPr>
          <p:cNvPr id="10" name="Shape 8"/>
          <p:cNvSpPr/>
          <p:nvPr/>
        </p:nvSpPr>
        <p:spPr>
          <a:xfrm>
            <a:off x="541867" y="2675467"/>
            <a:ext cx="5249333" cy="575733"/>
          </a:xfrm>
          <a:custGeom>
            <a:avLst/>
            <a:gdLst/>
            <a:ahLst/>
            <a:cxnLst/>
            <a:rect l="l" t="t" r="r" b="b"/>
            <a:pathLst>
              <a:path w="5249333" h="575733">
                <a:moveTo>
                  <a:pt x="67735" y="0"/>
                </a:moveTo>
                <a:lnTo>
                  <a:pt x="5181598" y="0"/>
                </a:lnTo>
                <a:cubicBezTo>
                  <a:pt x="5219007" y="0"/>
                  <a:pt x="5249333" y="30326"/>
                  <a:pt x="5249333" y="67735"/>
                </a:cubicBezTo>
                <a:lnTo>
                  <a:pt x="5249333" y="507998"/>
                </a:lnTo>
                <a:cubicBezTo>
                  <a:pt x="5249333" y="545407"/>
                  <a:pt x="5219007" y="575733"/>
                  <a:pt x="5181598" y="575733"/>
                </a:cubicBezTo>
                <a:lnTo>
                  <a:pt x="67735" y="575733"/>
                </a:lnTo>
                <a:cubicBezTo>
                  <a:pt x="30351" y="575733"/>
                  <a:pt x="0" y="545382"/>
                  <a:pt x="0" y="507998"/>
                </a:cubicBezTo>
                <a:lnTo>
                  <a:pt x="0" y="67735"/>
                </a:lnTo>
                <a:cubicBezTo>
                  <a:pt x="0" y="30351"/>
                  <a:pt x="30351" y="0"/>
                  <a:pt x="67735" y="0"/>
                </a:cubicBezTo>
                <a:close/>
              </a:path>
            </a:pathLst>
          </a:custGeom>
          <a:solidFill>
            <a:srgbClr val="4A5D52">
              <a:alpha val="5098"/>
            </a:srgbClr>
          </a:solidFill>
          <a:ln/>
        </p:spPr>
      </p:sp>
      <p:sp>
        <p:nvSpPr>
          <p:cNvPr id="11" name="Shape 9"/>
          <p:cNvSpPr/>
          <p:nvPr/>
        </p:nvSpPr>
        <p:spPr>
          <a:xfrm>
            <a:off x="655108" y="2810933"/>
            <a:ext cx="171450" cy="152400"/>
          </a:xfrm>
          <a:custGeom>
            <a:avLst/>
            <a:gdLst/>
            <a:ahLst/>
            <a:cxnLst/>
            <a:rect l="l" t="t" r="r" b="b"/>
            <a:pathLst>
              <a:path w="171450" h="152400">
                <a:moveTo>
                  <a:pt x="168652" y="16252"/>
                </a:moveTo>
                <a:cubicBezTo>
                  <a:pt x="172373" y="12531"/>
                  <a:pt x="172373" y="6489"/>
                  <a:pt x="168652" y="2768"/>
                </a:cubicBezTo>
                <a:cubicBezTo>
                  <a:pt x="164931" y="-952"/>
                  <a:pt x="158889" y="-952"/>
                  <a:pt x="155168" y="2768"/>
                </a:cubicBezTo>
                <a:lnTo>
                  <a:pt x="98018" y="59918"/>
                </a:lnTo>
                <a:lnTo>
                  <a:pt x="87690" y="49590"/>
                </a:lnTo>
                <a:cubicBezTo>
                  <a:pt x="86439" y="48339"/>
                  <a:pt x="84713" y="47625"/>
                  <a:pt x="82927" y="47625"/>
                </a:cubicBezTo>
                <a:cubicBezTo>
                  <a:pt x="79206" y="47625"/>
                  <a:pt x="76200" y="50631"/>
                  <a:pt x="76200" y="54352"/>
                </a:cubicBezTo>
                <a:lnTo>
                  <a:pt x="76200" y="63014"/>
                </a:lnTo>
                <a:lnTo>
                  <a:pt x="108436" y="95250"/>
                </a:lnTo>
                <a:lnTo>
                  <a:pt x="117098" y="95250"/>
                </a:lnTo>
                <a:cubicBezTo>
                  <a:pt x="120819" y="95250"/>
                  <a:pt x="123825" y="92244"/>
                  <a:pt x="123825" y="88523"/>
                </a:cubicBezTo>
                <a:cubicBezTo>
                  <a:pt x="123825" y="86737"/>
                  <a:pt x="123111" y="85011"/>
                  <a:pt x="121860" y="83760"/>
                </a:cubicBezTo>
                <a:lnTo>
                  <a:pt x="111532" y="73432"/>
                </a:lnTo>
                <a:lnTo>
                  <a:pt x="168682" y="16282"/>
                </a:lnTo>
                <a:close/>
                <a:moveTo>
                  <a:pt x="101531" y="105192"/>
                </a:moveTo>
                <a:lnTo>
                  <a:pt x="66258" y="69919"/>
                </a:lnTo>
                <a:cubicBezTo>
                  <a:pt x="53548" y="68818"/>
                  <a:pt x="40898" y="73402"/>
                  <a:pt x="31790" y="82510"/>
                </a:cubicBezTo>
                <a:lnTo>
                  <a:pt x="29408" y="84892"/>
                </a:lnTo>
                <a:cubicBezTo>
                  <a:pt x="22771" y="91529"/>
                  <a:pt x="19050" y="100519"/>
                  <a:pt x="19050" y="109895"/>
                </a:cubicBezTo>
                <a:cubicBezTo>
                  <a:pt x="19050" y="111919"/>
                  <a:pt x="21163" y="113228"/>
                  <a:pt x="22979" y="112335"/>
                </a:cubicBezTo>
                <a:lnTo>
                  <a:pt x="38189" y="104745"/>
                </a:lnTo>
                <a:cubicBezTo>
                  <a:pt x="39678" y="104001"/>
                  <a:pt x="41017" y="105966"/>
                  <a:pt x="39797" y="107097"/>
                </a:cubicBezTo>
                <a:lnTo>
                  <a:pt x="2173" y="140910"/>
                </a:lnTo>
                <a:cubicBezTo>
                  <a:pt x="804" y="142161"/>
                  <a:pt x="0" y="143947"/>
                  <a:pt x="0" y="145822"/>
                </a:cubicBezTo>
                <a:cubicBezTo>
                  <a:pt x="0" y="149453"/>
                  <a:pt x="2947" y="152400"/>
                  <a:pt x="6578" y="152400"/>
                </a:cubicBezTo>
                <a:lnTo>
                  <a:pt x="58162" y="152400"/>
                </a:lnTo>
                <a:cubicBezTo>
                  <a:pt x="69711" y="152400"/>
                  <a:pt x="80754" y="147816"/>
                  <a:pt x="88940" y="139660"/>
                </a:cubicBezTo>
                <a:cubicBezTo>
                  <a:pt x="98048" y="130552"/>
                  <a:pt x="102602" y="117902"/>
                  <a:pt x="101531" y="105192"/>
                </a:cubicBezTo>
                <a:close/>
              </a:path>
            </a:pathLst>
          </a:custGeom>
          <a:solidFill>
            <a:srgbClr val="4A5D52"/>
          </a:solidFill>
          <a:ln/>
        </p:spPr>
      </p:sp>
      <p:sp>
        <p:nvSpPr>
          <p:cNvPr id="12" name="Text 10"/>
          <p:cNvSpPr/>
          <p:nvPr/>
        </p:nvSpPr>
        <p:spPr>
          <a:xfrm>
            <a:off x="935567" y="2777067"/>
            <a:ext cx="3462867" cy="203200"/>
          </a:xfrm>
          <a:prstGeom prst="rect">
            <a:avLst/>
          </a:prstGeom>
          <a:noFill/>
          <a:ln/>
        </p:spPr>
        <p:txBody>
          <a:bodyPr wrap="square" lIns="0" tIns="0" rIns="0" bIns="0" rtlCol="0" anchor="ctr"/>
          <a:lstStyle/>
          <a:p>
            <a:pPr>
              <a:lnSpc>
                <a:spcPct val="130000"/>
              </a:lnSpc>
            </a:pPr>
            <a:r>
              <a:rPr lang="en-US" sz="1067" b="1" dirty="0">
                <a:solidFill>
                  <a:srgbClr val="2C3531"/>
                </a:solidFill>
                <a:latin typeface="Liter" pitchFamily="34" charset="0"/>
                <a:ea typeface="Liter" pitchFamily="34" charset="-122"/>
                <a:cs typeface="Liter" pitchFamily="34" charset="-120"/>
              </a:rPr>
              <a:t>Daily Cleaning</a:t>
            </a:r>
            <a:endParaRPr lang="en-US" sz="1600" dirty="0"/>
          </a:p>
        </p:txBody>
      </p:sp>
      <p:sp>
        <p:nvSpPr>
          <p:cNvPr id="13" name="Text 11"/>
          <p:cNvSpPr/>
          <p:nvPr/>
        </p:nvSpPr>
        <p:spPr>
          <a:xfrm>
            <a:off x="935567" y="2980267"/>
            <a:ext cx="3454400" cy="169333"/>
          </a:xfrm>
          <a:prstGeom prst="rect">
            <a:avLst/>
          </a:prstGeom>
          <a:noFill/>
          <a:ln/>
        </p:spPr>
        <p:txBody>
          <a:bodyPr wrap="square" lIns="0" tIns="0" rIns="0" bIns="0" rtlCol="0" anchor="ctr"/>
          <a:lstStyle/>
          <a:p>
            <a:pPr>
              <a:lnSpc>
                <a:spcPct val="120000"/>
              </a:lnSpc>
            </a:pPr>
            <a:r>
              <a:rPr lang="en-US" sz="933" dirty="0">
                <a:solidFill>
                  <a:srgbClr val="2C3531">
                    <a:alpha val="70000"/>
                  </a:srgbClr>
                </a:solidFill>
                <a:latin typeface="Liter" pitchFamily="34" charset="0"/>
                <a:ea typeface="Liter" pitchFamily="34" charset="-122"/>
                <a:cs typeface="Liter" pitchFamily="34" charset="-120"/>
              </a:rPr>
              <a:t>Sweep walkways, remove plant debris, and sanitize work surfaces</a:t>
            </a:r>
            <a:endParaRPr lang="en-US" sz="1600" dirty="0"/>
          </a:p>
        </p:txBody>
      </p:sp>
      <p:sp>
        <p:nvSpPr>
          <p:cNvPr id="14" name="Shape 12"/>
          <p:cNvSpPr/>
          <p:nvPr/>
        </p:nvSpPr>
        <p:spPr>
          <a:xfrm>
            <a:off x="541867" y="3352800"/>
            <a:ext cx="5249333" cy="575733"/>
          </a:xfrm>
          <a:custGeom>
            <a:avLst/>
            <a:gdLst/>
            <a:ahLst/>
            <a:cxnLst/>
            <a:rect l="l" t="t" r="r" b="b"/>
            <a:pathLst>
              <a:path w="5249333" h="575733">
                <a:moveTo>
                  <a:pt x="67735" y="0"/>
                </a:moveTo>
                <a:lnTo>
                  <a:pt x="5181598" y="0"/>
                </a:lnTo>
                <a:cubicBezTo>
                  <a:pt x="5219007" y="0"/>
                  <a:pt x="5249333" y="30326"/>
                  <a:pt x="5249333" y="67735"/>
                </a:cubicBezTo>
                <a:lnTo>
                  <a:pt x="5249333" y="507998"/>
                </a:lnTo>
                <a:cubicBezTo>
                  <a:pt x="5249333" y="545407"/>
                  <a:pt x="5219007" y="575733"/>
                  <a:pt x="5181598" y="575733"/>
                </a:cubicBezTo>
                <a:lnTo>
                  <a:pt x="67735" y="575733"/>
                </a:lnTo>
                <a:cubicBezTo>
                  <a:pt x="30351" y="575733"/>
                  <a:pt x="0" y="545382"/>
                  <a:pt x="0" y="507998"/>
                </a:cubicBezTo>
                <a:lnTo>
                  <a:pt x="0" y="67735"/>
                </a:lnTo>
                <a:cubicBezTo>
                  <a:pt x="0" y="30351"/>
                  <a:pt x="30351" y="0"/>
                  <a:pt x="67735" y="0"/>
                </a:cubicBezTo>
                <a:close/>
              </a:path>
            </a:pathLst>
          </a:custGeom>
          <a:solidFill>
            <a:srgbClr val="A88B6A">
              <a:alpha val="5098"/>
            </a:srgbClr>
          </a:solidFill>
          <a:ln/>
        </p:spPr>
      </p:sp>
      <p:sp>
        <p:nvSpPr>
          <p:cNvPr id="15" name="Shape 13"/>
          <p:cNvSpPr/>
          <p:nvPr/>
        </p:nvSpPr>
        <p:spPr>
          <a:xfrm>
            <a:off x="674158" y="3488267"/>
            <a:ext cx="133350" cy="152400"/>
          </a:xfrm>
          <a:custGeom>
            <a:avLst/>
            <a:gdLst/>
            <a:ahLst/>
            <a:cxnLst/>
            <a:rect l="l" t="t" r="r" b="b"/>
            <a:pathLst>
              <a:path w="133350" h="152400">
                <a:moveTo>
                  <a:pt x="40690" y="1756"/>
                </a:moveTo>
                <a:cubicBezTo>
                  <a:pt x="41999" y="-2143"/>
                  <a:pt x="45631" y="-4762"/>
                  <a:pt x="49738" y="-4762"/>
                </a:cubicBezTo>
                <a:lnTo>
                  <a:pt x="83641" y="-4762"/>
                </a:lnTo>
                <a:cubicBezTo>
                  <a:pt x="87749" y="-4762"/>
                  <a:pt x="91380" y="-2143"/>
                  <a:pt x="92690" y="1756"/>
                </a:cubicBezTo>
                <a:lnTo>
                  <a:pt x="95250" y="9525"/>
                </a:lnTo>
                <a:lnTo>
                  <a:pt x="123825" y="9525"/>
                </a:lnTo>
                <a:cubicBezTo>
                  <a:pt x="129094" y="9525"/>
                  <a:pt x="133350" y="13781"/>
                  <a:pt x="133350" y="19050"/>
                </a:cubicBezTo>
                <a:cubicBezTo>
                  <a:pt x="133350" y="24319"/>
                  <a:pt x="129094" y="28575"/>
                  <a:pt x="123825" y="28575"/>
                </a:cubicBezTo>
                <a:lnTo>
                  <a:pt x="9525" y="28575"/>
                </a:lnTo>
                <a:cubicBezTo>
                  <a:pt x="4256" y="28575"/>
                  <a:pt x="0" y="24319"/>
                  <a:pt x="0" y="19050"/>
                </a:cubicBezTo>
                <a:cubicBezTo>
                  <a:pt x="0" y="13781"/>
                  <a:pt x="4256" y="9525"/>
                  <a:pt x="9525" y="9525"/>
                </a:cubicBezTo>
                <a:lnTo>
                  <a:pt x="38100" y="9525"/>
                </a:lnTo>
                <a:lnTo>
                  <a:pt x="40690" y="1756"/>
                </a:lnTo>
                <a:close/>
                <a:moveTo>
                  <a:pt x="9525" y="42863"/>
                </a:moveTo>
                <a:lnTo>
                  <a:pt x="123825" y="42863"/>
                </a:lnTo>
                <a:lnTo>
                  <a:pt x="123825" y="133350"/>
                </a:lnTo>
                <a:cubicBezTo>
                  <a:pt x="123825" y="143857"/>
                  <a:pt x="115282" y="152400"/>
                  <a:pt x="104775" y="152400"/>
                </a:cubicBezTo>
                <a:lnTo>
                  <a:pt x="28575" y="152400"/>
                </a:lnTo>
                <a:cubicBezTo>
                  <a:pt x="18068" y="152400"/>
                  <a:pt x="9525" y="143857"/>
                  <a:pt x="9525" y="133350"/>
                </a:cubicBezTo>
                <a:lnTo>
                  <a:pt x="9525" y="42863"/>
                </a:lnTo>
                <a:close/>
                <a:moveTo>
                  <a:pt x="35719" y="61912"/>
                </a:moveTo>
                <a:cubicBezTo>
                  <a:pt x="31760" y="61912"/>
                  <a:pt x="28575" y="65097"/>
                  <a:pt x="28575" y="69056"/>
                </a:cubicBezTo>
                <a:lnTo>
                  <a:pt x="28575" y="126206"/>
                </a:lnTo>
                <a:cubicBezTo>
                  <a:pt x="28575" y="130165"/>
                  <a:pt x="31760" y="133350"/>
                  <a:pt x="35719" y="133350"/>
                </a:cubicBezTo>
                <a:cubicBezTo>
                  <a:pt x="39678" y="133350"/>
                  <a:pt x="42863" y="130165"/>
                  <a:pt x="42863" y="126206"/>
                </a:cubicBezTo>
                <a:lnTo>
                  <a:pt x="42863" y="69056"/>
                </a:lnTo>
                <a:cubicBezTo>
                  <a:pt x="42863" y="65097"/>
                  <a:pt x="39678" y="61912"/>
                  <a:pt x="35719" y="61912"/>
                </a:cubicBezTo>
                <a:close/>
                <a:moveTo>
                  <a:pt x="66675" y="61912"/>
                </a:moveTo>
                <a:cubicBezTo>
                  <a:pt x="62716" y="61912"/>
                  <a:pt x="59531" y="65097"/>
                  <a:pt x="59531" y="69056"/>
                </a:cubicBezTo>
                <a:lnTo>
                  <a:pt x="59531" y="126206"/>
                </a:lnTo>
                <a:cubicBezTo>
                  <a:pt x="59531" y="130165"/>
                  <a:pt x="62716" y="133350"/>
                  <a:pt x="66675" y="133350"/>
                </a:cubicBezTo>
                <a:cubicBezTo>
                  <a:pt x="70634" y="133350"/>
                  <a:pt x="73819" y="130165"/>
                  <a:pt x="73819" y="126206"/>
                </a:cubicBezTo>
                <a:lnTo>
                  <a:pt x="73819" y="69056"/>
                </a:lnTo>
                <a:cubicBezTo>
                  <a:pt x="73819" y="65097"/>
                  <a:pt x="70634" y="61912"/>
                  <a:pt x="66675" y="61912"/>
                </a:cubicBezTo>
                <a:close/>
                <a:moveTo>
                  <a:pt x="97631" y="61912"/>
                </a:moveTo>
                <a:cubicBezTo>
                  <a:pt x="93672" y="61912"/>
                  <a:pt x="90488" y="65097"/>
                  <a:pt x="90488" y="69056"/>
                </a:cubicBezTo>
                <a:lnTo>
                  <a:pt x="90488" y="126206"/>
                </a:lnTo>
                <a:cubicBezTo>
                  <a:pt x="90488" y="130165"/>
                  <a:pt x="93672" y="133350"/>
                  <a:pt x="97631" y="133350"/>
                </a:cubicBezTo>
                <a:cubicBezTo>
                  <a:pt x="101590" y="133350"/>
                  <a:pt x="104775" y="130165"/>
                  <a:pt x="104775" y="126206"/>
                </a:cubicBezTo>
                <a:lnTo>
                  <a:pt x="104775" y="69056"/>
                </a:lnTo>
                <a:cubicBezTo>
                  <a:pt x="104775" y="65097"/>
                  <a:pt x="101590" y="61912"/>
                  <a:pt x="97631" y="61912"/>
                </a:cubicBezTo>
                <a:close/>
              </a:path>
            </a:pathLst>
          </a:custGeom>
          <a:solidFill>
            <a:srgbClr val="A88B6A"/>
          </a:solidFill>
          <a:ln/>
        </p:spPr>
      </p:sp>
      <p:sp>
        <p:nvSpPr>
          <p:cNvPr id="16" name="Text 14"/>
          <p:cNvSpPr/>
          <p:nvPr/>
        </p:nvSpPr>
        <p:spPr>
          <a:xfrm>
            <a:off x="935567" y="3454400"/>
            <a:ext cx="3598333" cy="203200"/>
          </a:xfrm>
          <a:prstGeom prst="rect">
            <a:avLst/>
          </a:prstGeom>
          <a:noFill/>
          <a:ln/>
        </p:spPr>
        <p:txBody>
          <a:bodyPr wrap="square" lIns="0" tIns="0" rIns="0" bIns="0" rtlCol="0" anchor="ctr"/>
          <a:lstStyle/>
          <a:p>
            <a:pPr>
              <a:lnSpc>
                <a:spcPct val="130000"/>
              </a:lnSpc>
            </a:pPr>
            <a:r>
              <a:rPr lang="en-US" sz="1067" b="1" dirty="0">
                <a:solidFill>
                  <a:srgbClr val="2C3531"/>
                </a:solidFill>
                <a:latin typeface="Liter" pitchFamily="34" charset="0"/>
                <a:ea typeface="Liter" pitchFamily="34" charset="-122"/>
                <a:cs typeface="Liter" pitchFamily="34" charset="-120"/>
              </a:rPr>
              <a:t>Waste Disposal</a:t>
            </a:r>
            <a:endParaRPr lang="en-US" sz="1600" dirty="0"/>
          </a:p>
        </p:txBody>
      </p:sp>
      <p:sp>
        <p:nvSpPr>
          <p:cNvPr id="17" name="Text 15"/>
          <p:cNvSpPr/>
          <p:nvPr/>
        </p:nvSpPr>
        <p:spPr>
          <a:xfrm>
            <a:off x="935567" y="3657600"/>
            <a:ext cx="3589867" cy="169333"/>
          </a:xfrm>
          <a:prstGeom prst="rect">
            <a:avLst/>
          </a:prstGeom>
          <a:noFill/>
          <a:ln/>
        </p:spPr>
        <p:txBody>
          <a:bodyPr wrap="square" lIns="0" tIns="0" rIns="0" bIns="0" rtlCol="0" anchor="ctr"/>
          <a:lstStyle/>
          <a:p>
            <a:pPr>
              <a:lnSpc>
                <a:spcPct val="120000"/>
              </a:lnSpc>
            </a:pPr>
            <a:r>
              <a:rPr lang="en-US" sz="933" dirty="0">
                <a:solidFill>
                  <a:srgbClr val="2C3531">
                    <a:alpha val="70000"/>
                  </a:srgbClr>
                </a:solidFill>
                <a:latin typeface="Liter" pitchFamily="34" charset="0"/>
                <a:ea typeface="Liter" pitchFamily="34" charset="-122"/>
                <a:cs typeface="Liter" pitchFamily="34" charset="-120"/>
              </a:rPr>
              <a:t>Properly dispose of dead leaves, damaged plants, and organic waste</a:t>
            </a:r>
            <a:endParaRPr lang="en-US" sz="1600" dirty="0"/>
          </a:p>
        </p:txBody>
      </p:sp>
      <p:sp>
        <p:nvSpPr>
          <p:cNvPr id="18" name="Shape 16"/>
          <p:cNvSpPr/>
          <p:nvPr/>
        </p:nvSpPr>
        <p:spPr>
          <a:xfrm>
            <a:off x="541867" y="4030133"/>
            <a:ext cx="5249333" cy="575733"/>
          </a:xfrm>
          <a:custGeom>
            <a:avLst/>
            <a:gdLst/>
            <a:ahLst/>
            <a:cxnLst/>
            <a:rect l="l" t="t" r="r" b="b"/>
            <a:pathLst>
              <a:path w="5249333" h="575733">
                <a:moveTo>
                  <a:pt x="67735" y="0"/>
                </a:moveTo>
                <a:lnTo>
                  <a:pt x="5181598" y="0"/>
                </a:lnTo>
                <a:cubicBezTo>
                  <a:pt x="5219007" y="0"/>
                  <a:pt x="5249333" y="30326"/>
                  <a:pt x="5249333" y="67735"/>
                </a:cubicBezTo>
                <a:lnTo>
                  <a:pt x="5249333" y="507998"/>
                </a:lnTo>
                <a:cubicBezTo>
                  <a:pt x="5249333" y="545407"/>
                  <a:pt x="5219007" y="575733"/>
                  <a:pt x="5181598" y="575733"/>
                </a:cubicBezTo>
                <a:lnTo>
                  <a:pt x="67735" y="575733"/>
                </a:lnTo>
                <a:cubicBezTo>
                  <a:pt x="30351" y="575733"/>
                  <a:pt x="0" y="545382"/>
                  <a:pt x="0" y="507998"/>
                </a:cubicBezTo>
                <a:lnTo>
                  <a:pt x="0" y="67735"/>
                </a:lnTo>
                <a:cubicBezTo>
                  <a:pt x="0" y="30351"/>
                  <a:pt x="30351" y="0"/>
                  <a:pt x="67735" y="0"/>
                </a:cubicBezTo>
                <a:close/>
              </a:path>
            </a:pathLst>
          </a:custGeom>
          <a:solidFill>
            <a:srgbClr val="D4A056">
              <a:alpha val="5098"/>
            </a:srgbClr>
          </a:solidFill>
          <a:ln/>
        </p:spPr>
      </p:sp>
      <p:sp>
        <p:nvSpPr>
          <p:cNvPr id="19" name="Shape 17"/>
          <p:cNvSpPr/>
          <p:nvPr/>
        </p:nvSpPr>
        <p:spPr>
          <a:xfrm>
            <a:off x="655108" y="4165600"/>
            <a:ext cx="171450" cy="152400"/>
          </a:xfrm>
          <a:custGeom>
            <a:avLst/>
            <a:gdLst/>
            <a:ahLst/>
            <a:cxnLst/>
            <a:rect l="l" t="t" r="r" b="b"/>
            <a:pathLst>
              <a:path w="171450" h="152400">
                <a:moveTo>
                  <a:pt x="66705" y="28902"/>
                </a:moveTo>
                <a:lnTo>
                  <a:pt x="66705" y="43666"/>
                </a:lnTo>
                <a:lnTo>
                  <a:pt x="66854" y="43815"/>
                </a:lnTo>
                <a:cubicBezTo>
                  <a:pt x="68788" y="19288"/>
                  <a:pt x="89297" y="0"/>
                  <a:pt x="114330" y="0"/>
                </a:cubicBezTo>
                <a:cubicBezTo>
                  <a:pt x="120313" y="0"/>
                  <a:pt x="126057" y="1101"/>
                  <a:pt x="131326" y="3125"/>
                </a:cubicBezTo>
                <a:cubicBezTo>
                  <a:pt x="134303" y="4256"/>
                  <a:pt x="134838" y="8037"/>
                  <a:pt x="132606" y="10299"/>
                </a:cubicBezTo>
                <a:lnTo>
                  <a:pt x="106204" y="36701"/>
                </a:lnTo>
                <a:cubicBezTo>
                  <a:pt x="105311" y="37594"/>
                  <a:pt x="104805" y="38814"/>
                  <a:pt x="104805" y="40065"/>
                </a:cubicBezTo>
                <a:lnTo>
                  <a:pt x="104805" y="52388"/>
                </a:lnTo>
                <a:cubicBezTo>
                  <a:pt x="104805" y="55007"/>
                  <a:pt x="106948" y="57150"/>
                  <a:pt x="109567" y="57150"/>
                </a:cubicBezTo>
                <a:lnTo>
                  <a:pt x="121890" y="57150"/>
                </a:lnTo>
                <a:cubicBezTo>
                  <a:pt x="123140" y="57150"/>
                  <a:pt x="124361" y="56644"/>
                  <a:pt x="125254" y="55751"/>
                </a:cubicBezTo>
                <a:lnTo>
                  <a:pt x="151656" y="29349"/>
                </a:lnTo>
                <a:cubicBezTo>
                  <a:pt x="153918" y="27087"/>
                  <a:pt x="157698" y="27652"/>
                  <a:pt x="158829" y="30629"/>
                </a:cubicBezTo>
                <a:cubicBezTo>
                  <a:pt x="160853" y="35897"/>
                  <a:pt x="161955" y="41642"/>
                  <a:pt x="161955" y="47625"/>
                </a:cubicBezTo>
                <a:cubicBezTo>
                  <a:pt x="161955" y="65663"/>
                  <a:pt x="151924" y="81379"/>
                  <a:pt x="137100" y="89446"/>
                </a:cubicBezTo>
                <a:lnTo>
                  <a:pt x="161359" y="113705"/>
                </a:lnTo>
                <a:cubicBezTo>
                  <a:pt x="166926" y="119271"/>
                  <a:pt x="166926" y="128320"/>
                  <a:pt x="161359" y="133916"/>
                </a:cubicBezTo>
                <a:lnTo>
                  <a:pt x="143470" y="151805"/>
                </a:lnTo>
                <a:cubicBezTo>
                  <a:pt x="137904" y="157371"/>
                  <a:pt x="128855" y="157371"/>
                  <a:pt x="123259" y="151805"/>
                </a:cubicBezTo>
                <a:lnTo>
                  <a:pt x="85755" y="114300"/>
                </a:lnTo>
                <a:cubicBezTo>
                  <a:pt x="77599" y="106144"/>
                  <a:pt x="75754" y="94089"/>
                  <a:pt x="80248" y="84147"/>
                </a:cubicBezTo>
                <a:lnTo>
                  <a:pt x="53251" y="57150"/>
                </a:lnTo>
                <a:lnTo>
                  <a:pt x="38487" y="57150"/>
                </a:lnTo>
                <a:cubicBezTo>
                  <a:pt x="35302" y="57150"/>
                  <a:pt x="32325" y="55572"/>
                  <a:pt x="30569" y="52923"/>
                </a:cubicBezTo>
                <a:lnTo>
                  <a:pt x="6965" y="17532"/>
                </a:lnTo>
                <a:cubicBezTo>
                  <a:pt x="5715" y="15657"/>
                  <a:pt x="5953" y="13127"/>
                  <a:pt x="7560" y="11519"/>
                </a:cubicBezTo>
                <a:lnTo>
                  <a:pt x="21074" y="-1994"/>
                </a:lnTo>
                <a:cubicBezTo>
                  <a:pt x="22681" y="-3602"/>
                  <a:pt x="25182" y="-3840"/>
                  <a:pt x="27087" y="-2590"/>
                </a:cubicBezTo>
                <a:lnTo>
                  <a:pt x="62478" y="20985"/>
                </a:lnTo>
                <a:cubicBezTo>
                  <a:pt x="65127" y="22741"/>
                  <a:pt x="66705" y="25718"/>
                  <a:pt x="66705" y="28902"/>
                </a:cubicBezTo>
                <a:close/>
                <a:moveTo>
                  <a:pt x="64175" y="88285"/>
                </a:moveTo>
                <a:cubicBezTo>
                  <a:pt x="62299" y="99298"/>
                  <a:pt x="64889" y="110936"/>
                  <a:pt x="72033" y="120253"/>
                </a:cubicBezTo>
                <a:lnTo>
                  <a:pt x="43755" y="148501"/>
                </a:lnTo>
                <a:cubicBezTo>
                  <a:pt x="35391" y="156865"/>
                  <a:pt x="21818" y="156865"/>
                  <a:pt x="13454" y="148501"/>
                </a:cubicBezTo>
                <a:cubicBezTo>
                  <a:pt x="5090" y="140137"/>
                  <a:pt x="5090" y="126563"/>
                  <a:pt x="13454" y="118199"/>
                </a:cubicBezTo>
                <a:lnTo>
                  <a:pt x="53757" y="77897"/>
                </a:lnTo>
                <a:lnTo>
                  <a:pt x="64175" y="88315"/>
                </a:lnTo>
                <a:close/>
              </a:path>
            </a:pathLst>
          </a:custGeom>
          <a:solidFill>
            <a:srgbClr val="D4A056"/>
          </a:solidFill>
          <a:ln/>
        </p:spPr>
      </p:sp>
      <p:sp>
        <p:nvSpPr>
          <p:cNvPr id="20" name="Text 18"/>
          <p:cNvSpPr/>
          <p:nvPr/>
        </p:nvSpPr>
        <p:spPr>
          <a:xfrm>
            <a:off x="935567" y="4131733"/>
            <a:ext cx="2963333" cy="203200"/>
          </a:xfrm>
          <a:prstGeom prst="rect">
            <a:avLst/>
          </a:prstGeom>
          <a:noFill/>
          <a:ln/>
        </p:spPr>
        <p:txBody>
          <a:bodyPr wrap="square" lIns="0" tIns="0" rIns="0" bIns="0" rtlCol="0" anchor="ctr"/>
          <a:lstStyle/>
          <a:p>
            <a:pPr>
              <a:lnSpc>
                <a:spcPct val="130000"/>
              </a:lnSpc>
            </a:pPr>
            <a:r>
              <a:rPr lang="en-US" sz="1067" b="1" dirty="0">
                <a:solidFill>
                  <a:srgbClr val="2C3531"/>
                </a:solidFill>
                <a:latin typeface="Liter" pitchFamily="34" charset="0"/>
                <a:ea typeface="Liter" pitchFamily="34" charset="-122"/>
                <a:cs typeface="Liter" pitchFamily="34" charset="-120"/>
              </a:rPr>
              <a:t>Equipment Organization</a:t>
            </a:r>
            <a:endParaRPr lang="en-US" sz="1600" dirty="0"/>
          </a:p>
        </p:txBody>
      </p:sp>
      <p:sp>
        <p:nvSpPr>
          <p:cNvPr id="21" name="Text 19"/>
          <p:cNvSpPr/>
          <p:nvPr/>
        </p:nvSpPr>
        <p:spPr>
          <a:xfrm>
            <a:off x="935567" y="4334933"/>
            <a:ext cx="2954867" cy="169333"/>
          </a:xfrm>
          <a:prstGeom prst="rect">
            <a:avLst/>
          </a:prstGeom>
          <a:noFill/>
          <a:ln/>
        </p:spPr>
        <p:txBody>
          <a:bodyPr wrap="square" lIns="0" tIns="0" rIns="0" bIns="0" rtlCol="0" anchor="ctr"/>
          <a:lstStyle/>
          <a:p>
            <a:pPr>
              <a:lnSpc>
                <a:spcPct val="120000"/>
              </a:lnSpc>
            </a:pPr>
            <a:r>
              <a:rPr lang="en-US" sz="933" dirty="0">
                <a:solidFill>
                  <a:srgbClr val="2C3531">
                    <a:alpha val="70000"/>
                  </a:srgbClr>
                </a:solidFill>
                <a:latin typeface="Liter" pitchFamily="34" charset="0"/>
                <a:ea typeface="Liter" pitchFamily="34" charset="-122"/>
                <a:cs typeface="Liter" pitchFamily="34" charset="-120"/>
              </a:rPr>
              <a:t>Return tools and equipment to designated storage areas</a:t>
            </a:r>
            <a:endParaRPr lang="en-US" sz="1600" dirty="0"/>
          </a:p>
        </p:txBody>
      </p:sp>
      <p:sp>
        <p:nvSpPr>
          <p:cNvPr id="22" name="Shape 20"/>
          <p:cNvSpPr/>
          <p:nvPr/>
        </p:nvSpPr>
        <p:spPr>
          <a:xfrm>
            <a:off x="541867" y="4707467"/>
            <a:ext cx="5249333" cy="575733"/>
          </a:xfrm>
          <a:custGeom>
            <a:avLst/>
            <a:gdLst/>
            <a:ahLst/>
            <a:cxnLst/>
            <a:rect l="l" t="t" r="r" b="b"/>
            <a:pathLst>
              <a:path w="5249333" h="575733">
                <a:moveTo>
                  <a:pt x="67735" y="0"/>
                </a:moveTo>
                <a:lnTo>
                  <a:pt x="5181598" y="0"/>
                </a:lnTo>
                <a:cubicBezTo>
                  <a:pt x="5219007" y="0"/>
                  <a:pt x="5249333" y="30326"/>
                  <a:pt x="5249333" y="67735"/>
                </a:cubicBezTo>
                <a:lnTo>
                  <a:pt x="5249333" y="507998"/>
                </a:lnTo>
                <a:cubicBezTo>
                  <a:pt x="5249333" y="545407"/>
                  <a:pt x="5219007" y="575733"/>
                  <a:pt x="5181598" y="575733"/>
                </a:cubicBezTo>
                <a:lnTo>
                  <a:pt x="67735" y="575733"/>
                </a:lnTo>
                <a:cubicBezTo>
                  <a:pt x="30351" y="575733"/>
                  <a:pt x="0" y="545382"/>
                  <a:pt x="0" y="507998"/>
                </a:cubicBezTo>
                <a:lnTo>
                  <a:pt x="0" y="67735"/>
                </a:lnTo>
                <a:cubicBezTo>
                  <a:pt x="0" y="30351"/>
                  <a:pt x="30351" y="0"/>
                  <a:pt x="67735" y="0"/>
                </a:cubicBezTo>
                <a:close/>
              </a:path>
            </a:pathLst>
          </a:custGeom>
          <a:solidFill>
            <a:srgbClr val="4A5D52">
              <a:alpha val="5098"/>
            </a:srgbClr>
          </a:solidFill>
          <a:ln/>
        </p:spPr>
      </p:sp>
      <p:sp>
        <p:nvSpPr>
          <p:cNvPr id="23" name="Shape 21"/>
          <p:cNvSpPr/>
          <p:nvPr/>
        </p:nvSpPr>
        <p:spPr>
          <a:xfrm>
            <a:off x="664633" y="4842933"/>
            <a:ext cx="152400" cy="152400"/>
          </a:xfrm>
          <a:custGeom>
            <a:avLst/>
            <a:gdLst/>
            <a:ahLst/>
            <a:cxnLst/>
            <a:rect l="l" t="t" r="r" b="b"/>
            <a:pathLst>
              <a:path w="152400" h="152400">
                <a:moveTo>
                  <a:pt x="75426" y="863"/>
                </a:moveTo>
                <a:cubicBezTo>
                  <a:pt x="74176" y="298"/>
                  <a:pt x="72836" y="0"/>
                  <a:pt x="71438" y="0"/>
                </a:cubicBezTo>
                <a:cubicBezTo>
                  <a:pt x="70039" y="0"/>
                  <a:pt x="68699" y="298"/>
                  <a:pt x="67449" y="863"/>
                </a:cubicBezTo>
                <a:lnTo>
                  <a:pt x="11400" y="24646"/>
                </a:lnTo>
                <a:cubicBezTo>
                  <a:pt x="4852" y="27414"/>
                  <a:pt x="-30" y="33873"/>
                  <a:pt x="0" y="41672"/>
                </a:cubicBezTo>
                <a:cubicBezTo>
                  <a:pt x="149" y="71199"/>
                  <a:pt x="12293" y="125224"/>
                  <a:pt x="63579" y="149781"/>
                </a:cubicBezTo>
                <a:cubicBezTo>
                  <a:pt x="68550" y="152162"/>
                  <a:pt x="74325" y="152162"/>
                  <a:pt x="79296" y="149781"/>
                </a:cubicBezTo>
                <a:cubicBezTo>
                  <a:pt x="130612" y="125224"/>
                  <a:pt x="142756" y="71199"/>
                  <a:pt x="142875" y="41672"/>
                </a:cubicBezTo>
                <a:cubicBezTo>
                  <a:pt x="142905" y="33873"/>
                  <a:pt x="138023" y="27414"/>
                  <a:pt x="131475" y="24646"/>
                </a:cubicBezTo>
                <a:lnTo>
                  <a:pt x="75426" y="863"/>
                </a:lnTo>
                <a:close/>
                <a:moveTo>
                  <a:pt x="71438" y="38100"/>
                </a:moveTo>
                <a:cubicBezTo>
                  <a:pt x="75396" y="38100"/>
                  <a:pt x="78581" y="41285"/>
                  <a:pt x="78581" y="45244"/>
                </a:cubicBezTo>
                <a:cubicBezTo>
                  <a:pt x="78581" y="52060"/>
                  <a:pt x="86826" y="55483"/>
                  <a:pt x="91648" y="50661"/>
                </a:cubicBezTo>
                <a:cubicBezTo>
                  <a:pt x="94446" y="47863"/>
                  <a:pt x="98971" y="47863"/>
                  <a:pt x="101739" y="50661"/>
                </a:cubicBezTo>
                <a:cubicBezTo>
                  <a:pt x="104507" y="53459"/>
                  <a:pt x="104537" y="57983"/>
                  <a:pt x="101739" y="60752"/>
                </a:cubicBezTo>
                <a:cubicBezTo>
                  <a:pt x="96917" y="65574"/>
                  <a:pt x="100340" y="73819"/>
                  <a:pt x="107156" y="73819"/>
                </a:cubicBezTo>
                <a:cubicBezTo>
                  <a:pt x="111115" y="73819"/>
                  <a:pt x="114300" y="77004"/>
                  <a:pt x="114300" y="80962"/>
                </a:cubicBezTo>
                <a:cubicBezTo>
                  <a:pt x="114300" y="84921"/>
                  <a:pt x="111115" y="88106"/>
                  <a:pt x="107156" y="88106"/>
                </a:cubicBezTo>
                <a:cubicBezTo>
                  <a:pt x="100340" y="88106"/>
                  <a:pt x="96917" y="96351"/>
                  <a:pt x="101739" y="101173"/>
                </a:cubicBezTo>
                <a:cubicBezTo>
                  <a:pt x="104537" y="103971"/>
                  <a:pt x="104537" y="108496"/>
                  <a:pt x="101739" y="111264"/>
                </a:cubicBezTo>
                <a:cubicBezTo>
                  <a:pt x="98941" y="114032"/>
                  <a:pt x="94417" y="114062"/>
                  <a:pt x="91648" y="111264"/>
                </a:cubicBezTo>
                <a:cubicBezTo>
                  <a:pt x="86826" y="106442"/>
                  <a:pt x="78581" y="109865"/>
                  <a:pt x="78581" y="116681"/>
                </a:cubicBezTo>
                <a:cubicBezTo>
                  <a:pt x="78581" y="120640"/>
                  <a:pt x="75396" y="123825"/>
                  <a:pt x="71438" y="123825"/>
                </a:cubicBezTo>
                <a:cubicBezTo>
                  <a:pt x="67479" y="123825"/>
                  <a:pt x="64294" y="120640"/>
                  <a:pt x="64294" y="116681"/>
                </a:cubicBezTo>
                <a:cubicBezTo>
                  <a:pt x="64294" y="109865"/>
                  <a:pt x="56049" y="106442"/>
                  <a:pt x="51227" y="111264"/>
                </a:cubicBezTo>
                <a:cubicBezTo>
                  <a:pt x="48429" y="114062"/>
                  <a:pt x="43904" y="114062"/>
                  <a:pt x="41136" y="111264"/>
                </a:cubicBezTo>
                <a:cubicBezTo>
                  <a:pt x="38368" y="108466"/>
                  <a:pt x="38338" y="103942"/>
                  <a:pt x="41136" y="101173"/>
                </a:cubicBezTo>
                <a:cubicBezTo>
                  <a:pt x="45958" y="96351"/>
                  <a:pt x="42535" y="88106"/>
                  <a:pt x="35719" y="88106"/>
                </a:cubicBezTo>
                <a:cubicBezTo>
                  <a:pt x="31760" y="88106"/>
                  <a:pt x="28575" y="84921"/>
                  <a:pt x="28575" y="80962"/>
                </a:cubicBezTo>
                <a:cubicBezTo>
                  <a:pt x="28575" y="77004"/>
                  <a:pt x="31760" y="73819"/>
                  <a:pt x="35719" y="73819"/>
                </a:cubicBezTo>
                <a:cubicBezTo>
                  <a:pt x="42535" y="73819"/>
                  <a:pt x="45958" y="65574"/>
                  <a:pt x="41136" y="60752"/>
                </a:cubicBezTo>
                <a:cubicBezTo>
                  <a:pt x="38338" y="57954"/>
                  <a:pt x="38338" y="53429"/>
                  <a:pt x="41136" y="50661"/>
                </a:cubicBezTo>
                <a:cubicBezTo>
                  <a:pt x="43934" y="47893"/>
                  <a:pt x="48458" y="47863"/>
                  <a:pt x="51227" y="50661"/>
                </a:cubicBezTo>
                <a:cubicBezTo>
                  <a:pt x="56049" y="55483"/>
                  <a:pt x="64294" y="52060"/>
                  <a:pt x="64294" y="45244"/>
                </a:cubicBezTo>
                <a:cubicBezTo>
                  <a:pt x="64294" y="41285"/>
                  <a:pt x="67479" y="38100"/>
                  <a:pt x="71438" y="38100"/>
                </a:cubicBezTo>
                <a:close/>
                <a:moveTo>
                  <a:pt x="61912" y="78581"/>
                </a:moveTo>
                <a:cubicBezTo>
                  <a:pt x="65855" y="78581"/>
                  <a:pt x="69056" y="75380"/>
                  <a:pt x="69056" y="71438"/>
                </a:cubicBezTo>
                <a:cubicBezTo>
                  <a:pt x="69056" y="67495"/>
                  <a:pt x="65855" y="64294"/>
                  <a:pt x="61912" y="64294"/>
                </a:cubicBezTo>
                <a:cubicBezTo>
                  <a:pt x="57970" y="64294"/>
                  <a:pt x="54769" y="67495"/>
                  <a:pt x="54769" y="71438"/>
                </a:cubicBezTo>
                <a:cubicBezTo>
                  <a:pt x="54769" y="75380"/>
                  <a:pt x="57970" y="78581"/>
                  <a:pt x="61912" y="78581"/>
                </a:cubicBezTo>
                <a:close/>
                <a:moveTo>
                  <a:pt x="88106" y="90488"/>
                </a:moveTo>
                <a:cubicBezTo>
                  <a:pt x="88106" y="86545"/>
                  <a:pt x="84905" y="83344"/>
                  <a:pt x="80962" y="83344"/>
                </a:cubicBezTo>
                <a:cubicBezTo>
                  <a:pt x="77020" y="83344"/>
                  <a:pt x="73819" y="86545"/>
                  <a:pt x="73819" y="90488"/>
                </a:cubicBezTo>
                <a:cubicBezTo>
                  <a:pt x="73819" y="94430"/>
                  <a:pt x="77020" y="97631"/>
                  <a:pt x="80962" y="97631"/>
                </a:cubicBezTo>
                <a:cubicBezTo>
                  <a:pt x="84905" y="97631"/>
                  <a:pt x="88106" y="94430"/>
                  <a:pt x="88106" y="90488"/>
                </a:cubicBezTo>
                <a:close/>
              </a:path>
            </a:pathLst>
          </a:custGeom>
          <a:solidFill>
            <a:srgbClr val="4A5D52"/>
          </a:solidFill>
          <a:ln/>
        </p:spPr>
      </p:sp>
      <p:sp>
        <p:nvSpPr>
          <p:cNvPr id="24" name="Text 22"/>
          <p:cNvSpPr/>
          <p:nvPr/>
        </p:nvSpPr>
        <p:spPr>
          <a:xfrm>
            <a:off x="935567" y="4809067"/>
            <a:ext cx="3369733" cy="203200"/>
          </a:xfrm>
          <a:prstGeom prst="rect">
            <a:avLst/>
          </a:prstGeom>
          <a:noFill/>
          <a:ln/>
        </p:spPr>
        <p:txBody>
          <a:bodyPr wrap="square" lIns="0" tIns="0" rIns="0" bIns="0" rtlCol="0" anchor="ctr"/>
          <a:lstStyle/>
          <a:p>
            <a:pPr>
              <a:lnSpc>
                <a:spcPct val="130000"/>
              </a:lnSpc>
            </a:pPr>
            <a:r>
              <a:rPr lang="en-US" sz="1067" b="1" dirty="0">
                <a:solidFill>
                  <a:srgbClr val="2C3531"/>
                </a:solidFill>
                <a:latin typeface="Liter" pitchFamily="34" charset="0"/>
                <a:ea typeface="Liter" pitchFamily="34" charset="-122"/>
                <a:cs typeface="Liter" pitchFamily="34" charset="-120"/>
              </a:rPr>
              <a:t>Sanitation Protocols</a:t>
            </a:r>
            <a:endParaRPr lang="en-US" sz="1600" dirty="0"/>
          </a:p>
        </p:txBody>
      </p:sp>
      <p:sp>
        <p:nvSpPr>
          <p:cNvPr id="25" name="Text 23"/>
          <p:cNvSpPr/>
          <p:nvPr/>
        </p:nvSpPr>
        <p:spPr>
          <a:xfrm>
            <a:off x="935567" y="5012267"/>
            <a:ext cx="3361267" cy="169333"/>
          </a:xfrm>
          <a:prstGeom prst="rect">
            <a:avLst/>
          </a:prstGeom>
          <a:noFill/>
          <a:ln/>
        </p:spPr>
        <p:txBody>
          <a:bodyPr wrap="square" lIns="0" tIns="0" rIns="0" bIns="0" rtlCol="0" anchor="ctr"/>
          <a:lstStyle/>
          <a:p>
            <a:pPr>
              <a:lnSpc>
                <a:spcPct val="120000"/>
              </a:lnSpc>
            </a:pPr>
            <a:r>
              <a:rPr lang="en-US" sz="933" dirty="0">
                <a:solidFill>
                  <a:srgbClr val="2C3531">
                    <a:alpha val="70000"/>
                  </a:srgbClr>
                </a:solidFill>
                <a:latin typeface="Liter" pitchFamily="34" charset="0"/>
                <a:ea typeface="Liter" pitchFamily="34" charset="-122"/>
                <a:cs typeface="Liter" pitchFamily="34" charset="-120"/>
              </a:rPr>
              <a:t>Follow all sanitation procedures to prevent cross-contamination</a:t>
            </a:r>
            <a:endParaRPr lang="en-US" sz="1600" dirty="0"/>
          </a:p>
        </p:txBody>
      </p:sp>
      <p:sp>
        <p:nvSpPr>
          <p:cNvPr id="26" name="Shape 24"/>
          <p:cNvSpPr/>
          <p:nvPr/>
        </p:nvSpPr>
        <p:spPr>
          <a:xfrm>
            <a:off x="6197600" y="1286933"/>
            <a:ext cx="5655733" cy="4385733"/>
          </a:xfrm>
          <a:custGeom>
            <a:avLst/>
            <a:gdLst/>
            <a:ahLst/>
            <a:cxnLst/>
            <a:rect l="l" t="t" r="r" b="b"/>
            <a:pathLst>
              <a:path w="5655733" h="4385733">
                <a:moveTo>
                  <a:pt x="67716" y="0"/>
                </a:moveTo>
                <a:lnTo>
                  <a:pt x="5588018" y="0"/>
                </a:lnTo>
                <a:cubicBezTo>
                  <a:pt x="5625416" y="0"/>
                  <a:pt x="5655733" y="30317"/>
                  <a:pt x="5655733" y="67716"/>
                </a:cubicBezTo>
                <a:lnTo>
                  <a:pt x="5655733" y="4318018"/>
                </a:lnTo>
                <a:cubicBezTo>
                  <a:pt x="5655733" y="4355416"/>
                  <a:pt x="5625416" y="4385733"/>
                  <a:pt x="5588018" y="4385733"/>
                </a:cubicBezTo>
                <a:lnTo>
                  <a:pt x="67716" y="4385733"/>
                </a:lnTo>
                <a:cubicBezTo>
                  <a:pt x="30317" y="4385733"/>
                  <a:pt x="0" y="4355416"/>
                  <a:pt x="0" y="4318018"/>
                </a:cubicBezTo>
                <a:lnTo>
                  <a:pt x="0" y="67716"/>
                </a:lnTo>
                <a:cubicBezTo>
                  <a:pt x="0" y="30342"/>
                  <a:pt x="30342" y="0"/>
                  <a:pt x="67716" y="0"/>
                </a:cubicBezTo>
                <a:close/>
              </a:path>
            </a:pathLst>
          </a:custGeom>
          <a:solidFill>
            <a:srgbClr val="FFFFFF"/>
          </a:solidFill>
          <a:ln/>
          <a:effectLst>
            <a:outerShdw sx="100000" sy="100000" kx="0" ky="0" algn="bl" rotWithShape="0" blurRad="50800" dist="33867" dir="5400000">
              <a:srgbClr val="000000">
                <a:alpha val="10196"/>
              </a:srgbClr>
            </a:outerShdw>
          </a:effectLst>
        </p:spPr>
      </p:sp>
      <p:sp>
        <p:nvSpPr>
          <p:cNvPr id="27" name="Shape 25"/>
          <p:cNvSpPr/>
          <p:nvPr/>
        </p:nvSpPr>
        <p:spPr>
          <a:xfrm>
            <a:off x="6400800" y="1490133"/>
            <a:ext cx="406400" cy="406400"/>
          </a:xfrm>
          <a:custGeom>
            <a:avLst/>
            <a:gdLst/>
            <a:ahLst/>
            <a:cxnLst/>
            <a:rect l="l" t="t" r="r" b="b"/>
            <a:pathLst>
              <a:path w="406400" h="406400">
                <a:moveTo>
                  <a:pt x="67735" y="0"/>
                </a:moveTo>
                <a:lnTo>
                  <a:pt x="338665" y="0"/>
                </a:lnTo>
                <a:cubicBezTo>
                  <a:pt x="376049" y="0"/>
                  <a:pt x="406400" y="30351"/>
                  <a:pt x="406400" y="67735"/>
                </a:cubicBezTo>
                <a:lnTo>
                  <a:pt x="406400" y="338665"/>
                </a:lnTo>
                <a:cubicBezTo>
                  <a:pt x="406400" y="376049"/>
                  <a:pt x="376049" y="406400"/>
                  <a:pt x="338665" y="406400"/>
                </a:cubicBezTo>
                <a:lnTo>
                  <a:pt x="67735" y="406400"/>
                </a:lnTo>
                <a:cubicBezTo>
                  <a:pt x="30351" y="406400"/>
                  <a:pt x="0" y="376049"/>
                  <a:pt x="0" y="338665"/>
                </a:cubicBezTo>
                <a:lnTo>
                  <a:pt x="0" y="67735"/>
                </a:lnTo>
                <a:cubicBezTo>
                  <a:pt x="0" y="30351"/>
                  <a:pt x="30351" y="0"/>
                  <a:pt x="67735" y="0"/>
                </a:cubicBezTo>
                <a:close/>
              </a:path>
            </a:pathLst>
          </a:custGeom>
          <a:solidFill>
            <a:srgbClr val="A88B6A"/>
          </a:solidFill>
          <a:ln/>
        </p:spPr>
      </p:sp>
      <p:sp>
        <p:nvSpPr>
          <p:cNvPr id="28" name="Shape 26"/>
          <p:cNvSpPr/>
          <p:nvPr/>
        </p:nvSpPr>
        <p:spPr>
          <a:xfrm>
            <a:off x="6540500" y="1608667"/>
            <a:ext cx="127000" cy="169333"/>
          </a:xfrm>
          <a:custGeom>
            <a:avLst/>
            <a:gdLst/>
            <a:ahLst/>
            <a:cxnLst/>
            <a:rect l="l" t="t" r="r" b="b"/>
            <a:pathLst>
              <a:path w="127000" h="169333">
                <a:moveTo>
                  <a:pt x="63500" y="169333"/>
                </a:moveTo>
                <a:cubicBezTo>
                  <a:pt x="28443" y="169333"/>
                  <a:pt x="0" y="140891"/>
                  <a:pt x="0" y="105833"/>
                </a:cubicBezTo>
                <a:cubicBezTo>
                  <a:pt x="0" y="75671"/>
                  <a:pt x="43061" y="15180"/>
                  <a:pt x="55099" y="-1158"/>
                </a:cubicBezTo>
                <a:cubicBezTo>
                  <a:pt x="57051" y="-3803"/>
                  <a:pt x="60127" y="-5292"/>
                  <a:pt x="63434" y="-5292"/>
                </a:cubicBezTo>
                <a:lnTo>
                  <a:pt x="63566" y="-5292"/>
                </a:lnTo>
                <a:cubicBezTo>
                  <a:pt x="66873" y="-5292"/>
                  <a:pt x="69949" y="-3803"/>
                  <a:pt x="71901" y="-1158"/>
                </a:cubicBezTo>
                <a:cubicBezTo>
                  <a:pt x="83939" y="15180"/>
                  <a:pt x="127000" y="75671"/>
                  <a:pt x="127000" y="105833"/>
                </a:cubicBezTo>
                <a:cubicBezTo>
                  <a:pt x="127000" y="140891"/>
                  <a:pt x="98557" y="169333"/>
                  <a:pt x="63500" y="169333"/>
                </a:cubicBezTo>
                <a:close/>
                <a:moveTo>
                  <a:pt x="37042" y="103188"/>
                </a:moveTo>
                <a:cubicBezTo>
                  <a:pt x="37042" y="98789"/>
                  <a:pt x="33503" y="95250"/>
                  <a:pt x="29104" y="95250"/>
                </a:cubicBezTo>
                <a:cubicBezTo>
                  <a:pt x="24705" y="95250"/>
                  <a:pt x="21167" y="98789"/>
                  <a:pt x="21167" y="103188"/>
                </a:cubicBezTo>
                <a:cubicBezTo>
                  <a:pt x="21167" y="128025"/>
                  <a:pt x="41308" y="148167"/>
                  <a:pt x="66146" y="148167"/>
                </a:cubicBezTo>
                <a:cubicBezTo>
                  <a:pt x="70545" y="148167"/>
                  <a:pt x="74083" y="144628"/>
                  <a:pt x="74083" y="140229"/>
                </a:cubicBezTo>
                <a:cubicBezTo>
                  <a:pt x="74083" y="135830"/>
                  <a:pt x="70545" y="132292"/>
                  <a:pt x="66146" y="132292"/>
                </a:cubicBezTo>
                <a:cubicBezTo>
                  <a:pt x="50072" y="132292"/>
                  <a:pt x="37042" y="119261"/>
                  <a:pt x="37042" y="103188"/>
                </a:cubicBezTo>
                <a:close/>
              </a:path>
            </a:pathLst>
          </a:custGeom>
          <a:solidFill>
            <a:srgbClr val="F8F7F2"/>
          </a:solidFill>
          <a:ln/>
        </p:spPr>
      </p:sp>
      <p:sp>
        <p:nvSpPr>
          <p:cNvPr id="29" name="Text 27"/>
          <p:cNvSpPr/>
          <p:nvPr/>
        </p:nvSpPr>
        <p:spPr>
          <a:xfrm>
            <a:off x="6908800" y="1562100"/>
            <a:ext cx="3522133" cy="262467"/>
          </a:xfrm>
          <a:prstGeom prst="rect">
            <a:avLst/>
          </a:prstGeom>
          <a:noFill/>
          <a:ln/>
        </p:spPr>
        <p:txBody>
          <a:bodyPr wrap="square" lIns="0" tIns="0" rIns="0" bIns="0" rtlCol="0" anchor="ctr"/>
          <a:lstStyle/>
          <a:p>
            <a:pPr>
              <a:lnSpc>
                <a:spcPct val="110000"/>
              </a:lnSpc>
            </a:pPr>
            <a:r>
              <a:rPr lang="en-US" sz="1600" b="1" dirty="0">
                <a:solidFill>
                  <a:srgbClr val="4A5D52"/>
                </a:solidFill>
                <a:latin typeface="Unna" pitchFamily="34" charset="0"/>
                <a:ea typeface="Unna" pitchFamily="34" charset="-122"/>
                <a:cs typeface="Unna" pitchFamily="34" charset="-120"/>
              </a:rPr>
              <a:t>Water, Feed &amp; Chemical Administration</a:t>
            </a:r>
            <a:endParaRPr lang="en-US" sz="1600" dirty="0"/>
          </a:p>
        </p:txBody>
      </p:sp>
      <p:sp>
        <p:nvSpPr>
          <p:cNvPr id="30" name="Text 28"/>
          <p:cNvSpPr/>
          <p:nvPr/>
        </p:nvSpPr>
        <p:spPr>
          <a:xfrm>
            <a:off x="6400800" y="2065867"/>
            <a:ext cx="5317067" cy="440267"/>
          </a:xfrm>
          <a:prstGeom prst="rect">
            <a:avLst/>
          </a:prstGeom>
          <a:noFill/>
          <a:ln/>
        </p:spPr>
        <p:txBody>
          <a:bodyPr wrap="square" lIns="0" tIns="0" rIns="0" bIns="0" rtlCol="0" anchor="ctr"/>
          <a:lstStyle/>
          <a:p>
            <a:pPr>
              <a:lnSpc>
                <a:spcPct val="140000"/>
              </a:lnSpc>
            </a:pPr>
            <a:r>
              <a:rPr lang="en-US" sz="1067" dirty="0">
                <a:solidFill>
                  <a:srgbClr val="2C3531"/>
                </a:solidFill>
                <a:latin typeface="Liter" pitchFamily="34" charset="0"/>
                <a:ea typeface="Liter" pitchFamily="34" charset="-122"/>
                <a:cs typeface="Liter" pitchFamily="34" charset="-120"/>
              </a:rPr>
              <a:t>Employee must administer water, nutrients, and agricultural chemicals </a:t>
            </a:r>
            <a:pPr>
              <a:lnSpc>
                <a:spcPct val="140000"/>
              </a:lnSpc>
            </a:pPr>
            <a:r>
              <a:rPr lang="en-US" sz="1067" b="1" dirty="0">
                <a:solidFill>
                  <a:srgbClr val="2C3531"/>
                </a:solidFill>
                <a:highlight>
                  <a:srgbClr val="D4A056">
                    <a:alpha val="30000"/>
                  </a:srgbClr>
                </a:highlight>
                <a:latin typeface="Liter" pitchFamily="34" charset="0"/>
                <a:ea typeface="Liter" pitchFamily="34" charset="-122"/>
                <a:cs typeface="Liter" pitchFamily="34" charset="-120"/>
              </a:rPr>
              <a:t>exactly as instructed and on schedule </a:t>
            </a:r>
            <a:pPr>
              <a:lnSpc>
                <a:spcPct val="140000"/>
              </a:lnSpc>
            </a:pPr>
            <a:r>
              <a:rPr lang="en-US" sz="1067" dirty="0">
                <a:solidFill>
                  <a:srgbClr val="2C3531"/>
                </a:solidFill>
                <a:latin typeface="Liter" pitchFamily="34" charset="0"/>
                <a:ea typeface="Liter" pitchFamily="34" charset="-122"/>
                <a:cs typeface="Liter" pitchFamily="34" charset="-120"/>
              </a:rPr>
              <a:t>. Precision is critical for plant health and food safety.</a:t>
            </a:r>
            <a:endParaRPr lang="en-US" sz="1600" dirty="0"/>
          </a:p>
        </p:txBody>
      </p:sp>
      <p:sp>
        <p:nvSpPr>
          <p:cNvPr id="31" name="Shape 29"/>
          <p:cNvSpPr/>
          <p:nvPr/>
        </p:nvSpPr>
        <p:spPr>
          <a:xfrm>
            <a:off x="6417733" y="2675467"/>
            <a:ext cx="33867" cy="846667"/>
          </a:xfrm>
          <a:custGeom>
            <a:avLst/>
            <a:gdLst/>
            <a:ahLst/>
            <a:cxnLst/>
            <a:rect l="l" t="t" r="r" b="b"/>
            <a:pathLst>
              <a:path w="33867" h="846667">
                <a:moveTo>
                  <a:pt x="0" y="0"/>
                </a:moveTo>
                <a:lnTo>
                  <a:pt x="33867" y="0"/>
                </a:lnTo>
                <a:lnTo>
                  <a:pt x="33867" y="846667"/>
                </a:lnTo>
                <a:lnTo>
                  <a:pt x="0" y="846667"/>
                </a:lnTo>
                <a:lnTo>
                  <a:pt x="0" y="0"/>
                </a:lnTo>
                <a:close/>
              </a:path>
            </a:pathLst>
          </a:custGeom>
          <a:solidFill>
            <a:srgbClr val="4A5D52"/>
          </a:solidFill>
          <a:ln/>
        </p:spPr>
      </p:sp>
      <p:sp>
        <p:nvSpPr>
          <p:cNvPr id="32" name="Shape 30"/>
          <p:cNvSpPr/>
          <p:nvPr/>
        </p:nvSpPr>
        <p:spPr>
          <a:xfrm>
            <a:off x="6604000" y="2709333"/>
            <a:ext cx="101600" cy="135467"/>
          </a:xfrm>
          <a:custGeom>
            <a:avLst/>
            <a:gdLst/>
            <a:ahLst/>
            <a:cxnLst/>
            <a:rect l="l" t="t" r="r" b="b"/>
            <a:pathLst>
              <a:path w="101600" h="135467">
                <a:moveTo>
                  <a:pt x="50800" y="135467"/>
                </a:moveTo>
                <a:cubicBezTo>
                  <a:pt x="22754" y="135467"/>
                  <a:pt x="0" y="112713"/>
                  <a:pt x="0" y="84667"/>
                </a:cubicBezTo>
                <a:cubicBezTo>
                  <a:pt x="0" y="60537"/>
                  <a:pt x="34449" y="12144"/>
                  <a:pt x="44080" y="-926"/>
                </a:cubicBezTo>
                <a:cubicBezTo>
                  <a:pt x="45641" y="-3043"/>
                  <a:pt x="48101" y="-4233"/>
                  <a:pt x="50747" y="-4233"/>
                </a:cubicBezTo>
                <a:lnTo>
                  <a:pt x="50853" y="-4233"/>
                </a:lnTo>
                <a:cubicBezTo>
                  <a:pt x="53499" y="-4233"/>
                  <a:pt x="55959" y="-3043"/>
                  <a:pt x="57520" y="-926"/>
                </a:cubicBezTo>
                <a:cubicBezTo>
                  <a:pt x="67151" y="12144"/>
                  <a:pt x="101600" y="60537"/>
                  <a:pt x="101600" y="84667"/>
                </a:cubicBezTo>
                <a:cubicBezTo>
                  <a:pt x="101600" y="112713"/>
                  <a:pt x="78846" y="135467"/>
                  <a:pt x="50800" y="135467"/>
                </a:cubicBezTo>
                <a:close/>
                <a:moveTo>
                  <a:pt x="29633" y="82550"/>
                </a:moveTo>
                <a:cubicBezTo>
                  <a:pt x="29633" y="79031"/>
                  <a:pt x="26802" y="76200"/>
                  <a:pt x="23283" y="76200"/>
                </a:cubicBezTo>
                <a:cubicBezTo>
                  <a:pt x="19764" y="76200"/>
                  <a:pt x="16933" y="79031"/>
                  <a:pt x="16933" y="82550"/>
                </a:cubicBezTo>
                <a:cubicBezTo>
                  <a:pt x="16933" y="102420"/>
                  <a:pt x="33046" y="118533"/>
                  <a:pt x="52917" y="118533"/>
                </a:cubicBezTo>
                <a:cubicBezTo>
                  <a:pt x="56436" y="118533"/>
                  <a:pt x="59267" y="115702"/>
                  <a:pt x="59267" y="112183"/>
                </a:cubicBezTo>
                <a:cubicBezTo>
                  <a:pt x="59267" y="108664"/>
                  <a:pt x="56436" y="105833"/>
                  <a:pt x="52917" y="105833"/>
                </a:cubicBezTo>
                <a:cubicBezTo>
                  <a:pt x="40058" y="105833"/>
                  <a:pt x="29633" y="95409"/>
                  <a:pt x="29633" y="82550"/>
                </a:cubicBezTo>
                <a:close/>
              </a:path>
            </a:pathLst>
          </a:custGeom>
          <a:solidFill>
            <a:srgbClr val="4A5D52"/>
          </a:solidFill>
          <a:ln/>
        </p:spPr>
      </p:sp>
      <p:sp>
        <p:nvSpPr>
          <p:cNvPr id="33" name="Text 31"/>
          <p:cNvSpPr/>
          <p:nvPr/>
        </p:nvSpPr>
        <p:spPr>
          <a:xfrm>
            <a:off x="6784622" y="2675467"/>
            <a:ext cx="4933244" cy="203200"/>
          </a:xfrm>
          <a:prstGeom prst="rect">
            <a:avLst/>
          </a:prstGeom>
          <a:noFill/>
          <a:ln/>
        </p:spPr>
        <p:txBody>
          <a:bodyPr wrap="square" lIns="0" tIns="0" rIns="0" bIns="0" rtlCol="0" anchor="ctr"/>
          <a:lstStyle/>
          <a:p>
            <a:pPr>
              <a:lnSpc>
                <a:spcPct val="130000"/>
              </a:lnSpc>
            </a:pPr>
            <a:r>
              <a:rPr lang="en-US" sz="1067" b="1" dirty="0">
                <a:solidFill>
                  <a:srgbClr val="2C3531"/>
                </a:solidFill>
                <a:latin typeface="Liter" pitchFamily="34" charset="0"/>
                <a:ea typeface="Liter" pitchFamily="34" charset="-122"/>
                <a:cs typeface="Liter" pitchFamily="34" charset="-120"/>
              </a:rPr>
              <a:t>Water Administration</a:t>
            </a:r>
            <a:endParaRPr lang="en-US" sz="1600" dirty="0"/>
          </a:p>
        </p:txBody>
      </p:sp>
      <p:sp>
        <p:nvSpPr>
          <p:cNvPr id="34" name="Text 32"/>
          <p:cNvSpPr/>
          <p:nvPr/>
        </p:nvSpPr>
        <p:spPr>
          <a:xfrm>
            <a:off x="6773333" y="2946400"/>
            <a:ext cx="101600" cy="169333"/>
          </a:xfrm>
          <a:prstGeom prst="rect">
            <a:avLst/>
          </a:prstGeom>
          <a:noFill/>
          <a:ln/>
        </p:spPr>
        <p:txBody>
          <a:bodyPr wrap="square" lIns="0" tIns="0" rIns="0" bIns="0" rtlCol="0" anchor="ctr"/>
          <a:lstStyle/>
          <a:p>
            <a:pPr>
              <a:lnSpc>
                <a:spcPct val="120000"/>
              </a:lnSpc>
            </a:pPr>
            <a:r>
              <a:rPr lang="en-US" sz="933" dirty="0">
                <a:solidFill>
                  <a:srgbClr val="4A5D52"/>
                </a:solidFill>
                <a:latin typeface="Liter" pitchFamily="34" charset="0"/>
                <a:ea typeface="Liter" pitchFamily="34" charset="-122"/>
                <a:cs typeface="Liter" pitchFamily="34" charset="-120"/>
              </a:rPr>
              <a:t>•</a:t>
            </a:r>
            <a:endParaRPr lang="en-US" sz="1600" dirty="0"/>
          </a:p>
        </p:txBody>
      </p:sp>
      <p:sp>
        <p:nvSpPr>
          <p:cNvPr id="35" name="Text 33"/>
          <p:cNvSpPr/>
          <p:nvPr/>
        </p:nvSpPr>
        <p:spPr>
          <a:xfrm>
            <a:off x="6885517" y="2946400"/>
            <a:ext cx="3742267"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Water plants according to schedule (frequency varies by growth stage)</a:t>
            </a:r>
            <a:endParaRPr lang="en-US" sz="1600" dirty="0"/>
          </a:p>
        </p:txBody>
      </p:sp>
      <p:sp>
        <p:nvSpPr>
          <p:cNvPr id="36" name="Text 34"/>
          <p:cNvSpPr/>
          <p:nvPr/>
        </p:nvSpPr>
        <p:spPr>
          <a:xfrm>
            <a:off x="6773333" y="3149600"/>
            <a:ext cx="101600" cy="169333"/>
          </a:xfrm>
          <a:prstGeom prst="rect">
            <a:avLst/>
          </a:prstGeom>
          <a:noFill/>
          <a:ln/>
        </p:spPr>
        <p:txBody>
          <a:bodyPr wrap="square" lIns="0" tIns="0" rIns="0" bIns="0" rtlCol="0" anchor="ctr"/>
          <a:lstStyle/>
          <a:p>
            <a:pPr>
              <a:lnSpc>
                <a:spcPct val="120000"/>
              </a:lnSpc>
            </a:pPr>
            <a:r>
              <a:rPr lang="en-US" sz="933" dirty="0">
                <a:solidFill>
                  <a:srgbClr val="4A5D52"/>
                </a:solidFill>
                <a:latin typeface="Liter" pitchFamily="34" charset="0"/>
                <a:ea typeface="Liter" pitchFamily="34" charset="-122"/>
                <a:cs typeface="Liter" pitchFamily="34" charset="-120"/>
              </a:rPr>
              <a:t>•</a:t>
            </a:r>
            <a:endParaRPr lang="en-US" sz="1600" dirty="0"/>
          </a:p>
        </p:txBody>
      </p:sp>
      <p:sp>
        <p:nvSpPr>
          <p:cNvPr id="37" name="Text 35"/>
          <p:cNvSpPr/>
          <p:nvPr/>
        </p:nvSpPr>
        <p:spPr>
          <a:xfrm>
            <a:off x="6885517" y="3149600"/>
            <a:ext cx="2641600"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Monitor soil moisture levels and adjust as directed</a:t>
            </a:r>
            <a:endParaRPr lang="en-US" sz="1600" dirty="0"/>
          </a:p>
        </p:txBody>
      </p:sp>
      <p:sp>
        <p:nvSpPr>
          <p:cNvPr id="38" name="Text 36"/>
          <p:cNvSpPr/>
          <p:nvPr/>
        </p:nvSpPr>
        <p:spPr>
          <a:xfrm>
            <a:off x="6773333" y="3352800"/>
            <a:ext cx="101600" cy="169333"/>
          </a:xfrm>
          <a:prstGeom prst="rect">
            <a:avLst/>
          </a:prstGeom>
          <a:noFill/>
          <a:ln/>
        </p:spPr>
        <p:txBody>
          <a:bodyPr wrap="square" lIns="0" tIns="0" rIns="0" bIns="0" rtlCol="0" anchor="ctr"/>
          <a:lstStyle/>
          <a:p>
            <a:pPr>
              <a:lnSpc>
                <a:spcPct val="120000"/>
              </a:lnSpc>
            </a:pPr>
            <a:r>
              <a:rPr lang="en-US" sz="933" dirty="0">
                <a:solidFill>
                  <a:srgbClr val="4A5D52"/>
                </a:solidFill>
                <a:latin typeface="Liter" pitchFamily="34" charset="0"/>
                <a:ea typeface="Liter" pitchFamily="34" charset="-122"/>
                <a:cs typeface="Liter" pitchFamily="34" charset="-120"/>
              </a:rPr>
              <a:t>•</a:t>
            </a:r>
            <a:endParaRPr lang="en-US" sz="1600" dirty="0"/>
          </a:p>
        </p:txBody>
      </p:sp>
      <p:sp>
        <p:nvSpPr>
          <p:cNvPr id="39" name="Text 37"/>
          <p:cNvSpPr/>
          <p:nvPr/>
        </p:nvSpPr>
        <p:spPr>
          <a:xfrm>
            <a:off x="6885517" y="3352800"/>
            <a:ext cx="3615267"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Check irrigation systems for proper function and report malfunctions</a:t>
            </a:r>
            <a:endParaRPr lang="en-US" sz="1600" dirty="0"/>
          </a:p>
        </p:txBody>
      </p:sp>
      <p:sp>
        <p:nvSpPr>
          <p:cNvPr id="40" name="Shape 38"/>
          <p:cNvSpPr/>
          <p:nvPr/>
        </p:nvSpPr>
        <p:spPr>
          <a:xfrm>
            <a:off x="6417733" y="3623733"/>
            <a:ext cx="33867" cy="846667"/>
          </a:xfrm>
          <a:custGeom>
            <a:avLst/>
            <a:gdLst/>
            <a:ahLst/>
            <a:cxnLst/>
            <a:rect l="l" t="t" r="r" b="b"/>
            <a:pathLst>
              <a:path w="33867" h="846667">
                <a:moveTo>
                  <a:pt x="0" y="0"/>
                </a:moveTo>
                <a:lnTo>
                  <a:pt x="33867" y="0"/>
                </a:lnTo>
                <a:lnTo>
                  <a:pt x="33867" y="846667"/>
                </a:lnTo>
                <a:lnTo>
                  <a:pt x="0" y="846667"/>
                </a:lnTo>
                <a:lnTo>
                  <a:pt x="0" y="0"/>
                </a:lnTo>
                <a:close/>
              </a:path>
            </a:pathLst>
          </a:custGeom>
          <a:solidFill>
            <a:srgbClr val="A88B6A"/>
          </a:solidFill>
          <a:ln/>
        </p:spPr>
      </p:sp>
      <p:sp>
        <p:nvSpPr>
          <p:cNvPr id="41" name="Shape 39"/>
          <p:cNvSpPr/>
          <p:nvPr/>
        </p:nvSpPr>
        <p:spPr>
          <a:xfrm>
            <a:off x="6595533" y="3657600"/>
            <a:ext cx="118533" cy="135467"/>
          </a:xfrm>
          <a:custGeom>
            <a:avLst/>
            <a:gdLst/>
            <a:ahLst/>
            <a:cxnLst/>
            <a:rect l="l" t="t" r="r" b="b"/>
            <a:pathLst>
              <a:path w="118533" h="135467">
                <a:moveTo>
                  <a:pt x="76200" y="0"/>
                </a:moveTo>
                <a:lnTo>
                  <a:pt x="33867" y="0"/>
                </a:lnTo>
                <a:cubicBezTo>
                  <a:pt x="29184" y="0"/>
                  <a:pt x="25400" y="3784"/>
                  <a:pt x="25400" y="8467"/>
                </a:cubicBezTo>
                <a:cubicBezTo>
                  <a:pt x="25400" y="13150"/>
                  <a:pt x="29184" y="16933"/>
                  <a:pt x="33867" y="16933"/>
                </a:cubicBezTo>
                <a:lnTo>
                  <a:pt x="33867" y="57018"/>
                </a:lnTo>
                <a:lnTo>
                  <a:pt x="1984" y="112792"/>
                </a:lnTo>
                <a:cubicBezTo>
                  <a:pt x="688" y="115094"/>
                  <a:pt x="0" y="117660"/>
                  <a:pt x="0" y="120306"/>
                </a:cubicBezTo>
                <a:cubicBezTo>
                  <a:pt x="0" y="128693"/>
                  <a:pt x="6773" y="135467"/>
                  <a:pt x="15161" y="135467"/>
                </a:cubicBezTo>
                <a:lnTo>
                  <a:pt x="103373" y="135467"/>
                </a:lnTo>
                <a:cubicBezTo>
                  <a:pt x="111734" y="135467"/>
                  <a:pt x="118533" y="128693"/>
                  <a:pt x="118533" y="120306"/>
                </a:cubicBezTo>
                <a:cubicBezTo>
                  <a:pt x="118533" y="117660"/>
                  <a:pt x="117845" y="115067"/>
                  <a:pt x="116549" y="112792"/>
                </a:cubicBezTo>
                <a:lnTo>
                  <a:pt x="84667" y="57018"/>
                </a:lnTo>
                <a:lnTo>
                  <a:pt x="84667" y="16933"/>
                </a:lnTo>
                <a:cubicBezTo>
                  <a:pt x="89350" y="16933"/>
                  <a:pt x="93133" y="13150"/>
                  <a:pt x="93133" y="8467"/>
                </a:cubicBezTo>
                <a:cubicBezTo>
                  <a:pt x="93133" y="3784"/>
                  <a:pt x="89350" y="0"/>
                  <a:pt x="84667" y="0"/>
                </a:cubicBezTo>
                <a:lnTo>
                  <a:pt x="76200" y="0"/>
                </a:lnTo>
                <a:close/>
                <a:moveTo>
                  <a:pt x="50800" y="57018"/>
                </a:moveTo>
                <a:lnTo>
                  <a:pt x="50800" y="16933"/>
                </a:lnTo>
                <a:lnTo>
                  <a:pt x="67733" y="16933"/>
                </a:lnTo>
                <a:lnTo>
                  <a:pt x="67733" y="57018"/>
                </a:lnTo>
                <a:cubicBezTo>
                  <a:pt x="67733" y="59955"/>
                  <a:pt x="68501" y="62865"/>
                  <a:pt x="69956" y="65431"/>
                </a:cubicBezTo>
                <a:lnTo>
                  <a:pt x="80962" y="84667"/>
                </a:lnTo>
                <a:lnTo>
                  <a:pt x="37571" y="84667"/>
                </a:lnTo>
                <a:lnTo>
                  <a:pt x="48577" y="65431"/>
                </a:lnTo>
                <a:cubicBezTo>
                  <a:pt x="50033" y="62865"/>
                  <a:pt x="50800" y="59981"/>
                  <a:pt x="50800" y="57018"/>
                </a:cubicBezTo>
                <a:close/>
              </a:path>
            </a:pathLst>
          </a:custGeom>
          <a:solidFill>
            <a:srgbClr val="A88B6A"/>
          </a:solidFill>
          <a:ln/>
        </p:spPr>
      </p:sp>
      <p:sp>
        <p:nvSpPr>
          <p:cNvPr id="42" name="Text 40"/>
          <p:cNvSpPr/>
          <p:nvPr/>
        </p:nvSpPr>
        <p:spPr>
          <a:xfrm>
            <a:off x="6784622" y="3623733"/>
            <a:ext cx="4933244" cy="203200"/>
          </a:xfrm>
          <a:prstGeom prst="rect">
            <a:avLst/>
          </a:prstGeom>
          <a:noFill/>
          <a:ln/>
        </p:spPr>
        <p:txBody>
          <a:bodyPr wrap="square" lIns="0" tIns="0" rIns="0" bIns="0" rtlCol="0" anchor="ctr"/>
          <a:lstStyle/>
          <a:p>
            <a:pPr>
              <a:lnSpc>
                <a:spcPct val="130000"/>
              </a:lnSpc>
            </a:pPr>
            <a:r>
              <a:rPr lang="en-US" sz="1067" b="1" dirty="0">
                <a:solidFill>
                  <a:srgbClr val="2C3531"/>
                </a:solidFill>
                <a:latin typeface="Liter" pitchFamily="34" charset="0"/>
                <a:ea typeface="Liter" pitchFamily="34" charset="-122"/>
                <a:cs typeface="Liter" pitchFamily="34" charset="-120"/>
              </a:rPr>
              <a:t>Nutrient &amp; Feed Application</a:t>
            </a:r>
            <a:endParaRPr lang="en-US" sz="1600" dirty="0"/>
          </a:p>
        </p:txBody>
      </p:sp>
      <p:sp>
        <p:nvSpPr>
          <p:cNvPr id="43" name="Text 41"/>
          <p:cNvSpPr/>
          <p:nvPr/>
        </p:nvSpPr>
        <p:spPr>
          <a:xfrm>
            <a:off x="6773333" y="3894667"/>
            <a:ext cx="101600" cy="169333"/>
          </a:xfrm>
          <a:prstGeom prst="rect">
            <a:avLst/>
          </a:prstGeom>
          <a:noFill/>
          <a:ln/>
        </p:spPr>
        <p:txBody>
          <a:bodyPr wrap="square" lIns="0" tIns="0" rIns="0" bIns="0" rtlCol="0" anchor="ctr"/>
          <a:lstStyle/>
          <a:p>
            <a:pPr>
              <a:lnSpc>
                <a:spcPct val="120000"/>
              </a:lnSpc>
            </a:pPr>
            <a:r>
              <a:rPr lang="en-US" sz="933" dirty="0">
                <a:solidFill>
                  <a:srgbClr val="A88B6A"/>
                </a:solidFill>
                <a:latin typeface="Liter" pitchFamily="34" charset="0"/>
                <a:ea typeface="Liter" pitchFamily="34" charset="-122"/>
                <a:cs typeface="Liter" pitchFamily="34" charset="-120"/>
              </a:rPr>
              <a:t>•</a:t>
            </a:r>
            <a:endParaRPr lang="en-US" sz="1600" dirty="0"/>
          </a:p>
        </p:txBody>
      </p:sp>
      <p:sp>
        <p:nvSpPr>
          <p:cNvPr id="44" name="Text 42"/>
          <p:cNvSpPr/>
          <p:nvPr/>
        </p:nvSpPr>
        <p:spPr>
          <a:xfrm>
            <a:off x="6885517" y="3894667"/>
            <a:ext cx="3022600"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Apply fertilizers and nutrients at specified concentrations</a:t>
            </a:r>
            <a:endParaRPr lang="en-US" sz="1600" dirty="0"/>
          </a:p>
        </p:txBody>
      </p:sp>
      <p:sp>
        <p:nvSpPr>
          <p:cNvPr id="45" name="Text 43"/>
          <p:cNvSpPr/>
          <p:nvPr/>
        </p:nvSpPr>
        <p:spPr>
          <a:xfrm>
            <a:off x="6773333" y="4097867"/>
            <a:ext cx="101600" cy="169333"/>
          </a:xfrm>
          <a:prstGeom prst="rect">
            <a:avLst/>
          </a:prstGeom>
          <a:noFill/>
          <a:ln/>
        </p:spPr>
        <p:txBody>
          <a:bodyPr wrap="square" lIns="0" tIns="0" rIns="0" bIns="0" rtlCol="0" anchor="ctr"/>
          <a:lstStyle/>
          <a:p>
            <a:pPr>
              <a:lnSpc>
                <a:spcPct val="120000"/>
              </a:lnSpc>
            </a:pPr>
            <a:r>
              <a:rPr lang="en-US" sz="933" dirty="0">
                <a:solidFill>
                  <a:srgbClr val="A88B6A"/>
                </a:solidFill>
                <a:latin typeface="Liter" pitchFamily="34" charset="0"/>
                <a:ea typeface="Liter" pitchFamily="34" charset="-122"/>
                <a:cs typeface="Liter" pitchFamily="34" charset="-120"/>
              </a:rPr>
              <a:t>•</a:t>
            </a:r>
            <a:endParaRPr lang="en-US" sz="1600" dirty="0"/>
          </a:p>
        </p:txBody>
      </p:sp>
      <p:sp>
        <p:nvSpPr>
          <p:cNvPr id="46" name="Text 44"/>
          <p:cNvSpPr/>
          <p:nvPr/>
        </p:nvSpPr>
        <p:spPr>
          <a:xfrm>
            <a:off x="6885517" y="4097867"/>
            <a:ext cx="3310467"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Follow exact mixing instructions - never deviate from protocols</a:t>
            </a:r>
            <a:endParaRPr lang="en-US" sz="1600" dirty="0"/>
          </a:p>
        </p:txBody>
      </p:sp>
      <p:sp>
        <p:nvSpPr>
          <p:cNvPr id="47" name="Text 45"/>
          <p:cNvSpPr/>
          <p:nvPr/>
        </p:nvSpPr>
        <p:spPr>
          <a:xfrm>
            <a:off x="6773333" y="4301067"/>
            <a:ext cx="101600" cy="169333"/>
          </a:xfrm>
          <a:prstGeom prst="rect">
            <a:avLst/>
          </a:prstGeom>
          <a:noFill/>
          <a:ln/>
        </p:spPr>
        <p:txBody>
          <a:bodyPr wrap="square" lIns="0" tIns="0" rIns="0" bIns="0" rtlCol="0" anchor="ctr"/>
          <a:lstStyle/>
          <a:p>
            <a:pPr>
              <a:lnSpc>
                <a:spcPct val="120000"/>
              </a:lnSpc>
            </a:pPr>
            <a:r>
              <a:rPr lang="en-US" sz="933" dirty="0">
                <a:solidFill>
                  <a:srgbClr val="A88B6A"/>
                </a:solidFill>
                <a:latin typeface="Liter" pitchFamily="34" charset="0"/>
                <a:ea typeface="Liter" pitchFamily="34" charset="-122"/>
                <a:cs typeface="Liter" pitchFamily="34" charset="-120"/>
              </a:rPr>
              <a:t>•</a:t>
            </a:r>
            <a:endParaRPr lang="en-US" sz="1600" dirty="0"/>
          </a:p>
        </p:txBody>
      </p:sp>
      <p:sp>
        <p:nvSpPr>
          <p:cNvPr id="48" name="Text 46"/>
          <p:cNvSpPr/>
          <p:nvPr/>
        </p:nvSpPr>
        <p:spPr>
          <a:xfrm>
            <a:off x="6885517" y="4301067"/>
            <a:ext cx="2980267"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Record all applications in daily log with time and quantity</a:t>
            </a:r>
            <a:endParaRPr lang="en-US" sz="1600" dirty="0"/>
          </a:p>
        </p:txBody>
      </p:sp>
      <p:sp>
        <p:nvSpPr>
          <p:cNvPr id="49" name="Shape 47"/>
          <p:cNvSpPr/>
          <p:nvPr/>
        </p:nvSpPr>
        <p:spPr>
          <a:xfrm>
            <a:off x="6417733" y="4572000"/>
            <a:ext cx="33867" cy="846667"/>
          </a:xfrm>
          <a:custGeom>
            <a:avLst/>
            <a:gdLst/>
            <a:ahLst/>
            <a:cxnLst/>
            <a:rect l="l" t="t" r="r" b="b"/>
            <a:pathLst>
              <a:path w="33867" h="846667">
                <a:moveTo>
                  <a:pt x="0" y="0"/>
                </a:moveTo>
                <a:lnTo>
                  <a:pt x="33867" y="0"/>
                </a:lnTo>
                <a:lnTo>
                  <a:pt x="33867" y="846667"/>
                </a:lnTo>
                <a:lnTo>
                  <a:pt x="0" y="846667"/>
                </a:lnTo>
                <a:lnTo>
                  <a:pt x="0" y="0"/>
                </a:lnTo>
                <a:close/>
              </a:path>
            </a:pathLst>
          </a:custGeom>
          <a:solidFill>
            <a:srgbClr val="D4A056"/>
          </a:solidFill>
          <a:ln/>
        </p:spPr>
      </p:sp>
      <p:sp>
        <p:nvSpPr>
          <p:cNvPr id="50" name="Shape 48"/>
          <p:cNvSpPr/>
          <p:nvPr/>
        </p:nvSpPr>
        <p:spPr>
          <a:xfrm>
            <a:off x="6578600" y="4605867"/>
            <a:ext cx="152400" cy="135467"/>
          </a:xfrm>
          <a:custGeom>
            <a:avLst/>
            <a:gdLst/>
            <a:ahLst/>
            <a:cxnLst/>
            <a:rect l="l" t="t" r="r" b="b"/>
            <a:pathLst>
              <a:path w="152400" h="135467">
                <a:moveTo>
                  <a:pt x="50800" y="0"/>
                </a:moveTo>
                <a:lnTo>
                  <a:pt x="67733" y="0"/>
                </a:lnTo>
                <a:cubicBezTo>
                  <a:pt x="72416" y="0"/>
                  <a:pt x="76200" y="3784"/>
                  <a:pt x="76200" y="8467"/>
                </a:cubicBezTo>
                <a:lnTo>
                  <a:pt x="76200" y="29633"/>
                </a:lnTo>
                <a:lnTo>
                  <a:pt x="42333" y="29633"/>
                </a:lnTo>
                <a:lnTo>
                  <a:pt x="42333" y="8467"/>
                </a:lnTo>
                <a:cubicBezTo>
                  <a:pt x="42333" y="3784"/>
                  <a:pt x="46117" y="0"/>
                  <a:pt x="50800" y="0"/>
                </a:cubicBezTo>
                <a:close/>
                <a:moveTo>
                  <a:pt x="16933" y="67733"/>
                </a:moveTo>
                <a:cubicBezTo>
                  <a:pt x="16933" y="53710"/>
                  <a:pt x="28310" y="42333"/>
                  <a:pt x="42333" y="42333"/>
                </a:cubicBezTo>
                <a:lnTo>
                  <a:pt x="76200" y="42333"/>
                </a:lnTo>
                <a:cubicBezTo>
                  <a:pt x="90223" y="42333"/>
                  <a:pt x="101600" y="53710"/>
                  <a:pt x="101600" y="67733"/>
                </a:cubicBezTo>
                <a:lnTo>
                  <a:pt x="101600" y="122767"/>
                </a:lnTo>
                <a:cubicBezTo>
                  <a:pt x="101600" y="129778"/>
                  <a:pt x="95911" y="135467"/>
                  <a:pt x="88900" y="135467"/>
                </a:cubicBezTo>
                <a:lnTo>
                  <a:pt x="29633" y="135467"/>
                </a:lnTo>
                <a:cubicBezTo>
                  <a:pt x="22622" y="135467"/>
                  <a:pt x="16933" y="129778"/>
                  <a:pt x="16933" y="122767"/>
                </a:cubicBezTo>
                <a:lnTo>
                  <a:pt x="16933" y="67733"/>
                </a:lnTo>
                <a:close/>
                <a:moveTo>
                  <a:pt x="80433" y="88900"/>
                </a:moveTo>
                <a:cubicBezTo>
                  <a:pt x="80433" y="77218"/>
                  <a:pt x="70949" y="67733"/>
                  <a:pt x="59267" y="67733"/>
                </a:cubicBezTo>
                <a:cubicBezTo>
                  <a:pt x="47584" y="67733"/>
                  <a:pt x="38100" y="77218"/>
                  <a:pt x="38100" y="88900"/>
                </a:cubicBezTo>
                <a:cubicBezTo>
                  <a:pt x="38100" y="100582"/>
                  <a:pt x="47584" y="110067"/>
                  <a:pt x="59267" y="110067"/>
                </a:cubicBezTo>
                <a:cubicBezTo>
                  <a:pt x="70949" y="110067"/>
                  <a:pt x="80433" y="100582"/>
                  <a:pt x="80433" y="88900"/>
                </a:cubicBezTo>
                <a:close/>
                <a:moveTo>
                  <a:pt x="84667" y="16933"/>
                </a:moveTo>
                <a:cubicBezTo>
                  <a:pt x="84667" y="12260"/>
                  <a:pt x="88460" y="8467"/>
                  <a:pt x="93133" y="8467"/>
                </a:cubicBezTo>
                <a:cubicBezTo>
                  <a:pt x="97806" y="8467"/>
                  <a:pt x="101600" y="12260"/>
                  <a:pt x="101600" y="16933"/>
                </a:cubicBezTo>
                <a:cubicBezTo>
                  <a:pt x="101600" y="21606"/>
                  <a:pt x="97806" y="25400"/>
                  <a:pt x="93133" y="25400"/>
                </a:cubicBezTo>
                <a:cubicBezTo>
                  <a:pt x="88460" y="25400"/>
                  <a:pt x="84667" y="21606"/>
                  <a:pt x="84667" y="16933"/>
                </a:cubicBezTo>
                <a:close/>
                <a:moveTo>
                  <a:pt x="118533" y="8467"/>
                </a:moveTo>
                <a:cubicBezTo>
                  <a:pt x="123206" y="8467"/>
                  <a:pt x="127000" y="12260"/>
                  <a:pt x="127000" y="16933"/>
                </a:cubicBezTo>
                <a:cubicBezTo>
                  <a:pt x="127000" y="21606"/>
                  <a:pt x="123206" y="25400"/>
                  <a:pt x="118533" y="25400"/>
                </a:cubicBezTo>
                <a:cubicBezTo>
                  <a:pt x="113860" y="25400"/>
                  <a:pt x="110067" y="21606"/>
                  <a:pt x="110067" y="16933"/>
                </a:cubicBezTo>
                <a:cubicBezTo>
                  <a:pt x="110067" y="12260"/>
                  <a:pt x="113860" y="8467"/>
                  <a:pt x="118533" y="8467"/>
                </a:cubicBezTo>
                <a:close/>
                <a:moveTo>
                  <a:pt x="135467" y="16933"/>
                </a:moveTo>
                <a:cubicBezTo>
                  <a:pt x="135467" y="12260"/>
                  <a:pt x="139260" y="8467"/>
                  <a:pt x="143933" y="8467"/>
                </a:cubicBezTo>
                <a:cubicBezTo>
                  <a:pt x="148606" y="8467"/>
                  <a:pt x="152400" y="12260"/>
                  <a:pt x="152400" y="16933"/>
                </a:cubicBezTo>
                <a:cubicBezTo>
                  <a:pt x="152400" y="21606"/>
                  <a:pt x="148606" y="25400"/>
                  <a:pt x="143933" y="25400"/>
                </a:cubicBezTo>
                <a:cubicBezTo>
                  <a:pt x="139260" y="25400"/>
                  <a:pt x="135467" y="21606"/>
                  <a:pt x="135467" y="16933"/>
                </a:cubicBezTo>
                <a:close/>
                <a:moveTo>
                  <a:pt x="143933" y="33867"/>
                </a:moveTo>
                <a:cubicBezTo>
                  <a:pt x="148606" y="33867"/>
                  <a:pt x="152400" y="37660"/>
                  <a:pt x="152400" y="42333"/>
                </a:cubicBezTo>
                <a:cubicBezTo>
                  <a:pt x="152400" y="47006"/>
                  <a:pt x="148606" y="50800"/>
                  <a:pt x="143933" y="50800"/>
                </a:cubicBezTo>
                <a:cubicBezTo>
                  <a:pt x="139260" y="50800"/>
                  <a:pt x="135467" y="47006"/>
                  <a:pt x="135467" y="42333"/>
                </a:cubicBezTo>
                <a:cubicBezTo>
                  <a:pt x="135467" y="37660"/>
                  <a:pt x="139260" y="33867"/>
                  <a:pt x="143933" y="33867"/>
                </a:cubicBezTo>
                <a:close/>
                <a:moveTo>
                  <a:pt x="135467" y="67733"/>
                </a:moveTo>
                <a:cubicBezTo>
                  <a:pt x="135467" y="63060"/>
                  <a:pt x="139260" y="59267"/>
                  <a:pt x="143933" y="59267"/>
                </a:cubicBezTo>
                <a:cubicBezTo>
                  <a:pt x="148606" y="59267"/>
                  <a:pt x="152400" y="63060"/>
                  <a:pt x="152400" y="67733"/>
                </a:cubicBezTo>
                <a:cubicBezTo>
                  <a:pt x="152400" y="72406"/>
                  <a:pt x="148606" y="76200"/>
                  <a:pt x="143933" y="76200"/>
                </a:cubicBezTo>
                <a:cubicBezTo>
                  <a:pt x="139260" y="76200"/>
                  <a:pt x="135467" y="72406"/>
                  <a:pt x="135467" y="67733"/>
                </a:cubicBezTo>
                <a:close/>
                <a:moveTo>
                  <a:pt x="118533" y="33867"/>
                </a:moveTo>
                <a:cubicBezTo>
                  <a:pt x="123206" y="33867"/>
                  <a:pt x="127000" y="37660"/>
                  <a:pt x="127000" y="42333"/>
                </a:cubicBezTo>
                <a:cubicBezTo>
                  <a:pt x="127000" y="47006"/>
                  <a:pt x="123206" y="50800"/>
                  <a:pt x="118533" y="50800"/>
                </a:cubicBezTo>
                <a:cubicBezTo>
                  <a:pt x="113860" y="50800"/>
                  <a:pt x="110067" y="47006"/>
                  <a:pt x="110067" y="42333"/>
                </a:cubicBezTo>
                <a:cubicBezTo>
                  <a:pt x="110067" y="37660"/>
                  <a:pt x="113860" y="33867"/>
                  <a:pt x="118533" y="33867"/>
                </a:cubicBezTo>
                <a:close/>
              </a:path>
            </a:pathLst>
          </a:custGeom>
          <a:solidFill>
            <a:srgbClr val="D4A056"/>
          </a:solidFill>
          <a:ln/>
        </p:spPr>
      </p:sp>
      <p:sp>
        <p:nvSpPr>
          <p:cNvPr id="51" name="Text 49"/>
          <p:cNvSpPr/>
          <p:nvPr/>
        </p:nvSpPr>
        <p:spPr>
          <a:xfrm>
            <a:off x="6784622" y="4572000"/>
            <a:ext cx="4933244" cy="203200"/>
          </a:xfrm>
          <a:prstGeom prst="rect">
            <a:avLst/>
          </a:prstGeom>
          <a:noFill/>
          <a:ln/>
        </p:spPr>
        <p:txBody>
          <a:bodyPr wrap="square" lIns="0" tIns="0" rIns="0" bIns="0" rtlCol="0" anchor="ctr"/>
          <a:lstStyle/>
          <a:p>
            <a:pPr>
              <a:lnSpc>
                <a:spcPct val="130000"/>
              </a:lnSpc>
            </a:pPr>
            <a:r>
              <a:rPr lang="en-US" sz="1067" b="1" dirty="0">
                <a:solidFill>
                  <a:srgbClr val="2C3531"/>
                </a:solidFill>
                <a:latin typeface="Liter" pitchFamily="34" charset="0"/>
                <a:ea typeface="Liter" pitchFamily="34" charset="-122"/>
                <a:cs typeface="Liter" pitchFamily="34" charset="-120"/>
              </a:rPr>
              <a:t>Chemical Application (Pesticides/Herbicides)</a:t>
            </a:r>
            <a:endParaRPr lang="en-US" sz="1600" dirty="0"/>
          </a:p>
        </p:txBody>
      </p:sp>
      <p:sp>
        <p:nvSpPr>
          <p:cNvPr id="52" name="Text 50"/>
          <p:cNvSpPr/>
          <p:nvPr/>
        </p:nvSpPr>
        <p:spPr>
          <a:xfrm>
            <a:off x="6773333" y="4842933"/>
            <a:ext cx="101600" cy="169333"/>
          </a:xfrm>
          <a:prstGeom prst="rect">
            <a:avLst/>
          </a:prstGeom>
          <a:noFill/>
          <a:ln/>
        </p:spPr>
        <p:txBody>
          <a:bodyPr wrap="square" lIns="0" tIns="0" rIns="0" bIns="0" rtlCol="0" anchor="ctr"/>
          <a:lstStyle/>
          <a:p>
            <a:pPr>
              <a:lnSpc>
                <a:spcPct val="120000"/>
              </a:lnSpc>
            </a:pPr>
            <a:r>
              <a:rPr lang="en-US" sz="933" dirty="0">
                <a:solidFill>
                  <a:srgbClr val="D4A056"/>
                </a:solidFill>
                <a:latin typeface="Liter" pitchFamily="34" charset="0"/>
                <a:ea typeface="Liter" pitchFamily="34" charset="-122"/>
                <a:cs typeface="Liter" pitchFamily="34" charset="-120"/>
              </a:rPr>
              <a:t>•</a:t>
            </a:r>
            <a:endParaRPr lang="en-US" sz="1600" dirty="0"/>
          </a:p>
        </p:txBody>
      </p:sp>
      <p:sp>
        <p:nvSpPr>
          <p:cNvPr id="53" name="Text 51"/>
          <p:cNvSpPr/>
          <p:nvPr/>
        </p:nvSpPr>
        <p:spPr>
          <a:xfrm>
            <a:off x="6885517" y="4842933"/>
            <a:ext cx="3344333"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Wear required Personal Protective Equipment (PPE) at all times</a:t>
            </a:r>
            <a:endParaRPr lang="en-US" sz="1600" dirty="0"/>
          </a:p>
        </p:txBody>
      </p:sp>
      <p:sp>
        <p:nvSpPr>
          <p:cNvPr id="54" name="Text 52"/>
          <p:cNvSpPr/>
          <p:nvPr/>
        </p:nvSpPr>
        <p:spPr>
          <a:xfrm>
            <a:off x="6773333" y="5046133"/>
            <a:ext cx="101600" cy="169333"/>
          </a:xfrm>
          <a:prstGeom prst="rect">
            <a:avLst/>
          </a:prstGeom>
          <a:noFill/>
          <a:ln/>
        </p:spPr>
        <p:txBody>
          <a:bodyPr wrap="square" lIns="0" tIns="0" rIns="0" bIns="0" rtlCol="0" anchor="ctr"/>
          <a:lstStyle/>
          <a:p>
            <a:pPr>
              <a:lnSpc>
                <a:spcPct val="120000"/>
              </a:lnSpc>
            </a:pPr>
            <a:r>
              <a:rPr lang="en-US" sz="933" dirty="0">
                <a:solidFill>
                  <a:srgbClr val="D4A056"/>
                </a:solidFill>
                <a:latin typeface="Liter" pitchFamily="34" charset="0"/>
                <a:ea typeface="Liter" pitchFamily="34" charset="-122"/>
                <a:cs typeface="Liter" pitchFamily="34" charset="-120"/>
              </a:rPr>
              <a:t>•</a:t>
            </a:r>
            <a:endParaRPr lang="en-US" sz="1600" dirty="0"/>
          </a:p>
        </p:txBody>
      </p:sp>
      <p:sp>
        <p:nvSpPr>
          <p:cNvPr id="55" name="Text 53"/>
          <p:cNvSpPr/>
          <p:nvPr/>
        </p:nvSpPr>
        <p:spPr>
          <a:xfrm>
            <a:off x="6885517" y="5046133"/>
            <a:ext cx="2760133"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Apply chemicals only under supervisor authorization</a:t>
            </a:r>
            <a:endParaRPr lang="en-US" sz="1600" dirty="0"/>
          </a:p>
        </p:txBody>
      </p:sp>
      <p:sp>
        <p:nvSpPr>
          <p:cNvPr id="56" name="Text 54"/>
          <p:cNvSpPr/>
          <p:nvPr/>
        </p:nvSpPr>
        <p:spPr>
          <a:xfrm>
            <a:off x="6773333" y="5249333"/>
            <a:ext cx="101600" cy="169333"/>
          </a:xfrm>
          <a:prstGeom prst="rect">
            <a:avLst/>
          </a:prstGeom>
          <a:noFill/>
          <a:ln/>
        </p:spPr>
        <p:txBody>
          <a:bodyPr wrap="square" lIns="0" tIns="0" rIns="0" bIns="0" rtlCol="0" anchor="ctr"/>
          <a:lstStyle/>
          <a:p>
            <a:pPr>
              <a:lnSpc>
                <a:spcPct val="120000"/>
              </a:lnSpc>
            </a:pPr>
            <a:r>
              <a:rPr lang="en-US" sz="933" dirty="0">
                <a:solidFill>
                  <a:srgbClr val="D4A056"/>
                </a:solidFill>
                <a:latin typeface="Liter" pitchFamily="34" charset="0"/>
                <a:ea typeface="Liter" pitchFamily="34" charset="-122"/>
                <a:cs typeface="Liter" pitchFamily="34" charset="-120"/>
              </a:rPr>
              <a:t>•</a:t>
            </a:r>
            <a:endParaRPr lang="en-US" sz="1600" dirty="0"/>
          </a:p>
        </p:txBody>
      </p:sp>
      <p:sp>
        <p:nvSpPr>
          <p:cNvPr id="57" name="Text 55"/>
          <p:cNvSpPr/>
          <p:nvPr/>
        </p:nvSpPr>
        <p:spPr>
          <a:xfrm>
            <a:off x="6885517" y="5249333"/>
            <a:ext cx="4351867" cy="169333"/>
          </a:xfrm>
          <a:prstGeom prst="rect">
            <a:avLst/>
          </a:prstGeom>
          <a:noFill/>
          <a:ln/>
        </p:spPr>
        <p:txBody>
          <a:bodyPr wrap="square" lIns="0" tIns="0" rIns="0" bIns="0" rtlCol="0" anchor="ctr"/>
          <a:lstStyle/>
          <a:p>
            <a:pPr>
              <a:lnSpc>
                <a:spcPct val="120000"/>
              </a:lnSpc>
            </a:pPr>
            <a:r>
              <a:rPr lang="en-US" sz="933" dirty="0">
                <a:solidFill>
                  <a:srgbClr val="2C3531">
                    <a:alpha val="80000"/>
                  </a:srgbClr>
                </a:solidFill>
                <a:latin typeface="Liter" pitchFamily="34" charset="0"/>
                <a:ea typeface="Liter" pitchFamily="34" charset="-122"/>
                <a:cs typeface="Liter" pitchFamily="34" charset="-120"/>
              </a:rPr>
              <a:t>Observe pre-harvest intervals (PHI) - never apply restricted chemicals near harvest</a:t>
            </a:r>
            <a:endParaRPr lang="en-US" sz="1600" dirty="0"/>
          </a:p>
        </p:txBody>
      </p:sp>
      <p:sp>
        <p:nvSpPr>
          <p:cNvPr id="58" name="Shape 56"/>
          <p:cNvSpPr/>
          <p:nvPr/>
        </p:nvSpPr>
        <p:spPr>
          <a:xfrm>
            <a:off x="338667" y="5808133"/>
            <a:ext cx="11514667" cy="711200"/>
          </a:xfrm>
          <a:custGeom>
            <a:avLst/>
            <a:gdLst/>
            <a:ahLst/>
            <a:cxnLst/>
            <a:rect l="l" t="t" r="r" b="b"/>
            <a:pathLst>
              <a:path w="11514667" h="711200">
                <a:moveTo>
                  <a:pt x="67735" y="0"/>
                </a:moveTo>
                <a:lnTo>
                  <a:pt x="11446932" y="0"/>
                </a:lnTo>
                <a:cubicBezTo>
                  <a:pt x="11484341" y="0"/>
                  <a:pt x="11514667" y="30326"/>
                  <a:pt x="11514667" y="67735"/>
                </a:cubicBezTo>
                <a:lnTo>
                  <a:pt x="11514667" y="643465"/>
                </a:lnTo>
                <a:cubicBezTo>
                  <a:pt x="11514667" y="680874"/>
                  <a:pt x="11484341" y="711200"/>
                  <a:pt x="11446932" y="711200"/>
                </a:cubicBezTo>
                <a:lnTo>
                  <a:pt x="67735" y="711200"/>
                </a:lnTo>
                <a:cubicBezTo>
                  <a:pt x="30326" y="711200"/>
                  <a:pt x="0" y="680874"/>
                  <a:pt x="0" y="643465"/>
                </a:cubicBezTo>
                <a:lnTo>
                  <a:pt x="0" y="67735"/>
                </a:lnTo>
                <a:cubicBezTo>
                  <a:pt x="0" y="30351"/>
                  <a:pt x="30351" y="0"/>
                  <a:pt x="67735" y="0"/>
                </a:cubicBezTo>
                <a:close/>
              </a:path>
            </a:pathLst>
          </a:custGeom>
          <a:solidFill>
            <a:srgbClr val="4A5D52"/>
          </a:solidFill>
          <a:ln/>
        </p:spPr>
      </p:sp>
      <p:sp>
        <p:nvSpPr>
          <p:cNvPr id="59" name="Shape 57"/>
          <p:cNvSpPr/>
          <p:nvPr/>
        </p:nvSpPr>
        <p:spPr>
          <a:xfrm>
            <a:off x="486833" y="5943600"/>
            <a:ext cx="228600" cy="203200"/>
          </a:xfrm>
          <a:custGeom>
            <a:avLst/>
            <a:gdLst/>
            <a:ahLst/>
            <a:cxnLst/>
            <a:rect l="l" t="t" r="r" b="b"/>
            <a:pathLst>
              <a:path w="228600" h="203200">
                <a:moveTo>
                  <a:pt x="88900" y="98425"/>
                </a:moveTo>
                <a:cubicBezTo>
                  <a:pt x="115185" y="98425"/>
                  <a:pt x="136525" y="77085"/>
                  <a:pt x="136525" y="50800"/>
                </a:cubicBezTo>
                <a:cubicBezTo>
                  <a:pt x="136525" y="24515"/>
                  <a:pt x="115185" y="3175"/>
                  <a:pt x="88900" y="3175"/>
                </a:cubicBezTo>
                <a:cubicBezTo>
                  <a:pt x="62615" y="3175"/>
                  <a:pt x="41275" y="24515"/>
                  <a:pt x="41275" y="50800"/>
                </a:cubicBezTo>
                <a:cubicBezTo>
                  <a:pt x="41275" y="77085"/>
                  <a:pt x="62615" y="98425"/>
                  <a:pt x="88900" y="98425"/>
                </a:cubicBezTo>
                <a:close/>
                <a:moveTo>
                  <a:pt x="77113" y="120650"/>
                </a:moveTo>
                <a:cubicBezTo>
                  <a:pt x="38021" y="120650"/>
                  <a:pt x="6350" y="152321"/>
                  <a:pt x="6350" y="191413"/>
                </a:cubicBezTo>
                <a:cubicBezTo>
                  <a:pt x="6350" y="197922"/>
                  <a:pt x="11628" y="203200"/>
                  <a:pt x="18137" y="203200"/>
                </a:cubicBezTo>
                <a:lnTo>
                  <a:pt x="117951" y="203200"/>
                </a:lnTo>
                <a:cubicBezTo>
                  <a:pt x="103584" y="186293"/>
                  <a:pt x="95250" y="164505"/>
                  <a:pt x="95250" y="141446"/>
                </a:cubicBezTo>
                <a:lnTo>
                  <a:pt x="95250" y="129103"/>
                </a:lnTo>
                <a:cubicBezTo>
                  <a:pt x="95250" y="126206"/>
                  <a:pt x="95647" y="123349"/>
                  <a:pt x="96401" y="120650"/>
                </a:cubicBezTo>
                <a:lnTo>
                  <a:pt x="77113" y="120650"/>
                </a:lnTo>
                <a:close/>
                <a:moveTo>
                  <a:pt x="176728" y="193873"/>
                </a:moveTo>
                <a:lnTo>
                  <a:pt x="171450" y="196374"/>
                </a:lnTo>
                <a:lnTo>
                  <a:pt x="171450" y="121722"/>
                </a:lnTo>
                <a:lnTo>
                  <a:pt x="209550" y="134422"/>
                </a:lnTo>
                <a:lnTo>
                  <a:pt x="209550" y="142200"/>
                </a:lnTo>
                <a:cubicBezTo>
                  <a:pt x="209550" y="164346"/>
                  <a:pt x="196771" y="184468"/>
                  <a:pt x="176728" y="193913"/>
                </a:cubicBezTo>
                <a:close/>
                <a:moveTo>
                  <a:pt x="167442" y="102989"/>
                </a:moveTo>
                <a:lnTo>
                  <a:pt x="122992" y="117793"/>
                </a:lnTo>
                <a:cubicBezTo>
                  <a:pt x="117792" y="119539"/>
                  <a:pt x="114300" y="124381"/>
                  <a:pt x="114300" y="129858"/>
                </a:cubicBezTo>
                <a:lnTo>
                  <a:pt x="114300" y="142200"/>
                </a:lnTo>
                <a:cubicBezTo>
                  <a:pt x="114300" y="171728"/>
                  <a:pt x="131366" y="198596"/>
                  <a:pt x="158036" y="211138"/>
                </a:cubicBezTo>
                <a:lnTo>
                  <a:pt x="165378" y="214590"/>
                </a:lnTo>
                <a:cubicBezTo>
                  <a:pt x="167283" y="215463"/>
                  <a:pt x="169347" y="215940"/>
                  <a:pt x="171410" y="215940"/>
                </a:cubicBezTo>
                <a:cubicBezTo>
                  <a:pt x="173474" y="215940"/>
                  <a:pt x="175577" y="215463"/>
                  <a:pt x="177443" y="214590"/>
                </a:cubicBezTo>
                <a:lnTo>
                  <a:pt x="184785" y="211138"/>
                </a:lnTo>
                <a:cubicBezTo>
                  <a:pt x="211534" y="198557"/>
                  <a:pt x="228600" y="171688"/>
                  <a:pt x="228600" y="142161"/>
                </a:cubicBezTo>
                <a:lnTo>
                  <a:pt x="228600" y="129818"/>
                </a:lnTo>
                <a:cubicBezTo>
                  <a:pt x="228600" y="124341"/>
                  <a:pt x="225108" y="119499"/>
                  <a:pt x="219908" y="117753"/>
                </a:cubicBezTo>
                <a:lnTo>
                  <a:pt x="175458" y="102949"/>
                </a:lnTo>
                <a:cubicBezTo>
                  <a:pt x="172839" y="102076"/>
                  <a:pt x="170021" y="102076"/>
                  <a:pt x="167442" y="102949"/>
                </a:cubicBezTo>
                <a:close/>
              </a:path>
            </a:pathLst>
          </a:custGeom>
          <a:solidFill>
            <a:srgbClr val="D4A056"/>
          </a:solidFill>
          <a:ln/>
        </p:spPr>
      </p:sp>
      <p:sp>
        <p:nvSpPr>
          <p:cNvPr id="60" name="Text 58"/>
          <p:cNvSpPr/>
          <p:nvPr/>
        </p:nvSpPr>
        <p:spPr>
          <a:xfrm>
            <a:off x="829733" y="5943600"/>
            <a:ext cx="10955867" cy="440267"/>
          </a:xfrm>
          <a:prstGeom prst="rect">
            <a:avLst/>
          </a:prstGeom>
          <a:noFill/>
          <a:ln/>
        </p:spPr>
        <p:txBody>
          <a:bodyPr wrap="square" lIns="0" tIns="0" rIns="0" bIns="0" rtlCol="0" anchor="ctr"/>
          <a:lstStyle/>
          <a:p>
            <a:pPr>
              <a:lnSpc>
                <a:spcPct val="140000"/>
              </a:lnSpc>
            </a:pPr>
            <a:r>
              <a:rPr lang="en-US" sz="1067" b="1" dirty="0">
                <a:solidFill>
                  <a:srgbClr val="F8F7F2"/>
                </a:solidFill>
                <a:latin typeface="Liter" pitchFamily="34" charset="0"/>
                <a:ea typeface="Liter" pitchFamily="34" charset="-122"/>
                <a:cs typeface="Liter" pitchFamily="34" charset="-120"/>
              </a:rPr>
              <a:t>Safety &amp; Compliance Notice:</a:t>
            </a:r>
            <a:pPr>
              <a:lnSpc>
                <a:spcPct val="140000"/>
              </a:lnSpc>
            </a:pPr>
            <a:r>
              <a:rPr lang="en-US" sz="1067" dirty="0">
                <a:solidFill>
                  <a:srgbClr val="F8F7F2"/>
                </a:solidFill>
                <a:latin typeface="Liter" pitchFamily="34" charset="0"/>
                <a:ea typeface="Liter" pitchFamily="34" charset="-122"/>
                <a:cs typeface="Liter" pitchFamily="34" charset="-120"/>
              </a:rPr>
              <a:t> All chemical applications must follow EPA regulations and label instructions. Employee will receive training on proper handling, storage, and application procedures. Failure to follow safety protocols may result in immediate termination and potential legal liability.</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329736" y="329736"/>
            <a:ext cx="7311903" cy="4022783"/>
          </a:xfrm>
          <a:custGeom>
            <a:avLst/>
            <a:gdLst/>
            <a:ahLst/>
            <a:cxnLst/>
            <a:rect l="l" t="t" r="r" b="b"/>
            <a:pathLst>
              <a:path w="7311903" h="4022783">
                <a:moveTo>
                  <a:pt x="65933" y="0"/>
                </a:moveTo>
                <a:lnTo>
                  <a:pt x="7245969" y="0"/>
                </a:lnTo>
                <a:cubicBezTo>
                  <a:pt x="7282383" y="0"/>
                  <a:pt x="7311903" y="29519"/>
                  <a:pt x="7311903" y="65933"/>
                </a:cubicBezTo>
                <a:lnTo>
                  <a:pt x="7311903" y="3956850"/>
                </a:lnTo>
                <a:cubicBezTo>
                  <a:pt x="7311903" y="3993264"/>
                  <a:pt x="7282383" y="4022783"/>
                  <a:pt x="7245969" y="4022783"/>
                </a:cubicBezTo>
                <a:lnTo>
                  <a:pt x="65933" y="4022783"/>
                </a:lnTo>
                <a:cubicBezTo>
                  <a:pt x="29519" y="4022783"/>
                  <a:pt x="0" y="3993264"/>
                  <a:pt x="0" y="3956850"/>
                </a:cubicBezTo>
                <a:lnTo>
                  <a:pt x="0" y="65933"/>
                </a:lnTo>
                <a:cubicBezTo>
                  <a:pt x="0" y="29544"/>
                  <a:pt x="29544" y="0"/>
                  <a:pt x="65933" y="0"/>
                </a:cubicBezTo>
                <a:close/>
              </a:path>
            </a:pathLst>
          </a:custGeom>
          <a:solidFill>
            <a:srgbClr val="FFFFFF"/>
          </a:solidFill>
          <a:ln/>
          <a:effectLst>
            <a:outerShdw sx="100000" sy="100000" kx="0" ky="0" algn="bl" rotWithShape="0" blurRad="49460" dist="32974" dir="5400000">
              <a:srgbClr val="000000">
                <a:alpha val="10196"/>
              </a:srgbClr>
            </a:outerShdw>
          </a:effectLst>
        </p:spPr>
      </p:sp>
      <p:sp>
        <p:nvSpPr>
          <p:cNvPr id="3" name="Shape 1"/>
          <p:cNvSpPr/>
          <p:nvPr/>
        </p:nvSpPr>
        <p:spPr>
          <a:xfrm>
            <a:off x="527578" y="527578"/>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4A5D52"/>
          </a:solidFill>
          <a:ln/>
        </p:spPr>
      </p:sp>
      <p:sp>
        <p:nvSpPr>
          <p:cNvPr id="4" name="Shape 2"/>
          <p:cNvSpPr/>
          <p:nvPr/>
        </p:nvSpPr>
        <p:spPr>
          <a:xfrm>
            <a:off x="642986" y="642986"/>
            <a:ext cx="164868" cy="164868"/>
          </a:xfrm>
          <a:custGeom>
            <a:avLst/>
            <a:gdLst/>
            <a:ahLst/>
            <a:cxnLst/>
            <a:rect l="l" t="t" r="r" b="b"/>
            <a:pathLst>
              <a:path w="164868" h="164868">
                <a:moveTo>
                  <a:pt x="82434" y="0"/>
                </a:moveTo>
                <a:cubicBezTo>
                  <a:pt x="87168" y="0"/>
                  <a:pt x="91515" y="2608"/>
                  <a:pt x="93769" y="6762"/>
                </a:cubicBezTo>
                <a:lnTo>
                  <a:pt x="163323" y="135565"/>
                </a:lnTo>
                <a:cubicBezTo>
                  <a:pt x="165480" y="139558"/>
                  <a:pt x="165383" y="144388"/>
                  <a:pt x="163065" y="148285"/>
                </a:cubicBezTo>
                <a:cubicBezTo>
                  <a:pt x="160746" y="152181"/>
                  <a:pt x="156528" y="154564"/>
                  <a:pt x="151988" y="154564"/>
                </a:cubicBezTo>
                <a:lnTo>
                  <a:pt x="12880" y="154564"/>
                </a:lnTo>
                <a:cubicBezTo>
                  <a:pt x="8340" y="154564"/>
                  <a:pt x="4154" y="152181"/>
                  <a:pt x="1803" y="148285"/>
                </a:cubicBezTo>
                <a:cubicBezTo>
                  <a:pt x="-547" y="144388"/>
                  <a:pt x="-612" y="139558"/>
                  <a:pt x="1546" y="135565"/>
                </a:cubicBezTo>
                <a:lnTo>
                  <a:pt x="71099" y="6762"/>
                </a:lnTo>
                <a:cubicBezTo>
                  <a:pt x="73353" y="2608"/>
                  <a:pt x="77701" y="0"/>
                  <a:pt x="82434" y="0"/>
                </a:cubicBezTo>
                <a:close/>
                <a:moveTo>
                  <a:pt x="82434" y="54097"/>
                </a:moveTo>
                <a:cubicBezTo>
                  <a:pt x="78151" y="54097"/>
                  <a:pt x="74706" y="57543"/>
                  <a:pt x="74706" y="61826"/>
                </a:cubicBezTo>
                <a:lnTo>
                  <a:pt x="74706" y="97890"/>
                </a:lnTo>
                <a:cubicBezTo>
                  <a:pt x="74706" y="102173"/>
                  <a:pt x="78151" y="105619"/>
                  <a:pt x="82434" y="105619"/>
                </a:cubicBezTo>
                <a:cubicBezTo>
                  <a:pt x="86717" y="105619"/>
                  <a:pt x="90162" y="102173"/>
                  <a:pt x="90162" y="97890"/>
                </a:cubicBezTo>
                <a:lnTo>
                  <a:pt x="90162" y="61826"/>
                </a:lnTo>
                <a:cubicBezTo>
                  <a:pt x="90162" y="57543"/>
                  <a:pt x="86717" y="54097"/>
                  <a:pt x="82434" y="54097"/>
                </a:cubicBezTo>
                <a:close/>
                <a:moveTo>
                  <a:pt x="91032" y="123651"/>
                </a:moveTo>
                <a:cubicBezTo>
                  <a:pt x="91227" y="120460"/>
                  <a:pt x="89636" y="117424"/>
                  <a:pt x="86900" y="115769"/>
                </a:cubicBezTo>
                <a:cubicBezTo>
                  <a:pt x="84164" y="114114"/>
                  <a:pt x="80736" y="114114"/>
                  <a:pt x="78000" y="115769"/>
                </a:cubicBezTo>
                <a:cubicBezTo>
                  <a:pt x="75265" y="117424"/>
                  <a:pt x="73673" y="120460"/>
                  <a:pt x="73869" y="123651"/>
                </a:cubicBezTo>
                <a:cubicBezTo>
                  <a:pt x="73673" y="126842"/>
                  <a:pt x="75265" y="129879"/>
                  <a:pt x="78000" y="131534"/>
                </a:cubicBezTo>
                <a:cubicBezTo>
                  <a:pt x="80736" y="133188"/>
                  <a:pt x="84164" y="133188"/>
                  <a:pt x="86900" y="131534"/>
                </a:cubicBezTo>
                <a:cubicBezTo>
                  <a:pt x="89636" y="129879"/>
                  <a:pt x="91227" y="126842"/>
                  <a:pt x="91032" y="123651"/>
                </a:cubicBezTo>
                <a:close/>
              </a:path>
            </a:pathLst>
          </a:custGeom>
          <a:solidFill>
            <a:srgbClr val="F8F7F2"/>
          </a:solidFill>
          <a:ln/>
        </p:spPr>
      </p:sp>
      <p:sp>
        <p:nvSpPr>
          <p:cNvPr id="5" name="Text 3"/>
          <p:cNvSpPr/>
          <p:nvPr/>
        </p:nvSpPr>
        <p:spPr>
          <a:xfrm>
            <a:off x="1022183" y="597647"/>
            <a:ext cx="2514239" cy="255546"/>
          </a:xfrm>
          <a:prstGeom prst="rect">
            <a:avLst/>
          </a:prstGeom>
          <a:noFill/>
          <a:ln/>
        </p:spPr>
        <p:txBody>
          <a:bodyPr wrap="square" lIns="0" tIns="0" rIns="0" bIns="0" rtlCol="0" anchor="ctr"/>
          <a:lstStyle/>
          <a:p>
            <a:pPr>
              <a:lnSpc>
                <a:spcPct val="110000"/>
              </a:lnSpc>
            </a:pPr>
            <a:r>
              <a:rPr lang="en-US" sz="1558" b="1" dirty="0">
                <a:solidFill>
                  <a:srgbClr val="4A5D52"/>
                </a:solidFill>
                <a:latin typeface="Unna" pitchFamily="34" charset="0"/>
                <a:ea typeface="Unna" pitchFamily="34" charset="-122"/>
                <a:cs typeface="Unna" pitchFamily="34" charset="-120"/>
              </a:rPr>
              <a:t>Issue Reporting &amp; Escalation</a:t>
            </a:r>
            <a:endParaRPr lang="en-US" sz="1600" dirty="0"/>
          </a:p>
        </p:txBody>
      </p:sp>
      <p:sp>
        <p:nvSpPr>
          <p:cNvPr id="6" name="Text 4"/>
          <p:cNvSpPr/>
          <p:nvPr/>
        </p:nvSpPr>
        <p:spPr>
          <a:xfrm>
            <a:off x="527578" y="1055156"/>
            <a:ext cx="6982166" cy="428657"/>
          </a:xfrm>
          <a:prstGeom prst="rect">
            <a:avLst/>
          </a:prstGeom>
          <a:noFill/>
          <a:ln/>
        </p:spPr>
        <p:txBody>
          <a:bodyPr wrap="square" lIns="0" tIns="0" rIns="0" bIns="0" rtlCol="0" anchor="ctr"/>
          <a:lstStyle/>
          <a:p>
            <a:pPr>
              <a:lnSpc>
                <a:spcPct val="140000"/>
              </a:lnSpc>
            </a:pPr>
            <a:r>
              <a:rPr lang="en-US" sz="1039" dirty="0">
                <a:solidFill>
                  <a:srgbClr val="2C3531"/>
                </a:solidFill>
                <a:latin typeface="Liter" pitchFamily="34" charset="0"/>
                <a:ea typeface="Liter" pitchFamily="34" charset="-122"/>
                <a:cs typeface="Liter" pitchFamily="34" charset="-120"/>
              </a:rPr>
              <a:t>Employee must promptly report and escalate any issues affecting plant health, facility operations, or safety. Early detection and communication are essential for preventing crop loss.</a:t>
            </a:r>
            <a:endParaRPr lang="en-US" sz="1600" dirty="0"/>
          </a:p>
        </p:txBody>
      </p:sp>
      <p:sp>
        <p:nvSpPr>
          <p:cNvPr id="7" name="Shape 5"/>
          <p:cNvSpPr/>
          <p:nvPr/>
        </p:nvSpPr>
        <p:spPr>
          <a:xfrm>
            <a:off x="527578" y="1615708"/>
            <a:ext cx="6916219" cy="560552"/>
          </a:xfrm>
          <a:custGeom>
            <a:avLst/>
            <a:gdLst/>
            <a:ahLst/>
            <a:cxnLst/>
            <a:rect l="l" t="t" r="r" b="b"/>
            <a:pathLst>
              <a:path w="6916219" h="560552">
                <a:moveTo>
                  <a:pt x="65949" y="0"/>
                </a:moveTo>
                <a:lnTo>
                  <a:pt x="6850270" y="0"/>
                </a:lnTo>
                <a:cubicBezTo>
                  <a:pt x="6886693" y="0"/>
                  <a:pt x="6916219" y="29526"/>
                  <a:pt x="6916219" y="65949"/>
                </a:cubicBezTo>
                <a:lnTo>
                  <a:pt x="6916219" y="494603"/>
                </a:lnTo>
                <a:cubicBezTo>
                  <a:pt x="6916219" y="531025"/>
                  <a:pt x="6886693" y="560552"/>
                  <a:pt x="6850270" y="560552"/>
                </a:cubicBezTo>
                <a:lnTo>
                  <a:pt x="65949" y="560552"/>
                </a:lnTo>
                <a:cubicBezTo>
                  <a:pt x="29551" y="560552"/>
                  <a:pt x="0" y="531001"/>
                  <a:pt x="0" y="494603"/>
                </a:cubicBezTo>
                <a:lnTo>
                  <a:pt x="0" y="65949"/>
                </a:lnTo>
                <a:cubicBezTo>
                  <a:pt x="0" y="29551"/>
                  <a:pt x="29551" y="0"/>
                  <a:pt x="65949" y="0"/>
                </a:cubicBezTo>
                <a:close/>
              </a:path>
            </a:pathLst>
          </a:custGeom>
          <a:solidFill>
            <a:srgbClr val="4A5D52">
              <a:alpha val="5098"/>
            </a:srgbClr>
          </a:solidFill>
          <a:ln/>
        </p:spPr>
      </p:sp>
      <p:sp>
        <p:nvSpPr>
          <p:cNvPr id="8" name="Shape 6"/>
          <p:cNvSpPr/>
          <p:nvPr/>
        </p:nvSpPr>
        <p:spPr>
          <a:xfrm>
            <a:off x="626499" y="1714629"/>
            <a:ext cx="263789" cy="263789"/>
          </a:xfrm>
          <a:custGeom>
            <a:avLst/>
            <a:gdLst/>
            <a:ahLst/>
            <a:cxnLst/>
            <a:rect l="l" t="t" r="r" b="b"/>
            <a:pathLst>
              <a:path w="263789" h="263789">
                <a:moveTo>
                  <a:pt x="131895" y="0"/>
                </a:moveTo>
                <a:lnTo>
                  <a:pt x="131895" y="0"/>
                </a:lnTo>
                <a:cubicBezTo>
                  <a:pt x="204689" y="0"/>
                  <a:pt x="263789" y="59100"/>
                  <a:pt x="263789" y="131895"/>
                </a:cubicBezTo>
                <a:lnTo>
                  <a:pt x="263789" y="131895"/>
                </a:lnTo>
                <a:cubicBezTo>
                  <a:pt x="263789" y="204689"/>
                  <a:pt x="204689" y="263789"/>
                  <a:pt x="131895" y="263789"/>
                </a:cubicBezTo>
                <a:lnTo>
                  <a:pt x="131895" y="263789"/>
                </a:lnTo>
                <a:cubicBezTo>
                  <a:pt x="59100" y="263789"/>
                  <a:pt x="0" y="204689"/>
                  <a:pt x="0" y="131895"/>
                </a:cubicBezTo>
                <a:lnTo>
                  <a:pt x="0" y="131895"/>
                </a:lnTo>
                <a:cubicBezTo>
                  <a:pt x="0" y="59100"/>
                  <a:pt x="59100" y="0"/>
                  <a:pt x="131895" y="0"/>
                </a:cubicBezTo>
                <a:close/>
              </a:path>
            </a:pathLst>
          </a:custGeom>
          <a:solidFill>
            <a:srgbClr val="4A5D52"/>
          </a:solidFill>
          <a:ln/>
        </p:spPr>
      </p:sp>
      <p:sp>
        <p:nvSpPr>
          <p:cNvPr id="9" name="Text 7"/>
          <p:cNvSpPr/>
          <p:nvPr/>
        </p:nvSpPr>
        <p:spPr>
          <a:xfrm>
            <a:off x="593525" y="1714629"/>
            <a:ext cx="329736" cy="263789"/>
          </a:xfrm>
          <a:prstGeom prst="rect">
            <a:avLst/>
          </a:prstGeom>
          <a:noFill/>
          <a:ln/>
        </p:spPr>
        <p:txBody>
          <a:bodyPr wrap="square" lIns="0" tIns="0" rIns="0" bIns="0" rtlCol="0" anchor="ctr"/>
          <a:lstStyle/>
          <a:p>
            <a:pPr algn="ctr">
              <a:lnSpc>
                <a:spcPct val="130000"/>
              </a:lnSpc>
            </a:pPr>
            <a:r>
              <a:rPr lang="en-US" sz="1039" b="1" dirty="0">
                <a:solidFill>
                  <a:srgbClr val="F8F7F2"/>
                </a:solidFill>
                <a:latin typeface="Oranienbaum" pitchFamily="34" charset="0"/>
                <a:ea typeface="Oranienbaum" pitchFamily="34" charset="-122"/>
                <a:cs typeface="Oranienbaum" pitchFamily="34" charset="-120"/>
              </a:rPr>
              <a:t>1</a:t>
            </a:r>
            <a:endParaRPr lang="en-US" sz="1600" dirty="0"/>
          </a:p>
        </p:txBody>
      </p:sp>
      <p:sp>
        <p:nvSpPr>
          <p:cNvPr id="10" name="Text 8"/>
          <p:cNvSpPr/>
          <p:nvPr/>
        </p:nvSpPr>
        <p:spPr>
          <a:xfrm>
            <a:off x="989209" y="1714629"/>
            <a:ext cx="3833185" cy="197842"/>
          </a:xfrm>
          <a:prstGeom prst="rect">
            <a:avLst/>
          </a:prstGeom>
          <a:noFill/>
          <a:ln/>
        </p:spPr>
        <p:txBody>
          <a:bodyPr wrap="square" lIns="0" tIns="0" rIns="0" bIns="0" rtlCol="0" anchor="ctr"/>
          <a:lstStyle/>
          <a:p>
            <a:pPr>
              <a:lnSpc>
                <a:spcPct val="130000"/>
              </a:lnSpc>
            </a:pPr>
            <a:r>
              <a:rPr lang="en-US" sz="1039" b="1" dirty="0">
                <a:solidFill>
                  <a:srgbClr val="2C3531"/>
                </a:solidFill>
                <a:latin typeface="Liter" pitchFamily="34" charset="0"/>
                <a:ea typeface="Liter" pitchFamily="34" charset="-122"/>
                <a:cs typeface="Liter" pitchFamily="34" charset="-120"/>
              </a:rPr>
              <a:t>Pest Infestation</a:t>
            </a:r>
            <a:endParaRPr lang="en-US" sz="1600" dirty="0"/>
          </a:p>
        </p:txBody>
      </p:sp>
      <p:sp>
        <p:nvSpPr>
          <p:cNvPr id="11" name="Text 9"/>
          <p:cNvSpPr/>
          <p:nvPr/>
        </p:nvSpPr>
        <p:spPr>
          <a:xfrm>
            <a:off x="989209" y="1912471"/>
            <a:ext cx="3824941" cy="164868"/>
          </a:xfrm>
          <a:prstGeom prst="rect">
            <a:avLst/>
          </a:prstGeom>
          <a:noFill/>
          <a:ln/>
        </p:spPr>
        <p:txBody>
          <a:bodyPr wrap="square" lIns="0" tIns="0" rIns="0" bIns="0" rtlCol="0" anchor="ctr"/>
          <a:lstStyle/>
          <a:p>
            <a:pPr>
              <a:lnSpc>
                <a:spcPct val="120000"/>
              </a:lnSpc>
            </a:pPr>
            <a:r>
              <a:rPr lang="en-US" sz="909" dirty="0">
                <a:solidFill>
                  <a:srgbClr val="2C3531">
                    <a:alpha val="70000"/>
                  </a:srgbClr>
                </a:solidFill>
                <a:latin typeface="Liter" pitchFamily="34" charset="0"/>
                <a:ea typeface="Liter" pitchFamily="34" charset="-122"/>
                <a:cs typeface="Liter" pitchFamily="34" charset="-120"/>
              </a:rPr>
              <a:t>Report immediately: aphids, spider mites, whiteflies, or any unusual insects</a:t>
            </a:r>
            <a:endParaRPr lang="en-US" sz="1600" dirty="0"/>
          </a:p>
        </p:txBody>
      </p:sp>
      <p:sp>
        <p:nvSpPr>
          <p:cNvPr id="12" name="Shape 10"/>
          <p:cNvSpPr/>
          <p:nvPr/>
        </p:nvSpPr>
        <p:spPr>
          <a:xfrm>
            <a:off x="527578" y="2275181"/>
            <a:ext cx="6916219" cy="560552"/>
          </a:xfrm>
          <a:custGeom>
            <a:avLst/>
            <a:gdLst/>
            <a:ahLst/>
            <a:cxnLst/>
            <a:rect l="l" t="t" r="r" b="b"/>
            <a:pathLst>
              <a:path w="6916219" h="560552">
                <a:moveTo>
                  <a:pt x="65949" y="0"/>
                </a:moveTo>
                <a:lnTo>
                  <a:pt x="6850270" y="0"/>
                </a:lnTo>
                <a:cubicBezTo>
                  <a:pt x="6886693" y="0"/>
                  <a:pt x="6916219" y="29526"/>
                  <a:pt x="6916219" y="65949"/>
                </a:cubicBezTo>
                <a:lnTo>
                  <a:pt x="6916219" y="494603"/>
                </a:lnTo>
                <a:cubicBezTo>
                  <a:pt x="6916219" y="531025"/>
                  <a:pt x="6886693" y="560552"/>
                  <a:pt x="6850270" y="560552"/>
                </a:cubicBezTo>
                <a:lnTo>
                  <a:pt x="65949" y="560552"/>
                </a:lnTo>
                <a:cubicBezTo>
                  <a:pt x="29551" y="560552"/>
                  <a:pt x="0" y="531001"/>
                  <a:pt x="0" y="494603"/>
                </a:cubicBezTo>
                <a:lnTo>
                  <a:pt x="0" y="65949"/>
                </a:lnTo>
                <a:cubicBezTo>
                  <a:pt x="0" y="29551"/>
                  <a:pt x="29551" y="0"/>
                  <a:pt x="65949" y="0"/>
                </a:cubicBezTo>
                <a:close/>
              </a:path>
            </a:pathLst>
          </a:custGeom>
          <a:solidFill>
            <a:srgbClr val="A88B6A">
              <a:alpha val="5098"/>
            </a:srgbClr>
          </a:solidFill>
          <a:ln/>
        </p:spPr>
      </p:sp>
      <p:sp>
        <p:nvSpPr>
          <p:cNvPr id="13" name="Shape 11"/>
          <p:cNvSpPr/>
          <p:nvPr/>
        </p:nvSpPr>
        <p:spPr>
          <a:xfrm>
            <a:off x="626499" y="2374101"/>
            <a:ext cx="263789" cy="263789"/>
          </a:xfrm>
          <a:custGeom>
            <a:avLst/>
            <a:gdLst/>
            <a:ahLst/>
            <a:cxnLst/>
            <a:rect l="l" t="t" r="r" b="b"/>
            <a:pathLst>
              <a:path w="263789" h="263789">
                <a:moveTo>
                  <a:pt x="131895" y="0"/>
                </a:moveTo>
                <a:lnTo>
                  <a:pt x="131895" y="0"/>
                </a:lnTo>
                <a:cubicBezTo>
                  <a:pt x="204689" y="0"/>
                  <a:pt x="263789" y="59100"/>
                  <a:pt x="263789" y="131895"/>
                </a:cubicBezTo>
                <a:lnTo>
                  <a:pt x="263789" y="131895"/>
                </a:lnTo>
                <a:cubicBezTo>
                  <a:pt x="263789" y="204689"/>
                  <a:pt x="204689" y="263789"/>
                  <a:pt x="131895" y="263789"/>
                </a:cubicBezTo>
                <a:lnTo>
                  <a:pt x="131895" y="263789"/>
                </a:lnTo>
                <a:cubicBezTo>
                  <a:pt x="59100" y="263789"/>
                  <a:pt x="0" y="204689"/>
                  <a:pt x="0" y="131895"/>
                </a:cubicBezTo>
                <a:lnTo>
                  <a:pt x="0" y="131895"/>
                </a:lnTo>
                <a:cubicBezTo>
                  <a:pt x="0" y="59100"/>
                  <a:pt x="59100" y="0"/>
                  <a:pt x="131895" y="0"/>
                </a:cubicBezTo>
                <a:close/>
              </a:path>
            </a:pathLst>
          </a:custGeom>
          <a:solidFill>
            <a:srgbClr val="A88B6A"/>
          </a:solidFill>
          <a:ln/>
        </p:spPr>
      </p:sp>
      <p:sp>
        <p:nvSpPr>
          <p:cNvPr id="14" name="Text 12"/>
          <p:cNvSpPr/>
          <p:nvPr/>
        </p:nvSpPr>
        <p:spPr>
          <a:xfrm>
            <a:off x="593525" y="2374101"/>
            <a:ext cx="329736" cy="263789"/>
          </a:xfrm>
          <a:prstGeom prst="rect">
            <a:avLst/>
          </a:prstGeom>
          <a:noFill/>
          <a:ln/>
        </p:spPr>
        <p:txBody>
          <a:bodyPr wrap="square" lIns="0" tIns="0" rIns="0" bIns="0" rtlCol="0" anchor="ctr"/>
          <a:lstStyle/>
          <a:p>
            <a:pPr algn="ctr">
              <a:lnSpc>
                <a:spcPct val="130000"/>
              </a:lnSpc>
            </a:pPr>
            <a:r>
              <a:rPr lang="en-US" sz="1039" b="1" dirty="0">
                <a:solidFill>
                  <a:srgbClr val="F8F7F2"/>
                </a:solidFill>
                <a:latin typeface="Oranienbaum" pitchFamily="34" charset="0"/>
                <a:ea typeface="Oranienbaum" pitchFamily="34" charset="-122"/>
                <a:cs typeface="Oranienbaum" pitchFamily="34" charset="-120"/>
              </a:rPr>
              <a:t>2</a:t>
            </a:r>
            <a:endParaRPr lang="en-US" sz="1600" dirty="0"/>
          </a:p>
        </p:txBody>
      </p:sp>
      <p:sp>
        <p:nvSpPr>
          <p:cNvPr id="15" name="Text 13"/>
          <p:cNvSpPr/>
          <p:nvPr/>
        </p:nvSpPr>
        <p:spPr>
          <a:xfrm>
            <a:off x="989209" y="2374101"/>
            <a:ext cx="3511692" cy="197842"/>
          </a:xfrm>
          <a:prstGeom prst="rect">
            <a:avLst/>
          </a:prstGeom>
          <a:noFill/>
          <a:ln/>
        </p:spPr>
        <p:txBody>
          <a:bodyPr wrap="square" lIns="0" tIns="0" rIns="0" bIns="0" rtlCol="0" anchor="ctr"/>
          <a:lstStyle/>
          <a:p>
            <a:pPr>
              <a:lnSpc>
                <a:spcPct val="130000"/>
              </a:lnSpc>
            </a:pPr>
            <a:r>
              <a:rPr lang="en-US" sz="1039" b="1" dirty="0">
                <a:solidFill>
                  <a:srgbClr val="2C3531"/>
                </a:solidFill>
                <a:latin typeface="Liter" pitchFamily="34" charset="0"/>
                <a:ea typeface="Liter" pitchFamily="34" charset="-122"/>
                <a:cs typeface="Liter" pitchFamily="34" charset="-120"/>
              </a:rPr>
              <a:t>Disease Symptoms</a:t>
            </a:r>
            <a:endParaRPr lang="en-US" sz="1600" dirty="0"/>
          </a:p>
        </p:txBody>
      </p:sp>
      <p:sp>
        <p:nvSpPr>
          <p:cNvPr id="16" name="Text 14"/>
          <p:cNvSpPr/>
          <p:nvPr/>
        </p:nvSpPr>
        <p:spPr>
          <a:xfrm>
            <a:off x="989209" y="2571943"/>
            <a:ext cx="3503448" cy="164868"/>
          </a:xfrm>
          <a:prstGeom prst="rect">
            <a:avLst/>
          </a:prstGeom>
          <a:noFill/>
          <a:ln/>
        </p:spPr>
        <p:txBody>
          <a:bodyPr wrap="square" lIns="0" tIns="0" rIns="0" bIns="0" rtlCol="0" anchor="ctr"/>
          <a:lstStyle/>
          <a:p>
            <a:pPr>
              <a:lnSpc>
                <a:spcPct val="120000"/>
              </a:lnSpc>
            </a:pPr>
            <a:r>
              <a:rPr lang="en-US" sz="909" dirty="0">
                <a:solidFill>
                  <a:srgbClr val="2C3531">
                    <a:alpha val="70000"/>
                  </a:srgbClr>
                </a:solidFill>
                <a:latin typeface="Liter" pitchFamily="34" charset="0"/>
                <a:ea typeface="Liter" pitchFamily="34" charset="-122"/>
                <a:cs typeface="Liter" pitchFamily="34" charset="-120"/>
              </a:rPr>
              <a:t>Report within 2 hours: leaf spots, wilting, mold, unusual discoloration</a:t>
            </a:r>
            <a:endParaRPr lang="en-US" sz="1600" dirty="0"/>
          </a:p>
        </p:txBody>
      </p:sp>
      <p:sp>
        <p:nvSpPr>
          <p:cNvPr id="17" name="Shape 15"/>
          <p:cNvSpPr/>
          <p:nvPr/>
        </p:nvSpPr>
        <p:spPr>
          <a:xfrm>
            <a:off x="527578" y="2934653"/>
            <a:ext cx="6916219" cy="560552"/>
          </a:xfrm>
          <a:custGeom>
            <a:avLst/>
            <a:gdLst/>
            <a:ahLst/>
            <a:cxnLst/>
            <a:rect l="l" t="t" r="r" b="b"/>
            <a:pathLst>
              <a:path w="6916219" h="560552">
                <a:moveTo>
                  <a:pt x="65949" y="0"/>
                </a:moveTo>
                <a:lnTo>
                  <a:pt x="6850270" y="0"/>
                </a:lnTo>
                <a:cubicBezTo>
                  <a:pt x="6886693" y="0"/>
                  <a:pt x="6916219" y="29526"/>
                  <a:pt x="6916219" y="65949"/>
                </a:cubicBezTo>
                <a:lnTo>
                  <a:pt x="6916219" y="494603"/>
                </a:lnTo>
                <a:cubicBezTo>
                  <a:pt x="6916219" y="531025"/>
                  <a:pt x="6886693" y="560552"/>
                  <a:pt x="6850270" y="560552"/>
                </a:cubicBezTo>
                <a:lnTo>
                  <a:pt x="65949" y="560552"/>
                </a:lnTo>
                <a:cubicBezTo>
                  <a:pt x="29551" y="560552"/>
                  <a:pt x="0" y="531001"/>
                  <a:pt x="0" y="494603"/>
                </a:cubicBezTo>
                <a:lnTo>
                  <a:pt x="0" y="65949"/>
                </a:lnTo>
                <a:cubicBezTo>
                  <a:pt x="0" y="29551"/>
                  <a:pt x="29551" y="0"/>
                  <a:pt x="65949" y="0"/>
                </a:cubicBezTo>
                <a:close/>
              </a:path>
            </a:pathLst>
          </a:custGeom>
          <a:solidFill>
            <a:srgbClr val="D4A056">
              <a:alpha val="5098"/>
            </a:srgbClr>
          </a:solidFill>
          <a:ln/>
        </p:spPr>
      </p:sp>
      <p:sp>
        <p:nvSpPr>
          <p:cNvPr id="18" name="Shape 16"/>
          <p:cNvSpPr/>
          <p:nvPr/>
        </p:nvSpPr>
        <p:spPr>
          <a:xfrm>
            <a:off x="626499" y="3033574"/>
            <a:ext cx="263789" cy="263789"/>
          </a:xfrm>
          <a:custGeom>
            <a:avLst/>
            <a:gdLst/>
            <a:ahLst/>
            <a:cxnLst/>
            <a:rect l="l" t="t" r="r" b="b"/>
            <a:pathLst>
              <a:path w="263789" h="263789">
                <a:moveTo>
                  <a:pt x="131895" y="0"/>
                </a:moveTo>
                <a:lnTo>
                  <a:pt x="131895" y="0"/>
                </a:lnTo>
                <a:cubicBezTo>
                  <a:pt x="204689" y="0"/>
                  <a:pt x="263789" y="59100"/>
                  <a:pt x="263789" y="131895"/>
                </a:cubicBezTo>
                <a:lnTo>
                  <a:pt x="263789" y="131895"/>
                </a:lnTo>
                <a:cubicBezTo>
                  <a:pt x="263789" y="204689"/>
                  <a:pt x="204689" y="263789"/>
                  <a:pt x="131895" y="263789"/>
                </a:cubicBezTo>
                <a:lnTo>
                  <a:pt x="131895" y="263789"/>
                </a:lnTo>
                <a:cubicBezTo>
                  <a:pt x="59100" y="263789"/>
                  <a:pt x="0" y="204689"/>
                  <a:pt x="0" y="131895"/>
                </a:cubicBezTo>
                <a:lnTo>
                  <a:pt x="0" y="131895"/>
                </a:lnTo>
                <a:cubicBezTo>
                  <a:pt x="0" y="59100"/>
                  <a:pt x="59100" y="0"/>
                  <a:pt x="131895" y="0"/>
                </a:cubicBezTo>
                <a:close/>
              </a:path>
            </a:pathLst>
          </a:custGeom>
          <a:solidFill>
            <a:srgbClr val="D4A056"/>
          </a:solidFill>
          <a:ln/>
        </p:spPr>
      </p:sp>
      <p:sp>
        <p:nvSpPr>
          <p:cNvPr id="19" name="Text 17"/>
          <p:cNvSpPr/>
          <p:nvPr/>
        </p:nvSpPr>
        <p:spPr>
          <a:xfrm>
            <a:off x="593525" y="3033574"/>
            <a:ext cx="329736" cy="263789"/>
          </a:xfrm>
          <a:prstGeom prst="rect">
            <a:avLst/>
          </a:prstGeom>
          <a:noFill/>
          <a:ln/>
        </p:spPr>
        <p:txBody>
          <a:bodyPr wrap="square" lIns="0" tIns="0" rIns="0" bIns="0" rtlCol="0" anchor="ctr"/>
          <a:lstStyle/>
          <a:p>
            <a:pPr algn="ctr">
              <a:lnSpc>
                <a:spcPct val="130000"/>
              </a:lnSpc>
            </a:pPr>
            <a:r>
              <a:rPr lang="en-US" sz="1039" b="1" dirty="0">
                <a:solidFill>
                  <a:srgbClr val="2C3531"/>
                </a:solidFill>
                <a:latin typeface="Oranienbaum" pitchFamily="34" charset="0"/>
                <a:ea typeface="Oranienbaum" pitchFamily="34" charset="-122"/>
                <a:cs typeface="Oranienbaum" pitchFamily="34" charset="-120"/>
              </a:rPr>
              <a:t>3</a:t>
            </a:r>
            <a:endParaRPr lang="en-US" sz="1600" dirty="0"/>
          </a:p>
        </p:txBody>
      </p:sp>
      <p:sp>
        <p:nvSpPr>
          <p:cNvPr id="20" name="Text 18"/>
          <p:cNvSpPr/>
          <p:nvPr/>
        </p:nvSpPr>
        <p:spPr>
          <a:xfrm>
            <a:off x="989209" y="3033574"/>
            <a:ext cx="3676560" cy="197842"/>
          </a:xfrm>
          <a:prstGeom prst="rect">
            <a:avLst/>
          </a:prstGeom>
          <a:noFill/>
          <a:ln/>
        </p:spPr>
        <p:txBody>
          <a:bodyPr wrap="square" lIns="0" tIns="0" rIns="0" bIns="0" rtlCol="0" anchor="ctr"/>
          <a:lstStyle/>
          <a:p>
            <a:pPr>
              <a:lnSpc>
                <a:spcPct val="130000"/>
              </a:lnSpc>
            </a:pPr>
            <a:r>
              <a:rPr lang="en-US" sz="1039" b="1" dirty="0">
                <a:solidFill>
                  <a:srgbClr val="2C3531"/>
                </a:solidFill>
                <a:latin typeface="Liter" pitchFamily="34" charset="0"/>
                <a:ea typeface="Liter" pitchFamily="34" charset="-122"/>
                <a:cs typeface="Liter" pitchFamily="34" charset="-120"/>
              </a:rPr>
              <a:t>Equipment Malfunction</a:t>
            </a:r>
            <a:endParaRPr lang="en-US" sz="1600" dirty="0"/>
          </a:p>
        </p:txBody>
      </p:sp>
      <p:sp>
        <p:nvSpPr>
          <p:cNvPr id="21" name="Text 19"/>
          <p:cNvSpPr/>
          <p:nvPr/>
        </p:nvSpPr>
        <p:spPr>
          <a:xfrm>
            <a:off x="989209" y="3231416"/>
            <a:ext cx="3668316" cy="164868"/>
          </a:xfrm>
          <a:prstGeom prst="rect">
            <a:avLst/>
          </a:prstGeom>
          <a:noFill/>
          <a:ln/>
        </p:spPr>
        <p:txBody>
          <a:bodyPr wrap="square" lIns="0" tIns="0" rIns="0" bIns="0" rtlCol="0" anchor="ctr"/>
          <a:lstStyle/>
          <a:p>
            <a:pPr>
              <a:lnSpc>
                <a:spcPct val="120000"/>
              </a:lnSpc>
            </a:pPr>
            <a:r>
              <a:rPr lang="en-US" sz="909" dirty="0">
                <a:solidFill>
                  <a:srgbClr val="2C3531">
                    <a:alpha val="70000"/>
                  </a:srgbClr>
                </a:solidFill>
                <a:latin typeface="Liter" pitchFamily="34" charset="0"/>
                <a:ea typeface="Liter" pitchFamily="34" charset="-122"/>
                <a:cs typeface="Liter" pitchFamily="34" charset="-120"/>
              </a:rPr>
              <a:t>Report same day: irrigation failures, ventilation issues, lighting problems</a:t>
            </a:r>
            <a:endParaRPr lang="en-US" sz="1600" dirty="0"/>
          </a:p>
        </p:txBody>
      </p:sp>
      <p:sp>
        <p:nvSpPr>
          <p:cNvPr id="22" name="Shape 20"/>
          <p:cNvSpPr/>
          <p:nvPr/>
        </p:nvSpPr>
        <p:spPr>
          <a:xfrm>
            <a:off x="527578" y="3594126"/>
            <a:ext cx="6916219" cy="560552"/>
          </a:xfrm>
          <a:custGeom>
            <a:avLst/>
            <a:gdLst/>
            <a:ahLst/>
            <a:cxnLst/>
            <a:rect l="l" t="t" r="r" b="b"/>
            <a:pathLst>
              <a:path w="6916219" h="560552">
                <a:moveTo>
                  <a:pt x="65949" y="0"/>
                </a:moveTo>
                <a:lnTo>
                  <a:pt x="6850270" y="0"/>
                </a:lnTo>
                <a:cubicBezTo>
                  <a:pt x="6886693" y="0"/>
                  <a:pt x="6916219" y="29526"/>
                  <a:pt x="6916219" y="65949"/>
                </a:cubicBezTo>
                <a:lnTo>
                  <a:pt x="6916219" y="494603"/>
                </a:lnTo>
                <a:cubicBezTo>
                  <a:pt x="6916219" y="531025"/>
                  <a:pt x="6886693" y="560552"/>
                  <a:pt x="6850270" y="560552"/>
                </a:cubicBezTo>
                <a:lnTo>
                  <a:pt x="65949" y="560552"/>
                </a:lnTo>
                <a:cubicBezTo>
                  <a:pt x="29551" y="560552"/>
                  <a:pt x="0" y="531001"/>
                  <a:pt x="0" y="494603"/>
                </a:cubicBezTo>
                <a:lnTo>
                  <a:pt x="0" y="65949"/>
                </a:lnTo>
                <a:cubicBezTo>
                  <a:pt x="0" y="29551"/>
                  <a:pt x="29551" y="0"/>
                  <a:pt x="65949" y="0"/>
                </a:cubicBezTo>
                <a:close/>
              </a:path>
            </a:pathLst>
          </a:custGeom>
          <a:solidFill>
            <a:srgbClr val="4A5D52">
              <a:alpha val="5098"/>
            </a:srgbClr>
          </a:solidFill>
          <a:ln/>
        </p:spPr>
      </p:sp>
      <p:sp>
        <p:nvSpPr>
          <p:cNvPr id="23" name="Shape 21"/>
          <p:cNvSpPr/>
          <p:nvPr/>
        </p:nvSpPr>
        <p:spPr>
          <a:xfrm>
            <a:off x="626499" y="3693047"/>
            <a:ext cx="263789" cy="263789"/>
          </a:xfrm>
          <a:custGeom>
            <a:avLst/>
            <a:gdLst/>
            <a:ahLst/>
            <a:cxnLst/>
            <a:rect l="l" t="t" r="r" b="b"/>
            <a:pathLst>
              <a:path w="263789" h="263789">
                <a:moveTo>
                  <a:pt x="131895" y="0"/>
                </a:moveTo>
                <a:lnTo>
                  <a:pt x="131895" y="0"/>
                </a:lnTo>
                <a:cubicBezTo>
                  <a:pt x="204689" y="0"/>
                  <a:pt x="263789" y="59100"/>
                  <a:pt x="263789" y="131895"/>
                </a:cubicBezTo>
                <a:lnTo>
                  <a:pt x="263789" y="131895"/>
                </a:lnTo>
                <a:cubicBezTo>
                  <a:pt x="263789" y="204689"/>
                  <a:pt x="204689" y="263789"/>
                  <a:pt x="131895" y="263789"/>
                </a:cubicBezTo>
                <a:lnTo>
                  <a:pt x="131895" y="263789"/>
                </a:lnTo>
                <a:cubicBezTo>
                  <a:pt x="59100" y="263789"/>
                  <a:pt x="0" y="204689"/>
                  <a:pt x="0" y="131895"/>
                </a:cubicBezTo>
                <a:lnTo>
                  <a:pt x="0" y="131895"/>
                </a:lnTo>
                <a:cubicBezTo>
                  <a:pt x="0" y="59100"/>
                  <a:pt x="59100" y="0"/>
                  <a:pt x="131895" y="0"/>
                </a:cubicBezTo>
                <a:close/>
              </a:path>
            </a:pathLst>
          </a:custGeom>
          <a:solidFill>
            <a:srgbClr val="4A5D52"/>
          </a:solidFill>
          <a:ln/>
        </p:spPr>
      </p:sp>
      <p:sp>
        <p:nvSpPr>
          <p:cNvPr id="24" name="Text 22"/>
          <p:cNvSpPr/>
          <p:nvPr/>
        </p:nvSpPr>
        <p:spPr>
          <a:xfrm>
            <a:off x="593525" y="3693047"/>
            <a:ext cx="329736" cy="263789"/>
          </a:xfrm>
          <a:prstGeom prst="rect">
            <a:avLst/>
          </a:prstGeom>
          <a:noFill/>
          <a:ln/>
        </p:spPr>
        <p:txBody>
          <a:bodyPr wrap="square" lIns="0" tIns="0" rIns="0" bIns="0" rtlCol="0" anchor="ctr"/>
          <a:lstStyle/>
          <a:p>
            <a:pPr algn="ctr">
              <a:lnSpc>
                <a:spcPct val="130000"/>
              </a:lnSpc>
            </a:pPr>
            <a:r>
              <a:rPr lang="en-US" sz="1039" b="1" dirty="0">
                <a:solidFill>
                  <a:srgbClr val="F8F7F2"/>
                </a:solidFill>
                <a:latin typeface="Oranienbaum" pitchFamily="34" charset="0"/>
                <a:ea typeface="Oranienbaum" pitchFamily="34" charset="-122"/>
                <a:cs typeface="Oranienbaum" pitchFamily="34" charset="-120"/>
              </a:rPr>
              <a:t>4</a:t>
            </a:r>
            <a:endParaRPr lang="en-US" sz="1600" dirty="0"/>
          </a:p>
        </p:txBody>
      </p:sp>
      <p:sp>
        <p:nvSpPr>
          <p:cNvPr id="25" name="Text 23"/>
          <p:cNvSpPr/>
          <p:nvPr/>
        </p:nvSpPr>
        <p:spPr>
          <a:xfrm>
            <a:off x="989209" y="3693047"/>
            <a:ext cx="3684803" cy="197842"/>
          </a:xfrm>
          <a:prstGeom prst="rect">
            <a:avLst/>
          </a:prstGeom>
          <a:noFill/>
          <a:ln/>
        </p:spPr>
        <p:txBody>
          <a:bodyPr wrap="square" lIns="0" tIns="0" rIns="0" bIns="0" rtlCol="0" anchor="ctr"/>
          <a:lstStyle/>
          <a:p>
            <a:pPr>
              <a:lnSpc>
                <a:spcPct val="130000"/>
              </a:lnSpc>
            </a:pPr>
            <a:r>
              <a:rPr lang="en-US" sz="1039" b="1" dirty="0">
                <a:solidFill>
                  <a:srgbClr val="2C3531"/>
                </a:solidFill>
                <a:latin typeface="Liter" pitchFamily="34" charset="0"/>
                <a:ea typeface="Liter" pitchFamily="34" charset="-122"/>
                <a:cs typeface="Liter" pitchFamily="34" charset="-120"/>
              </a:rPr>
              <a:t>Safety Hazards</a:t>
            </a:r>
            <a:endParaRPr lang="en-US" sz="1600" dirty="0"/>
          </a:p>
        </p:txBody>
      </p:sp>
      <p:sp>
        <p:nvSpPr>
          <p:cNvPr id="26" name="Text 24"/>
          <p:cNvSpPr/>
          <p:nvPr/>
        </p:nvSpPr>
        <p:spPr>
          <a:xfrm>
            <a:off x="989209" y="3890888"/>
            <a:ext cx="3676560" cy="164868"/>
          </a:xfrm>
          <a:prstGeom prst="rect">
            <a:avLst/>
          </a:prstGeom>
          <a:noFill/>
          <a:ln/>
        </p:spPr>
        <p:txBody>
          <a:bodyPr wrap="square" lIns="0" tIns="0" rIns="0" bIns="0" rtlCol="0" anchor="ctr"/>
          <a:lstStyle/>
          <a:p>
            <a:pPr>
              <a:lnSpc>
                <a:spcPct val="120000"/>
              </a:lnSpc>
            </a:pPr>
            <a:r>
              <a:rPr lang="en-US" sz="909" dirty="0">
                <a:solidFill>
                  <a:srgbClr val="2C3531">
                    <a:alpha val="70000"/>
                  </a:srgbClr>
                </a:solidFill>
                <a:latin typeface="Liter" pitchFamily="34" charset="0"/>
                <a:ea typeface="Liter" pitchFamily="34" charset="-122"/>
                <a:cs typeface="Liter" pitchFamily="34" charset="-120"/>
              </a:rPr>
              <a:t>Report immediately: chemical spills, structural damage, electrical issues</a:t>
            </a:r>
            <a:endParaRPr lang="en-US" sz="1600" dirty="0"/>
          </a:p>
        </p:txBody>
      </p:sp>
      <p:sp>
        <p:nvSpPr>
          <p:cNvPr id="27" name="Shape 25"/>
          <p:cNvSpPr/>
          <p:nvPr/>
        </p:nvSpPr>
        <p:spPr>
          <a:xfrm>
            <a:off x="337980" y="4525631"/>
            <a:ext cx="7295416" cy="873801"/>
          </a:xfrm>
          <a:custGeom>
            <a:avLst/>
            <a:gdLst/>
            <a:ahLst/>
            <a:cxnLst/>
            <a:rect l="l" t="t" r="r" b="b"/>
            <a:pathLst>
              <a:path w="7295416" h="873801">
                <a:moveTo>
                  <a:pt x="65946" y="0"/>
                </a:moveTo>
                <a:lnTo>
                  <a:pt x="7229470" y="0"/>
                </a:lnTo>
                <a:cubicBezTo>
                  <a:pt x="7265891" y="0"/>
                  <a:pt x="7295416" y="29525"/>
                  <a:pt x="7295416" y="65946"/>
                </a:cubicBezTo>
                <a:lnTo>
                  <a:pt x="7295416" y="807855"/>
                </a:lnTo>
                <a:cubicBezTo>
                  <a:pt x="7295416" y="844276"/>
                  <a:pt x="7265891" y="873801"/>
                  <a:pt x="7229470" y="873801"/>
                </a:cubicBezTo>
                <a:lnTo>
                  <a:pt x="65946" y="873801"/>
                </a:lnTo>
                <a:cubicBezTo>
                  <a:pt x="29525" y="873801"/>
                  <a:pt x="0" y="844276"/>
                  <a:pt x="0" y="807855"/>
                </a:cubicBezTo>
                <a:lnTo>
                  <a:pt x="0" y="65946"/>
                </a:lnTo>
                <a:cubicBezTo>
                  <a:pt x="0" y="29549"/>
                  <a:pt x="29549" y="0"/>
                  <a:pt x="65946" y="0"/>
                </a:cubicBezTo>
                <a:close/>
              </a:path>
            </a:pathLst>
          </a:custGeom>
          <a:solidFill>
            <a:srgbClr val="D4A056">
              <a:alpha val="10196"/>
            </a:srgbClr>
          </a:solidFill>
          <a:ln w="25400">
            <a:solidFill>
              <a:srgbClr val="D4A056"/>
            </a:solidFill>
            <a:prstDash val="solid"/>
          </a:ln>
        </p:spPr>
      </p:sp>
      <p:sp>
        <p:nvSpPr>
          <p:cNvPr id="28" name="Shape 26"/>
          <p:cNvSpPr/>
          <p:nvPr/>
        </p:nvSpPr>
        <p:spPr>
          <a:xfrm>
            <a:off x="473996" y="4698742"/>
            <a:ext cx="164868" cy="164868"/>
          </a:xfrm>
          <a:custGeom>
            <a:avLst/>
            <a:gdLst/>
            <a:ahLst/>
            <a:cxnLst/>
            <a:rect l="l" t="t" r="r" b="b"/>
            <a:pathLst>
              <a:path w="164868" h="164868">
                <a:moveTo>
                  <a:pt x="113282" y="8050"/>
                </a:moveTo>
                <a:cubicBezTo>
                  <a:pt x="115794" y="1996"/>
                  <a:pt x="122427" y="-1256"/>
                  <a:pt x="128771" y="483"/>
                </a:cubicBezTo>
                <a:lnTo>
                  <a:pt x="130542" y="966"/>
                </a:lnTo>
                <a:cubicBezTo>
                  <a:pt x="151344" y="6633"/>
                  <a:pt x="169119" y="26791"/>
                  <a:pt x="163934" y="51328"/>
                </a:cubicBezTo>
                <a:cubicBezTo>
                  <a:pt x="151988" y="107680"/>
                  <a:pt x="107647" y="152020"/>
                  <a:pt x="51296" y="163967"/>
                </a:cubicBezTo>
                <a:cubicBezTo>
                  <a:pt x="26727" y="169183"/>
                  <a:pt x="6601" y="151376"/>
                  <a:pt x="934" y="130574"/>
                </a:cubicBezTo>
                <a:lnTo>
                  <a:pt x="451" y="128803"/>
                </a:lnTo>
                <a:cubicBezTo>
                  <a:pt x="-1288" y="122460"/>
                  <a:pt x="1964" y="115826"/>
                  <a:pt x="8018" y="113315"/>
                </a:cubicBezTo>
                <a:lnTo>
                  <a:pt x="39349" y="100273"/>
                </a:lnTo>
                <a:cubicBezTo>
                  <a:pt x="44663" y="98051"/>
                  <a:pt x="50813" y="99597"/>
                  <a:pt x="54484" y="104073"/>
                </a:cubicBezTo>
                <a:lnTo>
                  <a:pt x="66913" y="119272"/>
                </a:lnTo>
                <a:cubicBezTo>
                  <a:pt x="89550" y="108034"/>
                  <a:pt x="107744" y="89228"/>
                  <a:pt x="118209" y="66173"/>
                </a:cubicBezTo>
                <a:lnTo>
                  <a:pt x="104009" y="54548"/>
                </a:lnTo>
                <a:cubicBezTo>
                  <a:pt x="99533" y="50909"/>
                  <a:pt x="98019" y="44759"/>
                  <a:pt x="100209" y="39414"/>
                </a:cubicBezTo>
                <a:lnTo>
                  <a:pt x="113282" y="8050"/>
                </a:lnTo>
                <a:close/>
              </a:path>
            </a:pathLst>
          </a:custGeom>
          <a:solidFill>
            <a:srgbClr val="D4A056"/>
          </a:solidFill>
          <a:ln/>
        </p:spPr>
      </p:sp>
      <p:sp>
        <p:nvSpPr>
          <p:cNvPr id="29" name="Text 27"/>
          <p:cNvSpPr/>
          <p:nvPr/>
        </p:nvSpPr>
        <p:spPr>
          <a:xfrm>
            <a:off x="733792" y="4665769"/>
            <a:ext cx="6825542" cy="197842"/>
          </a:xfrm>
          <a:prstGeom prst="rect">
            <a:avLst/>
          </a:prstGeom>
          <a:noFill/>
          <a:ln/>
        </p:spPr>
        <p:txBody>
          <a:bodyPr wrap="square" lIns="0" tIns="0" rIns="0" bIns="0" rtlCol="0" anchor="ctr"/>
          <a:lstStyle/>
          <a:p>
            <a:pPr>
              <a:lnSpc>
                <a:spcPct val="130000"/>
              </a:lnSpc>
            </a:pPr>
            <a:r>
              <a:rPr lang="en-US" sz="1039" b="1" dirty="0">
                <a:solidFill>
                  <a:srgbClr val="2C3531"/>
                </a:solidFill>
                <a:latin typeface="Liter" pitchFamily="34" charset="0"/>
                <a:ea typeface="Liter" pitchFamily="34" charset="-122"/>
                <a:cs typeface="Liter" pitchFamily="34" charset="-120"/>
              </a:rPr>
              <a:t>Reporting Protocol</a:t>
            </a:r>
            <a:endParaRPr lang="en-US" sz="1600" dirty="0"/>
          </a:p>
        </p:txBody>
      </p:sp>
      <p:sp>
        <p:nvSpPr>
          <p:cNvPr id="30" name="Text 28"/>
          <p:cNvSpPr/>
          <p:nvPr/>
        </p:nvSpPr>
        <p:spPr>
          <a:xfrm>
            <a:off x="733792" y="4896584"/>
            <a:ext cx="6817298" cy="362710"/>
          </a:xfrm>
          <a:prstGeom prst="rect">
            <a:avLst/>
          </a:prstGeom>
          <a:noFill/>
          <a:ln/>
        </p:spPr>
        <p:txBody>
          <a:bodyPr wrap="square" lIns="0" tIns="0" rIns="0" bIns="0" rtlCol="0" anchor="ctr"/>
          <a:lstStyle/>
          <a:p>
            <a:pPr>
              <a:lnSpc>
                <a:spcPct val="140000"/>
              </a:lnSpc>
            </a:pPr>
            <a:r>
              <a:rPr lang="en-US" sz="909" dirty="0">
                <a:solidFill>
                  <a:srgbClr val="2C3531">
                    <a:alpha val="80000"/>
                  </a:srgbClr>
                </a:solidFill>
                <a:latin typeface="Liter" pitchFamily="34" charset="0"/>
                <a:ea typeface="Liter" pitchFamily="34" charset="-122"/>
                <a:cs typeface="Liter" pitchFamily="34" charset="-120"/>
              </a:rPr>
              <a:t>Report issues immediately to direct supervisor. For after-hours emergencies, contact [Emergency Contact Number]. Document all reports in writing using the Issue Report Form.</a:t>
            </a:r>
            <a:endParaRPr lang="en-US" sz="1600" dirty="0"/>
          </a:p>
        </p:txBody>
      </p:sp>
      <p:sp>
        <p:nvSpPr>
          <p:cNvPr id="31" name="Text 29"/>
          <p:cNvSpPr/>
          <p:nvPr/>
        </p:nvSpPr>
        <p:spPr>
          <a:xfrm>
            <a:off x="7906330" y="329736"/>
            <a:ext cx="4014540" cy="164868"/>
          </a:xfrm>
          <a:prstGeom prst="rect">
            <a:avLst/>
          </a:prstGeom>
          <a:noFill/>
          <a:ln/>
        </p:spPr>
        <p:txBody>
          <a:bodyPr wrap="square" lIns="0" tIns="0" rIns="0" bIns="0" rtlCol="0" anchor="ctr"/>
          <a:lstStyle/>
          <a:p>
            <a:pPr>
              <a:lnSpc>
                <a:spcPct val="120000"/>
              </a:lnSpc>
            </a:pPr>
            <a:r>
              <a:rPr lang="en-US" sz="909" b="1" spc="91" kern="0" dirty="0">
                <a:solidFill>
                  <a:srgbClr val="A88B6A"/>
                </a:solidFill>
                <a:latin typeface="Liter" pitchFamily="34" charset="0"/>
                <a:ea typeface="Liter" pitchFamily="34" charset="-122"/>
                <a:cs typeface="Liter" pitchFamily="34" charset="-120"/>
              </a:rPr>
              <a:t>Section 4.3</a:t>
            </a:r>
            <a:endParaRPr lang="en-US" sz="1600" dirty="0"/>
          </a:p>
        </p:txBody>
      </p:sp>
      <p:sp>
        <p:nvSpPr>
          <p:cNvPr id="32" name="Text 30"/>
          <p:cNvSpPr/>
          <p:nvPr/>
        </p:nvSpPr>
        <p:spPr>
          <a:xfrm>
            <a:off x="7906330" y="560552"/>
            <a:ext cx="4154677" cy="989209"/>
          </a:xfrm>
          <a:prstGeom prst="rect">
            <a:avLst/>
          </a:prstGeom>
          <a:noFill/>
          <a:ln/>
        </p:spPr>
        <p:txBody>
          <a:bodyPr wrap="square" lIns="0" tIns="0" rIns="0" bIns="0" rtlCol="0" anchor="ctr"/>
          <a:lstStyle/>
          <a:p>
            <a:pPr>
              <a:lnSpc>
                <a:spcPct val="100000"/>
              </a:lnSpc>
            </a:pPr>
            <a:r>
              <a:rPr lang="en-US" sz="3116" b="1" dirty="0">
                <a:solidFill>
                  <a:srgbClr val="4A5D52"/>
                </a:solidFill>
                <a:latin typeface="Oranienbaum" pitchFamily="34" charset="0"/>
                <a:ea typeface="Oranienbaum" pitchFamily="34" charset="-122"/>
                <a:cs typeface="Oranienbaum" pitchFamily="34" charset="-120"/>
              </a:rPr>
              <a:t>Reporting &amp;</a:t>
            </a:r>
            <a:endParaRPr lang="en-US" sz="1600" dirty="0"/>
          </a:p>
          <a:p>
            <a:pPr>
              <a:lnSpc>
                <a:spcPct val="100000"/>
              </a:lnSpc>
            </a:pPr>
            <a:r>
              <a:rPr lang="en-US" sz="3116" b="1" dirty="0">
                <a:solidFill>
                  <a:srgbClr val="4A5D52"/>
                </a:solidFill>
                <a:latin typeface="Oranienbaum" pitchFamily="34" charset="0"/>
                <a:ea typeface="Oranienbaum" pitchFamily="34" charset="-122"/>
                <a:cs typeface="Oranienbaum" pitchFamily="34" charset="-120"/>
              </a:rPr>
              <a:t>Record-Keeping</a:t>
            </a:r>
            <a:endParaRPr lang="en-US" sz="1600" dirty="0"/>
          </a:p>
        </p:txBody>
      </p:sp>
      <p:sp>
        <p:nvSpPr>
          <p:cNvPr id="33" name="Shape 31"/>
          <p:cNvSpPr/>
          <p:nvPr/>
        </p:nvSpPr>
        <p:spPr>
          <a:xfrm>
            <a:off x="7906330" y="1648682"/>
            <a:ext cx="659473" cy="32974"/>
          </a:xfrm>
          <a:custGeom>
            <a:avLst/>
            <a:gdLst/>
            <a:ahLst/>
            <a:cxnLst/>
            <a:rect l="l" t="t" r="r" b="b"/>
            <a:pathLst>
              <a:path w="659473" h="32974">
                <a:moveTo>
                  <a:pt x="0" y="0"/>
                </a:moveTo>
                <a:lnTo>
                  <a:pt x="659473" y="0"/>
                </a:lnTo>
                <a:lnTo>
                  <a:pt x="659473" y="32974"/>
                </a:lnTo>
                <a:lnTo>
                  <a:pt x="0" y="32974"/>
                </a:lnTo>
                <a:lnTo>
                  <a:pt x="0" y="0"/>
                </a:lnTo>
                <a:close/>
              </a:path>
            </a:pathLst>
          </a:custGeom>
          <a:solidFill>
            <a:srgbClr val="D4A056"/>
          </a:solidFill>
          <a:ln/>
        </p:spPr>
      </p:sp>
      <p:sp>
        <p:nvSpPr>
          <p:cNvPr id="34" name="Shape 32"/>
          <p:cNvSpPr/>
          <p:nvPr/>
        </p:nvSpPr>
        <p:spPr>
          <a:xfrm>
            <a:off x="7906330" y="1879497"/>
            <a:ext cx="3956836" cy="4979018"/>
          </a:xfrm>
          <a:custGeom>
            <a:avLst/>
            <a:gdLst/>
            <a:ahLst/>
            <a:cxnLst/>
            <a:rect l="l" t="t" r="r" b="b"/>
            <a:pathLst>
              <a:path w="3956836" h="4979018">
                <a:moveTo>
                  <a:pt x="65960" y="0"/>
                </a:moveTo>
                <a:lnTo>
                  <a:pt x="3890875" y="0"/>
                </a:lnTo>
                <a:cubicBezTo>
                  <a:pt x="3927280" y="0"/>
                  <a:pt x="3956836" y="29556"/>
                  <a:pt x="3956836" y="65960"/>
                </a:cubicBezTo>
                <a:lnTo>
                  <a:pt x="3956836" y="4913058"/>
                </a:lnTo>
                <a:cubicBezTo>
                  <a:pt x="3956836" y="4949487"/>
                  <a:pt x="3927304" y="4979018"/>
                  <a:pt x="3890875" y="4979018"/>
                </a:cubicBezTo>
                <a:lnTo>
                  <a:pt x="65960" y="4979018"/>
                </a:lnTo>
                <a:cubicBezTo>
                  <a:pt x="29556" y="4979018"/>
                  <a:pt x="0" y="4949462"/>
                  <a:pt x="0" y="4913058"/>
                </a:cubicBezTo>
                <a:lnTo>
                  <a:pt x="0" y="65960"/>
                </a:lnTo>
                <a:cubicBezTo>
                  <a:pt x="0" y="29556"/>
                  <a:pt x="29556" y="0"/>
                  <a:pt x="65960" y="0"/>
                </a:cubicBezTo>
                <a:close/>
              </a:path>
            </a:pathLst>
          </a:custGeom>
          <a:solidFill>
            <a:srgbClr val="FFFFFF"/>
          </a:solidFill>
          <a:ln/>
          <a:effectLst>
            <a:outerShdw sx="100000" sy="100000" kx="0" ky="0" algn="bl" rotWithShape="0" blurRad="49460" dist="32974" dir="5400000">
              <a:srgbClr val="000000">
                <a:alpha val="10196"/>
              </a:srgbClr>
            </a:outerShdw>
          </a:effectLst>
        </p:spPr>
      </p:sp>
      <p:sp>
        <p:nvSpPr>
          <p:cNvPr id="35" name="Shape 33"/>
          <p:cNvSpPr/>
          <p:nvPr/>
        </p:nvSpPr>
        <p:spPr>
          <a:xfrm>
            <a:off x="8104171" y="2077339"/>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A88B6A"/>
          </a:solidFill>
          <a:ln/>
        </p:spPr>
      </p:sp>
      <p:sp>
        <p:nvSpPr>
          <p:cNvPr id="36" name="Shape 34"/>
          <p:cNvSpPr/>
          <p:nvPr/>
        </p:nvSpPr>
        <p:spPr>
          <a:xfrm>
            <a:off x="8240188" y="2192746"/>
            <a:ext cx="123651" cy="164868"/>
          </a:xfrm>
          <a:custGeom>
            <a:avLst/>
            <a:gdLst/>
            <a:ahLst/>
            <a:cxnLst/>
            <a:rect l="l" t="t" r="r" b="b"/>
            <a:pathLst>
              <a:path w="123651" h="164868">
                <a:moveTo>
                  <a:pt x="100273" y="10304"/>
                </a:moveTo>
                <a:lnTo>
                  <a:pt x="103043" y="10304"/>
                </a:lnTo>
                <a:cubicBezTo>
                  <a:pt x="114409" y="10304"/>
                  <a:pt x="123651" y="19546"/>
                  <a:pt x="123651" y="30913"/>
                </a:cubicBezTo>
                <a:lnTo>
                  <a:pt x="123651" y="144260"/>
                </a:lnTo>
                <a:cubicBezTo>
                  <a:pt x="123651" y="155627"/>
                  <a:pt x="114409" y="164868"/>
                  <a:pt x="103043" y="164868"/>
                </a:cubicBezTo>
                <a:lnTo>
                  <a:pt x="20609" y="164868"/>
                </a:lnTo>
                <a:cubicBezTo>
                  <a:pt x="9242" y="164868"/>
                  <a:pt x="0" y="155627"/>
                  <a:pt x="0" y="144260"/>
                </a:cubicBezTo>
                <a:lnTo>
                  <a:pt x="0" y="30913"/>
                </a:lnTo>
                <a:cubicBezTo>
                  <a:pt x="0" y="19546"/>
                  <a:pt x="9242" y="10304"/>
                  <a:pt x="20609" y="10304"/>
                </a:cubicBezTo>
                <a:lnTo>
                  <a:pt x="23378" y="10304"/>
                </a:lnTo>
                <a:cubicBezTo>
                  <a:pt x="26920" y="4154"/>
                  <a:pt x="33585" y="0"/>
                  <a:pt x="41217" y="0"/>
                </a:cubicBezTo>
                <a:lnTo>
                  <a:pt x="82434" y="0"/>
                </a:lnTo>
                <a:cubicBezTo>
                  <a:pt x="90066" y="0"/>
                  <a:pt x="96731" y="4154"/>
                  <a:pt x="100273" y="10304"/>
                </a:cubicBezTo>
                <a:close/>
                <a:moveTo>
                  <a:pt x="79858" y="36065"/>
                </a:moveTo>
                <a:cubicBezTo>
                  <a:pt x="84141" y="36065"/>
                  <a:pt x="87586" y="32619"/>
                  <a:pt x="87586" y="28337"/>
                </a:cubicBezTo>
                <a:cubicBezTo>
                  <a:pt x="87586" y="24054"/>
                  <a:pt x="84141" y="20609"/>
                  <a:pt x="79858" y="20609"/>
                </a:cubicBezTo>
                <a:lnTo>
                  <a:pt x="43793" y="20609"/>
                </a:lnTo>
                <a:cubicBezTo>
                  <a:pt x="39510" y="20609"/>
                  <a:pt x="36065" y="24054"/>
                  <a:pt x="36065" y="28337"/>
                </a:cubicBezTo>
                <a:cubicBezTo>
                  <a:pt x="36065" y="32619"/>
                  <a:pt x="39510" y="36065"/>
                  <a:pt x="43793" y="36065"/>
                </a:cubicBezTo>
                <a:lnTo>
                  <a:pt x="79858" y="36065"/>
                </a:lnTo>
                <a:close/>
                <a:moveTo>
                  <a:pt x="41217" y="82434"/>
                </a:moveTo>
                <a:cubicBezTo>
                  <a:pt x="41217" y="76747"/>
                  <a:pt x="36600" y="72130"/>
                  <a:pt x="30913" y="72130"/>
                </a:cubicBezTo>
                <a:cubicBezTo>
                  <a:pt x="25226" y="72130"/>
                  <a:pt x="20609" y="76747"/>
                  <a:pt x="20609" y="82434"/>
                </a:cubicBezTo>
                <a:cubicBezTo>
                  <a:pt x="20609" y="88121"/>
                  <a:pt x="25226" y="92738"/>
                  <a:pt x="30913" y="92738"/>
                </a:cubicBezTo>
                <a:cubicBezTo>
                  <a:pt x="36600" y="92738"/>
                  <a:pt x="41217" y="88121"/>
                  <a:pt x="41217" y="82434"/>
                </a:cubicBezTo>
                <a:close/>
                <a:moveTo>
                  <a:pt x="51521" y="82434"/>
                </a:moveTo>
                <a:cubicBezTo>
                  <a:pt x="51521" y="86717"/>
                  <a:pt x="54967" y="90162"/>
                  <a:pt x="59249" y="90162"/>
                </a:cubicBezTo>
                <a:lnTo>
                  <a:pt x="95314" y="90162"/>
                </a:lnTo>
                <a:cubicBezTo>
                  <a:pt x="99597" y="90162"/>
                  <a:pt x="103043" y="86717"/>
                  <a:pt x="103043" y="82434"/>
                </a:cubicBezTo>
                <a:cubicBezTo>
                  <a:pt x="103043" y="78151"/>
                  <a:pt x="99597" y="74706"/>
                  <a:pt x="95314" y="74706"/>
                </a:cubicBezTo>
                <a:lnTo>
                  <a:pt x="59249" y="74706"/>
                </a:lnTo>
                <a:cubicBezTo>
                  <a:pt x="54967" y="74706"/>
                  <a:pt x="51521" y="78151"/>
                  <a:pt x="51521" y="82434"/>
                </a:cubicBezTo>
                <a:close/>
                <a:moveTo>
                  <a:pt x="51521" y="123651"/>
                </a:moveTo>
                <a:cubicBezTo>
                  <a:pt x="51521" y="127934"/>
                  <a:pt x="54967" y="131379"/>
                  <a:pt x="59249" y="131379"/>
                </a:cubicBezTo>
                <a:lnTo>
                  <a:pt x="95314" y="131379"/>
                </a:lnTo>
                <a:cubicBezTo>
                  <a:pt x="99597" y="131379"/>
                  <a:pt x="103043" y="127934"/>
                  <a:pt x="103043" y="123651"/>
                </a:cubicBezTo>
                <a:cubicBezTo>
                  <a:pt x="103043" y="119368"/>
                  <a:pt x="99597" y="115923"/>
                  <a:pt x="95314" y="115923"/>
                </a:cubicBezTo>
                <a:lnTo>
                  <a:pt x="59249" y="115923"/>
                </a:lnTo>
                <a:cubicBezTo>
                  <a:pt x="54967" y="115923"/>
                  <a:pt x="51521" y="119368"/>
                  <a:pt x="51521" y="123651"/>
                </a:cubicBezTo>
                <a:close/>
                <a:moveTo>
                  <a:pt x="30913" y="133955"/>
                </a:moveTo>
                <a:cubicBezTo>
                  <a:pt x="36600" y="133955"/>
                  <a:pt x="41217" y="129338"/>
                  <a:pt x="41217" y="123651"/>
                </a:cubicBezTo>
                <a:cubicBezTo>
                  <a:pt x="41217" y="117964"/>
                  <a:pt x="36600" y="113347"/>
                  <a:pt x="30913" y="113347"/>
                </a:cubicBezTo>
                <a:cubicBezTo>
                  <a:pt x="25226" y="113347"/>
                  <a:pt x="20609" y="117964"/>
                  <a:pt x="20609" y="123651"/>
                </a:cubicBezTo>
                <a:cubicBezTo>
                  <a:pt x="20609" y="129338"/>
                  <a:pt x="25226" y="133955"/>
                  <a:pt x="30913" y="133955"/>
                </a:cubicBezTo>
                <a:close/>
              </a:path>
            </a:pathLst>
          </a:custGeom>
          <a:solidFill>
            <a:srgbClr val="F8F7F2"/>
          </a:solidFill>
          <a:ln/>
        </p:spPr>
      </p:sp>
      <p:sp>
        <p:nvSpPr>
          <p:cNvPr id="37" name="Text 35"/>
          <p:cNvSpPr/>
          <p:nvPr/>
        </p:nvSpPr>
        <p:spPr>
          <a:xfrm>
            <a:off x="8598776" y="2147408"/>
            <a:ext cx="2299911" cy="255546"/>
          </a:xfrm>
          <a:prstGeom prst="rect">
            <a:avLst/>
          </a:prstGeom>
          <a:noFill/>
          <a:ln/>
        </p:spPr>
        <p:txBody>
          <a:bodyPr wrap="square" lIns="0" tIns="0" rIns="0" bIns="0" rtlCol="0" anchor="ctr"/>
          <a:lstStyle/>
          <a:p>
            <a:pPr>
              <a:lnSpc>
                <a:spcPct val="110000"/>
              </a:lnSpc>
            </a:pPr>
            <a:r>
              <a:rPr lang="en-US" sz="1558" b="1" dirty="0">
                <a:solidFill>
                  <a:srgbClr val="4A5D52"/>
                </a:solidFill>
                <a:latin typeface="Unna" pitchFamily="34" charset="0"/>
                <a:ea typeface="Unna" pitchFamily="34" charset="-122"/>
                <a:cs typeface="Unna" pitchFamily="34" charset="-120"/>
              </a:rPr>
              <a:t>Daily Operational Records</a:t>
            </a:r>
            <a:endParaRPr lang="en-US" sz="1600" dirty="0"/>
          </a:p>
        </p:txBody>
      </p:sp>
      <p:sp>
        <p:nvSpPr>
          <p:cNvPr id="38" name="Text 36"/>
          <p:cNvSpPr/>
          <p:nvPr/>
        </p:nvSpPr>
        <p:spPr>
          <a:xfrm>
            <a:off x="8104171" y="2604917"/>
            <a:ext cx="3627099" cy="857314"/>
          </a:xfrm>
          <a:prstGeom prst="rect">
            <a:avLst/>
          </a:prstGeom>
          <a:noFill/>
          <a:ln/>
        </p:spPr>
        <p:txBody>
          <a:bodyPr wrap="square" lIns="0" tIns="0" rIns="0" bIns="0" rtlCol="0" anchor="ctr"/>
          <a:lstStyle/>
          <a:p>
            <a:pPr>
              <a:lnSpc>
                <a:spcPct val="140000"/>
              </a:lnSpc>
            </a:pPr>
            <a:r>
              <a:rPr lang="en-US" sz="1039" dirty="0">
                <a:solidFill>
                  <a:srgbClr val="2C3531"/>
                </a:solidFill>
                <a:latin typeface="Liter" pitchFamily="34" charset="0"/>
                <a:ea typeface="Liter" pitchFamily="34" charset="-122"/>
                <a:cs typeface="Liter" pitchFamily="34" charset="-120"/>
              </a:rPr>
              <a:t>Employee must maintain </a:t>
            </a:r>
            <a:pPr>
              <a:lnSpc>
                <a:spcPct val="140000"/>
              </a:lnSpc>
            </a:pPr>
            <a:r>
              <a:rPr lang="en-US" sz="1039" b="1" dirty="0">
                <a:solidFill>
                  <a:srgbClr val="2C3531"/>
                </a:solidFill>
                <a:highlight>
                  <a:srgbClr val="D4A056">
                    <a:alpha val="30000"/>
                  </a:srgbClr>
                </a:highlight>
                <a:latin typeface="Liter" pitchFamily="34" charset="0"/>
                <a:ea typeface="Liter" pitchFamily="34" charset="-122"/>
                <a:cs typeface="Liter" pitchFamily="34" charset="-120"/>
              </a:rPr>
              <a:t>accurate, detailed, and timely records </a:t>
            </a:r>
            <a:pPr>
              <a:lnSpc>
                <a:spcPct val="140000"/>
              </a:lnSpc>
            </a:pPr>
            <a:r>
              <a:rPr lang="en-US" sz="1039" dirty="0">
                <a:solidFill>
                  <a:srgbClr val="2C3531"/>
                </a:solidFill>
                <a:latin typeface="Liter" pitchFamily="34" charset="0"/>
                <a:ea typeface="Liter" pitchFamily="34" charset="-122"/>
                <a:cs typeface="Liter" pitchFamily="34" charset="-120"/>
              </a:rPr>
              <a:t>of all daily operations. Documentation is essential for tracking crop progress, regulatory compliance, and operational analysis.</a:t>
            </a:r>
            <a:endParaRPr lang="en-US" sz="1600" dirty="0"/>
          </a:p>
        </p:txBody>
      </p:sp>
      <p:sp>
        <p:nvSpPr>
          <p:cNvPr id="39" name="Shape 37"/>
          <p:cNvSpPr/>
          <p:nvPr/>
        </p:nvSpPr>
        <p:spPr>
          <a:xfrm>
            <a:off x="8120658" y="3594126"/>
            <a:ext cx="32974" cy="1582734"/>
          </a:xfrm>
          <a:custGeom>
            <a:avLst/>
            <a:gdLst/>
            <a:ahLst/>
            <a:cxnLst/>
            <a:rect l="l" t="t" r="r" b="b"/>
            <a:pathLst>
              <a:path w="32974" h="1582734">
                <a:moveTo>
                  <a:pt x="0" y="0"/>
                </a:moveTo>
                <a:lnTo>
                  <a:pt x="32974" y="0"/>
                </a:lnTo>
                <a:lnTo>
                  <a:pt x="32974" y="1582734"/>
                </a:lnTo>
                <a:lnTo>
                  <a:pt x="0" y="1582734"/>
                </a:lnTo>
                <a:lnTo>
                  <a:pt x="0" y="0"/>
                </a:lnTo>
                <a:close/>
              </a:path>
            </a:pathLst>
          </a:custGeom>
          <a:solidFill>
            <a:srgbClr val="4A5D52"/>
          </a:solidFill>
          <a:ln/>
        </p:spPr>
      </p:sp>
      <p:sp>
        <p:nvSpPr>
          <p:cNvPr id="40" name="Shape 38"/>
          <p:cNvSpPr/>
          <p:nvPr/>
        </p:nvSpPr>
        <p:spPr>
          <a:xfrm>
            <a:off x="8293770" y="3627099"/>
            <a:ext cx="115408" cy="131895"/>
          </a:xfrm>
          <a:custGeom>
            <a:avLst/>
            <a:gdLst/>
            <a:ahLst/>
            <a:cxnLst/>
            <a:rect l="l" t="t" r="r" b="b"/>
            <a:pathLst>
              <a:path w="115408" h="131895">
                <a:moveTo>
                  <a:pt x="98921" y="131895"/>
                </a:moveTo>
                <a:lnTo>
                  <a:pt x="24730" y="131895"/>
                </a:lnTo>
                <a:cubicBezTo>
                  <a:pt x="11077" y="131895"/>
                  <a:pt x="0" y="120817"/>
                  <a:pt x="0" y="107164"/>
                </a:cubicBezTo>
                <a:lnTo>
                  <a:pt x="0" y="24730"/>
                </a:lnTo>
                <a:cubicBezTo>
                  <a:pt x="0" y="11077"/>
                  <a:pt x="11077" y="0"/>
                  <a:pt x="24730" y="0"/>
                </a:cubicBezTo>
                <a:lnTo>
                  <a:pt x="103043" y="0"/>
                </a:lnTo>
                <a:cubicBezTo>
                  <a:pt x="109869" y="0"/>
                  <a:pt x="115408" y="5539"/>
                  <a:pt x="115408" y="12365"/>
                </a:cubicBezTo>
                <a:lnTo>
                  <a:pt x="115408" y="86556"/>
                </a:lnTo>
                <a:cubicBezTo>
                  <a:pt x="115408" y="91940"/>
                  <a:pt x="111956" y="96525"/>
                  <a:pt x="107164" y="98225"/>
                </a:cubicBezTo>
                <a:lnTo>
                  <a:pt x="107164" y="115408"/>
                </a:lnTo>
                <a:cubicBezTo>
                  <a:pt x="111724" y="115408"/>
                  <a:pt x="115408" y="119091"/>
                  <a:pt x="115408" y="123651"/>
                </a:cubicBezTo>
                <a:cubicBezTo>
                  <a:pt x="115408" y="128211"/>
                  <a:pt x="111724" y="131895"/>
                  <a:pt x="107164" y="131895"/>
                </a:cubicBezTo>
                <a:lnTo>
                  <a:pt x="98921" y="131895"/>
                </a:lnTo>
                <a:close/>
                <a:moveTo>
                  <a:pt x="24730" y="98921"/>
                </a:moveTo>
                <a:cubicBezTo>
                  <a:pt x="20171" y="98921"/>
                  <a:pt x="16487" y="102605"/>
                  <a:pt x="16487" y="107164"/>
                </a:cubicBezTo>
                <a:cubicBezTo>
                  <a:pt x="16487" y="111724"/>
                  <a:pt x="20171" y="115408"/>
                  <a:pt x="24730" y="115408"/>
                </a:cubicBezTo>
                <a:lnTo>
                  <a:pt x="90677" y="115408"/>
                </a:lnTo>
                <a:lnTo>
                  <a:pt x="90677" y="98921"/>
                </a:lnTo>
                <a:lnTo>
                  <a:pt x="24730" y="98921"/>
                </a:lnTo>
                <a:close/>
                <a:moveTo>
                  <a:pt x="32974" y="39156"/>
                </a:moveTo>
                <a:cubicBezTo>
                  <a:pt x="32974" y="42582"/>
                  <a:pt x="35730" y="45339"/>
                  <a:pt x="39156" y="45339"/>
                </a:cubicBezTo>
                <a:lnTo>
                  <a:pt x="84495" y="45339"/>
                </a:lnTo>
                <a:cubicBezTo>
                  <a:pt x="87921" y="45339"/>
                  <a:pt x="90677" y="42582"/>
                  <a:pt x="90677" y="39156"/>
                </a:cubicBezTo>
                <a:cubicBezTo>
                  <a:pt x="90677" y="35730"/>
                  <a:pt x="87921" y="32974"/>
                  <a:pt x="84495" y="32974"/>
                </a:cubicBezTo>
                <a:lnTo>
                  <a:pt x="39156" y="32974"/>
                </a:lnTo>
                <a:cubicBezTo>
                  <a:pt x="35730" y="32974"/>
                  <a:pt x="32974" y="35730"/>
                  <a:pt x="32974" y="39156"/>
                </a:cubicBezTo>
                <a:close/>
                <a:moveTo>
                  <a:pt x="39156" y="57704"/>
                </a:moveTo>
                <a:cubicBezTo>
                  <a:pt x="35730" y="57704"/>
                  <a:pt x="32974" y="60460"/>
                  <a:pt x="32974" y="63886"/>
                </a:cubicBezTo>
                <a:cubicBezTo>
                  <a:pt x="32974" y="67313"/>
                  <a:pt x="35730" y="70069"/>
                  <a:pt x="39156" y="70069"/>
                </a:cubicBezTo>
                <a:lnTo>
                  <a:pt x="84495" y="70069"/>
                </a:lnTo>
                <a:cubicBezTo>
                  <a:pt x="87921" y="70069"/>
                  <a:pt x="90677" y="67313"/>
                  <a:pt x="90677" y="63886"/>
                </a:cubicBezTo>
                <a:cubicBezTo>
                  <a:pt x="90677" y="60460"/>
                  <a:pt x="87921" y="57704"/>
                  <a:pt x="84495" y="57704"/>
                </a:cubicBezTo>
                <a:lnTo>
                  <a:pt x="39156" y="57704"/>
                </a:lnTo>
                <a:close/>
              </a:path>
            </a:pathLst>
          </a:custGeom>
          <a:solidFill>
            <a:srgbClr val="4A5D52"/>
          </a:solidFill>
          <a:ln/>
        </p:spPr>
      </p:sp>
      <p:sp>
        <p:nvSpPr>
          <p:cNvPr id="41" name="Text 39"/>
          <p:cNvSpPr/>
          <p:nvPr/>
        </p:nvSpPr>
        <p:spPr>
          <a:xfrm>
            <a:off x="8476713" y="3594126"/>
            <a:ext cx="3254558" cy="197842"/>
          </a:xfrm>
          <a:prstGeom prst="rect">
            <a:avLst/>
          </a:prstGeom>
          <a:noFill/>
          <a:ln/>
        </p:spPr>
        <p:txBody>
          <a:bodyPr wrap="square" lIns="0" tIns="0" rIns="0" bIns="0" rtlCol="0" anchor="ctr"/>
          <a:lstStyle/>
          <a:p>
            <a:pPr>
              <a:lnSpc>
                <a:spcPct val="130000"/>
              </a:lnSpc>
            </a:pPr>
            <a:r>
              <a:rPr lang="en-US" sz="1039" b="1" dirty="0">
                <a:solidFill>
                  <a:srgbClr val="2C3531"/>
                </a:solidFill>
                <a:latin typeface="Liter" pitchFamily="34" charset="0"/>
                <a:ea typeface="Liter" pitchFamily="34" charset="-122"/>
                <a:cs typeface="Liter" pitchFamily="34" charset="-120"/>
              </a:rPr>
              <a:t>Required Daily Records</a:t>
            </a:r>
            <a:endParaRPr lang="en-US" sz="1600" dirty="0"/>
          </a:p>
        </p:txBody>
      </p:sp>
      <p:sp>
        <p:nvSpPr>
          <p:cNvPr id="42" name="Text 40"/>
          <p:cNvSpPr/>
          <p:nvPr/>
        </p:nvSpPr>
        <p:spPr>
          <a:xfrm>
            <a:off x="8466881" y="3857915"/>
            <a:ext cx="98921" cy="164868"/>
          </a:xfrm>
          <a:prstGeom prst="rect">
            <a:avLst/>
          </a:prstGeom>
          <a:noFill/>
          <a:ln/>
        </p:spPr>
        <p:txBody>
          <a:bodyPr wrap="square" lIns="0" tIns="0" rIns="0" bIns="0" rtlCol="0" anchor="ctr"/>
          <a:lstStyle/>
          <a:p>
            <a:pPr>
              <a:lnSpc>
                <a:spcPct val="120000"/>
              </a:lnSpc>
            </a:pPr>
            <a:r>
              <a:rPr lang="en-US" sz="909" dirty="0">
                <a:solidFill>
                  <a:srgbClr val="4A5D52"/>
                </a:solidFill>
                <a:latin typeface="Liter" pitchFamily="34" charset="0"/>
                <a:ea typeface="Liter" pitchFamily="34" charset="-122"/>
                <a:cs typeface="Liter" pitchFamily="34" charset="-120"/>
              </a:rPr>
              <a:t>•</a:t>
            </a:r>
            <a:endParaRPr lang="en-US" sz="1600" dirty="0"/>
          </a:p>
        </p:txBody>
      </p:sp>
      <p:sp>
        <p:nvSpPr>
          <p:cNvPr id="43" name="Text 41"/>
          <p:cNvSpPr/>
          <p:nvPr/>
        </p:nvSpPr>
        <p:spPr>
          <a:xfrm>
            <a:off x="8576106" y="3857915"/>
            <a:ext cx="2530726"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Work activities log (tasks completed, time spent)</a:t>
            </a:r>
            <a:endParaRPr lang="en-US" sz="1600" dirty="0"/>
          </a:p>
        </p:txBody>
      </p:sp>
      <p:sp>
        <p:nvSpPr>
          <p:cNvPr id="44" name="Text 42"/>
          <p:cNvSpPr/>
          <p:nvPr/>
        </p:nvSpPr>
        <p:spPr>
          <a:xfrm>
            <a:off x="8466881" y="4055757"/>
            <a:ext cx="98921" cy="164868"/>
          </a:xfrm>
          <a:prstGeom prst="rect">
            <a:avLst/>
          </a:prstGeom>
          <a:noFill/>
          <a:ln/>
        </p:spPr>
        <p:txBody>
          <a:bodyPr wrap="square" lIns="0" tIns="0" rIns="0" bIns="0" rtlCol="0" anchor="ctr"/>
          <a:lstStyle/>
          <a:p>
            <a:pPr>
              <a:lnSpc>
                <a:spcPct val="120000"/>
              </a:lnSpc>
            </a:pPr>
            <a:r>
              <a:rPr lang="en-US" sz="909" dirty="0">
                <a:solidFill>
                  <a:srgbClr val="4A5D52"/>
                </a:solidFill>
                <a:latin typeface="Liter" pitchFamily="34" charset="0"/>
                <a:ea typeface="Liter" pitchFamily="34" charset="-122"/>
                <a:cs typeface="Liter" pitchFamily="34" charset="-120"/>
              </a:rPr>
              <a:t>•</a:t>
            </a:r>
            <a:endParaRPr lang="en-US" sz="1600" dirty="0"/>
          </a:p>
        </p:txBody>
      </p:sp>
      <p:sp>
        <p:nvSpPr>
          <p:cNvPr id="45" name="Text 43"/>
          <p:cNvSpPr/>
          <p:nvPr/>
        </p:nvSpPr>
        <p:spPr>
          <a:xfrm>
            <a:off x="8576106" y="4055757"/>
            <a:ext cx="2440049"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Watering schedule and quantities administered</a:t>
            </a:r>
            <a:endParaRPr lang="en-US" sz="1600" dirty="0"/>
          </a:p>
        </p:txBody>
      </p:sp>
      <p:sp>
        <p:nvSpPr>
          <p:cNvPr id="46" name="Text 44"/>
          <p:cNvSpPr/>
          <p:nvPr/>
        </p:nvSpPr>
        <p:spPr>
          <a:xfrm>
            <a:off x="8466881" y="4253598"/>
            <a:ext cx="98921" cy="164868"/>
          </a:xfrm>
          <a:prstGeom prst="rect">
            <a:avLst/>
          </a:prstGeom>
          <a:noFill/>
          <a:ln/>
        </p:spPr>
        <p:txBody>
          <a:bodyPr wrap="square" lIns="0" tIns="0" rIns="0" bIns="0" rtlCol="0" anchor="ctr"/>
          <a:lstStyle/>
          <a:p>
            <a:pPr>
              <a:lnSpc>
                <a:spcPct val="120000"/>
              </a:lnSpc>
            </a:pPr>
            <a:r>
              <a:rPr lang="en-US" sz="909" dirty="0">
                <a:solidFill>
                  <a:srgbClr val="4A5D52"/>
                </a:solidFill>
                <a:latin typeface="Liter" pitchFamily="34" charset="0"/>
                <a:ea typeface="Liter" pitchFamily="34" charset="-122"/>
                <a:cs typeface="Liter" pitchFamily="34" charset="-120"/>
              </a:rPr>
              <a:t>•</a:t>
            </a:r>
            <a:endParaRPr lang="en-US" sz="1600" dirty="0"/>
          </a:p>
        </p:txBody>
      </p:sp>
      <p:sp>
        <p:nvSpPr>
          <p:cNvPr id="47" name="Text 45"/>
          <p:cNvSpPr/>
          <p:nvPr/>
        </p:nvSpPr>
        <p:spPr>
          <a:xfrm>
            <a:off x="8576106" y="4253598"/>
            <a:ext cx="3148982" cy="329736"/>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Fertilizer/chemical applications (product, concentration, area treated)</a:t>
            </a:r>
            <a:endParaRPr lang="en-US" sz="1600" dirty="0"/>
          </a:p>
        </p:txBody>
      </p:sp>
      <p:sp>
        <p:nvSpPr>
          <p:cNvPr id="48" name="Text 46"/>
          <p:cNvSpPr/>
          <p:nvPr/>
        </p:nvSpPr>
        <p:spPr>
          <a:xfrm>
            <a:off x="8466881" y="4616308"/>
            <a:ext cx="98921" cy="164868"/>
          </a:xfrm>
          <a:prstGeom prst="rect">
            <a:avLst/>
          </a:prstGeom>
          <a:noFill/>
          <a:ln/>
        </p:spPr>
        <p:txBody>
          <a:bodyPr wrap="square" lIns="0" tIns="0" rIns="0" bIns="0" rtlCol="0" anchor="ctr"/>
          <a:lstStyle/>
          <a:p>
            <a:pPr>
              <a:lnSpc>
                <a:spcPct val="120000"/>
              </a:lnSpc>
            </a:pPr>
            <a:r>
              <a:rPr lang="en-US" sz="909" dirty="0">
                <a:solidFill>
                  <a:srgbClr val="4A5D52"/>
                </a:solidFill>
                <a:latin typeface="Liter" pitchFamily="34" charset="0"/>
                <a:ea typeface="Liter" pitchFamily="34" charset="-122"/>
                <a:cs typeface="Liter" pitchFamily="34" charset="-120"/>
              </a:rPr>
              <a:t>•</a:t>
            </a:r>
            <a:endParaRPr lang="en-US" sz="1600" dirty="0"/>
          </a:p>
        </p:txBody>
      </p:sp>
      <p:sp>
        <p:nvSpPr>
          <p:cNvPr id="49" name="Text 47"/>
          <p:cNvSpPr/>
          <p:nvPr/>
        </p:nvSpPr>
        <p:spPr>
          <a:xfrm>
            <a:off x="8576106" y="4616308"/>
            <a:ext cx="2778028"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Plant health observations and any abnormalities noted</a:t>
            </a:r>
            <a:endParaRPr lang="en-US" sz="1600" dirty="0"/>
          </a:p>
        </p:txBody>
      </p:sp>
      <p:sp>
        <p:nvSpPr>
          <p:cNvPr id="50" name="Text 48"/>
          <p:cNvSpPr/>
          <p:nvPr/>
        </p:nvSpPr>
        <p:spPr>
          <a:xfrm>
            <a:off x="8466881" y="4814150"/>
            <a:ext cx="98921" cy="164868"/>
          </a:xfrm>
          <a:prstGeom prst="rect">
            <a:avLst/>
          </a:prstGeom>
          <a:noFill/>
          <a:ln/>
        </p:spPr>
        <p:txBody>
          <a:bodyPr wrap="square" lIns="0" tIns="0" rIns="0" bIns="0" rtlCol="0" anchor="ctr"/>
          <a:lstStyle/>
          <a:p>
            <a:pPr>
              <a:lnSpc>
                <a:spcPct val="120000"/>
              </a:lnSpc>
            </a:pPr>
            <a:r>
              <a:rPr lang="en-US" sz="909" dirty="0">
                <a:solidFill>
                  <a:srgbClr val="4A5D52"/>
                </a:solidFill>
                <a:latin typeface="Liter" pitchFamily="34" charset="0"/>
                <a:ea typeface="Liter" pitchFamily="34" charset="-122"/>
                <a:cs typeface="Liter" pitchFamily="34" charset="-120"/>
              </a:rPr>
              <a:t>•</a:t>
            </a:r>
            <a:endParaRPr lang="en-US" sz="1600" dirty="0"/>
          </a:p>
        </p:txBody>
      </p:sp>
      <p:sp>
        <p:nvSpPr>
          <p:cNvPr id="51" name="Text 49"/>
          <p:cNvSpPr/>
          <p:nvPr/>
        </p:nvSpPr>
        <p:spPr>
          <a:xfrm>
            <a:off x="8576106" y="4814150"/>
            <a:ext cx="3041817"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Environmental conditions (temperature, humidity readings)</a:t>
            </a:r>
            <a:endParaRPr lang="en-US" sz="1600" dirty="0"/>
          </a:p>
        </p:txBody>
      </p:sp>
      <p:sp>
        <p:nvSpPr>
          <p:cNvPr id="52" name="Text 50"/>
          <p:cNvSpPr/>
          <p:nvPr/>
        </p:nvSpPr>
        <p:spPr>
          <a:xfrm>
            <a:off x="8466881" y="5011992"/>
            <a:ext cx="98921" cy="164868"/>
          </a:xfrm>
          <a:prstGeom prst="rect">
            <a:avLst/>
          </a:prstGeom>
          <a:noFill/>
          <a:ln/>
        </p:spPr>
        <p:txBody>
          <a:bodyPr wrap="square" lIns="0" tIns="0" rIns="0" bIns="0" rtlCol="0" anchor="ctr"/>
          <a:lstStyle/>
          <a:p>
            <a:pPr>
              <a:lnSpc>
                <a:spcPct val="120000"/>
              </a:lnSpc>
            </a:pPr>
            <a:r>
              <a:rPr lang="en-US" sz="909" dirty="0">
                <a:solidFill>
                  <a:srgbClr val="4A5D52"/>
                </a:solidFill>
                <a:latin typeface="Liter" pitchFamily="34" charset="0"/>
                <a:ea typeface="Liter" pitchFamily="34" charset="-122"/>
                <a:cs typeface="Liter" pitchFamily="34" charset="-120"/>
              </a:rPr>
              <a:t>•</a:t>
            </a:r>
            <a:endParaRPr lang="en-US" sz="1600" dirty="0"/>
          </a:p>
        </p:txBody>
      </p:sp>
      <p:sp>
        <p:nvSpPr>
          <p:cNvPr id="53" name="Text 51"/>
          <p:cNvSpPr/>
          <p:nvPr/>
        </p:nvSpPr>
        <p:spPr>
          <a:xfrm>
            <a:off x="8576106" y="5011992"/>
            <a:ext cx="2168016"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Harvest quantities (during harvest period)</a:t>
            </a:r>
            <a:endParaRPr lang="en-US" sz="1600" dirty="0"/>
          </a:p>
        </p:txBody>
      </p:sp>
      <p:sp>
        <p:nvSpPr>
          <p:cNvPr id="54" name="Shape 52"/>
          <p:cNvSpPr/>
          <p:nvPr/>
        </p:nvSpPr>
        <p:spPr>
          <a:xfrm>
            <a:off x="8120658" y="5275781"/>
            <a:ext cx="32974" cy="1384892"/>
          </a:xfrm>
          <a:custGeom>
            <a:avLst/>
            <a:gdLst/>
            <a:ahLst/>
            <a:cxnLst/>
            <a:rect l="l" t="t" r="r" b="b"/>
            <a:pathLst>
              <a:path w="32974" h="1384892">
                <a:moveTo>
                  <a:pt x="0" y="0"/>
                </a:moveTo>
                <a:lnTo>
                  <a:pt x="32974" y="0"/>
                </a:lnTo>
                <a:lnTo>
                  <a:pt x="32974" y="1384892"/>
                </a:lnTo>
                <a:lnTo>
                  <a:pt x="0" y="1384892"/>
                </a:lnTo>
                <a:lnTo>
                  <a:pt x="0" y="0"/>
                </a:lnTo>
                <a:close/>
              </a:path>
            </a:pathLst>
          </a:custGeom>
          <a:solidFill>
            <a:srgbClr val="A88B6A"/>
          </a:solidFill>
          <a:ln/>
        </p:spPr>
      </p:sp>
      <p:sp>
        <p:nvSpPr>
          <p:cNvPr id="55" name="Shape 53"/>
          <p:cNvSpPr/>
          <p:nvPr/>
        </p:nvSpPr>
        <p:spPr>
          <a:xfrm>
            <a:off x="8285526" y="5308755"/>
            <a:ext cx="131895" cy="131895"/>
          </a:xfrm>
          <a:custGeom>
            <a:avLst/>
            <a:gdLst/>
            <a:ahLst/>
            <a:cxnLst/>
            <a:rect l="l" t="t" r="r" b="b"/>
            <a:pathLst>
              <a:path w="131895" h="131895">
                <a:moveTo>
                  <a:pt x="65947" y="0"/>
                </a:moveTo>
                <a:cubicBezTo>
                  <a:pt x="102345" y="0"/>
                  <a:pt x="131895" y="29550"/>
                  <a:pt x="131895" y="65947"/>
                </a:cubicBezTo>
                <a:cubicBezTo>
                  <a:pt x="131895" y="102345"/>
                  <a:pt x="102345" y="131895"/>
                  <a:pt x="65947" y="131895"/>
                </a:cubicBezTo>
                <a:cubicBezTo>
                  <a:pt x="29550" y="131895"/>
                  <a:pt x="0" y="102345"/>
                  <a:pt x="0" y="65947"/>
                </a:cubicBezTo>
                <a:cubicBezTo>
                  <a:pt x="0" y="29550"/>
                  <a:pt x="29550" y="0"/>
                  <a:pt x="65947" y="0"/>
                </a:cubicBezTo>
                <a:close/>
                <a:moveTo>
                  <a:pt x="59765" y="30913"/>
                </a:moveTo>
                <a:lnTo>
                  <a:pt x="59765" y="65947"/>
                </a:lnTo>
                <a:cubicBezTo>
                  <a:pt x="59765" y="68008"/>
                  <a:pt x="60795" y="69940"/>
                  <a:pt x="62521" y="71099"/>
                </a:cubicBezTo>
                <a:lnTo>
                  <a:pt x="87251" y="87586"/>
                </a:lnTo>
                <a:cubicBezTo>
                  <a:pt x="90085" y="89492"/>
                  <a:pt x="93923" y="88720"/>
                  <a:pt x="95830" y="85860"/>
                </a:cubicBezTo>
                <a:cubicBezTo>
                  <a:pt x="97736" y="83001"/>
                  <a:pt x="96963" y="79188"/>
                  <a:pt x="94104" y="77282"/>
                </a:cubicBezTo>
                <a:lnTo>
                  <a:pt x="72130" y="62650"/>
                </a:lnTo>
                <a:lnTo>
                  <a:pt x="72130" y="30913"/>
                </a:lnTo>
                <a:cubicBezTo>
                  <a:pt x="72130" y="27487"/>
                  <a:pt x="69373" y="24730"/>
                  <a:pt x="65947" y="24730"/>
                </a:cubicBezTo>
                <a:cubicBezTo>
                  <a:pt x="62521" y="24730"/>
                  <a:pt x="59765" y="27487"/>
                  <a:pt x="59765" y="30913"/>
                </a:cubicBezTo>
                <a:close/>
              </a:path>
            </a:pathLst>
          </a:custGeom>
          <a:solidFill>
            <a:srgbClr val="A88B6A"/>
          </a:solidFill>
          <a:ln/>
        </p:spPr>
      </p:sp>
      <p:sp>
        <p:nvSpPr>
          <p:cNvPr id="56" name="Text 54"/>
          <p:cNvSpPr/>
          <p:nvPr/>
        </p:nvSpPr>
        <p:spPr>
          <a:xfrm>
            <a:off x="8476713" y="5275781"/>
            <a:ext cx="3254558" cy="197842"/>
          </a:xfrm>
          <a:prstGeom prst="rect">
            <a:avLst/>
          </a:prstGeom>
          <a:noFill/>
          <a:ln/>
        </p:spPr>
        <p:txBody>
          <a:bodyPr wrap="square" lIns="0" tIns="0" rIns="0" bIns="0" rtlCol="0" anchor="ctr"/>
          <a:lstStyle/>
          <a:p>
            <a:pPr>
              <a:lnSpc>
                <a:spcPct val="130000"/>
              </a:lnSpc>
            </a:pPr>
            <a:r>
              <a:rPr lang="en-US" sz="1039" b="1" dirty="0">
                <a:solidFill>
                  <a:srgbClr val="2C3531"/>
                </a:solidFill>
                <a:latin typeface="Liter" pitchFamily="34" charset="0"/>
                <a:ea typeface="Liter" pitchFamily="34" charset="-122"/>
                <a:cs typeface="Liter" pitchFamily="34" charset="-120"/>
              </a:rPr>
              <a:t>Record-Keeping Standards</a:t>
            </a:r>
            <a:endParaRPr lang="en-US" sz="1600" dirty="0"/>
          </a:p>
        </p:txBody>
      </p:sp>
      <p:sp>
        <p:nvSpPr>
          <p:cNvPr id="57" name="Text 55"/>
          <p:cNvSpPr/>
          <p:nvPr/>
        </p:nvSpPr>
        <p:spPr>
          <a:xfrm>
            <a:off x="8466881" y="5539570"/>
            <a:ext cx="98921" cy="164868"/>
          </a:xfrm>
          <a:prstGeom prst="rect">
            <a:avLst/>
          </a:prstGeom>
          <a:noFill/>
          <a:ln/>
        </p:spPr>
        <p:txBody>
          <a:bodyPr wrap="square" lIns="0" tIns="0" rIns="0" bIns="0" rtlCol="0" anchor="ctr"/>
          <a:lstStyle/>
          <a:p>
            <a:pPr>
              <a:lnSpc>
                <a:spcPct val="120000"/>
              </a:lnSpc>
            </a:pPr>
            <a:r>
              <a:rPr lang="en-US" sz="909" dirty="0">
                <a:solidFill>
                  <a:srgbClr val="A88B6A"/>
                </a:solidFill>
                <a:latin typeface="Liter" pitchFamily="34" charset="0"/>
                <a:ea typeface="Liter" pitchFamily="34" charset="-122"/>
                <a:cs typeface="Liter" pitchFamily="34" charset="-120"/>
              </a:rPr>
              <a:t>•</a:t>
            </a:r>
            <a:endParaRPr lang="en-US" sz="1600" dirty="0"/>
          </a:p>
        </p:txBody>
      </p:sp>
      <p:sp>
        <p:nvSpPr>
          <p:cNvPr id="58" name="Text 56"/>
          <p:cNvSpPr/>
          <p:nvPr/>
        </p:nvSpPr>
        <p:spPr>
          <a:xfrm>
            <a:off x="8576106" y="5539570"/>
            <a:ext cx="2184503"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Complete records by end of each workday</a:t>
            </a:r>
            <a:endParaRPr lang="en-US" sz="1600" dirty="0"/>
          </a:p>
        </p:txBody>
      </p:sp>
      <p:sp>
        <p:nvSpPr>
          <p:cNvPr id="59" name="Text 57"/>
          <p:cNvSpPr/>
          <p:nvPr/>
        </p:nvSpPr>
        <p:spPr>
          <a:xfrm>
            <a:off x="8466881" y="5737412"/>
            <a:ext cx="98921" cy="164868"/>
          </a:xfrm>
          <a:prstGeom prst="rect">
            <a:avLst/>
          </a:prstGeom>
          <a:noFill/>
          <a:ln/>
        </p:spPr>
        <p:txBody>
          <a:bodyPr wrap="square" lIns="0" tIns="0" rIns="0" bIns="0" rtlCol="0" anchor="ctr"/>
          <a:lstStyle/>
          <a:p>
            <a:pPr>
              <a:lnSpc>
                <a:spcPct val="120000"/>
              </a:lnSpc>
            </a:pPr>
            <a:r>
              <a:rPr lang="en-US" sz="909" dirty="0">
                <a:solidFill>
                  <a:srgbClr val="A88B6A"/>
                </a:solidFill>
                <a:latin typeface="Liter" pitchFamily="34" charset="0"/>
                <a:ea typeface="Liter" pitchFamily="34" charset="-122"/>
                <a:cs typeface="Liter" pitchFamily="34" charset="-120"/>
              </a:rPr>
              <a:t>•</a:t>
            </a:r>
            <a:endParaRPr lang="en-US" sz="1600" dirty="0"/>
          </a:p>
        </p:txBody>
      </p:sp>
      <p:sp>
        <p:nvSpPr>
          <p:cNvPr id="60" name="Text 58"/>
          <p:cNvSpPr/>
          <p:nvPr/>
        </p:nvSpPr>
        <p:spPr>
          <a:xfrm>
            <a:off x="8576106" y="5737412"/>
            <a:ext cx="2390588"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Use legible handwriting or digital entry system</a:t>
            </a:r>
            <a:endParaRPr lang="en-US" sz="1600" dirty="0"/>
          </a:p>
        </p:txBody>
      </p:sp>
      <p:sp>
        <p:nvSpPr>
          <p:cNvPr id="61" name="Text 59"/>
          <p:cNvSpPr/>
          <p:nvPr/>
        </p:nvSpPr>
        <p:spPr>
          <a:xfrm>
            <a:off x="8466881" y="5935254"/>
            <a:ext cx="98921" cy="164868"/>
          </a:xfrm>
          <a:prstGeom prst="rect">
            <a:avLst/>
          </a:prstGeom>
          <a:noFill/>
          <a:ln/>
        </p:spPr>
        <p:txBody>
          <a:bodyPr wrap="square" lIns="0" tIns="0" rIns="0" bIns="0" rtlCol="0" anchor="ctr"/>
          <a:lstStyle/>
          <a:p>
            <a:pPr>
              <a:lnSpc>
                <a:spcPct val="120000"/>
              </a:lnSpc>
            </a:pPr>
            <a:r>
              <a:rPr lang="en-US" sz="909" dirty="0">
                <a:solidFill>
                  <a:srgbClr val="A88B6A"/>
                </a:solidFill>
                <a:latin typeface="Liter" pitchFamily="34" charset="0"/>
                <a:ea typeface="Liter" pitchFamily="34" charset="-122"/>
                <a:cs typeface="Liter" pitchFamily="34" charset="-120"/>
              </a:rPr>
              <a:t>•</a:t>
            </a:r>
            <a:endParaRPr lang="en-US" sz="1600" dirty="0"/>
          </a:p>
        </p:txBody>
      </p:sp>
      <p:sp>
        <p:nvSpPr>
          <p:cNvPr id="62" name="Text 60"/>
          <p:cNvSpPr/>
          <p:nvPr/>
        </p:nvSpPr>
        <p:spPr>
          <a:xfrm>
            <a:off x="8576106" y="5935254"/>
            <a:ext cx="2728568"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Include date, time, and employee initials on all entries</a:t>
            </a:r>
            <a:endParaRPr lang="en-US" sz="1600" dirty="0"/>
          </a:p>
        </p:txBody>
      </p:sp>
      <p:sp>
        <p:nvSpPr>
          <p:cNvPr id="63" name="Text 61"/>
          <p:cNvSpPr/>
          <p:nvPr/>
        </p:nvSpPr>
        <p:spPr>
          <a:xfrm>
            <a:off x="8466881" y="6133095"/>
            <a:ext cx="98921" cy="164868"/>
          </a:xfrm>
          <a:prstGeom prst="rect">
            <a:avLst/>
          </a:prstGeom>
          <a:noFill/>
          <a:ln/>
        </p:spPr>
        <p:txBody>
          <a:bodyPr wrap="square" lIns="0" tIns="0" rIns="0" bIns="0" rtlCol="0" anchor="ctr"/>
          <a:lstStyle/>
          <a:p>
            <a:pPr>
              <a:lnSpc>
                <a:spcPct val="120000"/>
              </a:lnSpc>
            </a:pPr>
            <a:r>
              <a:rPr lang="en-US" sz="909" dirty="0">
                <a:solidFill>
                  <a:srgbClr val="A88B6A"/>
                </a:solidFill>
                <a:latin typeface="Liter" pitchFamily="34" charset="0"/>
                <a:ea typeface="Liter" pitchFamily="34" charset="-122"/>
                <a:cs typeface="Liter" pitchFamily="34" charset="-120"/>
              </a:rPr>
              <a:t>•</a:t>
            </a:r>
            <a:endParaRPr lang="en-US" sz="1600" dirty="0"/>
          </a:p>
        </p:txBody>
      </p:sp>
      <p:sp>
        <p:nvSpPr>
          <p:cNvPr id="64" name="Text 62"/>
          <p:cNvSpPr/>
          <p:nvPr/>
        </p:nvSpPr>
        <p:spPr>
          <a:xfrm>
            <a:off x="8576106" y="6133095"/>
            <a:ext cx="3148982" cy="329736"/>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Never alter or erase entries - cross out mistakes with single line</a:t>
            </a:r>
            <a:endParaRPr lang="en-US" sz="1600" dirty="0"/>
          </a:p>
        </p:txBody>
      </p:sp>
      <p:sp>
        <p:nvSpPr>
          <p:cNvPr id="65" name="Text 63"/>
          <p:cNvSpPr/>
          <p:nvPr/>
        </p:nvSpPr>
        <p:spPr>
          <a:xfrm>
            <a:off x="8466881" y="6495805"/>
            <a:ext cx="98921" cy="164868"/>
          </a:xfrm>
          <a:prstGeom prst="rect">
            <a:avLst/>
          </a:prstGeom>
          <a:noFill/>
          <a:ln/>
        </p:spPr>
        <p:txBody>
          <a:bodyPr wrap="square" lIns="0" tIns="0" rIns="0" bIns="0" rtlCol="0" anchor="ctr"/>
          <a:lstStyle/>
          <a:p>
            <a:pPr>
              <a:lnSpc>
                <a:spcPct val="120000"/>
              </a:lnSpc>
            </a:pPr>
            <a:r>
              <a:rPr lang="en-US" sz="909" dirty="0">
                <a:solidFill>
                  <a:srgbClr val="A88B6A"/>
                </a:solidFill>
                <a:latin typeface="Liter" pitchFamily="34" charset="0"/>
                <a:ea typeface="Liter" pitchFamily="34" charset="-122"/>
                <a:cs typeface="Liter" pitchFamily="34" charset="-120"/>
              </a:rPr>
              <a:t>•</a:t>
            </a:r>
            <a:endParaRPr lang="en-US" sz="1600" dirty="0"/>
          </a:p>
        </p:txBody>
      </p:sp>
      <p:sp>
        <p:nvSpPr>
          <p:cNvPr id="66" name="Text 64"/>
          <p:cNvSpPr/>
          <p:nvPr/>
        </p:nvSpPr>
        <p:spPr>
          <a:xfrm>
            <a:off x="8576106" y="6495805"/>
            <a:ext cx="2423562" cy="164868"/>
          </a:xfrm>
          <a:prstGeom prst="rect">
            <a:avLst/>
          </a:prstGeom>
          <a:noFill/>
          <a:ln/>
        </p:spPr>
        <p:txBody>
          <a:bodyPr wrap="square" lIns="0" tIns="0" rIns="0" bIns="0" rtlCol="0" anchor="ctr"/>
          <a:lstStyle/>
          <a:p>
            <a:pPr>
              <a:lnSpc>
                <a:spcPct val="120000"/>
              </a:lnSpc>
            </a:pPr>
            <a:r>
              <a:rPr lang="en-US" sz="909" dirty="0">
                <a:solidFill>
                  <a:srgbClr val="2C3531">
                    <a:alpha val="80000"/>
                  </a:srgbClr>
                </a:solidFill>
                <a:latin typeface="Liter" pitchFamily="34" charset="0"/>
                <a:ea typeface="Liter" pitchFamily="34" charset="-122"/>
                <a:cs typeface="Liter" pitchFamily="34" charset="-120"/>
              </a:rPr>
              <a:t>Submit records to supervisor weekly for review</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A88B6A"/>
                </a:solidFill>
                <a:latin typeface="Liter" pitchFamily="34" charset="0"/>
                <a:ea typeface="Liter" pitchFamily="34" charset="-122"/>
                <a:cs typeface="Liter" pitchFamily="34" charset="-120"/>
              </a:rPr>
              <a:t>Section 4.4</a:t>
            </a:r>
            <a:endParaRPr lang="en-US" sz="1600" dirty="0"/>
          </a:p>
        </p:txBody>
      </p:sp>
      <p:sp>
        <p:nvSpPr>
          <p:cNvPr id="3" name="Text 1"/>
          <p:cNvSpPr/>
          <p:nvPr/>
        </p:nvSpPr>
        <p:spPr>
          <a:xfrm>
            <a:off x="317500" y="539750"/>
            <a:ext cx="11747500" cy="381000"/>
          </a:xfrm>
          <a:prstGeom prst="rect">
            <a:avLst/>
          </a:prstGeom>
          <a:noFill/>
          <a:ln/>
        </p:spPr>
        <p:txBody>
          <a:bodyPr wrap="square" lIns="0" tIns="0" rIns="0" bIns="0" rtlCol="0" anchor="ctr"/>
          <a:lstStyle/>
          <a:p>
            <a:pPr>
              <a:lnSpc>
                <a:spcPct val="80000"/>
              </a:lnSpc>
            </a:pPr>
            <a:r>
              <a:rPr lang="en-US" sz="3000" b="1" dirty="0">
                <a:solidFill>
                  <a:srgbClr val="4A5D52"/>
                </a:solidFill>
                <a:latin typeface="Oranienbaum" pitchFamily="34" charset="0"/>
                <a:ea typeface="Oranienbaum" pitchFamily="34" charset="-122"/>
                <a:cs typeface="Oranienbaum" pitchFamily="34" charset="-120"/>
              </a:rPr>
              <a:t>Integrity &amp; Harvest Conduct</a:t>
            </a:r>
            <a:endParaRPr lang="en-US" sz="1600" dirty="0"/>
          </a:p>
        </p:txBody>
      </p:sp>
      <p:sp>
        <p:nvSpPr>
          <p:cNvPr id="4" name="Shape 2"/>
          <p:cNvSpPr/>
          <p:nvPr/>
        </p:nvSpPr>
        <p:spPr>
          <a:xfrm>
            <a:off x="317500" y="1016000"/>
            <a:ext cx="635000" cy="31750"/>
          </a:xfrm>
          <a:custGeom>
            <a:avLst/>
            <a:gdLst/>
            <a:ahLst/>
            <a:cxnLst/>
            <a:rect l="l" t="t" r="r" b="b"/>
            <a:pathLst>
              <a:path w="635000" h="31750">
                <a:moveTo>
                  <a:pt x="0" y="0"/>
                </a:moveTo>
                <a:lnTo>
                  <a:pt x="635000" y="0"/>
                </a:lnTo>
                <a:lnTo>
                  <a:pt x="635000" y="31750"/>
                </a:lnTo>
                <a:lnTo>
                  <a:pt x="0" y="31750"/>
                </a:lnTo>
                <a:lnTo>
                  <a:pt x="0" y="0"/>
                </a:lnTo>
                <a:close/>
              </a:path>
            </a:pathLst>
          </a:custGeom>
          <a:solidFill>
            <a:srgbClr val="D4A056"/>
          </a:solidFill>
          <a:ln/>
        </p:spPr>
      </p:sp>
      <p:sp>
        <p:nvSpPr>
          <p:cNvPr id="5" name="Shape 3"/>
          <p:cNvSpPr/>
          <p:nvPr/>
        </p:nvSpPr>
        <p:spPr>
          <a:xfrm>
            <a:off x="317500" y="1206500"/>
            <a:ext cx="5683250" cy="5619750"/>
          </a:xfrm>
          <a:custGeom>
            <a:avLst/>
            <a:gdLst/>
            <a:ahLst/>
            <a:cxnLst/>
            <a:rect l="l" t="t" r="r" b="b"/>
            <a:pathLst>
              <a:path w="5683250" h="5619750">
                <a:moveTo>
                  <a:pt x="63503" y="0"/>
                </a:moveTo>
                <a:lnTo>
                  <a:pt x="5619747" y="0"/>
                </a:lnTo>
                <a:cubicBezTo>
                  <a:pt x="5654819" y="0"/>
                  <a:pt x="5683250" y="28431"/>
                  <a:pt x="5683250" y="63503"/>
                </a:cubicBezTo>
                <a:lnTo>
                  <a:pt x="5683250" y="5556247"/>
                </a:lnTo>
                <a:cubicBezTo>
                  <a:pt x="5683250" y="5591319"/>
                  <a:pt x="5654819" y="5619750"/>
                  <a:pt x="5619747" y="5619750"/>
                </a:cubicBezTo>
                <a:lnTo>
                  <a:pt x="63503" y="5619750"/>
                </a:lnTo>
                <a:cubicBezTo>
                  <a:pt x="28431" y="5619750"/>
                  <a:pt x="0" y="5591319"/>
                  <a:pt x="0" y="5556247"/>
                </a:cubicBezTo>
                <a:lnTo>
                  <a:pt x="0" y="63503"/>
                </a:lnTo>
                <a:cubicBezTo>
                  <a:pt x="0" y="28431"/>
                  <a:pt x="28431" y="0"/>
                  <a:pt x="63503" y="0"/>
                </a:cubicBezTo>
                <a:close/>
              </a:path>
            </a:pathLst>
          </a:custGeom>
          <a:solidFill>
            <a:srgbClr val="4A5D52"/>
          </a:solidFill>
          <a:ln/>
        </p:spPr>
      </p:sp>
      <p:sp>
        <p:nvSpPr>
          <p:cNvPr id="6" name="Shape 4"/>
          <p:cNvSpPr/>
          <p:nvPr/>
        </p:nvSpPr>
        <p:spPr>
          <a:xfrm>
            <a:off x="2891234" y="1976438"/>
            <a:ext cx="535781" cy="476250"/>
          </a:xfrm>
          <a:custGeom>
            <a:avLst/>
            <a:gdLst/>
            <a:ahLst/>
            <a:cxnLst/>
            <a:rect l="l" t="t" r="r" b="b"/>
            <a:pathLst>
              <a:path w="535781" h="476250">
                <a:moveTo>
                  <a:pt x="260077" y="28835"/>
                </a:moveTo>
                <a:cubicBezTo>
                  <a:pt x="246962" y="10697"/>
                  <a:pt x="225940" y="0"/>
                  <a:pt x="203615" y="0"/>
                </a:cubicBezTo>
                <a:cubicBezTo>
                  <a:pt x="165106" y="0"/>
                  <a:pt x="133945" y="31161"/>
                  <a:pt x="133945" y="69670"/>
                </a:cubicBezTo>
                <a:lnTo>
                  <a:pt x="133945" y="71903"/>
                </a:lnTo>
                <a:cubicBezTo>
                  <a:pt x="133945" y="131806"/>
                  <a:pt x="210220" y="195988"/>
                  <a:pt x="247613" y="223800"/>
                </a:cubicBezTo>
                <a:cubicBezTo>
                  <a:pt x="259705" y="232823"/>
                  <a:pt x="275983" y="232823"/>
                  <a:pt x="288075" y="223800"/>
                </a:cubicBezTo>
                <a:cubicBezTo>
                  <a:pt x="325469" y="195895"/>
                  <a:pt x="401743" y="131806"/>
                  <a:pt x="401743" y="71903"/>
                </a:cubicBezTo>
                <a:lnTo>
                  <a:pt x="401743" y="69670"/>
                </a:lnTo>
                <a:cubicBezTo>
                  <a:pt x="401743" y="31161"/>
                  <a:pt x="370582" y="0"/>
                  <a:pt x="332073" y="0"/>
                </a:cubicBezTo>
                <a:cubicBezTo>
                  <a:pt x="309749" y="0"/>
                  <a:pt x="288727" y="10697"/>
                  <a:pt x="275611" y="28835"/>
                </a:cubicBezTo>
                <a:lnTo>
                  <a:pt x="267891" y="39719"/>
                </a:lnTo>
                <a:lnTo>
                  <a:pt x="260077" y="28835"/>
                </a:lnTo>
                <a:close/>
                <a:moveTo>
                  <a:pt x="101668" y="317655"/>
                </a:moveTo>
                <a:lnTo>
                  <a:pt x="62043" y="357188"/>
                </a:lnTo>
                <a:lnTo>
                  <a:pt x="29766" y="357188"/>
                </a:lnTo>
                <a:cubicBezTo>
                  <a:pt x="13302" y="357188"/>
                  <a:pt x="0" y="370489"/>
                  <a:pt x="0" y="386953"/>
                </a:cubicBezTo>
                <a:lnTo>
                  <a:pt x="0" y="446484"/>
                </a:lnTo>
                <a:cubicBezTo>
                  <a:pt x="0" y="462948"/>
                  <a:pt x="13302" y="476250"/>
                  <a:pt x="29766" y="476250"/>
                </a:cubicBezTo>
                <a:lnTo>
                  <a:pt x="327887" y="476250"/>
                </a:lnTo>
                <a:cubicBezTo>
                  <a:pt x="354862" y="476250"/>
                  <a:pt x="381186" y="467599"/>
                  <a:pt x="402952" y="451600"/>
                </a:cubicBezTo>
                <a:lnTo>
                  <a:pt x="520712" y="364815"/>
                </a:lnTo>
                <a:cubicBezTo>
                  <a:pt x="537270" y="352630"/>
                  <a:pt x="540804" y="329375"/>
                  <a:pt x="528619" y="312818"/>
                </a:cubicBezTo>
                <a:cubicBezTo>
                  <a:pt x="516434" y="296261"/>
                  <a:pt x="493179" y="292726"/>
                  <a:pt x="476622" y="304912"/>
                </a:cubicBezTo>
                <a:lnTo>
                  <a:pt x="365187" y="386953"/>
                </a:lnTo>
                <a:lnTo>
                  <a:pt x="260449" y="386953"/>
                </a:lnTo>
                <a:cubicBezTo>
                  <a:pt x="248078" y="386953"/>
                  <a:pt x="238125" y="377000"/>
                  <a:pt x="238125" y="364629"/>
                </a:cubicBezTo>
                <a:cubicBezTo>
                  <a:pt x="238125" y="352258"/>
                  <a:pt x="248078" y="342305"/>
                  <a:pt x="260449" y="342305"/>
                </a:cubicBezTo>
                <a:lnTo>
                  <a:pt x="327422" y="342305"/>
                </a:lnTo>
                <a:cubicBezTo>
                  <a:pt x="343886" y="342305"/>
                  <a:pt x="357188" y="329003"/>
                  <a:pt x="357188" y="312539"/>
                </a:cubicBezTo>
                <a:cubicBezTo>
                  <a:pt x="357188" y="296075"/>
                  <a:pt x="343886" y="282773"/>
                  <a:pt x="327422" y="282773"/>
                </a:cubicBezTo>
                <a:lnTo>
                  <a:pt x="185849" y="282773"/>
                </a:lnTo>
                <a:cubicBezTo>
                  <a:pt x="154316" y="282773"/>
                  <a:pt x="123992" y="295331"/>
                  <a:pt x="101668" y="317655"/>
                </a:cubicBezTo>
                <a:close/>
              </a:path>
            </a:pathLst>
          </a:custGeom>
          <a:solidFill>
            <a:srgbClr val="D4A056"/>
          </a:solidFill>
          <a:ln/>
        </p:spPr>
      </p:sp>
      <p:sp>
        <p:nvSpPr>
          <p:cNvPr id="7" name="Text 5"/>
          <p:cNvSpPr/>
          <p:nvPr/>
        </p:nvSpPr>
        <p:spPr>
          <a:xfrm>
            <a:off x="511969" y="2579688"/>
            <a:ext cx="5294313" cy="285750"/>
          </a:xfrm>
          <a:prstGeom prst="rect">
            <a:avLst/>
          </a:prstGeom>
          <a:noFill/>
          <a:ln/>
        </p:spPr>
        <p:txBody>
          <a:bodyPr wrap="square" lIns="0" tIns="0" rIns="0" bIns="0" rtlCol="0" anchor="ctr"/>
          <a:lstStyle/>
          <a:p>
            <a:pPr algn="ctr">
              <a:lnSpc>
                <a:spcPct val="100000"/>
              </a:lnSpc>
            </a:pPr>
            <a:r>
              <a:rPr lang="en-US" sz="1875" b="1" dirty="0">
                <a:solidFill>
                  <a:srgbClr val="F8F7F2"/>
                </a:solidFill>
                <a:latin typeface="Unna" pitchFamily="34" charset="0"/>
                <a:ea typeface="Unna" pitchFamily="34" charset="-122"/>
                <a:cs typeface="Unna" pitchFamily="34" charset="-120"/>
              </a:rPr>
              <a:t>Honesty &amp; Integrity</a:t>
            </a:r>
            <a:endParaRPr lang="en-US" sz="1600" dirty="0"/>
          </a:p>
        </p:txBody>
      </p:sp>
      <p:sp>
        <p:nvSpPr>
          <p:cNvPr id="8" name="Text 6"/>
          <p:cNvSpPr/>
          <p:nvPr/>
        </p:nvSpPr>
        <p:spPr>
          <a:xfrm>
            <a:off x="535781" y="2960688"/>
            <a:ext cx="5246688" cy="460375"/>
          </a:xfrm>
          <a:prstGeom prst="rect">
            <a:avLst/>
          </a:prstGeom>
          <a:noFill/>
          <a:ln/>
        </p:spPr>
        <p:txBody>
          <a:bodyPr wrap="square" lIns="0" tIns="0" rIns="0" bIns="0" rtlCol="0" anchor="ctr"/>
          <a:lstStyle/>
          <a:p>
            <a:pPr algn="ctr">
              <a:lnSpc>
                <a:spcPct val="140000"/>
              </a:lnSpc>
            </a:pPr>
            <a:r>
              <a:rPr lang="en-US" sz="1125" dirty="0">
                <a:solidFill>
                  <a:srgbClr val="F8F7F2">
                    <a:alpha val="90000"/>
                  </a:srgbClr>
                </a:solidFill>
                <a:latin typeface="Liter" pitchFamily="34" charset="0"/>
                <a:ea typeface="Liter" pitchFamily="34" charset="-122"/>
                <a:cs typeface="Liter" pitchFamily="34" charset="-120"/>
              </a:rPr>
              <a:t>Employee is expected to maintain the highest standards of honesty and ethical conduct throughout the employment period.</a:t>
            </a:r>
            <a:endParaRPr lang="en-US" sz="1600" dirty="0"/>
          </a:p>
        </p:txBody>
      </p:sp>
      <p:sp>
        <p:nvSpPr>
          <p:cNvPr id="9" name="Shape 7"/>
          <p:cNvSpPr/>
          <p:nvPr/>
        </p:nvSpPr>
        <p:spPr>
          <a:xfrm>
            <a:off x="571500" y="3611563"/>
            <a:ext cx="5175250" cy="730250"/>
          </a:xfrm>
          <a:custGeom>
            <a:avLst/>
            <a:gdLst/>
            <a:ahLst/>
            <a:cxnLst/>
            <a:rect l="l" t="t" r="r" b="b"/>
            <a:pathLst>
              <a:path w="5175250" h="730250">
                <a:moveTo>
                  <a:pt x="63503" y="0"/>
                </a:moveTo>
                <a:lnTo>
                  <a:pt x="5111747" y="0"/>
                </a:lnTo>
                <a:cubicBezTo>
                  <a:pt x="5146819" y="0"/>
                  <a:pt x="5175250" y="28431"/>
                  <a:pt x="5175250" y="63503"/>
                </a:cubicBezTo>
                <a:lnTo>
                  <a:pt x="5175250" y="666747"/>
                </a:lnTo>
                <a:cubicBezTo>
                  <a:pt x="5175250" y="701819"/>
                  <a:pt x="5146819" y="730250"/>
                  <a:pt x="5111747" y="730250"/>
                </a:cubicBezTo>
                <a:lnTo>
                  <a:pt x="63503" y="730250"/>
                </a:lnTo>
                <a:cubicBezTo>
                  <a:pt x="28431" y="730250"/>
                  <a:pt x="0" y="701819"/>
                  <a:pt x="0" y="666747"/>
                </a:cubicBezTo>
                <a:lnTo>
                  <a:pt x="0" y="63503"/>
                </a:lnTo>
                <a:cubicBezTo>
                  <a:pt x="0" y="28455"/>
                  <a:pt x="28455" y="0"/>
                  <a:pt x="63503" y="0"/>
                </a:cubicBezTo>
                <a:close/>
              </a:path>
            </a:pathLst>
          </a:custGeom>
          <a:solidFill>
            <a:srgbClr val="F8F7F2">
              <a:alpha val="10196"/>
            </a:srgbClr>
          </a:solidFill>
          <a:ln/>
        </p:spPr>
      </p:sp>
      <p:sp>
        <p:nvSpPr>
          <p:cNvPr id="10" name="Shape 8"/>
          <p:cNvSpPr/>
          <p:nvPr/>
        </p:nvSpPr>
        <p:spPr>
          <a:xfrm>
            <a:off x="718344" y="3770313"/>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D4A056"/>
          </a:solidFill>
          <a:ln/>
        </p:spPr>
      </p:sp>
      <p:sp>
        <p:nvSpPr>
          <p:cNvPr id="11" name="Text 9"/>
          <p:cNvSpPr/>
          <p:nvPr/>
        </p:nvSpPr>
        <p:spPr>
          <a:xfrm>
            <a:off x="992188" y="3738563"/>
            <a:ext cx="1293813" cy="222250"/>
          </a:xfrm>
          <a:prstGeom prst="rect">
            <a:avLst/>
          </a:prstGeom>
          <a:noFill/>
          <a:ln/>
        </p:spPr>
        <p:txBody>
          <a:bodyPr wrap="square" lIns="0" tIns="0" rIns="0" bIns="0" rtlCol="0" anchor="ctr"/>
          <a:lstStyle/>
          <a:p>
            <a:pPr>
              <a:lnSpc>
                <a:spcPct val="130000"/>
              </a:lnSpc>
            </a:pPr>
            <a:r>
              <a:rPr lang="en-US" sz="1125" b="1" dirty="0">
                <a:solidFill>
                  <a:srgbClr val="F8F7F2"/>
                </a:solidFill>
                <a:latin typeface="Liter" pitchFamily="34" charset="0"/>
                <a:ea typeface="Liter" pitchFamily="34" charset="-122"/>
                <a:cs typeface="Liter" pitchFamily="34" charset="-120"/>
              </a:rPr>
              <a:t>Truthful Reporting</a:t>
            </a:r>
            <a:endParaRPr lang="en-US" sz="1600" dirty="0"/>
          </a:p>
        </p:txBody>
      </p:sp>
      <p:sp>
        <p:nvSpPr>
          <p:cNvPr id="12" name="Text 10"/>
          <p:cNvSpPr/>
          <p:nvPr/>
        </p:nvSpPr>
        <p:spPr>
          <a:xfrm>
            <a:off x="698500" y="4024313"/>
            <a:ext cx="4984750" cy="190500"/>
          </a:xfrm>
          <a:prstGeom prst="rect">
            <a:avLst/>
          </a:prstGeom>
          <a:noFill/>
          <a:ln/>
        </p:spPr>
        <p:txBody>
          <a:bodyPr wrap="square" lIns="0" tIns="0" rIns="0" bIns="0" rtlCol="0" anchor="ctr"/>
          <a:lstStyle/>
          <a:p>
            <a:pPr>
              <a:lnSpc>
                <a:spcPct val="130000"/>
              </a:lnSpc>
            </a:pPr>
            <a:r>
              <a:rPr lang="en-US" sz="1000" dirty="0">
                <a:solidFill>
                  <a:srgbClr val="F8F7F2">
                    <a:alpha val="80000"/>
                  </a:srgbClr>
                </a:solidFill>
                <a:latin typeface="Liter" pitchFamily="34" charset="0"/>
                <a:ea typeface="Liter" pitchFamily="34" charset="-122"/>
                <a:cs typeface="Liter" pitchFamily="34" charset="-120"/>
              </a:rPr>
              <a:t>Provide accurate information in all records and communications</a:t>
            </a:r>
            <a:endParaRPr lang="en-US" sz="1600" dirty="0"/>
          </a:p>
        </p:txBody>
      </p:sp>
      <p:sp>
        <p:nvSpPr>
          <p:cNvPr id="13" name="Shape 11"/>
          <p:cNvSpPr/>
          <p:nvPr/>
        </p:nvSpPr>
        <p:spPr>
          <a:xfrm>
            <a:off x="571500" y="4468813"/>
            <a:ext cx="5175250" cy="730250"/>
          </a:xfrm>
          <a:custGeom>
            <a:avLst/>
            <a:gdLst/>
            <a:ahLst/>
            <a:cxnLst/>
            <a:rect l="l" t="t" r="r" b="b"/>
            <a:pathLst>
              <a:path w="5175250" h="730250">
                <a:moveTo>
                  <a:pt x="63503" y="0"/>
                </a:moveTo>
                <a:lnTo>
                  <a:pt x="5111747" y="0"/>
                </a:lnTo>
                <a:cubicBezTo>
                  <a:pt x="5146819" y="0"/>
                  <a:pt x="5175250" y="28431"/>
                  <a:pt x="5175250" y="63503"/>
                </a:cubicBezTo>
                <a:lnTo>
                  <a:pt x="5175250" y="666747"/>
                </a:lnTo>
                <a:cubicBezTo>
                  <a:pt x="5175250" y="701819"/>
                  <a:pt x="5146819" y="730250"/>
                  <a:pt x="5111747" y="730250"/>
                </a:cubicBezTo>
                <a:lnTo>
                  <a:pt x="63503" y="730250"/>
                </a:lnTo>
                <a:cubicBezTo>
                  <a:pt x="28431" y="730250"/>
                  <a:pt x="0" y="701819"/>
                  <a:pt x="0" y="666747"/>
                </a:cubicBezTo>
                <a:lnTo>
                  <a:pt x="0" y="63503"/>
                </a:lnTo>
                <a:cubicBezTo>
                  <a:pt x="0" y="28455"/>
                  <a:pt x="28455" y="0"/>
                  <a:pt x="63503" y="0"/>
                </a:cubicBezTo>
                <a:close/>
              </a:path>
            </a:pathLst>
          </a:custGeom>
          <a:solidFill>
            <a:srgbClr val="F8F7F2">
              <a:alpha val="10196"/>
            </a:srgbClr>
          </a:solidFill>
          <a:ln/>
        </p:spPr>
      </p:sp>
      <p:sp>
        <p:nvSpPr>
          <p:cNvPr id="14" name="Shape 12"/>
          <p:cNvSpPr/>
          <p:nvPr/>
        </p:nvSpPr>
        <p:spPr>
          <a:xfrm>
            <a:off x="718344" y="4627563"/>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D4A056"/>
          </a:solidFill>
          <a:ln/>
        </p:spPr>
      </p:sp>
      <p:sp>
        <p:nvSpPr>
          <p:cNvPr id="15" name="Text 13"/>
          <p:cNvSpPr/>
          <p:nvPr/>
        </p:nvSpPr>
        <p:spPr>
          <a:xfrm>
            <a:off x="992188" y="4595813"/>
            <a:ext cx="1492250" cy="222250"/>
          </a:xfrm>
          <a:prstGeom prst="rect">
            <a:avLst/>
          </a:prstGeom>
          <a:noFill/>
          <a:ln/>
        </p:spPr>
        <p:txBody>
          <a:bodyPr wrap="square" lIns="0" tIns="0" rIns="0" bIns="0" rtlCol="0" anchor="ctr"/>
          <a:lstStyle/>
          <a:p>
            <a:pPr>
              <a:lnSpc>
                <a:spcPct val="130000"/>
              </a:lnSpc>
            </a:pPr>
            <a:r>
              <a:rPr lang="en-US" sz="1125" b="1" dirty="0">
                <a:solidFill>
                  <a:srgbClr val="F8F7F2"/>
                </a:solidFill>
                <a:latin typeface="Liter" pitchFamily="34" charset="0"/>
                <a:ea typeface="Liter" pitchFamily="34" charset="-122"/>
                <a:cs typeface="Liter" pitchFamily="34" charset="-120"/>
              </a:rPr>
              <a:t>Responsible Conduct</a:t>
            </a:r>
            <a:endParaRPr lang="en-US" sz="1600" dirty="0"/>
          </a:p>
        </p:txBody>
      </p:sp>
      <p:sp>
        <p:nvSpPr>
          <p:cNvPr id="16" name="Text 14"/>
          <p:cNvSpPr/>
          <p:nvPr/>
        </p:nvSpPr>
        <p:spPr>
          <a:xfrm>
            <a:off x="698500" y="4881563"/>
            <a:ext cx="4984750" cy="190500"/>
          </a:xfrm>
          <a:prstGeom prst="rect">
            <a:avLst/>
          </a:prstGeom>
          <a:noFill/>
          <a:ln/>
        </p:spPr>
        <p:txBody>
          <a:bodyPr wrap="square" lIns="0" tIns="0" rIns="0" bIns="0" rtlCol="0" anchor="ctr"/>
          <a:lstStyle/>
          <a:p>
            <a:pPr>
              <a:lnSpc>
                <a:spcPct val="130000"/>
              </a:lnSpc>
            </a:pPr>
            <a:r>
              <a:rPr lang="en-US" sz="1000" dirty="0">
                <a:solidFill>
                  <a:srgbClr val="F8F7F2">
                    <a:alpha val="80000"/>
                  </a:srgbClr>
                </a:solidFill>
                <a:latin typeface="Liter" pitchFamily="34" charset="0"/>
                <a:ea typeface="Liter" pitchFamily="34" charset="-122"/>
                <a:cs typeface="Liter" pitchFamily="34" charset="-120"/>
              </a:rPr>
              <a:t>Act in the best interest of the employer and crops at all times</a:t>
            </a:r>
            <a:endParaRPr lang="en-US" sz="1600" dirty="0"/>
          </a:p>
        </p:txBody>
      </p:sp>
      <p:sp>
        <p:nvSpPr>
          <p:cNvPr id="17" name="Shape 15"/>
          <p:cNvSpPr/>
          <p:nvPr/>
        </p:nvSpPr>
        <p:spPr>
          <a:xfrm>
            <a:off x="571500" y="5326063"/>
            <a:ext cx="5175250" cy="730250"/>
          </a:xfrm>
          <a:custGeom>
            <a:avLst/>
            <a:gdLst/>
            <a:ahLst/>
            <a:cxnLst/>
            <a:rect l="l" t="t" r="r" b="b"/>
            <a:pathLst>
              <a:path w="5175250" h="730250">
                <a:moveTo>
                  <a:pt x="63503" y="0"/>
                </a:moveTo>
                <a:lnTo>
                  <a:pt x="5111747" y="0"/>
                </a:lnTo>
                <a:cubicBezTo>
                  <a:pt x="5146819" y="0"/>
                  <a:pt x="5175250" y="28431"/>
                  <a:pt x="5175250" y="63503"/>
                </a:cubicBezTo>
                <a:lnTo>
                  <a:pt x="5175250" y="666747"/>
                </a:lnTo>
                <a:cubicBezTo>
                  <a:pt x="5175250" y="701819"/>
                  <a:pt x="5146819" y="730250"/>
                  <a:pt x="5111747" y="730250"/>
                </a:cubicBezTo>
                <a:lnTo>
                  <a:pt x="63503" y="730250"/>
                </a:lnTo>
                <a:cubicBezTo>
                  <a:pt x="28431" y="730250"/>
                  <a:pt x="0" y="701819"/>
                  <a:pt x="0" y="666747"/>
                </a:cubicBezTo>
                <a:lnTo>
                  <a:pt x="0" y="63503"/>
                </a:lnTo>
                <a:cubicBezTo>
                  <a:pt x="0" y="28455"/>
                  <a:pt x="28455" y="0"/>
                  <a:pt x="63503" y="0"/>
                </a:cubicBezTo>
                <a:close/>
              </a:path>
            </a:pathLst>
          </a:custGeom>
          <a:solidFill>
            <a:srgbClr val="F8F7F2">
              <a:alpha val="10196"/>
            </a:srgbClr>
          </a:solidFill>
          <a:ln/>
        </p:spPr>
      </p:sp>
      <p:sp>
        <p:nvSpPr>
          <p:cNvPr id="18" name="Shape 16"/>
          <p:cNvSpPr/>
          <p:nvPr/>
        </p:nvSpPr>
        <p:spPr>
          <a:xfrm>
            <a:off x="718344" y="5484813"/>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D4A056"/>
          </a:solidFill>
          <a:ln/>
        </p:spPr>
      </p:sp>
      <p:sp>
        <p:nvSpPr>
          <p:cNvPr id="19" name="Text 17"/>
          <p:cNvSpPr/>
          <p:nvPr/>
        </p:nvSpPr>
        <p:spPr>
          <a:xfrm>
            <a:off x="992188" y="5453063"/>
            <a:ext cx="1135063" cy="222250"/>
          </a:xfrm>
          <a:prstGeom prst="rect">
            <a:avLst/>
          </a:prstGeom>
          <a:noFill/>
          <a:ln/>
        </p:spPr>
        <p:txBody>
          <a:bodyPr wrap="square" lIns="0" tIns="0" rIns="0" bIns="0" rtlCol="0" anchor="ctr"/>
          <a:lstStyle/>
          <a:p>
            <a:pPr>
              <a:lnSpc>
                <a:spcPct val="130000"/>
              </a:lnSpc>
            </a:pPr>
            <a:r>
              <a:rPr lang="en-US" sz="1125" b="1" dirty="0">
                <a:solidFill>
                  <a:srgbClr val="F8F7F2"/>
                </a:solidFill>
                <a:latin typeface="Liter" pitchFamily="34" charset="0"/>
                <a:ea typeface="Liter" pitchFamily="34" charset="-122"/>
                <a:cs typeface="Liter" pitchFamily="34" charset="-120"/>
              </a:rPr>
              <a:t>Professionalism</a:t>
            </a:r>
            <a:endParaRPr lang="en-US" sz="1600" dirty="0"/>
          </a:p>
        </p:txBody>
      </p:sp>
      <p:sp>
        <p:nvSpPr>
          <p:cNvPr id="20" name="Text 18"/>
          <p:cNvSpPr/>
          <p:nvPr/>
        </p:nvSpPr>
        <p:spPr>
          <a:xfrm>
            <a:off x="698500" y="5738813"/>
            <a:ext cx="4984750" cy="190500"/>
          </a:xfrm>
          <a:prstGeom prst="rect">
            <a:avLst/>
          </a:prstGeom>
          <a:noFill/>
          <a:ln/>
        </p:spPr>
        <p:txBody>
          <a:bodyPr wrap="square" lIns="0" tIns="0" rIns="0" bIns="0" rtlCol="0" anchor="ctr"/>
          <a:lstStyle/>
          <a:p>
            <a:pPr>
              <a:lnSpc>
                <a:spcPct val="130000"/>
              </a:lnSpc>
            </a:pPr>
            <a:r>
              <a:rPr lang="en-US" sz="1000" dirty="0">
                <a:solidFill>
                  <a:srgbClr val="F8F7F2">
                    <a:alpha val="80000"/>
                  </a:srgbClr>
                </a:solidFill>
                <a:latin typeface="Liter" pitchFamily="34" charset="0"/>
                <a:ea typeface="Liter" pitchFamily="34" charset="-122"/>
                <a:cs typeface="Liter" pitchFamily="34" charset="-120"/>
              </a:rPr>
              <a:t>Maintain respectful behavior toward supervisors and colleagues</a:t>
            </a:r>
            <a:endParaRPr lang="en-US" sz="1600" dirty="0"/>
          </a:p>
        </p:txBody>
      </p:sp>
      <p:sp>
        <p:nvSpPr>
          <p:cNvPr id="21" name="Shape 19"/>
          <p:cNvSpPr/>
          <p:nvPr/>
        </p:nvSpPr>
        <p:spPr>
          <a:xfrm>
            <a:off x="6207125" y="1222375"/>
            <a:ext cx="5651500" cy="3175000"/>
          </a:xfrm>
          <a:custGeom>
            <a:avLst/>
            <a:gdLst/>
            <a:ahLst/>
            <a:cxnLst/>
            <a:rect l="l" t="t" r="r" b="b"/>
            <a:pathLst>
              <a:path w="5651500" h="3175000">
                <a:moveTo>
                  <a:pt x="63500" y="0"/>
                </a:moveTo>
                <a:lnTo>
                  <a:pt x="5588000" y="0"/>
                </a:lnTo>
                <a:cubicBezTo>
                  <a:pt x="5623047" y="0"/>
                  <a:pt x="5651500" y="28453"/>
                  <a:pt x="5651500" y="63500"/>
                </a:cubicBezTo>
                <a:lnTo>
                  <a:pt x="5651500" y="3111500"/>
                </a:lnTo>
                <a:cubicBezTo>
                  <a:pt x="5651500" y="3146547"/>
                  <a:pt x="5623047" y="3175000"/>
                  <a:pt x="5588000" y="3175000"/>
                </a:cubicBezTo>
                <a:lnTo>
                  <a:pt x="63500" y="3175000"/>
                </a:lnTo>
                <a:cubicBezTo>
                  <a:pt x="28453" y="3175000"/>
                  <a:pt x="0" y="3146547"/>
                  <a:pt x="0" y="3111500"/>
                </a:cubicBezTo>
                <a:lnTo>
                  <a:pt x="0" y="63500"/>
                </a:lnTo>
                <a:cubicBezTo>
                  <a:pt x="0" y="28453"/>
                  <a:pt x="28453" y="0"/>
                  <a:pt x="63500" y="0"/>
                </a:cubicBezTo>
                <a:close/>
              </a:path>
            </a:pathLst>
          </a:custGeom>
          <a:solidFill>
            <a:srgbClr val="FFFFFF"/>
          </a:solidFill>
          <a:ln w="50800">
            <a:solidFill>
              <a:srgbClr val="D4A056"/>
            </a:solidFill>
            <a:prstDash val="solid"/>
          </a:ln>
          <a:effectLst>
            <a:outerShdw sx="100000" sy="100000" kx="0" ky="0" algn="bl" rotWithShape="0" blurRad="47625" dist="31750" dir="5400000">
              <a:srgbClr val="000000">
                <a:alpha val="10196"/>
              </a:srgbClr>
            </a:outerShdw>
          </a:effectLst>
        </p:spPr>
      </p:sp>
      <p:sp>
        <p:nvSpPr>
          <p:cNvPr id="22" name="Shape 20"/>
          <p:cNvSpPr/>
          <p:nvPr/>
        </p:nvSpPr>
        <p:spPr>
          <a:xfrm>
            <a:off x="6413500" y="1428750"/>
            <a:ext cx="444500" cy="444500"/>
          </a:xfrm>
          <a:custGeom>
            <a:avLst/>
            <a:gdLst/>
            <a:ahLst/>
            <a:cxnLst/>
            <a:rect l="l" t="t" r="r" b="b"/>
            <a:pathLst>
              <a:path w="444500" h="444500">
                <a:moveTo>
                  <a:pt x="63501" y="0"/>
                </a:moveTo>
                <a:lnTo>
                  <a:pt x="380999" y="0"/>
                </a:lnTo>
                <a:cubicBezTo>
                  <a:pt x="416046" y="0"/>
                  <a:pt x="444500" y="28454"/>
                  <a:pt x="444500" y="63501"/>
                </a:cubicBezTo>
                <a:lnTo>
                  <a:pt x="444500" y="380999"/>
                </a:lnTo>
                <a:cubicBezTo>
                  <a:pt x="444500" y="416046"/>
                  <a:pt x="416046" y="444500"/>
                  <a:pt x="380999" y="444500"/>
                </a:cubicBezTo>
                <a:lnTo>
                  <a:pt x="63501" y="444500"/>
                </a:lnTo>
                <a:cubicBezTo>
                  <a:pt x="28454" y="444500"/>
                  <a:pt x="0" y="416046"/>
                  <a:pt x="0" y="380999"/>
                </a:cubicBezTo>
                <a:lnTo>
                  <a:pt x="0" y="63501"/>
                </a:lnTo>
                <a:cubicBezTo>
                  <a:pt x="0" y="28454"/>
                  <a:pt x="28454" y="0"/>
                  <a:pt x="63501" y="0"/>
                </a:cubicBezTo>
                <a:close/>
              </a:path>
            </a:pathLst>
          </a:custGeom>
          <a:solidFill>
            <a:srgbClr val="D4A056"/>
          </a:solidFill>
          <a:ln/>
        </p:spPr>
      </p:sp>
      <p:sp>
        <p:nvSpPr>
          <p:cNvPr id="23" name="Shape 21"/>
          <p:cNvSpPr/>
          <p:nvPr/>
        </p:nvSpPr>
        <p:spPr>
          <a:xfrm>
            <a:off x="6540500" y="1555750"/>
            <a:ext cx="190500" cy="190500"/>
          </a:xfrm>
          <a:custGeom>
            <a:avLst/>
            <a:gdLst/>
            <a:ahLst/>
            <a:cxnLst/>
            <a:rect l="l" t="t" r="r" b="b"/>
            <a:pathLst>
              <a:path w="190500" h="190500">
                <a:moveTo>
                  <a:pt x="136624" y="153479"/>
                </a:moveTo>
                <a:lnTo>
                  <a:pt x="37021" y="53876"/>
                </a:lnTo>
                <a:cubicBezTo>
                  <a:pt x="28687" y="65559"/>
                  <a:pt x="23812" y="79846"/>
                  <a:pt x="23812" y="95250"/>
                </a:cubicBezTo>
                <a:cubicBezTo>
                  <a:pt x="23812" y="134689"/>
                  <a:pt x="55811" y="166688"/>
                  <a:pt x="95250" y="166688"/>
                </a:cubicBezTo>
                <a:cubicBezTo>
                  <a:pt x="110691" y="166688"/>
                  <a:pt x="124978" y="161813"/>
                  <a:pt x="136624" y="153479"/>
                </a:cubicBezTo>
                <a:close/>
                <a:moveTo>
                  <a:pt x="153479" y="136624"/>
                </a:moveTo>
                <a:cubicBezTo>
                  <a:pt x="161813" y="124941"/>
                  <a:pt x="166688" y="110654"/>
                  <a:pt x="166688" y="95250"/>
                </a:cubicBezTo>
                <a:cubicBezTo>
                  <a:pt x="166688" y="55811"/>
                  <a:pt x="134689" y="23812"/>
                  <a:pt x="95250" y="23812"/>
                </a:cubicBezTo>
                <a:cubicBezTo>
                  <a:pt x="79809" y="23812"/>
                  <a:pt x="65522" y="28687"/>
                  <a:pt x="53876" y="37021"/>
                </a:cubicBezTo>
                <a:lnTo>
                  <a:pt x="153479" y="136624"/>
                </a:ln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2C3531"/>
          </a:solidFill>
          <a:ln/>
        </p:spPr>
      </p:sp>
      <p:sp>
        <p:nvSpPr>
          <p:cNvPr id="24" name="Text 22"/>
          <p:cNvSpPr/>
          <p:nvPr/>
        </p:nvSpPr>
        <p:spPr>
          <a:xfrm>
            <a:off x="6953250" y="1527969"/>
            <a:ext cx="2135188" cy="246063"/>
          </a:xfrm>
          <a:prstGeom prst="rect">
            <a:avLst/>
          </a:prstGeom>
          <a:noFill/>
          <a:ln/>
        </p:spPr>
        <p:txBody>
          <a:bodyPr wrap="square" lIns="0" tIns="0" rIns="0" bIns="0" rtlCol="0" anchor="ctr"/>
          <a:lstStyle/>
          <a:p>
            <a:pPr>
              <a:lnSpc>
                <a:spcPct val="110000"/>
              </a:lnSpc>
            </a:pPr>
            <a:r>
              <a:rPr lang="en-US" sz="1500" b="1" dirty="0">
                <a:solidFill>
                  <a:srgbClr val="4A5D52"/>
                </a:solidFill>
                <a:latin typeface="Unna" pitchFamily="34" charset="0"/>
                <a:ea typeface="Unna" pitchFamily="34" charset="-122"/>
                <a:cs typeface="Unna" pitchFamily="34" charset="-120"/>
              </a:rPr>
              <a:t>Prohibition Against Theft</a:t>
            </a:r>
            <a:endParaRPr lang="en-US" sz="1600" dirty="0"/>
          </a:p>
        </p:txBody>
      </p:sp>
      <p:sp>
        <p:nvSpPr>
          <p:cNvPr id="25" name="Shape 23"/>
          <p:cNvSpPr/>
          <p:nvPr/>
        </p:nvSpPr>
        <p:spPr>
          <a:xfrm>
            <a:off x="6413500" y="2000250"/>
            <a:ext cx="5238750" cy="825500"/>
          </a:xfrm>
          <a:custGeom>
            <a:avLst/>
            <a:gdLst/>
            <a:ahLst/>
            <a:cxnLst/>
            <a:rect l="l" t="t" r="r" b="b"/>
            <a:pathLst>
              <a:path w="5238750" h="825500">
                <a:moveTo>
                  <a:pt x="63497" y="0"/>
                </a:moveTo>
                <a:lnTo>
                  <a:pt x="5175253" y="0"/>
                </a:lnTo>
                <a:cubicBezTo>
                  <a:pt x="5210321" y="0"/>
                  <a:pt x="5238750" y="28429"/>
                  <a:pt x="5238750" y="63497"/>
                </a:cubicBezTo>
                <a:lnTo>
                  <a:pt x="5238750" y="762003"/>
                </a:lnTo>
                <a:cubicBezTo>
                  <a:pt x="5238750" y="797071"/>
                  <a:pt x="5210321" y="825500"/>
                  <a:pt x="5175253" y="825500"/>
                </a:cubicBezTo>
                <a:lnTo>
                  <a:pt x="63497" y="825500"/>
                </a:lnTo>
                <a:cubicBezTo>
                  <a:pt x="28429" y="825500"/>
                  <a:pt x="0" y="797071"/>
                  <a:pt x="0" y="762003"/>
                </a:cubicBezTo>
                <a:lnTo>
                  <a:pt x="0" y="63497"/>
                </a:lnTo>
                <a:cubicBezTo>
                  <a:pt x="0" y="28452"/>
                  <a:pt x="28452" y="0"/>
                  <a:pt x="63497" y="0"/>
                </a:cubicBezTo>
                <a:close/>
              </a:path>
            </a:pathLst>
          </a:custGeom>
          <a:solidFill>
            <a:srgbClr val="D4A056">
              <a:alpha val="20000"/>
            </a:srgbClr>
          </a:solidFill>
          <a:ln/>
        </p:spPr>
      </p:sp>
      <p:sp>
        <p:nvSpPr>
          <p:cNvPr id="26" name="Shape 24"/>
          <p:cNvSpPr/>
          <p:nvPr/>
        </p:nvSpPr>
        <p:spPr>
          <a:xfrm>
            <a:off x="6832079" y="2206625"/>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D4A056"/>
          </a:solidFill>
          <a:ln/>
        </p:spPr>
      </p:sp>
      <p:sp>
        <p:nvSpPr>
          <p:cNvPr id="27" name="Text 25"/>
          <p:cNvSpPr/>
          <p:nvPr/>
        </p:nvSpPr>
        <p:spPr>
          <a:xfrm>
            <a:off x="6770688" y="2159000"/>
            <a:ext cx="4762500" cy="508000"/>
          </a:xfrm>
          <a:prstGeom prst="rect">
            <a:avLst/>
          </a:prstGeom>
          <a:noFill/>
          <a:ln/>
        </p:spPr>
        <p:txBody>
          <a:bodyPr wrap="square" lIns="0" tIns="0" rIns="0" bIns="0" rtlCol="0" anchor="ctr"/>
          <a:lstStyle/>
          <a:p>
            <a:pPr algn="ctr">
              <a:lnSpc>
                <a:spcPct val="140000"/>
              </a:lnSpc>
            </a:pPr>
            <a:r>
              <a:rPr lang="en-US" sz="1250" b="1" dirty="0">
                <a:solidFill>
                  <a:srgbClr val="2C3531"/>
                </a:solidFill>
                <a:latin typeface="Liter" pitchFamily="34" charset="0"/>
                <a:ea typeface="Liter" pitchFamily="34" charset="-122"/>
                <a:cs typeface="Liter" pitchFamily="34" charset="-120"/>
              </a:rPr>
              <a:t>STRICTLY PROHIBITED: Stealing produce during harvest periods or at any other time</a:t>
            </a:r>
            <a:endParaRPr lang="en-US" sz="1600" dirty="0"/>
          </a:p>
        </p:txBody>
      </p:sp>
      <p:sp>
        <p:nvSpPr>
          <p:cNvPr id="28" name="Shape 26"/>
          <p:cNvSpPr/>
          <p:nvPr/>
        </p:nvSpPr>
        <p:spPr>
          <a:xfrm>
            <a:off x="6433344" y="298450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51780" y="51780"/>
                </a:moveTo>
                <a:cubicBezTo>
                  <a:pt x="54694" y="48865"/>
                  <a:pt x="59407" y="48865"/>
                  <a:pt x="62291" y="51780"/>
                </a:cubicBezTo>
                <a:lnTo>
                  <a:pt x="79344" y="68833"/>
                </a:lnTo>
                <a:lnTo>
                  <a:pt x="96397" y="51780"/>
                </a:lnTo>
                <a:cubicBezTo>
                  <a:pt x="99312" y="48865"/>
                  <a:pt x="104025" y="48865"/>
                  <a:pt x="106908" y="51780"/>
                </a:cubicBezTo>
                <a:cubicBezTo>
                  <a:pt x="109792" y="54694"/>
                  <a:pt x="109823" y="59407"/>
                  <a:pt x="106908" y="62291"/>
                </a:cubicBezTo>
                <a:lnTo>
                  <a:pt x="89855" y="79344"/>
                </a:lnTo>
                <a:lnTo>
                  <a:pt x="106908" y="96397"/>
                </a:lnTo>
                <a:cubicBezTo>
                  <a:pt x="109823" y="99312"/>
                  <a:pt x="109823" y="104025"/>
                  <a:pt x="106908" y="106908"/>
                </a:cubicBezTo>
                <a:cubicBezTo>
                  <a:pt x="103994" y="109792"/>
                  <a:pt x="99281" y="109823"/>
                  <a:pt x="96397" y="106908"/>
                </a:cubicBezTo>
                <a:lnTo>
                  <a:pt x="79344" y="89855"/>
                </a:lnTo>
                <a:lnTo>
                  <a:pt x="62291" y="106908"/>
                </a:lnTo>
                <a:cubicBezTo>
                  <a:pt x="59376" y="109823"/>
                  <a:pt x="54663" y="109823"/>
                  <a:pt x="51780" y="106908"/>
                </a:cubicBezTo>
                <a:cubicBezTo>
                  <a:pt x="48896" y="103994"/>
                  <a:pt x="48865" y="99281"/>
                  <a:pt x="51780" y="96397"/>
                </a:cubicBezTo>
                <a:lnTo>
                  <a:pt x="68833" y="79344"/>
                </a:lnTo>
                <a:lnTo>
                  <a:pt x="51780" y="62291"/>
                </a:lnTo>
                <a:cubicBezTo>
                  <a:pt x="48865" y="59376"/>
                  <a:pt x="48865" y="54663"/>
                  <a:pt x="51780" y="51780"/>
                </a:cubicBezTo>
                <a:close/>
              </a:path>
            </a:pathLst>
          </a:custGeom>
          <a:solidFill>
            <a:srgbClr val="E7000B"/>
          </a:solidFill>
          <a:ln/>
        </p:spPr>
      </p:sp>
      <p:sp>
        <p:nvSpPr>
          <p:cNvPr id="29" name="Text 27"/>
          <p:cNvSpPr/>
          <p:nvPr/>
        </p:nvSpPr>
        <p:spPr>
          <a:xfrm>
            <a:off x="6707188" y="2952750"/>
            <a:ext cx="2373313" cy="190500"/>
          </a:xfrm>
          <a:prstGeom prst="rect">
            <a:avLst/>
          </a:prstGeom>
          <a:noFill/>
          <a:ln/>
        </p:spPr>
        <p:txBody>
          <a:bodyPr wrap="square" lIns="0" tIns="0" rIns="0" bIns="0" rtlCol="0" anchor="ctr"/>
          <a:lstStyle/>
          <a:p>
            <a:pPr>
              <a:lnSpc>
                <a:spcPct val="130000"/>
              </a:lnSpc>
            </a:pPr>
            <a:r>
              <a:rPr lang="en-US" sz="1000" b="1" dirty="0">
                <a:solidFill>
                  <a:srgbClr val="2C3531"/>
                </a:solidFill>
                <a:latin typeface="Liter" pitchFamily="34" charset="0"/>
                <a:ea typeface="Liter" pitchFamily="34" charset="-122"/>
                <a:cs typeface="Liter" pitchFamily="34" charset="-120"/>
              </a:rPr>
              <a:t>Harvest Theft</a:t>
            </a:r>
            <a:endParaRPr lang="en-US" sz="1600" dirty="0"/>
          </a:p>
        </p:txBody>
      </p:sp>
      <p:sp>
        <p:nvSpPr>
          <p:cNvPr id="30" name="Text 28"/>
          <p:cNvSpPr/>
          <p:nvPr/>
        </p:nvSpPr>
        <p:spPr>
          <a:xfrm>
            <a:off x="6707188" y="3143250"/>
            <a:ext cx="2365375" cy="158750"/>
          </a:xfrm>
          <a:prstGeom prst="rect">
            <a:avLst/>
          </a:prstGeom>
          <a:noFill/>
          <a:ln/>
        </p:spPr>
        <p:txBody>
          <a:bodyPr wrap="square" lIns="0" tIns="0" rIns="0" bIns="0" rtlCol="0" anchor="ctr"/>
          <a:lstStyle/>
          <a:p>
            <a:pPr>
              <a:lnSpc>
                <a:spcPct val="120000"/>
              </a:lnSpc>
            </a:pPr>
            <a:r>
              <a:rPr lang="en-US" sz="875" dirty="0">
                <a:solidFill>
                  <a:srgbClr val="2C3531">
                    <a:alpha val="70000"/>
                  </a:srgbClr>
                </a:solidFill>
                <a:latin typeface="Liter" pitchFamily="34" charset="0"/>
                <a:ea typeface="Liter" pitchFamily="34" charset="-122"/>
                <a:cs typeface="Liter" pitchFamily="34" charset="-120"/>
              </a:rPr>
              <a:t>Taking Habanero peppers without authorization</a:t>
            </a:r>
            <a:endParaRPr lang="en-US" sz="1600" dirty="0"/>
          </a:p>
        </p:txBody>
      </p:sp>
      <p:sp>
        <p:nvSpPr>
          <p:cNvPr id="31" name="Shape 29"/>
          <p:cNvSpPr/>
          <p:nvPr/>
        </p:nvSpPr>
        <p:spPr>
          <a:xfrm>
            <a:off x="6433344" y="342900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51780" y="51780"/>
                </a:moveTo>
                <a:cubicBezTo>
                  <a:pt x="54694" y="48865"/>
                  <a:pt x="59407" y="48865"/>
                  <a:pt x="62291" y="51780"/>
                </a:cubicBezTo>
                <a:lnTo>
                  <a:pt x="79344" y="68833"/>
                </a:lnTo>
                <a:lnTo>
                  <a:pt x="96397" y="51780"/>
                </a:lnTo>
                <a:cubicBezTo>
                  <a:pt x="99312" y="48865"/>
                  <a:pt x="104025" y="48865"/>
                  <a:pt x="106908" y="51780"/>
                </a:cubicBezTo>
                <a:cubicBezTo>
                  <a:pt x="109792" y="54694"/>
                  <a:pt x="109823" y="59407"/>
                  <a:pt x="106908" y="62291"/>
                </a:cubicBezTo>
                <a:lnTo>
                  <a:pt x="89855" y="79344"/>
                </a:lnTo>
                <a:lnTo>
                  <a:pt x="106908" y="96397"/>
                </a:lnTo>
                <a:cubicBezTo>
                  <a:pt x="109823" y="99312"/>
                  <a:pt x="109823" y="104025"/>
                  <a:pt x="106908" y="106908"/>
                </a:cubicBezTo>
                <a:cubicBezTo>
                  <a:pt x="103994" y="109792"/>
                  <a:pt x="99281" y="109823"/>
                  <a:pt x="96397" y="106908"/>
                </a:cubicBezTo>
                <a:lnTo>
                  <a:pt x="79344" y="89855"/>
                </a:lnTo>
                <a:lnTo>
                  <a:pt x="62291" y="106908"/>
                </a:lnTo>
                <a:cubicBezTo>
                  <a:pt x="59376" y="109823"/>
                  <a:pt x="54663" y="109823"/>
                  <a:pt x="51780" y="106908"/>
                </a:cubicBezTo>
                <a:cubicBezTo>
                  <a:pt x="48896" y="103994"/>
                  <a:pt x="48865" y="99281"/>
                  <a:pt x="51780" y="96397"/>
                </a:cubicBezTo>
                <a:lnTo>
                  <a:pt x="68833" y="79344"/>
                </a:lnTo>
                <a:lnTo>
                  <a:pt x="51780" y="62291"/>
                </a:lnTo>
                <a:cubicBezTo>
                  <a:pt x="48865" y="59376"/>
                  <a:pt x="48865" y="54663"/>
                  <a:pt x="51780" y="51780"/>
                </a:cubicBezTo>
                <a:close/>
              </a:path>
            </a:pathLst>
          </a:custGeom>
          <a:solidFill>
            <a:srgbClr val="E7000B"/>
          </a:solidFill>
          <a:ln/>
        </p:spPr>
      </p:sp>
      <p:sp>
        <p:nvSpPr>
          <p:cNvPr id="32" name="Text 30"/>
          <p:cNvSpPr/>
          <p:nvPr/>
        </p:nvSpPr>
        <p:spPr>
          <a:xfrm>
            <a:off x="6707188" y="3397250"/>
            <a:ext cx="2762250" cy="190500"/>
          </a:xfrm>
          <a:prstGeom prst="rect">
            <a:avLst/>
          </a:prstGeom>
          <a:noFill/>
          <a:ln/>
        </p:spPr>
        <p:txBody>
          <a:bodyPr wrap="square" lIns="0" tIns="0" rIns="0" bIns="0" rtlCol="0" anchor="ctr"/>
          <a:lstStyle/>
          <a:p>
            <a:pPr>
              <a:lnSpc>
                <a:spcPct val="130000"/>
              </a:lnSpc>
            </a:pPr>
            <a:r>
              <a:rPr lang="en-US" sz="1000" b="1" dirty="0">
                <a:solidFill>
                  <a:srgbClr val="2C3531"/>
                </a:solidFill>
                <a:latin typeface="Liter" pitchFamily="34" charset="0"/>
                <a:ea typeface="Liter" pitchFamily="34" charset="-122"/>
                <a:cs typeface="Liter" pitchFamily="34" charset="-120"/>
              </a:rPr>
              <a:t>Unauthorized Removal</a:t>
            </a:r>
            <a:endParaRPr lang="en-US" sz="1600" dirty="0"/>
          </a:p>
        </p:txBody>
      </p:sp>
      <p:sp>
        <p:nvSpPr>
          <p:cNvPr id="33" name="Text 31"/>
          <p:cNvSpPr/>
          <p:nvPr/>
        </p:nvSpPr>
        <p:spPr>
          <a:xfrm>
            <a:off x="6707188" y="3587750"/>
            <a:ext cx="2754313" cy="158750"/>
          </a:xfrm>
          <a:prstGeom prst="rect">
            <a:avLst/>
          </a:prstGeom>
          <a:noFill/>
          <a:ln/>
        </p:spPr>
        <p:txBody>
          <a:bodyPr wrap="square" lIns="0" tIns="0" rIns="0" bIns="0" rtlCol="0" anchor="ctr"/>
          <a:lstStyle/>
          <a:p>
            <a:pPr>
              <a:lnSpc>
                <a:spcPct val="120000"/>
              </a:lnSpc>
            </a:pPr>
            <a:r>
              <a:rPr lang="en-US" sz="875" dirty="0">
                <a:solidFill>
                  <a:srgbClr val="2C3531">
                    <a:alpha val="70000"/>
                  </a:srgbClr>
                </a:solidFill>
                <a:latin typeface="Liter" pitchFamily="34" charset="0"/>
                <a:ea typeface="Liter" pitchFamily="34" charset="-122"/>
                <a:cs typeface="Liter" pitchFamily="34" charset="-120"/>
              </a:rPr>
              <a:t>Removing any greenhouse property, plants, or materials</a:t>
            </a:r>
            <a:endParaRPr lang="en-US" sz="1600" dirty="0"/>
          </a:p>
        </p:txBody>
      </p:sp>
      <p:sp>
        <p:nvSpPr>
          <p:cNvPr id="34" name="Shape 32"/>
          <p:cNvSpPr/>
          <p:nvPr/>
        </p:nvSpPr>
        <p:spPr>
          <a:xfrm>
            <a:off x="6433344" y="387350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51780" y="51780"/>
                </a:moveTo>
                <a:cubicBezTo>
                  <a:pt x="54694" y="48865"/>
                  <a:pt x="59407" y="48865"/>
                  <a:pt x="62291" y="51780"/>
                </a:cubicBezTo>
                <a:lnTo>
                  <a:pt x="79344" y="68833"/>
                </a:lnTo>
                <a:lnTo>
                  <a:pt x="96397" y="51780"/>
                </a:lnTo>
                <a:cubicBezTo>
                  <a:pt x="99312" y="48865"/>
                  <a:pt x="104025" y="48865"/>
                  <a:pt x="106908" y="51780"/>
                </a:cubicBezTo>
                <a:cubicBezTo>
                  <a:pt x="109792" y="54694"/>
                  <a:pt x="109823" y="59407"/>
                  <a:pt x="106908" y="62291"/>
                </a:cubicBezTo>
                <a:lnTo>
                  <a:pt x="89855" y="79344"/>
                </a:lnTo>
                <a:lnTo>
                  <a:pt x="106908" y="96397"/>
                </a:lnTo>
                <a:cubicBezTo>
                  <a:pt x="109823" y="99312"/>
                  <a:pt x="109823" y="104025"/>
                  <a:pt x="106908" y="106908"/>
                </a:cubicBezTo>
                <a:cubicBezTo>
                  <a:pt x="103994" y="109792"/>
                  <a:pt x="99281" y="109823"/>
                  <a:pt x="96397" y="106908"/>
                </a:cubicBezTo>
                <a:lnTo>
                  <a:pt x="79344" y="89855"/>
                </a:lnTo>
                <a:lnTo>
                  <a:pt x="62291" y="106908"/>
                </a:lnTo>
                <a:cubicBezTo>
                  <a:pt x="59376" y="109823"/>
                  <a:pt x="54663" y="109823"/>
                  <a:pt x="51780" y="106908"/>
                </a:cubicBezTo>
                <a:cubicBezTo>
                  <a:pt x="48896" y="103994"/>
                  <a:pt x="48865" y="99281"/>
                  <a:pt x="51780" y="96397"/>
                </a:cubicBezTo>
                <a:lnTo>
                  <a:pt x="68833" y="79344"/>
                </a:lnTo>
                <a:lnTo>
                  <a:pt x="51780" y="62291"/>
                </a:lnTo>
                <a:cubicBezTo>
                  <a:pt x="48865" y="59376"/>
                  <a:pt x="48865" y="54663"/>
                  <a:pt x="51780" y="51780"/>
                </a:cubicBezTo>
                <a:close/>
              </a:path>
            </a:pathLst>
          </a:custGeom>
          <a:solidFill>
            <a:srgbClr val="E7000B"/>
          </a:solidFill>
          <a:ln/>
        </p:spPr>
      </p:sp>
      <p:sp>
        <p:nvSpPr>
          <p:cNvPr id="35" name="Text 33"/>
          <p:cNvSpPr/>
          <p:nvPr/>
        </p:nvSpPr>
        <p:spPr>
          <a:xfrm>
            <a:off x="6707188" y="3841750"/>
            <a:ext cx="2722563" cy="190500"/>
          </a:xfrm>
          <a:prstGeom prst="rect">
            <a:avLst/>
          </a:prstGeom>
          <a:noFill/>
          <a:ln/>
        </p:spPr>
        <p:txBody>
          <a:bodyPr wrap="square" lIns="0" tIns="0" rIns="0" bIns="0" rtlCol="0" anchor="ctr"/>
          <a:lstStyle/>
          <a:p>
            <a:pPr>
              <a:lnSpc>
                <a:spcPct val="130000"/>
              </a:lnSpc>
            </a:pPr>
            <a:r>
              <a:rPr lang="en-US" sz="1000" b="1" dirty="0">
                <a:solidFill>
                  <a:srgbClr val="2C3531"/>
                </a:solidFill>
                <a:latin typeface="Liter" pitchFamily="34" charset="0"/>
                <a:ea typeface="Liter" pitchFamily="34" charset="-122"/>
                <a:cs typeface="Liter" pitchFamily="34" charset="-120"/>
              </a:rPr>
              <a:t>Personal Use Exceeding Allowance</a:t>
            </a:r>
            <a:endParaRPr lang="en-US" sz="1600" dirty="0"/>
          </a:p>
        </p:txBody>
      </p:sp>
      <p:sp>
        <p:nvSpPr>
          <p:cNvPr id="36" name="Text 34"/>
          <p:cNvSpPr/>
          <p:nvPr/>
        </p:nvSpPr>
        <p:spPr>
          <a:xfrm>
            <a:off x="6707188" y="4032250"/>
            <a:ext cx="2714625" cy="158750"/>
          </a:xfrm>
          <a:prstGeom prst="rect">
            <a:avLst/>
          </a:prstGeom>
          <a:noFill/>
          <a:ln/>
        </p:spPr>
        <p:txBody>
          <a:bodyPr wrap="square" lIns="0" tIns="0" rIns="0" bIns="0" rtlCol="0" anchor="ctr"/>
          <a:lstStyle/>
          <a:p>
            <a:pPr>
              <a:lnSpc>
                <a:spcPct val="120000"/>
              </a:lnSpc>
            </a:pPr>
            <a:r>
              <a:rPr lang="en-US" sz="875" dirty="0">
                <a:solidFill>
                  <a:srgbClr val="2C3531">
                    <a:alpha val="70000"/>
                  </a:srgbClr>
                </a:solidFill>
                <a:latin typeface="Liter" pitchFamily="34" charset="0"/>
                <a:ea typeface="Liter" pitchFamily="34" charset="-122"/>
                <a:cs typeface="Liter" pitchFamily="34" charset="-120"/>
              </a:rPr>
              <a:t>Taking more than the designated personal use quantity</a:t>
            </a:r>
            <a:endParaRPr lang="en-US" sz="1600" dirty="0"/>
          </a:p>
        </p:txBody>
      </p:sp>
      <p:sp>
        <p:nvSpPr>
          <p:cNvPr id="37" name="Shape 35"/>
          <p:cNvSpPr/>
          <p:nvPr/>
        </p:nvSpPr>
        <p:spPr>
          <a:xfrm>
            <a:off x="6191250" y="4572000"/>
            <a:ext cx="5683250" cy="2254250"/>
          </a:xfrm>
          <a:custGeom>
            <a:avLst/>
            <a:gdLst/>
            <a:ahLst/>
            <a:cxnLst/>
            <a:rect l="l" t="t" r="r" b="b"/>
            <a:pathLst>
              <a:path w="5683250" h="2254250">
                <a:moveTo>
                  <a:pt x="63502" y="0"/>
                </a:moveTo>
                <a:lnTo>
                  <a:pt x="5619748" y="0"/>
                </a:lnTo>
                <a:cubicBezTo>
                  <a:pt x="5654819" y="0"/>
                  <a:pt x="5683250" y="28431"/>
                  <a:pt x="5683250" y="63502"/>
                </a:cubicBezTo>
                <a:lnTo>
                  <a:pt x="5683250" y="2190748"/>
                </a:lnTo>
                <a:cubicBezTo>
                  <a:pt x="5683250" y="2225819"/>
                  <a:pt x="5654819" y="2254250"/>
                  <a:pt x="5619748" y="2254250"/>
                </a:cubicBezTo>
                <a:lnTo>
                  <a:pt x="63502" y="2254250"/>
                </a:lnTo>
                <a:cubicBezTo>
                  <a:pt x="28431" y="2254250"/>
                  <a:pt x="0" y="2225819"/>
                  <a:pt x="0" y="2190748"/>
                </a:cubicBezTo>
                <a:lnTo>
                  <a:pt x="0" y="63502"/>
                </a:lnTo>
                <a:cubicBezTo>
                  <a:pt x="0" y="28454"/>
                  <a:pt x="28454" y="0"/>
                  <a:pt x="63502"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8" name="Shape 36"/>
          <p:cNvSpPr/>
          <p:nvPr/>
        </p:nvSpPr>
        <p:spPr>
          <a:xfrm>
            <a:off x="6381750" y="4762500"/>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solidFill>
            <a:srgbClr val="4A5D52"/>
          </a:solidFill>
          <a:ln/>
        </p:spPr>
      </p:sp>
      <p:sp>
        <p:nvSpPr>
          <p:cNvPr id="39" name="Shape 37"/>
          <p:cNvSpPr/>
          <p:nvPr/>
        </p:nvSpPr>
        <p:spPr>
          <a:xfrm>
            <a:off x="6473031" y="4873625"/>
            <a:ext cx="198438" cy="158750"/>
          </a:xfrm>
          <a:custGeom>
            <a:avLst/>
            <a:gdLst/>
            <a:ahLst/>
            <a:cxnLst/>
            <a:rect l="l" t="t" r="r" b="b"/>
            <a:pathLst>
              <a:path w="198438" h="158750">
                <a:moveTo>
                  <a:pt x="119062" y="9922"/>
                </a:moveTo>
                <a:lnTo>
                  <a:pt x="158750" y="9922"/>
                </a:lnTo>
                <a:cubicBezTo>
                  <a:pt x="164238" y="9922"/>
                  <a:pt x="168672" y="14356"/>
                  <a:pt x="168672" y="19844"/>
                </a:cubicBezTo>
                <a:cubicBezTo>
                  <a:pt x="168672" y="25332"/>
                  <a:pt x="164238" y="29766"/>
                  <a:pt x="158750" y="29766"/>
                </a:cubicBezTo>
                <a:lnTo>
                  <a:pt x="123527" y="29766"/>
                </a:lnTo>
                <a:cubicBezTo>
                  <a:pt x="121915" y="37765"/>
                  <a:pt x="116427" y="44369"/>
                  <a:pt x="109141" y="47532"/>
                </a:cubicBezTo>
                <a:lnTo>
                  <a:pt x="109141" y="138906"/>
                </a:lnTo>
                <a:lnTo>
                  <a:pt x="158750" y="138906"/>
                </a:lnTo>
                <a:cubicBezTo>
                  <a:pt x="164238" y="138906"/>
                  <a:pt x="168672" y="143340"/>
                  <a:pt x="168672" y="148828"/>
                </a:cubicBezTo>
                <a:cubicBezTo>
                  <a:pt x="168672" y="154316"/>
                  <a:pt x="164238" y="158750"/>
                  <a:pt x="158750" y="158750"/>
                </a:cubicBezTo>
                <a:lnTo>
                  <a:pt x="39688" y="158750"/>
                </a:lnTo>
                <a:cubicBezTo>
                  <a:pt x="34199" y="158750"/>
                  <a:pt x="29766" y="154316"/>
                  <a:pt x="29766" y="148828"/>
                </a:cubicBezTo>
                <a:cubicBezTo>
                  <a:pt x="29766" y="143340"/>
                  <a:pt x="34199" y="138906"/>
                  <a:pt x="39688" y="138906"/>
                </a:cubicBezTo>
                <a:lnTo>
                  <a:pt x="89297" y="138906"/>
                </a:lnTo>
                <a:lnTo>
                  <a:pt x="89297" y="47532"/>
                </a:lnTo>
                <a:cubicBezTo>
                  <a:pt x="82010" y="44338"/>
                  <a:pt x="76522" y="37734"/>
                  <a:pt x="74910" y="29766"/>
                </a:cubicBezTo>
                <a:lnTo>
                  <a:pt x="39688" y="29766"/>
                </a:lnTo>
                <a:cubicBezTo>
                  <a:pt x="34199" y="29766"/>
                  <a:pt x="29766" y="25332"/>
                  <a:pt x="29766" y="19844"/>
                </a:cubicBezTo>
                <a:cubicBezTo>
                  <a:pt x="29766" y="14356"/>
                  <a:pt x="34199" y="9922"/>
                  <a:pt x="39688" y="9922"/>
                </a:cubicBezTo>
                <a:lnTo>
                  <a:pt x="79375" y="9922"/>
                </a:lnTo>
                <a:cubicBezTo>
                  <a:pt x="83902" y="3907"/>
                  <a:pt x="91095" y="0"/>
                  <a:pt x="99219" y="0"/>
                </a:cubicBezTo>
                <a:cubicBezTo>
                  <a:pt x="107342" y="0"/>
                  <a:pt x="114536" y="3907"/>
                  <a:pt x="119062" y="9922"/>
                </a:cubicBezTo>
                <a:close/>
                <a:moveTo>
                  <a:pt x="136302" y="99219"/>
                </a:moveTo>
                <a:lnTo>
                  <a:pt x="181198" y="99219"/>
                </a:lnTo>
                <a:lnTo>
                  <a:pt x="158750" y="60709"/>
                </a:lnTo>
                <a:lnTo>
                  <a:pt x="136302" y="99219"/>
                </a:lnTo>
                <a:close/>
                <a:moveTo>
                  <a:pt x="158750" y="128984"/>
                </a:moveTo>
                <a:cubicBezTo>
                  <a:pt x="139247" y="128984"/>
                  <a:pt x="123031" y="118442"/>
                  <a:pt x="119683" y="104521"/>
                </a:cubicBezTo>
                <a:cubicBezTo>
                  <a:pt x="118876" y="101110"/>
                  <a:pt x="119993" y="97606"/>
                  <a:pt x="121760" y="94568"/>
                </a:cubicBezTo>
                <a:lnTo>
                  <a:pt x="151278" y="43966"/>
                </a:lnTo>
                <a:cubicBezTo>
                  <a:pt x="152828" y="41300"/>
                  <a:pt x="155680" y="39688"/>
                  <a:pt x="158750" y="39688"/>
                </a:cubicBezTo>
                <a:cubicBezTo>
                  <a:pt x="161820" y="39688"/>
                  <a:pt x="164672" y="41331"/>
                  <a:pt x="166222" y="43966"/>
                </a:cubicBezTo>
                <a:lnTo>
                  <a:pt x="195740" y="94568"/>
                </a:lnTo>
                <a:cubicBezTo>
                  <a:pt x="197507" y="97606"/>
                  <a:pt x="198624" y="101110"/>
                  <a:pt x="197817" y="104521"/>
                </a:cubicBezTo>
                <a:cubicBezTo>
                  <a:pt x="194469" y="118411"/>
                  <a:pt x="178253" y="128984"/>
                  <a:pt x="158750" y="128984"/>
                </a:cubicBezTo>
                <a:close/>
                <a:moveTo>
                  <a:pt x="39315" y="60709"/>
                </a:moveTo>
                <a:lnTo>
                  <a:pt x="16867" y="99219"/>
                </a:lnTo>
                <a:lnTo>
                  <a:pt x="61795" y="99219"/>
                </a:lnTo>
                <a:lnTo>
                  <a:pt x="39315" y="60709"/>
                </a:lnTo>
                <a:close/>
                <a:moveTo>
                  <a:pt x="279" y="104521"/>
                </a:moveTo>
                <a:cubicBezTo>
                  <a:pt x="-527" y="101110"/>
                  <a:pt x="589" y="97606"/>
                  <a:pt x="2356" y="94568"/>
                </a:cubicBezTo>
                <a:lnTo>
                  <a:pt x="31874" y="43966"/>
                </a:lnTo>
                <a:cubicBezTo>
                  <a:pt x="33424" y="41300"/>
                  <a:pt x="36277" y="39688"/>
                  <a:pt x="39346" y="39688"/>
                </a:cubicBezTo>
                <a:cubicBezTo>
                  <a:pt x="42416" y="39688"/>
                  <a:pt x="45269" y="41331"/>
                  <a:pt x="46819" y="43966"/>
                </a:cubicBezTo>
                <a:lnTo>
                  <a:pt x="76336" y="94568"/>
                </a:lnTo>
                <a:cubicBezTo>
                  <a:pt x="78104" y="97606"/>
                  <a:pt x="79220" y="101110"/>
                  <a:pt x="78414" y="104521"/>
                </a:cubicBezTo>
                <a:cubicBezTo>
                  <a:pt x="75065" y="118411"/>
                  <a:pt x="58849" y="128984"/>
                  <a:pt x="39346" y="128984"/>
                </a:cubicBezTo>
                <a:cubicBezTo>
                  <a:pt x="19844" y="128984"/>
                  <a:pt x="3628" y="118442"/>
                  <a:pt x="279" y="104521"/>
                </a:cubicBezTo>
                <a:close/>
              </a:path>
            </a:pathLst>
          </a:custGeom>
          <a:solidFill>
            <a:srgbClr val="F8F7F2"/>
          </a:solidFill>
          <a:ln/>
        </p:spPr>
      </p:sp>
      <p:sp>
        <p:nvSpPr>
          <p:cNvPr id="40" name="Text 38"/>
          <p:cNvSpPr/>
          <p:nvPr/>
        </p:nvSpPr>
        <p:spPr>
          <a:xfrm>
            <a:off x="6858000" y="4841875"/>
            <a:ext cx="2159000" cy="222250"/>
          </a:xfrm>
          <a:prstGeom prst="rect">
            <a:avLst/>
          </a:prstGeom>
          <a:noFill/>
          <a:ln/>
        </p:spPr>
        <p:txBody>
          <a:bodyPr wrap="square" lIns="0" tIns="0" rIns="0" bIns="0" rtlCol="0" anchor="ctr"/>
          <a:lstStyle/>
          <a:p>
            <a:pPr>
              <a:lnSpc>
                <a:spcPct val="120000"/>
              </a:lnSpc>
            </a:pPr>
            <a:r>
              <a:rPr lang="en-US" sz="1250" b="1" dirty="0">
                <a:solidFill>
                  <a:srgbClr val="4A5D52"/>
                </a:solidFill>
                <a:latin typeface="Unna" pitchFamily="34" charset="0"/>
                <a:ea typeface="Unna" pitchFamily="34" charset="-122"/>
                <a:cs typeface="Unna" pitchFamily="34" charset="-120"/>
              </a:rPr>
              <a:t>Authorized Produce Allowance</a:t>
            </a:r>
            <a:endParaRPr lang="en-US" sz="1600" dirty="0"/>
          </a:p>
        </p:txBody>
      </p:sp>
      <p:sp>
        <p:nvSpPr>
          <p:cNvPr id="41" name="Shape 39"/>
          <p:cNvSpPr/>
          <p:nvPr/>
        </p:nvSpPr>
        <p:spPr>
          <a:xfrm>
            <a:off x="6381750" y="5270500"/>
            <a:ext cx="5302250" cy="1365250"/>
          </a:xfrm>
          <a:custGeom>
            <a:avLst/>
            <a:gdLst/>
            <a:ahLst/>
            <a:cxnLst/>
            <a:rect l="l" t="t" r="r" b="b"/>
            <a:pathLst>
              <a:path w="5302250" h="1365250">
                <a:moveTo>
                  <a:pt x="63498" y="0"/>
                </a:moveTo>
                <a:lnTo>
                  <a:pt x="5238752" y="0"/>
                </a:lnTo>
                <a:cubicBezTo>
                  <a:pt x="5273821" y="0"/>
                  <a:pt x="5302250" y="28429"/>
                  <a:pt x="5302250" y="63498"/>
                </a:cubicBezTo>
                <a:lnTo>
                  <a:pt x="5302250" y="1301752"/>
                </a:lnTo>
                <a:cubicBezTo>
                  <a:pt x="5302250" y="1336821"/>
                  <a:pt x="5273821" y="1365250"/>
                  <a:pt x="5238752" y="1365250"/>
                </a:cubicBezTo>
                <a:lnTo>
                  <a:pt x="63498" y="1365250"/>
                </a:lnTo>
                <a:cubicBezTo>
                  <a:pt x="28429" y="1365250"/>
                  <a:pt x="0" y="1336821"/>
                  <a:pt x="0" y="1301752"/>
                </a:cubicBezTo>
                <a:lnTo>
                  <a:pt x="0" y="63498"/>
                </a:lnTo>
                <a:cubicBezTo>
                  <a:pt x="0" y="28452"/>
                  <a:pt x="28452" y="0"/>
                  <a:pt x="63498" y="0"/>
                </a:cubicBezTo>
                <a:close/>
              </a:path>
            </a:pathLst>
          </a:custGeom>
          <a:solidFill>
            <a:srgbClr val="4A5D52">
              <a:alpha val="5098"/>
            </a:srgbClr>
          </a:solidFill>
          <a:ln/>
        </p:spPr>
      </p:sp>
      <p:sp>
        <p:nvSpPr>
          <p:cNvPr id="42" name="Text 40"/>
          <p:cNvSpPr/>
          <p:nvPr/>
        </p:nvSpPr>
        <p:spPr>
          <a:xfrm>
            <a:off x="6508750" y="5397500"/>
            <a:ext cx="5111750" cy="412750"/>
          </a:xfrm>
          <a:prstGeom prst="rect">
            <a:avLst/>
          </a:prstGeom>
          <a:noFill/>
          <a:ln/>
        </p:spPr>
        <p:txBody>
          <a:bodyPr wrap="square" lIns="0" tIns="0" rIns="0" bIns="0" rtlCol="0" anchor="ctr"/>
          <a:lstStyle/>
          <a:p>
            <a:pPr>
              <a:lnSpc>
                <a:spcPct val="140000"/>
              </a:lnSpc>
            </a:pPr>
            <a:r>
              <a:rPr lang="en-US" sz="1000" dirty="0">
                <a:solidFill>
                  <a:srgbClr val="2C3531"/>
                </a:solidFill>
                <a:latin typeface="Liter" pitchFamily="34" charset="0"/>
                <a:ea typeface="Liter" pitchFamily="34" charset="-122"/>
                <a:cs typeface="Liter" pitchFamily="34" charset="-120"/>
              </a:rPr>
              <a:t>Employee may receive a </a:t>
            </a:r>
            <a:pPr>
              <a:lnSpc>
                <a:spcPct val="140000"/>
              </a:lnSpc>
            </a:pPr>
            <a:r>
              <a:rPr lang="en-US" sz="1000" b="1" dirty="0">
                <a:solidFill>
                  <a:srgbClr val="2C3531"/>
                </a:solidFill>
                <a:latin typeface="Liter" pitchFamily="34" charset="0"/>
                <a:ea typeface="Liter" pitchFamily="34" charset="-122"/>
                <a:cs typeface="Liter" pitchFamily="34" charset="-120"/>
              </a:rPr>
              <a:t>reasonable quantity</a:t>
            </a:r>
            <a:pPr>
              <a:lnSpc>
                <a:spcPct val="140000"/>
              </a:lnSpc>
            </a:pPr>
            <a:r>
              <a:rPr lang="en-US" sz="1000" dirty="0">
                <a:solidFill>
                  <a:srgbClr val="2C3531"/>
                </a:solidFill>
                <a:latin typeface="Liter" pitchFamily="34" charset="0"/>
                <a:ea typeface="Liter" pitchFamily="34" charset="-122"/>
                <a:cs typeface="Liter" pitchFamily="34" charset="-120"/>
              </a:rPr>
              <a:t> of Habanero peppers for personal use, subject to:</a:t>
            </a:r>
            <a:endParaRPr lang="en-US" sz="1600" dirty="0"/>
          </a:p>
        </p:txBody>
      </p:sp>
      <p:sp>
        <p:nvSpPr>
          <p:cNvPr id="43" name="Text 41"/>
          <p:cNvSpPr/>
          <p:nvPr/>
        </p:nvSpPr>
        <p:spPr>
          <a:xfrm>
            <a:off x="6508750" y="5905500"/>
            <a:ext cx="95250" cy="158750"/>
          </a:xfrm>
          <a:prstGeom prst="rect">
            <a:avLst/>
          </a:prstGeom>
          <a:noFill/>
          <a:ln/>
        </p:spPr>
        <p:txBody>
          <a:bodyPr wrap="square" lIns="0" tIns="0" rIns="0" bIns="0" rtlCol="0" anchor="ctr"/>
          <a:lstStyle/>
          <a:p>
            <a:pPr>
              <a:lnSpc>
                <a:spcPct val="120000"/>
              </a:lnSpc>
            </a:pPr>
            <a:r>
              <a:rPr lang="en-US" sz="875" dirty="0">
                <a:solidFill>
                  <a:srgbClr val="4A5D52"/>
                </a:solidFill>
                <a:latin typeface="Liter" pitchFamily="34" charset="0"/>
                <a:ea typeface="Liter" pitchFamily="34" charset="-122"/>
                <a:cs typeface="Liter" pitchFamily="34" charset="-120"/>
              </a:rPr>
              <a:t>•</a:t>
            </a:r>
            <a:endParaRPr lang="en-US" sz="1600" dirty="0"/>
          </a:p>
        </p:txBody>
      </p:sp>
      <p:sp>
        <p:nvSpPr>
          <p:cNvPr id="44" name="Text 42"/>
          <p:cNvSpPr/>
          <p:nvPr/>
        </p:nvSpPr>
        <p:spPr>
          <a:xfrm>
            <a:off x="6613922" y="5905500"/>
            <a:ext cx="2000250" cy="158750"/>
          </a:xfrm>
          <a:prstGeom prst="rect">
            <a:avLst/>
          </a:prstGeom>
          <a:noFill/>
          <a:ln/>
        </p:spPr>
        <p:txBody>
          <a:bodyPr wrap="square" lIns="0" tIns="0" rIns="0" bIns="0" rtlCol="0" anchor="ctr"/>
          <a:lstStyle/>
          <a:p>
            <a:pPr>
              <a:lnSpc>
                <a:spcPct val="120000"/>
              </a:lnSpc>
            </a:pPr>
            <a:r>
              <a:rPr lang="en-US" sz="875" dirty="0">
                <a:solidFill>
                  <a:srgbClr val="2C3531">
                    <a:alpha val="80000"/>
                  </a:srgbClr>
                </a:solidFill>
                <a:latin typeface="Liter" pitchFamily="34" charset="0"/>
                <a:ea typeface="Liter" pitchFamily="34" charset="-122"/>
                <a:cs typeface="Liter" pitchFamily="34" charset="-120"/>
              </a:rPr>
              <a:t>Supervisor approval and documentation</a:t>
            </a:r>
            <a:endParaRPr lang="en-US" sz="1600" dirty="0"/>
          </a:p>
        </p:txBody>
      </p:sp>
      <p:sp>
        <p:nvSpPr>
          <p:cNvPr id="45" name="Text 43"/>
          <p:cNvSpPr/>
          <p:nvPr/>
        </p:nvSpPr>
        <p:spPr>
          <a:xfrm>
            <a:off x="6508750" y="6127750"/>
            <a:ext cx="95250" cy="158750"/>
          </a:xfrm>
          <a:prstGeom prst="rect">
            <a:avLst/>
          </a:prstGeom>
          <a:noFill/>
          <a:ln/>
        </p:spPr>
        <p:txBody>
          <a:bodyPr wrap="square" lIns="0" tIns="0" rIns="0" bIns="0" rtlCol="0" anchor="ctr"/>
          <a:lstStyle/>
          <a:p>
            <a:pPr>
              <a:lnSpc>
                <a:spcPct val="120000"/>
              </a:lnSpc>
            </a:pPr>
            <a:r>
              <a:rPr lang="en-US" sz="875" dirty="0">
                <a:solidFill>
                  <a:srgbClr val="4A5D52"/>
                </a:solidFill>
                <a:latin typeface="Liter" pitchFamily="34" charset="0"/>
                <a:ea typeface="Liter" pitchFamily="34" charset="-122"/>
                <a:cs typeface="Liter" pitchFamily="34" charset="-120"/>
              </a:rPr>
              <a:t>•</a:t>
            </a:r>
            <a:endParaRPr lang="en-US" sz="1600" dirty="0"/>
          </a:p>
        </p:txBody>
      </p:sp>
      <p:sp>
        <p:nvSpPr>
          <p:cNvPr id="46" name="Text 44"/>
          <p:cNvSpPr/>
          <p:nvPr/>
        </p:nvSpPr>
        <p:spPr>
          <a:xfrm>
            <a:off x="6613922" y="6127750"/>
            <a:ext cx="2420938" cy="158750"/>
          </a:xfrm>
          <a:prstGeom prst="rect">
            <a:avLst/>
          </a:prstGeom>
          <a:noFill/>
          <a:ln/>
        </p:spPr>
        <p:txBody>
          <a:bodyPr wrap="square" lIns="0" tIns="0" rIns="0" bIns="0" rtlCol="0" anchor="ctr"/>
          <a:lstStyle/>
          <a:p>
            <a:pPr>
              <a:lnSpc>
                <a:spcPct val="120000"/>
              </a:lnSpc>
            </a:pPr>
            <a:r>
              <a:rPr lang="en-US" sz="875" dirty="0">
                <a:solidFill>
                  <a:srgbClr val="2C3531">
                    <a:alpha val="80000"/>
                  </a:srgbClr>
                </a:solidFill>
                <a:latin typeface="Liter" pitchFamily="34" charset="0"/>
                <a:ea typeface="Liter" pitchFamily="34" charset="-122"/>
                <a:cs typeface="Liter" pitchFamily="34" charset="-120"/>
              </a:rPr>
              <a:t>Maximum of [X] pounds per week during harvest</a:t>
            </a:r>
            <a:endParaRPr lang="en-US" sz="1600" dirty="0"/>
          </a:p>
        </p:txBody>
      </p:sp>
      <p:sp>
        <p:nvSpPr>
          <p:cNvPr id="47" name="Text 45"/>
          <p:cNvSpPr/>
          <p:nvPr/>
        </p:nvSpPr>
        <p:spPr>
          <a:xfrm>
            <a:off x="6508750" y="6350000"/>
            <a:ext cx="95250" cy="158750"/>
          </a:xfrm>
          <a:prstGeom prst="rect">
            <a:avLst/>
          </a:prstGeom>
          <a:noFill/>
          <a:ln/>
        </p:spPr>
        <p:txBody>
          <a:bodyPr wrap="square" lIns="0" tIns="0" rIns="0" bIns="0" rtlCol="0" anchor="ctr"/>
          <a:lstStyle/>
          <a:p>
            <a:pPr>
              <a:lnSpc>
                <a:spcPct val="120000"/>
              </a:lnSpc>
            </a:pPr>
            <a:r>
              <a:rPr lang="en-US" sz="875" dirty="0">
                <a:solidFill>
                  <a:srgbClr val="4A5D52"/>
                </a:solidFill>
                <a:latin typeface="Liter" pitchFamily="34" charset="0"/>
                <a:ea typeface="Liter" pitchFamily="34" charset="-122"/>
                <a:cs typeface="Liter" pitchFamily="34" charset="-120"/>
              </a:rPr>
              <a:t>•</a:t>
            </a:r>
            <a:endParaRPr lang="en-US" sz="1600" dirty="0"/>
          </a:p>
        </p:txBody>
      </p:sp>
      <p:sp>
        <p:nvSpPr>
          <p:cNvPr id="48" name="Text 46"/>
          <p:cNvSpPr/>
          <p:nvPr/>
        </p:nvSpPr>
        <p:spPr>
          <a:xfrm>
            <a:off x="6613922" y="6350000"/>
            <a:ext cx="1531938" cy="158750"/>
          </a:xfrm>
          <a:prstGeom prst="rect">
            <a:avLst/>
          </a:prstGeom>
          <a:noFill/>
          <a:ln/>
        </p:spPr>
        <p:txBody>
          <a:bodyPr wrap="square" lIns="0" tIns="0" rIns="0" bIns="0" rtlCol="0" anchor="ctr"/>
          <a:lstStyle/>
          <a:p>
            <a:pPr>
              <a:lnSpc>
                <a:spcPct val="120000"/>
              </a:lnSpc>
            </a:pPr>
            <a:r>
              <a:rPr lang="en-US" sz="875" dirty="0">
                <a:solidFill>
                  <a:srgbClr val="2C3531">
                    <a:alpha val="80000"/>
                  </a:srgbClr>
                </a:solidFill>
                <a:latin typeface="Liter" pitchFamily="34" charset="0"/>
                <a:ea typeface="Liter" pitchFamily="34" charset="-122"/>
                <a:cs typeface="Liter" pitchFamily="34" charset="-120"/>
              </a:rPr>
              <a:t>Proper sign-out in produce log</a:t>
            </a:r>
            <a:endParaRPr lang="en-US" sz="1600" dirty="0"/>
          </a:p>
        </p:txBody>
      </p:sp>
      <p:sp>
        <p:nvSpPr>
          <p:cNvPr id="49" name="Shape 47"/>
          <p:cNvSpPr/>
          <p:nvPr/>
        </p:nvSpPr>
        <p:spPr>
          <a:xfrm>
            <a:off x="325438" y="6961188"/>
            <a:ext cx="11541125" cy="682625"/>
          </a:xfrm>
          <a:custGeom>
            <a:avLst/>
            <a:gdLst/>
            <a:ahLst/>
            <a:cxnLst/>
            <a:rect l="l" t="t" r="r" b="b"/>
            <a:pathLst>
              <a:path w="11541125" h="682625">
                <a:moveTo>
                  <a:pt x="63498" y="0"/>
                </a:moveTo>
                <a:lnTo>
                  <a:pt x="11477627" y="0"/>
                </a:lnTo>
                <a:cubicBezTo>
                  <a:pt x="11512696" y="0"/>
                  <a:pt x="11541125" y="28429"/>
                  <a:pt x="11541125" y="63498"/>
                </a:cubicBezTo>
                <a:lnTo>
                  <a:pt x="11541125" y="619127"/>
                </a:lnTo>
                <a:cubicBezTo>
                  <a:pt x="11541125" y="654196"/>
                  <a:pt x="11512696" y="682625"/>
                  <a:pt x="11477627" y="682625"/>
                </a:cubicBezTo>
                <a:lnTo>
                  <a:pt x="63498" y="682625"/>
                </a:lnTo>
                <a:cubicBezTo>
                  <a:pt x="28429" y="682625"/>
                  <a:pt x="0" y="654196"/>
                  <a:pt x="0" y="619127"/>
                </a:cubicBezTo>
                <a:lnTo>
                  <a:pt x="0" y="63498"/>
                </a:lnTo>
                <a:cubicBezTo>
                  <a:pt x="0" y="28452"/>
                  <a:pt x="28452" y="0"/>
                  <a:pt x="63498" y="0"/>
                </a:cubicBezTo>
                <a:close/>
              </a:path>
            </a:pathLst>
          </a:custGeom>
          <a:solidFill>
            <a:srgbClr val="FEF2F2"/>
          </a:solidFill>
          <a:ln w="25400">
            <a:solidFill>
              <a:srgbClr val="FF6467"/>
            </a:solidFill>
            <a:prstDash val="solid"/>
          </a:ln>
        </p:spPr>
      </p:sp>
      <p:sp>
        <p:nvSpPr>
          <p:cNvPr id="50" name="Shape 48"/>
          <p:cNvSpPr/>
          <p:nvPr/>
        </p:nvSpPr>
        <p:spPr>
          <a:xfrm>
            <a:off x="472281" y="7096125"/>
            <a:ext cx="214313" cy="190500"/>
          </a:xfrm>
          <a:custGeom>
            <a:avLst/>
            <a:gdLst/>
            <a:ahLst/>
            <a:cxnLst/>
            <a:rect l="l" t="t" r="r" b="b"/>
            <a:pathLst>
              <a:path w="214313" h="190500">
                <a:moveTo>
                  <a:pt x="63103" y="57076"/>
                </a:moveTo>
                <a:lnTo>
                  <a:pt x="56145" y="50118"/>
                </a:lnTo>
                <a:cubicBezTo>
                  <a:pt x="51495" y="45467"/>
                  <a:pt x="51495" y="37914"/>
                  <a:pt x="56145" y="33263"/>
                </a:cubicBezTo>
                <a:lnTo>
                  <a:pt x="98822" y="-9451"/>
                </a:lnTo>
                <a:cubicBezTo>
                  <a:pt x="103473" y="-14101"/>
                  <a:pt x="111026" y="-14101"/>
                  <a:pt x="115677" y="-9451"/>
                </a:cubicBezTo>
                <a:lnTo>
                  <a:pt x="122634" y="-2456"/>
                </a:lnTo>
                <a:cubicBezTo>
                  <a:pt x="127285" y="2195"/>
                  <a:pt x="127285" y="9748"/>
                  <a:pt x="122634" y="14399"/>
                </a:cubicBezTo>
                <a:lnTo>
                  <a:pt x="79958" y="57076"/>
                </a:lnTo>
                <a:cubicBezTo>
                  <a:pt x="75307" y="61726"/>
                  <a:pt x="67754" y="61726"/>
                  <a:pt x="63103" y="57076"/>
                </a:cubicBezTo>
                <a:close/>
                <a:moveTo>
                  <a:pt x="102691" y="78767"/>
                </a:moveTo>
                <a:lnTo>
                  <a:pt x="91008" y="67084"/>
                </a:lnTo>
                <a:lnTo>
                  <a:pt x="132680" y="25412"/>
                </a:lnTo>
                <a:lnTo>
                  <a:pt x="177105" y="69838"/>
                </a:lnTo>
                <a:lnTo>
                  <a:pt x="135434" y="111509"/>
                </a:lnTo>
                <a:lnTo>
                  <a:pt x="123751" y="99826"/>
                </a:lnTo>
                <a:lnTo>
                  <a:pt x="37430" y="186147"/>
                </a:lnTo>
                <a:cubicBezTo>
                  <a:pt x="31626" y="191951"/>
                  <a:pt x="22213" y="191951"/>
                  <a:pt x="16371" y="186147"/>
                </a:cubicBezTo>
                <a:cubicBezTo>
                  <a:pt x="10530" y="180342"/>
                  <a:pt x="10567" y="170929"/>
                  <a:pt x="16371" y="165088"/>
                </a:cubicBezTo>
                <a:lnTo>
                  <a:pt x="102691" y="78767"/>
                </a:lnTo>
                <a:close/>
                <a:moveTo>
                  <a:pt x="145442" y="139378"/>
                </a:moveTo>
                <a:cubicBezTo>
                  <a:pt x="140791" y="134727"/>
                  <a:pt x="140791" y="127174"/>
                  <a:pt x="145442" y="122523"/>
                </a:cubicBezTo>
                <a:lnTo>
                  <a:pt x="188119" y="79846"/>
                </a:lnTo>
                <a:cubicBezTo>
                  <a:pt x="192770" y="75195"/>
                  <a:pt x="200323" y="75195"/>
                  <a:pt x="204974" y="79846"/>
                </a:cubicBezTo>
                <a:lnTo>
                  <a:pt x="211931" y="86804"/>
                </a:lnTo>
                <a:cubicBezTo>
                  <a:pt x="216582" y="91455"/>
                  <a:pt x="216582" y="99008"/>
                  <a:pt x="211931" y="103659"/>
                </a:cubicBezTo>
                <a:lnTo>
                  <a:pt x="169255" y="146372"/>
                </a:lnTo>
                <a:cubicBezTo>
                  <a:pt x="164604" y="151023"/>
                  <a:pt x="157051" y="151023"/>
                  <a:pt x="152400" y="146372"/>
                </a:cubicBezTo>
                <a:lnTo>
                  <a:pt x="145442" y="139415"/>
                </a:lnTo>
                <a:close/>
              </a:path>
            </a:pathLst>
          </a:custGeom>
          <a:solidFill>
            <a:srgbClr val="E7000B"/>
          </a:solidFill>
          <a:ln/>
        </p:spPr>
      </p:sp>
      <p:sp>
        <p:nvSpPr>
          <p:cNvPr id="51" name="Text 49"/>
          <p:cNvSpPr/>
          <p:nvPr/>
        </p:nvSpPr>
        <p:spPr>
          <a:xfrm>
            <a:off x="793750" y="7096125"/>
            <a:ext cx="11001375" cy="412750"/>
          </a:xfrm>
          <a:prstGeom prst="rect">
            <a:avLst/>
          </a:prstGeom>
          <a:noFill/>
          <a:ln/>
        </p:spPr>
        <p:txBody>
          <a:bodyPr wrap="square" lIns="0" tIns="0" rIns="0" bIns="0" rtlCol="0" anchor="ctr"/>
          <a:lstStyle/>
          <a:p>
            <a:pPr>
              <a:lnSpc>
                <a:spcPct val="140000"/>
              </a:lnSpc>
            </a:pPr>
            <a:r>
              <a:rPr lang="en-US" sz="1000" b="1" dirty="0">
                <a:solidFill>
                  <a:srgbClr val="2C3531"/>
                </a:solidFill>
                <a:latin typeface="Liter" pitchFamily="34" charset="0"/>
                <a:ea typeface="Liter" pitchFamily="34" charset="-122"/>
                <a:cs typeface="Liter" pitchFamily="34" charset="-120"/>
              </a:rPr>
              <a:t>Legal Consequence:</a:t>
            </a:r>
            <a:pPr>
              <a:lnSpc>
                <a:spcPct val="140000"/>
              </a:lnSpc>
            </a:pPr>
            <a:r>
              <a:rPr lang="en-US" sz="1000" dirty="0">
                <a:solidFill>
                  <a:srgbClr val="2C3531"/>
                </a:solidFill>
                <a:latin typeface="Liter" pitchFamily="34" charset="0"/>
                <a:ea typeface="Liter" pitchFamily="34" charset="-122"/>
                <a:cs typeface="Liter" pitchFamily="34" charset="-120"/>
              </a:rPr>
              <a:t> Theft of agricultural produce is a criminal offense. Any employee caught stealing will face immediate termination, legal prosecution, and potential civil liability for damages. This includes referral to law enforcement authorities.</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70296" y="370296"/>
            <a:ext cx="11516210" cy="185148"/>
          </a:xfrm>
          <a:prstGeom prst="rect">
            <a:avLst/>
          </a:prstGeom>
          <a:noFill/>
          <a:ln/>
        </p:spPr>
        <p:txBody>
          <a:bodyPr wrap="square" lIns="0" tIns="0" rIns="0" bIns="0" rtlCol="0" anchor="ctr"/>
          <a:lstStyle/>
          <a:p>
            <a:pPr>
              <a:lnSpc>
                <a:spcPct val="120000"/>
              </a:lnSpc>
            </a:pPr>
            <a:r>
              <a:rPr lang="en-US" sz="1021" b="1" spc="102" kern="0" dirty="0">
                <a:solidFill>
                  <a:srgbClr val="A88B6A"/>
                </a:solidFill>
                <a:latin typeface="Liter" pitchFamily="34" charset="0"/>
                <a:ea typeface="Liter" pitchFamily="34" charset="-122"/>
                <a:cs typeface="Liter" pitchFamily="34" charset="-120"/>
              </a:rPr>
              <a:t>Section 5</a:t>
            </a:r>
            <a:endParaRPr lang="en-US" sz="1600" dirty="0"/>
          </a:p>
        </p:txBody>
      </p:sp>
      <p:sp>
        <p:nvSpPr>
          <p:cNvPr id="3" name="Text 1"/>
          <p:cNvSpPr/>
          <p:nvPr/>
        </p:nvSpPr>
        <p:spPr>
          <a:xfrm>
            <a:off x="370296" y="629503"/>
            <a:ext cx="11673585" cy="444355"/>
          </a:xfrm>
          <a:prstGeom prst="rect">
            <a:avLst/>
          </a:prstGeom>
          <a:noFill/>
          <a:ln/>
        </p:spPr>
        <p:txBody>
          <a:bodyPr wrap="square" lIns="0" tIns="0" rIns="0" bIns="0" rtlCol="0" anchor="ctr"/>
          <a:lstStyle/>
          <a:p>
            <a:pPr>
              <a:lnSpc>
                <a:spcPct val="80000"/>
              </a:lnSpc>
            </a:pPr>
            <a:r>
              <a:rPr lang="en-US" sz="3499" b="1" dirty="0">
                <a:solidFill>
                  <a:srgbClr val="4A5D52"/>
                </a:solidFill>
                <a:latin typeface="Oranienbaum" pitchFamily="34" charset="0"/>
                <a:ea typeface="Oranienbaum" pitchFamily="34" charset="-122"/>
                <a:cs typeface="Oranienbaum" pitchFamily="34" charset="-120"/>
              </a:rPr>
              <a:t>Disciplinary Policy &amp; Actions</a:t>
            </a:r>
            <a:endParaRPr lang="en-US" sz="1600" dirty="0"/>
          </a:p>
        </p:txBody>
      </p:sp>
      <p:sp>
        <p:nvSpPr>
          <p:cNvPr id="4" name="Shape 2"/>
          <p:cNvSpPr/>
          <p:nvPr/>
        </p:nvSpPr>
        <p:spPr>
          <a:xfrm>
            <a:off x="370296" y="1184948"/>
            <a:ext cx="740592" cy="37030"/>
          </a:xfrm>
          <a:custGeom>
            <a:avLst/>
            <a:gdLst/>
            <a:ahLst/>
            <a:cxnLst/>
            <a:rect l="l" t="t" r="r" b="b"/>
            <a:pathLst>
              <a:path w="740592" h="37030">
                <a:moveTo>
                  <a:pt x="0" y="0"/>
                </a:moveTo>
                <a:lnTo>
                  <a:pt x="740592" y="0"/>
                </a:lnTo>
                <a:lnTo>
                  <a:pt x="740592" y="37030"/>
                </a:lnTo>
                <a:lnTo>
                  <a:pt x="0" y="37030"/>
                </a:lnTo>
                <a:lnTo>
                  <a:pt x="0" y="0"/>
                </a:lnTo>
                <a:close/>
              </a:path>
            </a:pathLst>
          </a:custGeom>
          <a:solidFill>
            <a:srgbClr val="D4A056"/>
          </a:solidFill>
          <a:ln/>
        </p:spPr>
      </p:sp>
      <p:sp>
        <p:nvSpPr>
          <p:cNvPr id="5" name="Shape 3"/>
          <p:cNvSpPr/>
          <p:nvPr/>
        </p:nvSpPr>
        <p:spPr>
          <a:xfrm>
            <a:off x="370296" y="1407125"/>
            <a:ext cx="11451408" cy="1518214"/>
          </a:xfrm>
          <a:custGeom>
            <a:avLst/>
            <a:gdLst/>
            <a:ahLst/>
            <a:cxnLst/>
            <a:rect l="l" t="t" r="r" b="b"/>
            <a:pathLst>
              <a:path w="11451408" h="1518214">
                <a:moveTo>
                  <a:pt x="74058" y="0"/>
                </a:moveTo>
                <a:lnTo>
                  <a:pt x="11377349" y="0"/>
                </a:lnTo>
                <a:cubicBezTo>
                  <a:pt x="11418251" y="0"/>
                  <a:pt x="11451408" y="33157"/>
                  <a:pt x="11451408" y="74058"/>
                </a:cubicBezTo>
                <a:lnTo>
                  <a:pt x="11451408" y="1444156"/>
                </a:lnTo>
                <a:cubicBezTo>
                  <a:pt x="11451408" y="1485057"/>
                  <a:pt x="11418251" y="1518214"/>
                  <a:pt x="11377349" y="1518214"/>
                </a:cubicBezTo>
                <a:lnTo>
                  <a:pt x="74058" y="1518214"/>
                </a:lnTo>
                <a:cubicBezTo>
                  <a:pt x="33157" y="1518214"/>
                  <a:pt x="0" y="1485057"/>
                  <a:pt x="0" y="1444156"/>
                </a:cubicBezTo>
                <a:lnTo>
                  <a:pt x="0" y="74058"/>
                </a:lnTo>
                <a:cubicBezTo>
                  <a:pt x="0" y="33184"/>
                  <a:pt x="33184" y="0"/>
                  <a:pt x="74058" y="0"/>
                </a:cubicBezTo>
                <a:close/>
              </a:path>
            </a:pathLst>
          </a:custGeom>
          <a:solidFill>
            <a:srgbClr val="FFFFFF"/>
          </a:solidFill>
          <a:ln/>
          <a:effectLst>
            <a:outerShdw sx="100000" sy="100000" kx="0" ky="0" algn="bl" rotWithShape="0" blurRad="55544" dist="37030" dir="5400000">
              <a:srgbClr val="000000">
                <a:alpha val="10196"/>
              </a:srgbClr>
            </a:outerShdw>
          </a:effectLst>
        </p:spPr>
      </p:sp>
      <p:sp>
        <p:nvSpPr>
          <p:cNvPr id="6" name="Shape 4"/>
          <p:cNvSpPr/>
          <p:nvPr/>
        </p:nvSpPr>
        <p:spPr>
          <a:xfrm>
            <a:off x="592474" y="1629303"/>
            <a:ext cx="444355" cy="444355"/>
          </a:xfrm>
          <a:custGeom>
            <a:avLst/>
            <a:gdLst/>
            <a:ahLst/>
            <a:cxnLst/>
            <a:rect l="l" t="t" r="r" b="b"/>
            <a:pathLst>
              <a:path w="444355" h="444355">
                <a:moveTo>
                  <a:pt x="74061" y="0"/>
                </a:moveTo>
                <a:lnTo>
                  <a:pt x="370295" y="0"/>
                </a:lnTo>
                <a:cubicBezTo>
                  <a:pt x="411170" y="0"/>
                  <a:pt x="444355" y="33185"/>
                  <a:pt x="444355" y="74061"/>
                </a:cubicBezTo>
                <a:lnTo>
                  <a:pt x="444355" y="370295"/>
                </a:lnTo>
                <a:cubicBezTo>
                  <a:pt x="444355" y="411197"/>
                  <a:pt x="411197" y="444355"/>
                  <a:pt x="370295" y="444355"/>
                </a:cubicBezTo>
                <a:lnTo>
                  <a:pt x="74061" y="444355"/>
                </a:lnTo>
                <a:cubicBezTo>
                  <a:pt x="33185" y="444355"/>
                  <a:pt x="0" y="411170"/>
                  <a:pt x="0" y="370295"/>
                </a:cubicBezTo>
                <a:lnTo>
                  <a:pt x="0" y="74061"/>
                </a:lnTo>
                <a:cubicBezTo>
                  <a:pt x="0" y="33185"/>
                  <a:pt x="33185" y="0"/>
                  <a:pt x="74061" y="0"/>
                </a:cubicBezTo>
                <a:close/>
              </a:path>
            </a:pathLst>
          </a:custGeom>
          <a:solidFill>
            <a:srgbClr val="4A5D52"/>
          </a:solidFill>
          <a:ln/>
        </p:spPr>
      </p:sp>
      <p:sp>
        <p:nvSpPr>
          <p:cNvPr id="7" name="Shape 5"/>
          <p:cNvSpPr/>
          <p:nvPr/>
        </p:nvSpPr>
        <p:spPr>
          <a:xfrm>
            <a:off x="722077" y="1758907"/>
            <a:ext cx="185148" cy="185148"/>
          </a:xfrm>
          <a:custGeom>
            <a:avLst/>
            <a:gdLst/>
            <a:ahLst/>
            <a:cxnLst/>
            <a:rect l="l" t="t" r="r" b="b"/>
            <a:pathLst>
              <a:path w="185148" h="185148">
                <a:moveTo>
                  <a:pt x="84076" y="1880"/>
                </a:moveTo>
                <a:cubicBezTo>
                  <a:pt x="89464" y="-615"/>
                  <a:pt x="95684" y="-615"/>
                  <a:pt x="101072" y="1880"/>
                </a:cubicBezTo>
                <a:lnTo>
                  <a:pt x="180122" y="38404"/>
                </a:lnTo>
                <a:cubicBezTo>
                  <a:pt x="183195" y="39814"/>
                  <a:pt x="185148" y="42888"/>
                  <a:pt x="185148" y="46287"/>
                </a:cubicBezTo>
                <a:cubicBezTo>
                  <a:pt x="185148" y="49686"/>
                  <a:pt x="183195" y="52760"/>
                  <a:pt x="180122" y="54170"/>
                </a:cubicBezTo>
                <a:lnTo>
                  <a:pt x="101072" y="90694"/>
                </a:lnTo>
                <a:cubicBezTo>
                  <a:pt x="95684" y="93189"/>
                  <a:pt x="89464" y="93189"/>
                  <a:pt x="84076" y="90694"/>
                </a:cubicBezTo>
                <a:lnTo>
                  <a:pt x="5026" y="54170"/>
                </a:lnTo>
                <a:cubicBezTo>
                  <a:pt x="1953" y="52724"/>
                  <a:pt x="0" y="49650"/>
                  <a:pt x="0" y="46287"/>
                </a:cubicBezTo>
                <a:cubicBezTo>
                  <a:pt x="0" y="42924"/>
                  <a:pt x="1953" y="39814"/>
                  <a:pt x="5026" y="38404"/>
                </a:cubicBezTo>
                <a:lnTo>
                  <a:pt x="84076" y="1880"/>
                </a:lnTo>
                <a:close/>
                <a:moveTo>
                  <a:pt x="17394" y="78977"/>
                </a:moveTo>
                <a:lnTo>
                  <a:pt x="76808" y="106424"/>
                </a:lnTo>
                <a:cubicBezTo>
                  <a:pt x="86824" y="111053"/>
                  <a:pt x="98360" y="111053"/>
                  <a:pt x="108377" y="106424"/>
                </a:cubicBezTo>
                <a:lnTo>
                  <a:pt x="167790" y="78977"/>
                </a:lnTo>
                <a:lnTo>
                  <a:pt x="180122" y="84691"/>
                </a:lnTo>
                <a:cubicBezTo>
                  <a:pt x="183195" y="86101"/>
                  <a:pt x="185148" y="89175"/>
                  <a:pt x="185148" y="92574"/>
                </a:cubicBezTo>
                <a:cubicBezTo>
                  <a:pt x="185148" y="95973"/>
                  <a:pt x="183195" y="99047"/>
                  <a:pt x="180122" y="100457"/>
                </a:cubicBezTo>
                <a:lnTo>
                  <a:pt x="101072" y="136981"/>
                </a:lnTo>
                <a:cubicBezTo>
                  <a:pt x="95684" y="139476"/>
                  <a:pt x="89464" y="139476"/>
                  <a:pt x="84076" y="136981"/>
                </a:cubicBezTo>
                <a:lnTo>
                  <a:pt x="5026" y="100457"/>
                </a:lnTo>
                <a:cubicBezTo>
                  <a:pt x="1953" y="99011"/>
                  <a:pt x="0" y="95937"/>
                  <a:pt x="0" y="92574"/>
                </a:cubicBezTo>
                <a:cubicBezTo>
                  <a:pt x="0" y="89211"/>
                  <a:pt x="1953" y="86101"/>
                  <a:pt x="5026" y="84691"/>
                </a:cubicBezTo>
                <a:lnTo>
                  <a:pt x="17358" y="78977"/>
                </a:lnTo>
                <a:close/>
                <a:moveTo>
                  <a:pt x="5026" y="130978"/>
                </a:moveTo>
                <a:lnTo>
                  <a:pt x="17358" y="125264"/>
                </a:lnTo>
                <a:lnTo>
                  <a:pt x="76771" y="152711"/>
                </a:lnTo>
                <a:cubicBezTo>
                  <a:pt x="86788" y="157340"/>
                  <a:pt x="98324" y="157340"/>
                  <a:pt x="108341" y="152711"/>
                </a:cubicBezTo>
                <a:lnTo>
                  <a:pt x="167754" y="125264"/>
                </a:lnTo>
                <a:lnTo>
                  <a:pt x="180085" y="130978"/>
                </a:lnTo>
                <a:cubicBezTo>
                  <a:pt x="183159" y="132388"/>
                  <a:pt x="185112" y="135462"/>
                  <a:pt x="185112" y="138861"/>
                </a:cubicBezTo>
                <a:cubicBezTo>
                  <a:pt x="185112" y="142260"/>
                  <a:pt x="183159" y="145334"/>
                  <a:pt x="180085" y="146744"/>
                </a:cubicBezTo>
                <a:lnTo>
                  <a:pt x="101036" y="183268"/>
                </a:lnTo>
                <a:cubicBezTo>
                  <a:pt x="95648" y="185763"/>
                  <a:pt x="89428" y="185763"/>
                  <a:pt x="84040" y="183268"/>
                </a:cubicBezTo>
                <a:lnTo>
                  <a:pt x="5026" y="146744"/>
                </a:lnTo>
                <a:cubicBezTo>
                  <a:pt x="1953" y="145298"/>
                  <a:pt x="0" y="142224"/>
                  <a:pt x="0" y="138861"/>
                </a:cubicBezTo>
                <a:cubicBezTo>
                  <a:pt x="0" y="135498"/>
                  <a:pt x="1953" y="132388"/>
                  <a:pt x="5026" y="130978"/>
                </a:cubicBezTo>
                <a:close/>
              </a:path>
            </a:pathLst>
          </a:custGeom>
          <a:solidFill>
            <a:srgbClr val="F8F7F2"/>
          </a:solidFill>
          <a:ln/>
        </p:spPr>
      </p:sp>
      <p:sp>
        <p:nvSpPr>
          <p:cNvPr id="8" name="Text 6"/>
          <p:cNvSpPr/>
          <p:nvPr/>
        </p:nvSpPr>
        <p:spPr>
          <a:xfrm>
            <a:off x="1147918" y="1707991"/>
            <a:ext cx="2934597" cy="286979"/>
          </a:xfrm>
          <a:prstGeom prst="rect">
            <a:avLst/>
          </a:prstGeom>
          <a:noFill/>
          <a:ln/>
        </p:spPr>
        <p:txBody>
          <a:bodyPr wrap="square" lIns="0" tIns="0" rIns="0" bIns="0" rtlCol="0" anchor="ctr"/>
          <a:lstStyle/>
          <a:p>
            <a:pPr>
              <a:lnSpc>
                <a:spcPct val="110000"/>
              </a:lnSpc>
            </a:pPr>
            <a:r>
              <a:rPr lang="en-US" sz="1749" b="1" dirty="0">
                <a:solidFill>
                  <a:srgbClr val="4A5D52"/>
                </a:solidFill>
                <a:latin typeface="Unna" pitchFamily="34" charset="0"/>
                <a:ea typeface="Unna" pitchFamily="34" charset="-122"/>
                <a:cs typeface="Unna" pitchFamily="34" charset="-120"/>
              </a:rPr>
              <a:t>Progressive Discipline System</a:t>
            </a:r>
            <a:endParaRPr lang="en-US" sz="1600" dirty="0"/>
          </a:p>
        </p:txBody>
      </p:sp>
      <p:sp>
        <p:nvSpPr>
          <p:cNvPr id="9" name="Text 7"/>
          <p:cNvSpPr/>
          <p:nvPr/>
        </p:nvSpPr>
        <p:spPr>
          <a:xfrm>
            <a:off x="592474" y="2221777"/>
            <a:ext cx="11081112" cy="481385"/>
          </a:xfrm>
          <a:prstGeom prst="rect">
            <a:avLst/>
          </a:prstGeom>
          <a:noFill/>
          <a:ln/>
        </p:spPr>
        <p:txBody>
          <a:bodyPr wrap="square" lIns="0" tIns="0" rIns="0" bIns="0" rtlCol="0" anchor="ctr"/>
          <a:lstStyle/>
          <a:p>
            <a:pPr>
              <a:lnSpc>
                <a:spcPct val="140000"/>
              </a:lnSpc>
            </a:pPr>
            <a:r>
              <a:rPr lang="en-US" sz="1166" dirty="0">
                <a:solidFill>
                  <a:srgbClr val="2C3531"/>
                </a:solidFill>
                <a:latin typeface="Liter" pitchFamily="34" charset="0"/>
                <a:ea typeface="Liter" pitchFamily="34" charset="-122"/>
                <a:cs typeface="Liter" pitchFamily="34" charset="-120"/>
              </a:rPr>
              <a:t>The employer utilizes a progressive discipline approach, where violations typically result in escalating consequences. However, certain serious breaches may warrant immediate termination without prior warnings.</a:t>
            </a:r>
            <a:endParaRPr lang="en-US" sz="1600" dirty="0"/>
          </a:p>
        </p:txBody>
      </p:sp>
      <p:sp>
        <p:nvSpPr>
          <p:cNvPr id="10" name="Shape 8"/>
          <p:cNvSpPr/>
          <p:nvPr/>
        </p:nvSpPr>
        <p:spPr>
          <a:xfrm>
            <a:off x="370296" y="3129002"/>
            <a:ext cx="2749449" cy="2582815"/>
          </a:xfrm>
          <a:custGeom>
            <a:avLst/>
            <a:gdLst/>
            <a:ahLst/>
            <a:cxnLst/>
            <a:rect l="l" t="t" r="r" b="b"/>
            <a:pathLst>
              <a:path w="2749449" h="2582815">
                <a:moveTo>
                  <a:pt x="37030" y="0"/>
                </a:moveTo>
                <a:lnTo>
                  <a:pt x="2712419" y="0"/>
                </a:lnTo>
                <a:cubicBezTo>
                  <a:pt x="2732870" y="0"/>
                  <a:pt x="2749449" y="16579"/>
                  <a:pt x="2749449" y="37030"/>
                </a:cubicBezTo>
                <a:lnTo>
                  <a:pt x="2749449" y="2508766"/>
                </a:lnTo>
                <a:cubicBezTo>
                  <a:pt x="2749449" y="2549662"/>
                  <a:pt x="2716296" y="2582815"/>
                  <a:pt x="2675399" y="2582815"/>
                </a:cubicBezTo>
                <a:lnTo>
                  <a:pt x="74049" y="2582815"/>
                </a:lnTo>
                <a:cubicBezTo>
                  <a:pt x="33153" y="2582815"/>
                  <a:pt x="0" y="2549662"/>
                  <a:pt x="0" y="2508766"/>
                </a:cubicBezTo>
                <a:lnTo>
                  <a:pt x="0" y="37030"/>
                </a:lnTo>
                <a:cubicBezTo>
                  <a:pt x="0" y="16592"/>
                  <a:pt x="16592" y="0"/>
                  <a:pt x="37030" y="0"/>
                </a:cubicBezTo>
                <a:close/>
              </a:path>
            </a:pathLst>
          </a:custGeom>
          <a:solidFill>
            <a:srgbClr val="4A5D52">
              <a:alpha val="10196"/>
            </a:srgbClr>
          </a:solidFill>
          <a:ln/>
        </p:spPr>
      </p:sp>
      <p:sp>
        <p:nvSpPr>
          <p:cNvPr id="11" name="Shape 9"/>
          <p:cNvSpPr/>
          <p:nvPr/>
        </p:nvSpPr>
        <p:spPr>
          <a:xfrm>
            <a:off x="370296" y="3129002"/>
            <a:ext cx="2749449" cy="37030"/>
          </a:xfrm>
          <a:custGeom>
            <a:avLst/>
            <a:gdLst/>
            <a:ahLst/>
            <a:cxnLst/>
            <a:rect l="l" t="t" r="r" b="b"/>
            <a:pathLst>
              <a:path w="2749449" h="37030">
                <a:moveTo>
                  <a:pt x="37030" y="0"/>
                </a:moveTo>
                <a:lnTo>
                  <a:pt x="2712419" y="0"/>
                </a:lnTo>
                <a:cubicBezTo>
                  <a:pt x="2732870" y="0"/>
                  <a:pt x="2749449" y="16579"/>
                  <a:pt x="2749449" y="37030"/>
                </a:cubicBezTo>
                <a:lnTo>
                  <a:pt x="2749449" y="37030"/>
                </a:lnTo>
                <a:lnTo>
                  <a:pt x="0" y="37030"/>
                </a:lnTo>
                <a:lnTo>
                  <a:pt x="0" y="37030"/>
                </a:lnTo>
                <a:cubicBezTo>
                  <a:pt x="0" y="16592"/>
                  <a:pt x="16592" y="0"/>
                  <a:pt x="37030" y="0"/>
                </a:cubicBezTo>
                <a:close/>
              </a:path>
            </a:pathLst>
          </a:custGeom>
          <a:solidFill>
            <a:srgbClr val="4A5D52"/>
          </a:solidFill>
          <a:ln/>
        </p:spPr>
      </p:sp>
      <p:sp>
        <p:nvSpPr>
          <p:cNvPr id="12" name="Shape 10"/>
          <p:cNvSpPr/>
          <p:nvPr/>
        </p:nvSpPr>
        <p:spPr>
          <a:xfrm>
            <a:off x="555444" y="3332665"/>
            <a:ext cx="370296" cy="370296"/>
          </a:xfrm>
          <a:custGeom>
            <a:avLst/>
            <a:gdLst/>
            <a:ahLst/>
            <a:cxnLst/>
            <a:rect l="l" t="t" r="r" b="b"/>
            <a:pathLst>
              <a:path w="370296" h="370296">
                <a:moveTo>
                  <a:pt x="185148" y="0"/>
                </a:moveTo>
                <a:lnTo>
                  <a:pt x="185148" y="0"/>
                </a:lnTo>
                <a:cubicBezTo>
                  <a:pt x="287334" y="0"/>
                  <a:pt x="370296" y="82962"/>
                  <a:pt x="370296" y="185148"/>
                </a:cubicBezTo>
                <a:lnTo>
                  <a:pt x="370296" y="185148"/>
                </a:lnTo>
                <a:cubicBezTo>
                  <a:pt x="370296" y="287334"/>
                  <a:pt x="287334" y="370296"/>
                  <a:pt x="185148" y="370296"/>
                </a:cubicBezTo>
                <a:lnTo>
                  <a:pt x="185148" y="370296"/>
                </a:lnTo>
                <a:cubicBezTo>
                  <a:pt x="82962" y="370296"/>
                  <a:pt x="0" y="287334"/>
                  <a:pt x="0" y="185148"/>
                </a:cubicBezTo>
                <a:lnTo>
                  <a:pt x="0" y="185148"/>
                </a:lnTo>
                <a:cubicBezTo>
                  <a:pt x="0" y="82962"/>
                  <a:pt x="82962" y="0"/>
                  <a:pt x="185148" y="0"/>
                </a:cubicBezTo>
                <a:close/>
              </a:path>
            </a:pathLst>
          </a:custGeom>
          <a:solidFill>
            <a:srgbClr val="4A5D52"/>
          </a:solidFill>
          <a:ln/>
        </p:spPr>
      </p:sp>
      <p:sp>
        <p:nvSpPr>
          <p:cNvPr id="13" name="Text 11"/>
          <p:cNvSpPr/>
          <p:nvPr/>
        </p:nvSpPr>
        <p:spPr>
          <a:xfrm>
            <a:off x="509157" y="3332665"/>
            <a:ext cx="462870" cy="370296"/>
          </a:xfrm>
          <a:prstGeom prst="rect">
            <a:avLst/>
          </a:prstGeom>
          <a:noFill/>
          <a:ln/>
        </p:spPr>
        <p:txBody>
          <a:bodyPr wrap="square" lIns="0" tIns="0" rIns="0" bIns="0" rtlCol="0" anchor="ctr"/>
          <a:lstStyle/>
          <a:p>
            <a:pPr algn="ctr">
              <a:lnSpc>
                <a:spcPct val="120000"/>
              </a:lnSpc>
            </a:pPr>
            <a:r>
              <a:rPr lang="en-US" sz="1458" b="1" dirty="0">
                <a:solidFill>
                  <a:srgbClr val="F8F7F2"/>
                </a:solidFill>
                <a:latin typeface="Oranienbaum" pitchFamily="34" charset="0"/>
                <a:ea typeface="Oranienbaum" pitchFamily="34" charset="-122"/>
                <a:cs typeface="Oranienbaum" pitchFamily="34" charset="-120"/>
              </a:rPr>
              <a:t>1</a:t>
            </a:r>
            <a:endParaRPr lang="en-US" sz="1600" dirty="0"/>
          </a:p>
        </p:txBody>
      </p:sp>
      <p:sp>
        <p:nvSpPr>
          <p:cNvPr id="14" name="Text 12"/>
          <p:cNvSpPr/>
          <p:nvPr/>
        </p:nvSpPr>
        <p:spPr>
          <a:xfrm>
            <a:off x="1036829" y="3388210"/>
            <a:ext cx="1333066" cy="259207"/>
          </a:xfrm>
          <a:prstGeom prst="rect">
            <a:avLst/>
          </a:prstGeom>
          <a:noFill/>
          <a:ln/>
        </p:spPr>
        <p:txBody>
          <a:bodyPr wrap="square" lIns="0" tIns="0" rIns="0" bIns="0" rtlCol="0" anchor="ctr"/>
          <a:lstStyle/>
          <a:p>
            <a:pPr>
              <a:lnSpc>
                <a:spcPct val="120000"/>
              </a:lnSpc>
            </a:pPr>
            <a:r>
              <a:rPr lang="en-US" sz="1458" b="1" dirty="0">
                <a:solidFill>
                  <a:srgbClr val="4A5D52"/>
                </a:solidFill>
                <a:latin typeface="Unna" pitchFamily="34" charset="0"/>
                <a:ea typeface="Unna" pitchFamily="34" charset="-122"/>
                <a:cs typeface="Unna" pitchFamily="34" charset="-120"/>
              </a:rPr>
              <a:t>Verbal Warning</a:t>
            </a:r>
            <a:endParaRPr lang="en-US" sz="1600" dirty="0"/>
          </a:p>
        </p:txBody>
      </p:sp>
      <p:sp>
        <p:nvSpPr>
          <p:cNvPr id="15" name="Text 13"/>
          <p:cNvSpPr/>
          <p:nvPr/>
        </p:nvSpPr>
        <p:spPr>
          <a:xfrm>
            <a:off x="555444" y="3814050"/>
            <a:ext cx="2443954" cy="185148"/>
          </a:xfrm>
          <a:prstGeom prst="rect">
            <a:avLst/>
          </a:prstGeom>
          <a:noFill/>
          <a:ln/>
        </p:spPr>
        <p:txBody>
          <a:bodyPr wrap="square" lIns="0" tIns="0" rIns="0" bIns="0" rtlCol="0" anchor="ctr"/>
          <a:lstStyle/>
          <a:p>
            <a:pPr>
              <a:lnSpc>
                <a:spcPct val="120000"/>
              </a:lnSpc>
            </a:pPr>
            <a:r>
              <a:rPr lang="en-US" sz="1021" b="1" spc="26" kern="0" dirty="0">
                <a:solidFill>
                  <a:srgbClr val="A88B6A"/>
                </a:solidFill>
                <a:latin typeface="Liter" pitchFamily="34" charset="0"/>
                <a:ea typeface="Liter" pitchFamily="34" charset="-122"/>
                <a:cs typeface="Liter" pitchFamily="34" charset="-120"/>
              </a:rPr>
              <a:t>Triggers</a:t>
            </a:r>
            <a:endParaRPr lang="en-US" sz="1600" dirty="0"/>
          </a:p>
        </p:txBody>
      </p:sp>
      <p:sp>
        <p:nvSpPr>
          <p:cNvPr id="16" name="Text 14"/>
          <p:cNvSpPr/>
          <p:nvPr/>
        </p:nvSpPr>
        <p:spPr>
          <a:xfrm>
            <a:off x="555444" y="4073257"/>
            <a:ext cx="111089" cy="185148"/>
          </a:xfrm>
          <a:prstGeom prst="rect">
            <a:avLst/>
          </a:prstGeom>
          <a:noFill/>
          <a:ln/>
        </p:spPr>
        <p:txBody>
          <a:bodyPr wrap="square" lIns="0" tIns="0" rIns="0" bIns="0" rtlCol="0" anchor="ctr"/>
          <a:lstStyle/>
          <a:p>
            <a:pPr>
              <a:lnSpc>
                <a:spcPct val="120000"/>
              </a:lnSpc>
            </a:pPr>
            <a:r>
              <a:rPr lang="en-US" sz="1021" dirty="0">
                <a:solidFill>
                  <a:srgbClr val="4A5D52"/>
                </a:solidFill>
                <a:latin typeface="Liter" pitchFamily="34" charset="0"/>
                <a:ea typeface="Liter" pitchFamily="34" charset="-122"/>
                <a:cs typeface="Liter" pitchFamily="34" charset="-120"/>
              </a:rPr>
              <a:t>•</a:t>
            </a:r>
            <a:endParaRPr lang="en-US" sz="1600" dirty="0"/>
          </a:p>
        </p:txBody>
      </p:sp>
      <p:sp>
        <p:nvSpPr>
          <p:cNvPr id="17" name="Text 15"/>
          <p:cNvSpPr/>
          <p:nvPr/>
        </p:nvSpPr>
        <p:spPr>
          <a:xfrm>
            <a:off x="678105" y="4073257"/>
            <a:ext cx="1184948"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First minor violation</a:t>
            </a:r>
            <a:endParaRPr lang="en-US" sz="1600" dirty="0"/>
          </a:p>
        </p:txBody>
      </p:sp>
      <p:sp>
        <p:nvSpPr>
          <p:cNvPr id="18" name="Text 16"/>
          <p:cNvSpPr/>
          <p:nvPr/>
        </p:nvSpPr>
        <p:spPr>
          <a:xfrm>
            <a:off x="555444" y="4295435"/>
            <a:ext cx="111089" cy="185148"/>
          </a:xfrm>
          <a:prstGeom prst="rect">
            <a:avLst/>
          </a:prstGeom>
          <a:noFill/>
          <a:ln/>
        </p:spPr>
        <p:txBody>
          <a:bodyPr wrap="square" lIns="0" tIns="0" rIns="0" bIns="0" rtlCol="0" anchor="ctr"/>
          <a:lstStyle/>
          <a:p>
            <a:pPr>
              <a:lnSpc>
                <a:spcPct val="120000"/>
              </a:lnSpc>
            </a:pPr>
            <a:r>
              <a:rPr lang="en-US" sz="1021" dirty="0">
                <a:solidFill>
                  <a:srgbClr val="4A5D52"/>
                </a:solidFill>
                <a:latin typeface="Liter" pitchFamily="34" charset="0"/>
                <a:ea typeface="Liter" pitchFamily="34" charset="-122"/>
                <a:cs typeface="Liter" pitchFamily="34" charset="-120"/>
              </a:rPr>
              <a:t>•</a:t>
            </a:r>
            <a:endParaRPr lang="en-US" sz="1600" dirty="0"/>
          </a:p>
        </p:txBody>
      </p:sp>
      <p:sp>
        <p:nvSpPr>
          <p:cNvPr id="19" name="Text 17"/>
          <p:cNvSpPr/>
          <p:nvPr/>
        </p:nvSpPr>
        <p:spPr>
          <a:xfrm>
            <a:off x="678105" y="4295435"/>
            <a:ext cx="1666333"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Tardiness (1-3 occurrences)</a:t>
            </a:r>
            <a:endParaRPr lang="en-US" sz="1600" dirty="0"/>
          </a:p>
        </p:txBody>
      </p:sp>
      <p:sp>
        <p:nvSpPr>
          <p:cNvPr id="20" name="Text 18"/>
          <p:cNvSpPr/>
          <p:nvPr/>
        </p:nvSpPr>
        <p:spPr>
          <a:xfrm>
            <a:off x="555444" y="4517613"/>
            <a:ext cx="111089" cy="185148"/>
          </a:xfrm>
          <a:prstGeom prst="rect">
            <a:avLst/>
          </a:prstGeom>
          <a:noFill/>
          <a:ln/>
        </p:spPr>
        <p:txBody>
          <a:bodyPr wrap="square" lIns="0" tIns="0" rIns="0" bIns="0" rtlCol="0" anchor="ctr"/>
          <a:lstStyle/>
          <a:p>
            <a:pPr>
              <a:lnSpc>
                <a:spcPct val="120000"/>
              </a:lnSpc>
            </a:pPr>
            <a:r>
              <a:rPr lang="en-US" sz="1021" dirty="0">
                <a:solidFill>
                  <a:srgbClr val="4A5D52"/>
                </a:solidFill>
                <a:latin typeface="Liter" pitchFamily="34" charset="0"/>
                <a:ea typeface="Liter" pitchFamily="34" charset="-122"/>
                <a:cs typeface="Liter" pitchFamily="34" charset="-120"/>
              </a:rPr>
              <a:t>•</a:t>
            </a:r>
            <a:endParaRPr lang="en-US" sz="1600" dirty="0"/>
          </a:p>
        </p:txBody>
      </p:sp>
      <p:sp>
        <p:nvSpPr>
          <p:cNvPr id="21" name="Text 19"/>
          <p:cNvSpPr/>
          <p:nvPr/>
        </p:nvSpPr>
        <p:spPr>
          <a:xfrm>
            <a:off x="678105" y="4517613"/>
            <a:ext cx="1444155"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Minor cleanliness issues</a:t>
            </a:r>
            <a:endParaRPr lang="en-US" sz="1600" dirty="0"/>
          </a:p>
        </p:txBody>
      </p:sp>
      <p:sp>
        <p:nvSpPr>
          <p:cNvPr id="22" name="Text 20"/>
          <p:cNvSpPr/>
          <p:nvPr/>
        </p:nvSpPr>
        <p:spPr>
          <a:xfrm>
            <a:off x="555444" y="4739790"/>
            <a:ext cx="111089" cy="185148"/>
          </a:xfrm>
          <a:prstGeom prst="rect">
            <a:avLst/>
          </a:prstGeom>
          <a:noFill/>
          <a:ln/>
        </p:spPr>
        <p:txBody>
          <a:bodyPr wrap="square" lIns="0" tIns="0" rIns="0" bIns="0" rtlCol="0" anchor="ctr"/>
          <a:lstStyle/>
          <a:p>
            <a:pPr>
              <a:lnSpc>
                <a:spcPct val="120000"/>
              </a:lnSpc>
            </a:pPr>
            <a:r>
              <a:rPr lang="en-US" sz="1021" dirty="0">
                <a:solidFill>
                  <a:srgbClr val="4A5D52"/>
                </a:solidFill>
                <a:latin typeface="Liter" pitchFamily="34" charset="0"/>
                <a:ea typeface="Liter" pitchFamily="34" charset="-122"/>
                <a:cs typeface="Liter" pitchFamily="34" charset="-120"/>
              </a:rPr>
              <a:t>•</a:t>
            </a:r>
            <a:endParaRPr lang="en-US" sz="1600" dirty="0"/>
          </a:p>
        </p:txBody>
      </p:sp>
      <p:sp>
        <p:nvSpPr>
          <p:cNvPr id="23" name="Text 21"/>
          <p:cNvSpPr/>
          <p:nvPr/>
        </p:nvSpPr>
        <p:spPr>
          <a:xfrm>
            <a:off x="678105" y="4739790"/>
            <a:ext cx="1999599"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Failure to follow minor procedures</a:t>
            </a:r>
            <a:endParaRPr lang="en-US" sz="1600" dirty="0"/>
          </a:p>
        </p:txBody>
      </p:sp>
      <p:sp>
        <p:nvSpPr>
          <p:cNvPr id="24" name="Shape 22"/>
          <p:cNvSpPr/>
          <p:nvPr/>
        </p:nvSpPr>
        <p:spPr>
          <a:xfrm>
            <a:off x="555444" y="5040656"/>
            <a:ext cx="2379153" cy="9257"/>
          </a:xfrm>
          <a:custGeom>
            <a:avLst/>
            <a:gdLst/>
            <a:ahLst/>
            <a:cxnLst/>
            <a:rect l="l" t="t" r="r" b="b"/>
            <a:pathLst>
              <a:path w="2379153" h="9257">
                <a:moveTo>
                  <a:pt x="0" y="0"/>
                </a:moveTo>
                <a:lnTo>
                  <a:pt x="2379153" y="0"/>
                </a:lnTo>
                <a:lnTo>
                  <a:pt x="2379153" y="9257"/>
                </a:lnTo>
                <a:lnTo>
                  <a:pt x="0" y="9257"/>
                </a:lnTo>
                <a:lnTo>
                  <a:pt x="0" y="0"/>
                </a:lnTo>
                <a:close/>
              </a:path>
            </a:pathLst>
          </a:custGeom>
          <a:solidFill>
            <a:srgbClr val="4A5D52">
              <a:alpha val="20000"/>
            </a:srgbClr>
          </a:solidFill>
          <a:ln/>
        </p:spPr>
      </p:sp>
      <p:sp>
        <p:nvSpPr>
          <p:cNvPr id="25" name="Shape 23"/>
          <p:cNvSpPr/>
          <p:nvPr/>
        </p:nvSpPr>
        <p:spPr>
          <a:xfrm>
            <a:off x="573959" y="5184146"/>
            <a:ext cx="129604" cy="129604"/>
          </a:xfrm>
          <a:custGeom>
            <a:avLst/>
            <a:gdLst/>
            <a:ahLst/>
            <a:cxnLst/>
            <a:rect l="l" t="t" r="r" b="b"/>
            <a:pathLst>
              <a:path w="129604" h="129604">
                <a:moveTo>
                  <a:pt x="64802" y="129604"/>
                </a:moveTo>
                <a:cubicBezTo>
                  <a:pt x="100567" y="129604"/>
                  <a:pt x="129604" y="100567"/>
                  <a:pt x="129604" y="64802"/>
                </a:cubicBezTo>
                <a:cubicBezTo>
                  <a:pt x="129604" y="29037"/>
                  <a:pt x="100567" y="0"/>
                  <a:pt x="64802" y="0"/>
                </a:cubicBezTo>
                <a:cubicBezTo>
                  <a:pt x="29037" y="0"/>
                  <a:pt x="0" y="29037"/>
                  <a:pt x="0" y="64802"/>
                </a:cubicBezTo>
                <a:cubicBezTo>
                  <a:pt x="0" y="100567"/>
                  <a:pt x="29037" y="129604"/>
                  <a:pt x="64802" y="129604"/>
                </a:cubicBezTo>
                <a:close/>
                <a:moveTo>
                  <a:pt x="56702" y="40501"/>
                </a:moveTo>
                <a:cubicBezTo>
                  <a:pt x="56702" y="36031"/>
                  <a:pt x="60331" y="32401"/>
                  <a:pt x="64802" y="32401"/>
                </a:cubicBezTo>
                <a:cubicBezTo>
                  <a:pt x="69272" y="32401"/>
                  <a:pt x="72902" y="36031"/>
                  <a:pt x="72902" y="40501"/>
                </a:cubicBezTo>
                <a:cubicBezTo>
                  <a:pt x="72902" y="44972"/>
                  <a:pt x="69272" y="48601"/>
                  <a:pt x="64802" y="48601"/>
                </a:cubicBezTo>
                <a:cubicBezTo>
                  <a:pt x="60331" y="48601"/>
                  <a:pt x="56702" y="44972"/>
                  <a:pt x="56702" y="40501"/>
                </a:cubicBezTo>
                <a:close/>
                <a:moveTo>
                  <a:pt x="54677" y="56702"/>
                </a:moveTo>
                <a:lnTo>
                  <a:pt x="66827" y="56702"/>
                </a:lnTo>
                <a:cubicBezTo>
                  <a:pt x="70194" y="56702"/>
                  <a:pt x="72902" y="59410"/>
                  <a:pt x="72902" y="62777"/>
                </a:cubicBezTo>
                <a:lnTo>
                  <a:pt x="72902" y="85052"/>
                </a:lnTo>
                <a:lnTo>
                  <a:pt x="74927" y="85052"/>
                </a:lnTo>
                <a:cubicBezTo>
                  <a:pt x="78294" y="85052"/>
                  <a:pt x="81002" y="87761"/>
                  <a:pt x="81002" y="91128"/>
                </a:cubicBezTo>
                <a:cubicBezTo>
                  <a:pt x="81002" y="94494"/>
                  <a:pt x="78294" y="97203"/>
                  <a:pt x="74927" y="97203"/>
                </a:cubicBezTo>
                <a:lnTo>
                  <a:pt x="54677" y="97203"/>
                </a:lnTo>
                <a:cubicBezTo>
                  <a:pt x="51310" y="97203"/>
                  <a:pt x="48601" y="94494"/>
                  <a:pt x="48601" y="91128"/>
                </a:cubicBezTo>
                <a:cubicBezTo>
                  <a:pt x="48601" y="87761"/>
                  <a:pt x="51310" y="85052"/>
                  <a:pt x="54677" y="85052"/>
                </a:cubicBezTo>
                <a:lnTo>
                  <a:pt x="60752" y="85052"/>
                </a:lnTo>
                <a:lnTo>
                  <a:pt x="60752" y="68852"/>
                </a:lnTo>
                <a:lnTo>
                  <a:pt x="54677" y="68852"/>
                </a:lnTo>
                <a:cubicBezTo>
                  <a:pt x="51310" y="68852"/>
                  <a:pt x="48601" y="66143"/>
                  <a:pt x="48601" y="62777"/>
                </a:cubicBezTo>
                <a:cubicBezTo>
                  <a:pt x="48601" y="59410"/>
                  <a:pt x="51310" y="56702"/>
                  <a:pt x="54677" y="56702"/>
                </a:cubicBezTo>
                <a:close/>
              </a:path>
            </a:pathLst>
          </a:custGeom>
          <a:solidFill>
            <a:srgbClr val="4A5D52"/>
          </a:solidFill>
          <a:ln/>
        </p:spPr>
      </p:sp>
      <p:sp>
        <p:nvSpPr>
          <p:cNvPr id="26" name="Text 24"/>
          <p:cNvSpPr/>
          <p:nvPr/>
        </p:nvSpPr>
        <p:spPr>
          <a:xfrm>
            <a:off x="776061" y="5156374"/>
            <a:ext cx="2223337" cy="370296"/>
          </a:xfrm>
          <a:prstGeom prst="rect">
            <a:avLst/>
          </a:prstGeom>
          <a:noFill/>
          <a:ln/>
        </p:spPr>
        <p:txBody>
          <a:bodyPr wrap="square" lIns="0" tIns="0" rIns="0" bIns="0" rtlCol="0" anchor="ctr"/>
          <a:lstStyle/>
          <a:p>
            <a:pPr>
              <a:lnSpc>
                <a:spcPct val="120000"/>
              </a:lnSpc>
            </a:pPr>
            <a:r>
              <a:rPr lang="en-US" sz="1021" dirty="0">
                <a:solidFill>
                  <a:srgbClr val="2C3531">
                    <a:alpha val="70000"/>
                  </a:srgbClr>
                </a:solidFill>
                <a:latin typeface="Liter" pitchFamily="34" charset="0"/>
                <a:ea typeface="Liter" pitchFamily="34" charset="-122"/>
                <a:cs typeface="Liter" pitchFamily="34" charset="-120"/>
              </a:rPr>
              <a:t>Documented by supervisor, remains active for 90 days</a:t>
            </a:r>
            <a:endParaRPr lang="en-US" sz="1600" dirty="0"/>
          </a:p>
        </p:txBody>
      </p:sp>
      <p:sp>
        <p:nvSpPr>
          <p:cNvPr id="27" name="Shape 25"/>
          <p:cNvSpPr/>
          <p:nvPr/>
        </p:nvSpPr>
        <p:spPr>
          <a:xfrm>
            <a:off x="3270901" y="3129002"/>
            <a:ext cx="2749449" cy="2582815"/>
          </a:xfrm>
          <a:custGeom>
            <a:avLst/>
            <a:gdLst/>
            <a:ahLst/>
            <a:cxnLst/>
            <a:rect l="l" t="t" r="r" b="b"/>
            <a:pathLst>
              <a:path w="2749449" h="2582815">
                <a:moveTo>
                  <a:pt x="37030" y="0"/>
                </a:moveTo>
                <a:lnTo>
                  <a:pt x="2712419" y="0"/>
                </a:lnTo>
                <a:cubicBezTo>
                  <a:pt x="2732870" y="0"/>
                  <a:pt x="2749449" y="16579"/>
                  <a:pt x="2749449" y="37030"/>
                </a:cubicBezTo>
                <a:lnTo>
                  <a:pt x="2749449" y="2508766"/>
                </a:lnTo>
                <a:cubicBezTo>
                  <a:pt x="2749449" y="2549662"/>
                  <a:pt x="2716296" y="2582815"/>
                  <a:pt x="2675399" y="2582815"/>
                </a:cubicBezTo>
                <a:lnTo>
                  <a:pt x="74049" y="2582815"/>
                </a:lnTo>
                <a:cubicBezTo>
                  <a:pt x="33153" y="2582815"/>
                  <a:pt x="0" y="2549662"/>
                  <a:pt x="0" y="2508766"/>
                </a:cubicBezTo>
                <a:lnTo>
                  <a:pt x="0" y="37030"/>
                </a:lnTo>
                <a:cubicBezTo>
                  <a:pt x="0" y="16592"/>
                  <a:pt x="16592" y="0"/>
                  <a:pt x="37030" y="0"/>
                </a:cubicBezTo>
                <a:close/>
              </a:path>
            </a:pathLst>
          </a:custGeom>
          <a:solidFill>
            <a:srgbClr val="A88B6A">
              <a:alpha val="10196"/>
            </a:srgbClr>
          </a:solidFill>
          <a:ln/>
        </p:spPr>
      </p:sp>
      <p:sp>
        <p:nvSpPr>
          <p:cNvPr id="28" name="Shape 26"/>
          <p:cNvSpPr/>
          <p:nvPr/>
        </p:nvSpPr>
        <p:spPr>
          <a:xfrm>
            <a:off x="3270901" y="3129002"/>
            <a:ext cx="2749449" cy="37030"/>
          </a:xfrm>
          <a:custGeom>
            <a:avLst/>
            <a:gdLst/>
            <a:ahLst/>
            <a:cxnLst/>
            <a:rect l="l" t="t" r="r" b="b"/>
            <a:pathLst>
              <a:path w="2749449" h="37030">
                <a:moveTo>
                  <a:pt x="37030" y="0"/>
                </a:moveTo>
                <a:lnTo>
                  <a:pt x="2712419" y="0"/>
                </a:lnTo>
                <a:cubicBezTo>
                  <a:pt x="2732870" y="0"/>
                  <a:pt x="2749449" y="16579"/>
                  <a:pt x="2749449" y="37030"/>
                </a:cubicBezTo>
                <a:lnTo>
                  <a:pt x="2749449" y="37030"/>
                </a:lnTo>
                <a:lnTo>
                  <a:pt x="0" y="37030"/>
                </a:lnTo>
                <a:lnTo>
                  <a:pt x="0" y="37030"/>
                </a:lnTo>
                <a:cubicBezTo>
                  <a:pt x="0" y="16592"/>
                  <a:pt x="16592" y="0"/>
                  <a:pt x="37030" y="0"/>
                </a:cubicBezTo>
                <a:close/>
              </a:path>
            </a:pathLst>
          </a:custGeom>
          <a:solidFill>
            <a:srgbClr val="A88B6A"/>
          </a:solidFill>
          <a:ln/>
        </p:spPr>
      </p:sp>
      <p:sp>
        <p:nvSpPr>
          <p:cNvPr id="29" name="Shape 27"/>
          <p:cNvSpPr/>
          <p:nvPr/>
        </p:nvSpPr>
        <p:spPr>
          <a:xfrm>
            <a:off x="3456049" y="3332665"/>
            <a:ext cx="370296" cy="370296"/>
          </a:xfrm>
          <a:custGeom>
            <a:avLst/>
            <a:gdLst/>
            <a:ahLst/>
            <a:cxnLst/>
            <a:rect l="l" t="t" r="r" b="b"/>
            <a:pathLst>
              <a:path w="370296" h="370296">
                <a:moveTo>
                  <a:pt x="185148" y="0"/>
                </a:moveTo>
                <a:lnTo>
                  <a:pt x="185148" y="0"/>
                </a:lnTo>
                <a:cubicBezTo>
                  <a:pt x="287334" y="0"/>
                  <a:pt x="370296" y="82962"/>
                  <a:pt x="370296" y="185148"/>
                </a:cubicBezTo>
                <a:lnTo>
                  <a:pt x="370296" y="185148"/>
                </a:lnTo>
                <a:cubicBezTo>
                  <a:pt x="370296" y="287334"/>
                  <a:pt x="287334" y="370296"/>
                  <a:pt x="185148" y="370296"/>
                </a:cubicBezTo>
                <a:lnTo>
                  <a:pt x="185148" y="370296"/>
                </a:lnTo>
                <a:cubicBezTo>
                  <a:pt x="82962" y="370296"/>
                  <a:pt x="0" y="287334"/>
                  <a:pt x="0" y="185148"/>
                </a:cubicBezTo>
                <a:lnTo>
                  <a:pt x="0" y="185148"/>
                </a:lnTo>
                <a:cubicBezTo>
                  <a:pt x="0" y="82962"/>
                  <a:pt x="82962" y="0"/>
                  <a:pt x="185148" y="0"/>
                </a:cubicBezTo>
                <a:close/>
              </a:path>
            </a:pathLst>
          </a:custGeom>
          <a:solidFill>
            <a:srgbClr val="A88B6A"/>
          </a:solidFill>
          <a:ln/>
        </p:spPr>
      </p:sp>
      <p:sp>
        <p:nvSpPr>
          <p:cNvPr id="30" name="Text 28"/>
          <p:cNvSpPr/>
          <p:nvPr/>
        </p:nvSpPr>
        <p:spPr>
          <a:xfrm>
            <a:off x="3409762" y="3332665"/>
            <a:ext cx="462870" cy="370296"/>
          </a:xfrm>
          <a:prstGeom prst="rect">
            <a:avLst/>
          </a:prstGeom>
          <a:noFill/>
          <a:ln/>
        </p:spPr>
        <p:txBody>
          <a:bodyPr wrap="square" lIns="0" tIns="0" rIns="0" bIns="0" rtlCol="0" anchor="ctr"/>
          <a:lstStyle/>
          <a:p>
            <a:pPr algn="ctr">
              <a:lnSpc>
                <a:spcPct val="120000"/>
              </a:lnSpc>
            </a:pPr>
            <a:r>
              <a:rPr lang="en-US" sz="1458" b="1" dirty="0">
                <a:solidFill>
                  <a:srgbClr val="F8F7F2"/>
                </a:solidFill>
                <a:latin typeface="Oranienbaum" pitchFamily="34" charset="0"/>
                <a:ea typeface="Oranienbaum" pitchFamily="34" charset="-122"/>
                <a:cs typeface="Oranienbaum" pitchFamily="34" charset="-120"/>
              </a:rPr>
              <a:t>2</a:t>
            </a:r>
            <a:endParaRPr lang="en-US" sz="1600" dirty="0"/>
          </a:p>
        </p:txBody>
      </p:sp>
      <p:sp>
        <p:nvSpPr>
          <p:cNvPr id="31" name="Text 29"/>
          <p:cNvSpPr/>
          <p:nvPr/>
        </p:nvSpPr>
        <p:spPr>
          <a:xfrm>
            <a:off x="3937434" y="3388210"/>
            <a:ext cx="1434897" cy="259207"/>
          </a:xfrm>
          <a:prstGeom prst="rect">
            <a:avLst/>
          </a:prstGeom>
          <a:noFill/>
          <a:ln/>
        </p:spPr>
        <p:txBody>
          <a:bodyPr wrap="square" lIns="0" tIns="0" rIns="0" bIns="0" rtlCol="0" anchor="ctr"/>
          <a:lstStyle/>
          <a:p>
            <a:pPr>
              <a:lnSpc>
                <a:spcPct val="120000"/>
              </a:lnSpc>
            </a:pPr>
            <a:r>
              <a:rPr lang="en-US" sz="1458" b="1" dirty="0">
                <a:solidFill>
                  <a:srgbClr val="4A5D52"/>
                </a:solidFill>
                <a:latin typeface="Unna" pitchFamily="34" charset="0"/>
                <a:ea typeface="Unna" pitchFamily="34" charset="-122"/>
                <a:cs typeface="Unna" pitchFamily="34" charset="-120"/>
              </a:rPr>
              <a:t>Written Warning</a:t>
            </a:r>
            <a:endParaRPr lang="en-US" sz="1600" dirty="0"/>
          </a:p>
        </p:txBody>
      </p:sp>
      <p:sp>
        <p:nvSpPr>
          <p:cNvPr id="32" name="Text 30"/>
          <p:cNvSpPr/>
          <p:nvPr/>
        </p:nvSpPr>
        <p:spPr>
          <a:xfrm>
            <a:off x="3456049" y="3814050"/>
            <a:ext cx="2443954" cy="185148"/>
          </a:xfrm>
          <a:prstGeom prst="rect">
            <a:avLst/>
          </a:prstGeom>
          <a:noFill/>
          <a:ln/>
        </p:spPr>
        <p:txBody>
          <a:bodyPr wrap="square" lIns="0" tIns="0" rIns="0" bIns="0" rtlCol="0" anchor="ctr"/>
          <a:lstStyle/>
          <a:p>
            <a:pPr>
              <a:lnSpc>
                <a:spcPct val="120000"/>
              </a:lnSpc>
            </a:pPr>
            <a:r>
              <a:rPr lang="en-US" sz="1021" b="1" spc="26" kern="0" dirty="0">
                <a:solidFill>
                  <a:srgbClr val="A88B6A"/>
                </a:solidFill>
                <a:latin typeface="Liter" pitchFamily="34" charset="0"/>
                <a:ea typeface="Liter" pitchFamily="34" charset="-122"/>
                <a:cs typeface="Liter" pitchFamily="34" charset="-120"/>
              </a:rPr>
              <a:t>Triggers</a:t>
            </a:r>
            <a:endParaRPr lang="en-US" sz="1600" dirty="0"/>
          </a:p>
        </p:txBody>
      </p:sp>
      <p:sp>
        <p:nvSpPr>
          <p:cNvPr id="33" name="Text 31"/>
          <p:cNvSpPr/>
          <p:nvPr/>
        </p:nvSpPr>
        <p:spPr>
          <a:xfrm>
            <a:off x="3456049" y="4073257"/>
            <a:ext cx="111089" cy="185148"/>
          </a:xfrm>
          <a:prstGeom prst="rect">
            <a:avLst/>
          </a:prstGeom>
          <a:noFill/>
          <a:ln/>
        </p:spPr>
        <p:txBody>
          <a:bodyPr wrap="square" lIns="0" tIns="0" rIns="0" bIns="0" rtlCol="0" anchor="ctr"/>
          <a:lstStyle/>
          <a:p>
            <a:pPr>
              <a:lnSpc>
                <a:spcPct val="120000"/>
              </a:lnSpc>
            </a:pPr>
            <a:r>
              <a:rPr lang="en-US" sz="1021" dirty="0">
                <a:solidFill>
                  <a:srgbClr val="A88B6A"/>
                </a:solidFill>
                <a:latin typeface="Liter" pitchFamily="34" charset="0"/>
                <a:ea typeface="Liter" pitchFamily="34" charset="-122"/>
                <a:cs typeface="Liter" pitchFamily="34" charset="-120"/>
              </a:rPr>
              <a:t>•</a:t>
            </a:r>
            <a:endParaRPr lang="en-US" sz="1600" dirty="0"/>
          </a:p>
        </p:txBody>
      </p:sp>
      <p:sp>
        <p:nvSpPr>
          <p:cNvPr id="34" name="Text 32"/>
          <p:cNvSpPr/>
          <p:nvPr/>
        </p:nvSpPr>
        <p:spPr>
          <a:xfrm>
            <a:off x="3578710" y="4073257"/>
            <a:ext cx="2194005"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Repeat of previously warned behavior</a:t>
            </a:r>
            <a:endParaRPr lang="en-US" sz="1600" dirty="0"/>
          </a:p>
        </p:txBody>
      </p:sp>
      <p:sp>
        <p:nvSpPr>
          <p:cNvPr id="35" name="Text 33"/>
          <p:cNvSpPr/>
          <p:nvPr/>
        </p:nvSpPr>
        <p:spPr>
          <a:xfrm>
            <a:off x="3456049" y="4295435"/>
            <a:ext cx="111089" cy="185148"/>
          </a:xfrm>
          <a:prstGeom prst="rect">
            <a:avLst/>
          </a:prstGeom>
          <a:noFill/>
          <a:ln/>
        </p:spPr>
        <p:txBody>
          <a:bodyPr wrap="square" lIns="0" tIns="0" rIns="0" bIns="0" rtlCol="0" anchor="ctr"/>
          <a:lstStyle/>
          <a:p>
            <a:pPr>
              <a:lnSpc>
                <a:spcPct val="120000"/>
              </a:lnSpc>
            </a:pPr>
            <a:r>
              <a:rPr lang="en-US" sz="1021" dirty="0">
                <a:solidFill>
                  <a:srgbClr val="A88B6A"/>
                </a:solidFill>
                <a:latin typeface="Liter" pitchFamily="34" charset="0"/>
                <a:ea typeface="Liter" pitchFamily="34" charset="-122"/>
                <a:cs typeface="Liter" pitchFamily="34" charset="-120"/>
              </a:rPr>
              <a:t>•</a:t>
            </a:r>
            <a:endParaRPr lang="en-US" sz="1600" dirty="0"/>
          </a:p>
        </p:txBody>
      </p:sp>
      <p:sp>
        <p:nvSpPr>
          <p:cNvPr id="36" name="Text 34"/>
          <p:cNvSpPr/>
          <p:nvPr/>
        </p:nvSpPr>
        <p:spPr>
          <a:xfrm>
            <a:off x="3578710" y="4295435"/>
            <a:ext cx="1564501"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Moderate policy violations</a:t>
            </a:r>
            <a:endParaRPr lang="en-US" sz="1600" dirty="0"/>
          </a:p>
        </p:txBody>
      </p:sp>
      <p:sp>
        <p:nvSpPr>
          <p:cNvPr id="37" name="Text 35"/>
          <p:cNvSpPr/>
          <p:nvPr/>
        </p:nvSpPr>
        <p:spPr>
          <a:xfrm>
            <a:off x="3456049" y="4517613"/>
            <a:ext cx="111089" cy="185148"/>
          </a:xfrm>
          <a:prstGeom prst="rect">
            <a:avLst/>
          </a:prstGeom>
          <a:noFill/>
          <a:ln/>
        </p:spPr>
        <p:txBody>
          <a:bodyPr wrap="square" lIns="0" tIns="0" rIns="0" bIns="0" rtlCol="0" anchor="ctr"/>
          <a:lstStyle/>
          <a:p>
            <a:pPr>
              <a:lnSpc>
                <a:spcPct val="120000"/>
              </a:lnSpc>
            </a:pPr>
            <a:r>
              <a:rPr lang="en-US" sz="1021" dirty="0">
                <a:solidFill>
                  <a:srgbClr val="A88B6A"/>
                </a:solidFill>
                <a:latin typeface="Liter" pitchFamily="34" charset="0"/>
                <a:ea typeface="Liter" pitchFamily="34" charset="-122"/>
                <a:cs typeface="Liter" pitchFamily="34" charset="-120"/>
              </a:rPr>
              <a:t>•</a:t>
            </a:r>
            <a:endParaRPr lang="en-US" sz="1600" dirty="0"/>
          </a:p>
        </p:txBody>
      </p:sp>
      <p:sp>
        <p:nvSpPr>
          <p:cNvPr id="38" name="Text 36"/>
          <p:cNvSpPr/>
          <p:nvPr/>
        </p:nvSpPr>
        <p:spPr>
          <a:xfrm>
            <a:off x="3578710" y="4517613"/>
            <a:ext cx="1897768"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Failure to report issues promptly</a:t>
            </a:r>
            <a:endParaRPr lang="en-US" sz="1600" dirty="0"/>
          </a:p>
        </p:txBody>
      </p:sp>
      <p:sp>
        <p:nvSpPr>
          <p:cNvPr id="39" name="Text 37"/>
          <p:cNvSpPr/>
          <p:nvPr/>
        </p:nvSpPr>
        <p:spPr>
          <a:xfrm>
            <a:off x="3456049" y="4739790"/>
            <a:ext cx="111089" cy="185148"/>
          </a:xfrm>
          <a:prstGeom prst="rect">
            <a:avLst/>
          </a:prstGeom>
          <a:noFill/>
          <a:ln/>
        </p:spPr>
        <p:txBody>
          <a:bodyPr wrap="square" lIns="0" tIns="0" rIns="0" bIns="0" rtlCol="0" anchor="ctr"/>
          <a:lstStyle/>
          <a:p>
            <a:pPr>
              <a:lnSpc>
                <a:spcPct val="120000"/>
              </a:lnSpc>
            </a:pPr>
            <a:r>
              <a:rPr lang="en-US" sz="1021" dirty="0">
                <a:solidFill>
                  <a:srgbClr val="A88B6A"/>
                </a:solidFill>
                <a:latin typeface="Liter" pitchFamily="34" charset="0"/>
                <a:ea typeface="Liter" pitchFamily="34" charset="-122"/>
                <a:cs typeface="Liter" pitchFamily="34" charset="-120"/>
              </a:rPr>
              <a:t>•</a:t>
            </a:r>
            <a:endParaRPr lang="en-US" sz="1600" dirty="0"/>
          </a:p>
        </p:txBody>
      </p:sp>
      <p:sp>
        <p:nvSpPr>
          <p:cNvPr id="40" name="Text 38"/>
          <p:cNvSpPr/>
          <p:nvPr/>
        </p:nvSpPr>
        <p:spPr>
          <a:xfrm>
            <a:off x="3578710" y="4739790"/>
            <a:ext cx="1944055"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Incomplete or inaccurate records</a:t>
            </a:r>
            <a:endParaRPr lang="en-US" sz="1600" dirty="0"/>
          </a:p>
        </p:txBody>
      </p:sp>
      <p:sp>
        <p:nvSpPr>
          <p:cNvPr id="41" name="Shape 39"/>
          <p:cNvSpPr/>
          <p:nvPr/>
        </p:nvSpPr>
        <p:spPr>
          <a:xfrm>
            <a:off x="3456049" y="5040656"/>
            <a:ext cx="2379153" cy="9257"/>
          </a:xfrm>
          <a:custGeom>
            <a:avLst/>
            <a:gdLst/>
            <a:ahLst/>
            <a:cxnLst/>
            <a:rect l="l" t="t" r="r" b="b"/>
            <a:pathLst>
              <a:path w="2379153" h="9257">
                <a:moveTo>
                  <a:pt x="0" y="0"/>
                </a:moveTo>
                <a:lnTo>
                  <a:pt x="2379153" y="0"/>
                </a:lnTo>
                <a:lnTo>
                  <a:pt x="2379153" y="9257"/>
                </a:lnTo>
                <a:lnTo>
                  <a:pt x="0" y="9257"/>
                </a:lnTo>
                <a:lnTo>
                  <a:pt x="0" y="0"/>
                </a:lnTo>
                <a:close/>
              </a:path>
            </a:pathLst>
          </a:custGeom>
          <a:solidFill>
            <a:srgbClr val="A88B6A">
              <a:alpha val="20000"/>
            </a:srgbClr>
          </a:solidFill>
          <a:ln/>
        </p:spPr>
      </p:sp>
      <p:sp>
        <p:nvSpPr>
          <p:cNvPr id="42" name="Shape 40"/>
          <p:cNvSpPr/>
          <p:nvPr/>
        </p:nvSpPr>
        <p:spPr>
          <a:xfrm>
            <a:off x="3474564" y="5184146"/>
            <a:ext cx="129604" cy="129604"/>
          </a:xfrm>
          <a:custGeom>
            <a:avLst/>
            <a:gdLst/>
            <a:ahLst/>
            <a:cxnLst/>
            <a:rect l="l" t="t" r="r" b="b"/>
            <a:pathLst>
              <a:path w="129604" h="129604">
                <a:moveTo>
                  <a:pt x="64802" y="129604"/>
                </a:moveTo>
                <a:cubicBezTo>
                  <a:pt x="100567" y="129604"/>
                  <a:pt x="129604" y="100567"/>
                  <a:pt x="129604" y="64802"/>
                </a:cubicBezTo>
                <a:cubicBezTo>
                  <a:pt x="129604" y="29037"/>
                  <a:pt x="100567" y="0"/>
                  <a:pt x="64802" y="0"/>
                </a:cubicBezTo>
                <a:cubicBezTo>
                  <a:pt x="29037" y="0"/>
                  <a:pt x="0" y="29037"/>
                  <a:pt x="0" y="64802"/>
                </a:cubicBezTo>
                <a:cubicBezTo>
                  <a:pt x="0" y="100567"/>
                  <a:pt x="29037" y="129604"/>
                  <a:pt x="64802" y="129604"/>
                </a:cubicBezTo>
                <a:close/>
                <a:moveTo>
                  <a:pt x="56702" y="40501"/>
                </a:moveTo>
                <a:cubicBezTo>
                  <a:pt x="56702" y="36031"/>
                  <a:pt x="60331" y="32401"/>
                  <a:pt x="64802" y="32401"/>
                </a:cubicBezTo>
                <a:cubicBezTo>
                  <a:pt x="69272" y="32401"/>
                  <a:pt x="72902" y="36031"/>
                  <a:pt x="72902" y="40501"/>
                </a:cubicBezTo>
                <a:cubicBezTo>
                  <a:pt x="72902" y="44972"/>
                  <a:pt x="69272" y="48601"/>
                  <a:pt x="64802" y="48601"/>
                </a:cubicBezTo>
                <a:cubicBezTo>
                  <a:pt x="60331" y="48601"/>
                  <a:pt x="56702" y="44972"/>
                  <a:pt x="56702" y="40501"/>
                </a:cubicBezTo>
                <a:close/>
                <a:moveTo>
                  <a:pt x="54677" y="56702"/>
                </a:moveTo>
                <a:lnTo>
                  <a:pt x="66827" y="56702"/>
                </a:lnTo>
                <a:cubicBezTo>
                  <a:pt x="70194" y="56702"/>
                  <a:pt x="72902" y="59410"/>
                  <a:pt x="72902" y="62777"/>
                </a:cubicBezTo>
                <a:lnTo>
                  <a:pt x="72902" y="85052"/>
                </a:lnTo>
                <a:lnTo>
                  <a:pt x="74927" y="85052"/>
                </a:lnTo>
                <a:cubicBezTo>
                  <a:pt x="78294" y="85052"/>
                  <a:pt x="81002" y="87761"/>
                  <a:pt x="81002" y="91128"/>
                </a:cubicBezTo>
                <a:cubicBezTo>
                  <a:pt x="81002" y="94494"/>
                  <a:pt x="78294" y="97203"/>
                  <a:pt x="74927" y="97203"/>
                </a:cubicBezTo>
                <a:lnTo>
                  <a:pt x="54677" y="97203"/>
                </a:lnTo>
                <a:cubicBezTo>
                  <a:pt x="51310" y="97203"/>
                  <a:pt x="48601" y="94494"/>
                  <a:pt x="48601" y="91128"/>
                </a:cubicBezTo>
                <a:cubicBezTo>
                  <a:pt x="48601" y="87761"/>
                  <a:pt x="51310" y="85052"/>
                  <a:pt x="54677" y="85052"/>
                </a:cubicBezTo>
                <a:lnTo>
                  <a:pt x="60752" y="85052"/>
                </a:lnTo>
                <a:lnTo>
                  <a:pt x="60752" y="68852"/>
                </a:lnTo>
                <a:lnTo>
                  <a:pt x="54677" y="68852"/>
                </a:lnTo>
                <a:cubicBezTo>
                  <a:pt x="51310" y="68852"/>
                  <a:pt x="48601" y="66143"/>
                  <a:pt x="48601" y="62777"/>
                </a:cubicBezTo>
                <a:cubicBezTo>
                  <a:pt x="48601" y="59410"/>
                  <a:pt x="51310" y="56702"/>
                  <a:pt x="54677" y="56702"/>
                </a:cubicBezTo>
                <a:close/>
              </a:path>
            </a:pathLst>
          </a:custGeom>
          <a:solidFill>
            <a:srgbClr val="A88B6A"/>
          </a:solidFill>
          <a:ln/>
        </p:spPr>
      </p:sp>
      <p:sp>
        <p:nvSpPr>
          <p:cNvPr id="43" name="Text 41"/>
          <p:cNvSpPr/>
          <p:nvPr/>
        </p:nvSpPr>
        <p:spPr>
          <a:xfrm>
            <a:off x="3676666" y="5156374"/>
            <a:ext cx="2223337" cy="370296"/>
          </a:xfrm>
          <a:prstGeom prst="rect">
            <a:avLst/>
          </a:prstGeom>
          <a:noFill/>
          <a:ln/>
        </p:spPr>
        <p:txBody>
          <a:bodyPr wrap="square" lIns="0" tIns="0" rIns="0" bIns="0" rtlCol="0" anchor="ctr"/>
          <a:lstStyle/>
          <a:p>
            <a:pPr>
              <a:lnSpc>
                <a:spcPct val="120000"/>
              </a:lnSpc>
            </a:pPr>
            <a:r>
              <a:rPr lang="en-US" sz="1021" dirty="0">
                <a:solidFill>
                  <a:srgbClr val="2C3531">
                    <a:alpha val="70000"/>
                  </a:srgbClr>
                </a:solidFill>
                <a:latin typeface="Liter" pitchFamily="34" charset="0"/>
                <a:ea typeface="Liter" pitchFamily="34" charset="-122"/>
                <a:cs typeface="Liter" pitchFamily="34" charset="-120"/>
              </a:rPr>
              <a:t>Formal document signed by employee, active for 180 days</a:t>
            </a:r>
            <a:endParaRPr lang="en-US" sz="1600" dirty="0"/>
          </a:p>
        </p:txBody>
      </p:sp>
      <p:sp>
        <p:nvSpPr>
          <p:cNvPr id="44" name="Shape 42"/>
          <p:cNvSpPr/>
          <p:nvPr/>
        </p:nvSpPr>
        <p:spPr>
          <a:xfrm>
            <a:off x="6171506" y="3129002"/>
            <a:ext cx="2749449" cy="2582815"/>
          </a:xfrm>
          <a:custGeom>
            <a:avLst/>
            <a:gdLst/>
            <a:ahLst/>
            <a:cxnLst/>
            <a:rect l="l" t="t" r="r" b="b"/>
            <a:pathLst>
              <a:path w="2749449" h="2582815">
                <a:moveTo>
                  <a:pt x="37030" y="0"/>
                </a:moveTo>
                <a:lnTo>
                  <a:pt x="2712419" y="0"/>
                </a:lnTo>
                <a:cubicBezTo>
                  <a:pt x="2732870" y="0"/>
                  <a:pt x="2749449" y="16579"/>
                  <a:pt x="2749449" y="37030"/>
                </a:cubicBezTo>
                <a:lnTo>
                  <a:pt x="2749449" y="2508766"/>
                </a:lnTo>
                <a:cubicBezTo>
                  <a:pt x="2749449" y="2549662"/>
                  <a:pt x="2716296" y="2582815"/>
                  <a:pt x="2675399" y="2582815"/>
                </a:cubicBezTo>
                <a:lnTo>
                  <a:pt x="74049" y="2582815"/>
                </a:lnTo>
                <a:cubicBezTo>
                  <a:pt x="33153" y="2582815"/>
                  <a:pt x="0" y="2549662"/>
                  <a:pt x="0" y="2508766"/>
                </a:cubicBezTo>
                <a:lnTo>
                  <a:pt x="0" y="37030"/>
                </a:lnTo>
                <a:cubicBezTo>
                  <a:pt x="0" y="16592"/>
                  <a:pt x="16592" y="0"/>
                  <a:pt x="37030" y="0"/>
                </a:cubicBezTo>
                <a:close/>
              </a:path>
            </a:pathLst>
          </a:custGeom>
          <a:solidFill>
            <a:srgbClr val="D4A056">
              <a:alpha val="10196"/>
            </a:srgbClr>
          </a:solidFill>
          <a:ln/>
        </p:spPr>
      </p:sp>
      <p:sp>
        <p:nvSpPr>
          <p:cNvPr id="45" name="Shape 43"/>
          <p:cNvSpPr/>
          <p:nvPr/>
        </p:nvSpPr>
        <p:spPr>
          <a:xfrm>
            <a:off x="6171506" y="3129002"/>
            <a:ext cx="2749449" cy="37030"/>
          </a:xfrm>
          <a:custGeom>
            <a:avLst/>
            <a:gdLst/>
            <a:ahLst/>
            <a:cxnLst/>
            <a:rect l="l" t="t" r="r" b="b"/>
            <a:pathLst>
              <a:path w="2749449" h="37030">
                <a:moveTo>
                  <a:pt x="37030" y="0"/>
                </a:moveTo>
                <a:lnTo>
                  <a:pt x="2712419" y="0"/>
                </a:lnTo>
                <a:cubicBezTo>
                  <a:pt x="2732870" y="0"/>
                  <a:pt x="2749449" y="16579"/>
                  <a:pt x="2749449" y="37030"/>
                </a:cubicBezTo>
                <a:lnTo>
                  <a:pt x="2749449" y="37030"/>
                </a:lnTo>
                <a:lnTo>
                  <a:pt x="0" y="37030"/>
                </a:lnTo>
                <a:lnTo>
                  <a:pt x="0" y="37030"/>
                </a:lnTo>
                <a:cubicBezTo>
                  <a:pt x="0" y="16592"/>
                  <a:pt x="16592" y="0"/>
                  <a:pt x="37030" y="0"/>
                </a:cubicBezTo>
                <a:close/>
              </a:path>
            </a:pathLst>
          </a:custGeom>
          <a:solidFill>
            <a:srgbClr val="D4A056"/>
          </a:solidFill>
          <a:ln/>
        </p:spPr>
      </p:sp>
      <p:sp>
        <p:nvSpPr>
          <p:cNvPr id="46" name="Shape 44"/>
          <p:cNvSpPr/>
          <p:nvPr/>
        </p:nvSpPr>
        <p:spPr>
          <a:xfrm>
            <a:off x="6356654" y="3332665"/>
            <a:ext cx="370296" cy="370296"/>
          </a:xfrm>
          <a:custGeom>
            <a:avLst/>
            <a:gdLst/>
            <a:ahLst/>
            <a:cxnLst/>
            <a:rect l="l" t="t" r="r" b="b"/>
            <a:pathLst>
              <a:path w="370296" h="370296">
                <a:moveTo>
                  <a:pt x="185148" y="0"/>
                </a:moveTo>
                <a:lnTo>
                  <a:pt x="185148" y="0"/>
                </a:lnTo>
                <a:cubicBezTo>
                  <a:pt x="287334" y="0"/>
                  <a:pt x="370296" y="82962"/>
                  <a:pt x="370296" y="185148"/>
                </a:cubicBezTo>
                <a:lnTo>
                  <a:pt x="370296" y="185148"/>
                </a:lnTo>
                <a:cubicBezTo>
                  <a:pt x="370296" y="287334"/>
                  <a:pt x="287334" y="370296"/>
                  <a:pt x="185148" y="370296"/>
                </a:cubicBezTo>
                <a:lnTo>
                  <a:pt x="185148" y="370296"/>
                </a:lnTo>
                <a:cubicBezTo>
                  <a:pt x="82962" y="370296"/>
                  <a:pt x="0" y="287334"/>
                  <a:pt x="0" y="185148"/>
                </a:cubicBezTo>
                <a:lnTo>
                  <a:pt x="0" y="185148"/>
                </a:lnTo>
                <a:cubicBezTo>
                  <a:pt x="0" y="82962"/>
                  <a:pt x="82962" y="0"/>
                  <a:pt x="185148" y="0"/>
                </a:cubicBezTo>
                <a:close/>
              </a:path>
            </a:pathLst>
          </a:custGeom>
          <a:solidFill>
            <a:srgbClr val="D4A056"/>
          </a:solidFill>
          <a:ln/>
        </p:spPr>
      </p:sp>
      <p:sp>
        <p:nvSpPr>
          <p:cNvPr id="47" name="Text 45"/>
          <p:cNvSpPr/>
          <p:nvPr/>
        </p:nvSpPr>
        <p:spPr>
          <a:xfrm>
            <a:off x="6310367" y="3332665"/>
            <a:ext cx="462870" cy="370296"/>
          </a:xfrm>
          <a:prstGeom prst="rect">
            <a:avLst/>
          </a:prstGeom>
          <a:noFill/>
          <a:ln/>
        </p:spPr>
        <p:txBody>
          <a:bodyPr wrap="square" lIns="0" tIns="0" rIns="0" bIns="0" rtlCol="0" anchor="ctr"/>
          <a:lstStyle/>
          <a:p>
            <a:pPr algn="ctr">
              <a:lnSpc>
                <a:spcPct val="120000"/>
              </a:lnSpc>
            </a:pPr>
            <a:r>
              <a:rPr lang="en-US" sz="1458" b="1" dirty="0">
                <a:solidFill>
                  <a:srgbClr val="2C3531"/>
                </a:solidFill>
                <a:latin typeface="Oranienbaum" pitchFamily="34" charset="0"/>
                <a:ea typeface="Oranienbaum" pitchFamily="34" charset="-122"/>
                <a:cs typeface="Oranienbaum" pitchFamily="34" charset="-120"/>
              </a:rPr>
              <a:t>3</a:t>
            </a:r>
            <a:endParaRPr lang="en-US" sz="1600" dirty="0"/>
          </a:p>
        </p:txBody>
      </p:sp>
      <p:sp>
        <p:nvSpPr>
          <p:cNvPr id="48" name="Text 46"/>
          <p:cNvSpPr/>
          <p:nvPr/>
        </p:nvSpPr>
        <p:spPr>
          <a:xfrm>
            <a:off x="6838039" y="3388210"/>
            <a:ext cx="990542" cy="259207"/>
          </a:xfrm>
          <a:prstGeom prst="rect">
            <a:avLst/>
          </a:prstGeom>
          <a:noFill/>
          <a:ln/>
        </p:spPr>
        <p:txBody>
          <a:bodyPr wrap="square" lIns="0" tIns="0" rIns="0" bIns="0" rtlCol="0" anchor="ctr"/>
          <a:lstStyle/>
          <a:p>
            <a:pPr>
              <a:lnSpc>
                <a:spcPct val="120000"/>
              </a:lnSpc>
            </a:pPr>
            <a:r>
              <a:rPr lang="en-US" sz="1458" b="1" dirty="0">
                <a:solidFill>
                  <a:srgbClr val="4A5D52"/>
                </a:solidFill>
                <a:latin typeface="Unna" pitchFamily="34" charset="0"/>
                <a:ea typeface="Unna" pitchFamily="34" charset="-122"/>
                <a:cs typeface="Unna" pitchFamily="34" charset="-120"/>
              </a:rPr>
              <a:t>Suspension</a:t>
            </a:r>
            <a:endParaRPr lang="en-US" sz="1600" dirty="0"/>
          </a:p>
        </p:txBody>
      </p:sp>
      <p:sp>
        <p:nvSpPr>
          <p:cNvPr id="49" name="Text 47"/>
          <p:cNvSpPr/>
          <p:nvPr/>
        </p:nvSpPr>
        <p:spPr>
          <a:xfrm>
            <a:off x="6356654" y="3814050"/>
            <a:ext cx="2443954" cy="185148"/>
          </a:xfrm>
          <a:prstGeom prst="rect">
            <a:avLst/>
          </a:prstGeom>
          <a:noFill/>
          <a:ln/>
        </p:spPr>
        <p:txBody>
          <a:bodyPr wrap="square" lIns="0" tIns="0" rIns="0" bIns="0" rtlCol="0" anchor="ctr"/>
          <a:lstStyle/>
          <a:p>
            <a:pPr>
              <a:lnSpc>
                <a:spcPct val="120000"/>
              </a:lnSpc>
            </a:pPr>
            <a:r>
              <a:rPr lang="en-US" sz="1021" b="1" spc="26" kern="0" dirty="0">
                <a:solidFill>
                  <a:srgbClr val="A88B6A"/>
                </a:solidFill>
                <a:latin typeface="Liter" pitchFamily="34" charset="0"/>
                <a:ea typeface="Liter" pitchFamily="34" charset="-122"/>
                <a:cs typeface="Liter" pitchFamily="34" charset="-120"/>
              </a:rPr>
              <a:t>Triggers</a:t>
            </a:r>
            <a:endParaRPr lang="en-US" sz="1600" dirty="0"/>
          </a:p>
        </p:txBody>
      </p:sp>
      <p:sp>
        <p:nvSpPr>
          <p:cNvPr id="50" name="Text 48"/>
          <p:cNvSpPr/>
          <p:nvPr/>
        </p:nvSpPr>
        <p:spPr>
          <a:xfrm>
            <a:off x="6356654" y="4073257"/>
            <a:ext cx="111089" cy="185148"/>
          </a:xfrm>
          <a:prstGeom prst="rect">
            <a:avLst/>
          </a:prstGeom>
          <a:noFill/>
          <a:ln/>
        </p:spPr>
        <p:txBody>
          <a:bodyPr wrap="square" lIns="0" tIns="0" rIns="0" bIns="0" rtlCol="0" anchor="ctr"/>
          <a:lstStyle/>
          <a:p>
            <a:pPr>
              <a:lnSpc>
                <a:spcPct val="120000"/>
              </a:lnSpc>
            </a:pPr>
            <a:r>
              <a:rPr lang="en-US" sz="1021" dirty="0">
                <a:solidFill>
                  <a:srgbClr val="D4A056"/>
                </a:solidFill>
                <a:latin typeface="Liter" pitchFamily="34" charset="0"/>
                <a:ea typeface="Liter" pitchFamily="34" charset="-122"/>
                <a:cs typeface="Liter" pitchFamily="34" charset="-120"/>
              </a:rPr>
              <a:t>•</a:t>
            </a:r>
            <a:endParaRPr lang="en-US" sz="1600" dirty="0"/>
          </a:p>
        </p:txBody>
      </p:sp>
      <p:sp>
        <p:nvSpPr>
          <p:cNvPr id="51" name="Text 49"/>
          <p:cNvSpPr/>
          <p:nvPr/>
        </p:nvSpPr>
        <p:spPr>
          <a:xfrm>
            <a:off x="6479314" y="4073257"/>
            <a:ext cx="1434897"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Serious policy violations</a:t>
            </a:r>
            <a:endParaRPr lang="en-US" sz="1600" dirty="0"/>
          </a:p>
        </p:txBody>
      </p:sp>
      <p:sp>
        <p:nvSpPr>
          <p:cNvPr id="52" name="Text 50"/>
          <p:cNvSpPr/>
          <p:nvPr/>
        </p:nvSpPr>
        <p:spPr>
          <a:xfrm>
            <a:off x="6356654" y="4295435"/>
            <a:ext cx="111089" cy="185148"/>
          </a:xfrm>
          <a:prstGeom prst="rect">
            <a:avLst/>
          </a:prstGeom>
          <a:noFill/>
          <a:ln/>
        </p:spPr>
        <p:txBody>
          <a:bodyPr wrap="square" lIns="0" tIns="0" rIns="0" bIns="0" rtlCol="0" anchor="ctr"/>
          <a:lstStyle/>
          <a:p>
            <a:pPr>
              <a:lnSpc>
                <a:spcPct val="120000"/>
              </a:lnSpc>
            </a:pPr>
            <a:r>
              <a:rPr lang="en-US" sz="1021" dirty="0">
                <a:solidFill>
                  <a:srgbClr val="D4A056"/>
                </a:solidFill>
                <a:latin typeface="Liter" pitchFamily="34" charset="0"/>
                <a:ea typeface="Liter" pitchFamily="34" charset="-122"/>
                <a:cs typeface="Liter" pitchFamily="34" charset="-120"/>
              </a:rPr>
              <a:t>•</a:t>
            </a:r>
            <a:endParaRPr lang="en-US" sz="1600" dirty="0"/>
          </a:p>
        </p:txBody>
      </p:sp>
      <p:sp>
        <p:nvSpPr>
          <p:cNvPr id="53" name="Text 51"/>
          <p:cNvSpPr/>
          <p:nvPr/>
        </p:nvSpPr>
        <p:spPr>
          <a:xfrm>
            <a:off x="6479314" y="4295435"/>
            <a:ext cx="1842223"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Third occurrence of same issue</a:t>
            </a:r>
            <a:endParaRPr lang="en-US" sz="1600" dirty="0"/>
          </a:p>
        </p:txBody>
      </p:sp>
      <p:sp>
        <p:nvSpPr>
          <p:cNvPr id="54" name="Text 52"/>
          <p:cNvSpPr/>
          <p:nvPr/>
        </p:nvSpPr>
        <p:spPr>
          <a:xfrm>
            <a:off x="6356654" y="4517613"/>
            <a:ext cx="111089" cy="185148"/>
          </a:xfrm>
          <a:prstGeom prst="rect">
            <a:avLst/>
          </a:prstGeom>
          <a:noFill/>
          <a:ln/>
        </p:spPr>
        <p:txBody>
          <a:bodyPr wrap="square" lIns="0" tIns="0" rIns="0" bIns="0" rtlCol="0" anchor="ctr"/>
          <a:lstStyle/>
          <a:p>
            <a:pPr>
              <a:lnSpc>
                <a:spcPct val="120000"/>
              </a:lnSpc>
            </a:pPr>
            <a:r>
              <a:rPr lang="en-US" sz="1021" dirty="0">
                <a:solidFill>
                  <a:srgbClr val="D4A056"/>
                </a:solidFill>
                <a:latin typeface="Liter" pitchFamily="34" charset="0"/>
                <a:ea typeface="Liter" pitchFamily="34" charset="-122"/>
                <a:cs typeface="Liter" pitchFamily="34" charset="-120"/>
              </a:rPr>
              <a:t>•</a:t>
            </a:r>
            <a:endParaRPr lang="en-US" sz="1600" dirty="0"/>
          </a:p>
        </p:txBody>
      </p:sp>
      <p:sp>
        <p:nvSpPr>
          <p:cNvPr id="55" name="Text 53"/>
          <p:cNvSpPr/>
          <p:nvPr/>
        </p:nvSpPr>
        <p:spPr>
          <a:xfrm>
            <a:off x="6479314" y="4517613"/>
            <a:ext cx="1990342"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Negligence causing plant damage</a:t>
            </a:r>
            <a:endParaRPr lang="en-US" sz="1600" dirty="0"/>
          </a:p>
        </p:txBody>
      </p:sp>
      <p:sp>
        <p:nvSpPr>
          <p:cNvPr id="56" name="Text 54"/>
          <p:cNvSpPr/>
          <p:nvPr/>
        </p:nvSpPr>
        <p:spPr>
          <a:xfrm>
            <a:off x="6356654" y="4739790"/>
            <a:ext cx="111089" cy="185148"/>
          </a:xfrm>
          <a:prstGeom prst="rect">
            <a:avLst/>
          </a:prstGeom>
          <a:noFill/>
          <a:ln/>
        </p:spPr>
        <p:txBody>
          <a:bodyPr wrap="square" lIns="0" tIns="0" rIns="0" bIns="0" rtlCol="0" anchor="ctr"/>
          <a:lstStyle/>
          <a:p>
            <a:pPr>
              <a:lnSpc>
                <a:spcPct val="120000"/>
              </a:lnSpc>
            </a:pPr>
            <a:r>
              <a:rPr lang="en-US" sz="1021" dirty="0">
                <a:solidFill>
                  <a:srgbClr val="D4A056"/>
                </a:solidFill>
                <a:latin typeface="Liter" pitchFamily="34" charset="0"/>
                <a:ea typeface="Liter" pitchFamily="34" charset="-122"/>
                <a:cs typeface="Liter" pitchFamily="34" charset="-120"/>
              </a:rPr>
              <a:t>•</a:t>
            </a:r>
            <a:endParaRPr lang="en-US" sz="1600" dirty="0"/>
          </a:p>
        </p:txBody>
      </p:sp>
      <p:sp>
        <p:nvSpPr>
          <p:cNvPr id="57" name="Text 55"/>
          <p:cNvSpPr/>
          <p:nvPr/>
        </p:nvSpPr>
        <p:spPr>
          <a:xfrm>
            <a:off x="6479314" y="4739790"/>
            <a:ext cx="1342323"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Unauthorized absence</a:t>
            </a:r>
            <a:endParaRPr lang="en-US" sz="1600" dirty="0"/>
          </a:p>
        </p:txBody>
      </p:sp>
      <p:sp>
        <p:nvSpPr>
          <p:cNvPr id="58" name="Shape 56"/>
          <p:cNvSpPr/>
          <p:nvPr/>
        </p:nvSpPr>
        <p:spPr>
          <a:xfrm>
            <a:off x="6356654" y="5040656"/>
            <a:ext cx="2379153" cy="9257"/>
          </a:xfrm>
          <a:custGeom>
            <a:avLst/>
            <a:gdLst/>
            <a:ahLst/>
            <a:cxnLst/>
            <a:rect l="l" t="t" r="r" b="b"/>
            <a:pathLst>
              <a:path w="2379153" h="9257">
                <a:moveTo>
                  <a:pt x="0" y="0"/>
                </a:moveTo>
                <a:lnTo>
                  <a:pt x="2379153" y="0"/>
                </a:lnTo>
                <a:lnTo>
                  <a:pt x="2379153" y="9257"/>
                </a:lnTo>
                <a:lnTo>
                  <a:pt x="0" y="9257"/>
                </a:lnTo>
                <a:lnTo>
                  <a:pt x="0" y="0"/>
                </a:lnTo>
                <a:close/>
              </a:path>
            </a:pathLst>
          </a:custGeom>
          <a:solidFill>
            <a:srgbClr val="D4A056">
              <a:alpha val="20000"/>
            </a:srgbClr>
          </a:solidFill>
          <a:ln/>
        </p:spPr>
      </p:sp>
      <p:sp>
        <p:nvSpPr>
          <p:cNvPr id="59" name="Shape 57"/>
          <p:cNvSpPr/>
          <p:nvPr/>
        </p:nvSpPr>
        <p:spPr>
          <a:xfrm>
            <a:off x="6375169" y="5184146"/>
            <a:ext cx="129604" cy="129604"/>
          </a:xfrm>
          <a:custGeom>
            <a:avLst/>
            <a:gdLst/>
            <a:ahLst/>
            <a:cxnLst/>
            <a:rect l="l" t="t" r="r" b="b"/>
            <a:pathLst>
              <a:path w="129604" h="129604">
                <a:moveTo>
                  <a:pt x="64802" y="129604"/>
                </a:moveTo>
                <a:cubicBezTo>
                  <a:pt x="100567" y="129604"/>
                  <a:pt x="129604" y="100567"/>
                  <a:pt x="129604" y="64802"/>
                </a:cubicBezTo>
                <a:cubicBezTo>
                  <a:pt x="129604" y="29037"/>
                  <a:pt x="100567" y="0"/>
                  <a:pt x="64802" y="0"/>
                </a:cubicBezTo>
                <a:cubicBezTo>
                  <a:pt x="29037" y="0"/>
                  <a:pt x="0" y="29037"/>
                  <a:pt x="0" y="64802"/>
                </a:cubicBezTo>
                <a:cubicBezTo>
                  <a:pt x="0" y="100567"/>
                  <a:pt x="29037" y="129604"/>
                  <a:pt x="64802" y="129604"/>
                </a:cubicBezTo>
                <a:close/>
                <a:moveTo>
                  <a:pt x="56702" y="40501"/>
                </a:moveTo>
                <a:cubicBezTo>
                  <a:pt x="56702" y="36031"/>
                  <a:pt x="60331" y="32401"/>
                  <a:pt x="64802" y="32401"/>
                </a:cubicBezTo>
                <a:cubicBezTo>
                  <a:pt x="69272" y="32401"/>
                  <a:pt x="72902" y="36031"/>
                  <a:pt x="72902" y="40501"/>
                </a:cubicBezTo>
                <a:cubicBezTo>
                  <a:pt x="72902" y="44972"/>
                  <a:pt x="69272" y="48601"/>
                  <a:pt x="64802" y="48601"/>
                </a:cubicBezTo>
                <a:cubicBezTo>
                  <a:pt x="60331" y="48601"/>
                  <a:pt x="56702" y="44972"/>
                  <a:pt x="56702" y="40501"/>
                </a:cubicBezTo>
                <a:close/>
                <a:moveTo>
                  <a:pt x="54677" y="56702"/>
                </a:moveTo>
                <a:lnTo>
                  <a:pt x="66827" y="56702"/>
                </a:lnTo>
                <a:cubicBezTo>
                  <a:pt x="70194" y="56702"/>
                  <a:pt x="72902" y="59410"/>
                  <a:pt x="72902" y="62777"/>
                </a:cubicBezTo>
                <a:lnTo>
                  <a:pt x="72902" y="85052"/>
                </a:lnTo>
                <a:lnTo>
                  <a:pt x="74927" y="85052"/>
                </a:lnTo>
                <a:cubicBezTo>
                  <a:pt x="78294" y="85052"/>
                  <a:pt x="81002" y="87761"/>
                  <a:pt x="81002" y="91128"/>
                </a:cubicBezTo>
                <a:cubicBezTo>
                  <a:pt x="81002" y="94494"/>
                  <a:pt x="78294" y="97203"/>
                  <a:pt x="74927" y="97203"/>
                </a:cubicBezTo>
                <a:lnTo>
                  <a:pt x="54677" y="97203"/>
                </a:lnTo>
                <a:cubicBezTo>
                  <a:pt x="51310" y="97203"/>
                  <a:pt x="48601" y="94494"/>
                  <a:pt x="48601" y="91128"/>
                </a:cubicBezTo>
                <a:cubicBezTo>
                  <a:pt x="48601" y="87761"/>
                  <a:pt x="51310" y="85052"/>
                  <a:pt x="54677" y="85052"/>
                </a:cubicBezTo>
                <a:lnTo>
                  <a:pt x="60752" y="85052"/>
                </a:lnTo>
                <a:lnTo>
                  <a:pt x="60752" y="68852"/>
                </a:lnTo>
                <a:lnTo>
                  <a:pt x="54677" y="68852"/>
                </a:lnTo>
                <a:cubicBezTo>
                  <a:pt x="51310" y="68852"/>
                  <a:pt x="48601" y="66143"/>
                  <a:pt x="48601" y="62777"/>
                </a:cubicBezTo>
                <a:cubicBezTo>
                  <a:pt x="48601" y="59410"/>
                  <a:pt x="51310" y="56702"/>
                  <a:pt x="54677" y="56702"/>
                </a:cubicBezTo>
                <a:close/>
              </a:path>
            </a:pathLst>
          </a:custGeom>
          <a:solidFill>
            <a:srgbClr val="D4A056"/>
          </a:solidFill>
          <a:ln/>
        </p:spPr>
      </p:sp>
      <p:sp>
        <p:nvSpPr>
          <p:cNvPr id="60" name="Text 58"/>
          <p:cNvSpPr/>
          <p:nvPr/>
        </p:nvSpPr>
        <p:spPr>
          <a:xfrm>
            <a:off x="6577271" y="5156374"/>
            <a:ext cx="2223337" cy="370296"/>
          </a:xfrm>
          <a:prstGeom prst="rect">
            <a:avLst/>
          </a:prstGeom>
          <a:noFill/>
          <a:ln/>
        </p:spPr>
        <p:txBody>
          <a:bodyPr wrap="square" lIns="0" tIns="0" rIns="0" bIns="0" rtlCol="0" anchor="ctr"/>
          <a:lstStyle/>
          <a:p>
            <a:pPr>
              <a:lnSpc>
                <a:spcPct val="120000"/>
              </a:lnSpc>
            </a:pPr>
            <a:r>
              <a:rPr lang="en-US" sz="1021" dirty="0">
                <a:solidFill>
                  <a:srgbClr val="2C3531">
                    <a:alpha val="70000"/>
                  </a:srgbClr>
                </a:solidFill>
                <a:latin typeface="Liter" pitchFamily="34" charset="0"/>
                <a:ea typeface="Liter" pitchFamily="34" charset="-122"/>
                <a:cs typeface="Liter" pitchFamily="34" charset="-120"/>
              </a:rPr>
              <a:t>1-5 days without pay, final warning before termination</a:t>
            </a:r>
            <a:endParaRPr lang="en-US" sz="1600" dirty="0"/>
          </a:p>
        </p:txBody>
      </p:sp>
      <p:sp>
        <p:nvSpPr>
          <p:cNvPr id="61" name="Shape 59"/>
          <p:cNvSpPr/>
          <p:nvPr/>
        </p:nvSpPr>
        <p:spPr>
          <a:xfrm>
            <a:off x="9072110" y="3129002"/>
            <a:ext cx="2749449" cy="2582815"/>
          </a:xfrm>
          <a:custGeom>
            <a:avLst/>
            <a:gdLst/>
            <a:ahLst/>
            <a:cxnLst/>
            <a:rect l="l" t="t" r="r" b="b"/>
            <a:pathLst>
              <a:path w="2749449" h="2582815">
                <a:moveTo>
                  <a:pt x="37030" y="0"/>
                </a:moveTo>
                <a:lnTo>
                  <a:pt x="2712419" y="0"/>
                </a:lnTo>
                <a:cubicBezTo>
                  <a:pt x="2732870" y="0"/>
                  <a:pt x="2749449" y="16579"/>
                  <a:pt x="2749449" y="37030"/>
                </a:cubicBezTo>
                <a:lnTo>
                  <a:pt x="2749449" y="2508766"/>
                </a:lnTo>
                <a:cubicBezTo>
                  <a:pt x="2749449" y="2549662"/>
                  <a:pt x="2716296" y="2582815"/>
                  <a:pt x="2675399" y="2582815"/>
                </a:cubicBezTo>
                <a:lnTo>
                  <a:pt x="74049" y="2582815"/>
                </a:lnTo>
                <a:cubicBezTo>
                  <a:pt x="33153" y="2582815"/>
                  <a:pt x="0" y="2549662"/>
                  <a:pt x="0" y="2508766"/>
                </a:cubicBezTo>
                <a:lnTo>
                  <a:pt x="0" y="37030"/>
                </a:lnTo>
                <a:cubicBezTo>
                  <a:pt x="0" y="16592"/>
                  <a:pt x="16592" y="0"/>
                  <a:pt x="37030" y="0"/>
                </a:cubicBezTo>
                <a:close/>
              </a:path>
            </a:pathLst>
          </a:custGeom>
          <a:solidFill>
            <a:srgbClr val="FEF2F2"/>
          </a:solidFill>
          <a:ln/>
        </p:spPr>
      </p:sp>
      <p:sp>
        <p:nvSpPr>
          <p:cNvPr id="62" name="Shape 60"/>
          <p:cNvSpPr/>
          <p:nvPr/>
        </p:nvSpPr>
        <p:spPr>
          <a:xfrm>
            <a:off x="9072110" y="3129002"/>
            <a:ext cx="2749449" cy="37030"/>
          </a:xfrm>
          <a:custGeom>
            <a:avLst/>
            <a:gdLst/>
            <a:ahLst/>
            <a:cxnLst/>
            <a:rect l="l" t="t" r="r" b="b"/>
            <a:pathLst>
              <a:path w="2749449" h="37030">
                <a:moveTo>
                  <a:pt x="37030" y="0"/>
                </a:moveTo>
                <a:lnTo>
                  <a:pt x="2712419" y="0"/>
                </a:lnTo>
                <a:cubicBezTo>
                  <a:pt x="2732870" y="0"/>
                  <a:pt x="2749449" y="16579"/>
                  <a:pt x="2749449" y="37030"/>
                </a:cubicBezTo>
                <a:lnTo>
                  <a:pt x="2749449" y="37030"/>
                </a:lnTo>
                <a:lnTo>
                  <a:pt x="0" y="37030"/>
                </a:lnTo>
                <a:lnTo>
                  <a:pt x="0" y="37030"/>
                </a:lnTo>
                <a:cubicBezTo>
                  <a:pt x="0" y="16592"/>
                  <a:pt x="16592" y="0"/>
                  <a:pt x="37030" y="0"/>
                </a:cubicBezTo>
                <a:close/>
              </a:path>
            </a:pathLst>
          </a:custGeom>
          <a:solidFill>
            <a:srgbClr val="E7000B"/>
          </a:solidFill>
          <a:ln/>
        </p:spPr>
      </p:sp>
      <p:sp>
        <p:nvSpPr>
          <p:cNvPr id="63" name="Shape 61"/>
          <p:cNvSpPr/>
          <p:nvPr/>
        </p:nvSpPr>
        <p:spPr>
          <a:xfrm>
            <a:off x="9257259" y="3332665"/>
            <a:ext cx="370296" cy="370296"/>
          </a:xfrm>
          <a:custGeom>
            <a:avLst/>
            <a:gdLst/>
            <a:ahLst/>
            <a:cxnLst/>
            <a:rect l="l" t="t" r="r" b="b"/>
            <a:pathLst>
              <a:path w="370296" h="370296">
                <a:moveTo>
                  <a:pt x="185148" y="0"/>
                </a:moveTo>
                <a:lnTo>
                  <a:pt x="185148" y="0"/>
                </a:lnTo>
                <a:cubicBezTo>
                  <a:pt x="287334" y="0"/>
                  <a:pt x="370296" y="82962"/>
                  <a:pt x="370296" y="185148"/>
                </a:cubicBezTo>
                <a:lnTo>
                  <a:pt x="370296" y="185148"/>
                </a:lnTo>
                <a:cubicBezTo>
                  <a:pt x="370296" y="287334"/>
                  <a:pt x="287334" y="370296"/>
                  <a:pt x="185148" y="370296"/>
                </a:cubicBezTo>
                <a:lnTo>
                  <a:pt x="185148" y="370296"/>
                </a:lnTo>
                <a:cubicBezTo>
                  <a:pt x="82962" y="370296"/>
                  <a:pt x="0" y="287334"/>
                  <a:pt x="0" y="185148"/>
                </a:cubicBezTo>
                <a:lnTo>
                  <a:pt x="0" y="185148"/>
                </a:lnTo>
                <a:cubicBezTo>
                  <a:pt x="0" y="82962"/>
                  <a:pt x="82962" y="0"/>
                  <a:pt x="185148" y="0"/>
                </a:cubicBezTo>
                <a:close/>
              </a:path>
            </a:pathLst>
          </a:custGeom>
          <a:solidFill>
            <a:srgbClr val="E7000B"/>
          </a:solidFill>
          <a:ln/>
        </p:spPr>
      </p:sp>
      <p:sp>
        <p:nvSpPr>
          <p:cNvPr id="64" name="Text 62"/>
          <p:cNvSpPr/>
          <p:nvPr/>
        </p:nvSpPr>
        <p:spPr>
          <a:xfrm>
            <a:off x="9210972" y="3332665"/>
            <a:ext cx="462870" cy="370296"/>
          </a:xfrm>
          <a:prstGeom prst="rect">
            <a:avLst/>
          </a:prstGeom>
          <a:noFill/>
          <a:ln/>
        </p:spPr>
        <p:txBody>
          <a:bodyPr wrap="square" lIns="0" tIns="0" rIns="0" bIns="0" rtlCol="0" anchor="ctr"/>
          <a:lstStyle/>
          <a:p>
            <a:pPr algn="ctr">
              <a:lnSpc>
                <a:spcPct val="120000"/>
              </a:lnSpc>
            </a:pPr>
            <a:r>
              <a:rPr lang="en-US" sz="1458" b="1" dirty="0">
                <a:solidFill>
                  <a:srgbClr val="F8F7F2"/>
                </a:solidFill>
                <a:latin typeface="Oranienbaum" pitchFamily="34" charset="0"/>
                <a:ea typeface="Oranienbaum" pitchFamily="34" charset="-122"/>
                <a:cs typeface="Oranienbaum" pitchFamily="34" charset="-120"/>
              </a:rPr>
              <a:t>4</a:t>
            </a:r>
            <a:endParaRPr lang="en-US" sz="1600" dirty="0"/>
          </a:p>
        </p:txBody>
      </p:sp>
      <p:sp>
        <p:nvSpPr>
          <p:cNvPr id="65" name="Text 63"/>
          <p:cNvSpPr/>
          <p:nvPr/>
        </p:nvSpPr>
        <p:spPr>
          <a:xfrm>
            <a:off x="9738644" y="3388210"/>
            <a:ext cx="1064601" cy="259207"/>
          </a:xfrm>
          <a:prstGeom prst="rect">
            <a:avLst/>
          </a:prstGeom>
          <a:noFill/>
          <a:ln/>
        </p:spPr>
        <p:txBody>
          <a:bodyPr wrap="square" lIns="0" tIns="0" rIns="0" bIns="0" rtlCol="0" anchor="ctr"/>
          <a:lstStyle/>
          <a:p>
            <a:pPr>
              <a:lnSpc>
                <a:spcPct val="120000"/>
              </a:lnSpc>
            </a:pPr>
            <a:r>
              <a:rPr lang="en-US" sz="1458" b="1" dirty="0">
                <a:solidFill>
                  <a:srgbClr val="C10007"/>
                </a:solidFill>
                <a:latin typeface="Unna" pitchFamily="34" charset="0"/>
                <a:ea typeface="Unna" pitchFamily="34" charset="-122"/>
                <a:cs typeface="Unna" pitchFamily="34" charset="-120"/>
              </a:rPr>
              <a:t>Termination</a:t>
            </a:r>
            <a:endParaRPr lang="en-US" sz="1600" dirty="0"/>
          </a:p>
        </p:txBody>
      </p:sp>
      <p:sp>
        <p:nvSpPr>
          <p:cNvPr id="66" name="Text 64"/>
          <p:cNvSpPr/>
          <p:nvPr/>
        </p:nvSpPr>
        <p:spPr>
          <a:xfrm>
            <a:off x="9257259" y="3814050"/>
            <a:ext cx="2443954" cy="185148"/>
          </a:xfrm>
          <a:prstGeom prst="rect">
            <a:avLst/>
          </a:prstGeom>
          <a:noFill/>
          <a:ln/>
        </p:spPr>
        <p:txBody>
          <a:bodyPr wrap="square" lIns="0" tIns="0" rIns="0" bIns="0" rtlCol="0" anchor="ctr"/>
          <a:lstStyle/>
          <a:p>
            <a:pPr>
              <a:lnSpc>
                <a:spcPct val="120000"/>
              </a:lnSpc>
            </a:pPr>
            <a:r>
              <a:rPr lang="en-US" sz="1021" b="1" spc="26" kern="0" dirty="0">
                <a:solidFill>
                  <a:srgbClr val="E7000B"/>
                </a:solidFill>
                <a:latin typeface="Liter" pitchFamily="34" charset="0"/>
                <a:ea typeface="Liter" pitchFamily="34" charset="-122"/>
                <a:cs typeface="Liter" pitchFamily="34" charset="-120"/>
              </a:rPr>
              <a:t>Triggers</a:t>
            </a:r>
            <a:endParaRPr lang="en-US" sz="1600" dirty="0"/>
          </a:p>
        </p:txBody>
      </p:sp>
      <p:sp>
        <p:nvSpPr>
          <p:cNvPr id="67" name="Text 65"/>
          <p:cNvSpPr/>
          <p:nvPr/>
        </p:nvSpPr>
        <p:spPr>
          <a:xfrm>
            <a:off x="9257259" y="4073257"/>
            <a:ext cx="111089" cy="185148"/>
          </a:xfrm>
          <a:prstGeom prst="rect">
            <a:avLst/>
          </a:prstGeom>
          <a:noFill/>
          <a:ln/>
        </p:spPr>
        <p:txBody>
          <a:bodyPr wrap="square" lIns="0" tIns="0" rIns="0" bIns="0" rtlCol="0" anchor="ctr"/>
          <a:lstStyle/>
          <a:p>
            <a:pPr>
              <a:lnSpc>
                <a:spcPct val="120000"/>
              </a:lnSpc>
            </a:pPr>
            <a:r>
              <a:rPr lang="en-US" sz="1021" dirty="0">
                <a:solidFill>
                  <a:srgbClr val="E7000B"/>
                </a:solidFill>
                <a:latin typeface="Liter" pitchFamily="34" charset="0"/>
                <a:ea typeface="Liter" pitchFamily="34" charset="-122"/>
                <a:cs typeface="Liter" pitchFamily="34" charset="-120"/>
              </a:rPr>
              <a:t>•</a:t>
            </a:r>
            <a:endParaRPr lang="en-US" sz="1600" dirty="0"/>
          </a:p>
        </p:txBody>
      </p:sp>
      <p:sp>
        <p:nvSpPr>
          <p:cNvPr id="68" name="Text 66"/>
          <p:cNvSpPr/>
          <p:nvPr/>
        </p:nvSpPr>
        <p:spPr>
          <a:xfrm>
            <a:off x="9379919" y="4073257"/>
            <a:ext cx="1675590"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Theft of produce or property</a:t>
            </a:r>
            <a:endParaRPr lang="en-US" sz="1600" dirty="0"/>
          </a:p>
        </p:txBody>
      </p:sp>
      <p:sp>
        <p:nvSpPr>
          <p:cNvPr id="69" name="Text 67"/>
          <p:cNvSpPr/>
          <p:nvPr/>
        </p:nvSpPr>
        <p:spPr>
          <a:xfrm>
            <a:off x="9257259" y="4295435"/>
            <a:ext cx="111089" cy="185148"/>
          </a:xfrm>
          <a:prstGeom prst="rect">
            <a:avLst/>
          </a:prstGeom>
          <a:noFill/>
          <a:ln/>
        </p:spPr>
        <p:txBody>
          <a:bodyPr wrap="square" lIns="0" tIns="0" rIns="0" bIns="0" rtlCol="0" anchor="ctr"/>
          <a:lstStyle/>
          <a:p>
            <a:pPr>
              <a:lnSpc>
                <a:spcPct val="120000"/>
              </a:lnSpc>
            </a:pPr>
            <a:r>
              <a:rPr lang="en-US" sz="1021" dirty="0">
                <a:solidFill>
                  <a:srgbClr val="E7000B"/>
                </a:solidFill>
                <a:latin typeface="Liter" pitchFamily="34" charset="0"/>
                <a:ea typeface="Liter" pitchFamily="34" charset="-122"/>
                <a:cs typeface="Liter" pitchFamily="34" charset="-120"/>
              </a:rPr>
              <a:t>•</a:t>
            </a:r>
            <a:endParaRPr lang="en-US" sz="1600" dirty="0"/>
          </a:p>
        </p:txBody>
      </p:sp>
      <p:sp>
        <p:nvSpPr>
          <p:cNvPr id="70" name="Text 68"/>
          <p:cNvSpPr/>
          <p:nvPr/>
        </p:nvSpPr>
        <p:spPr>
          <a:xfrm>
            <a:off x="9379919" y="4295435"/>
            <a:ext cx="1444155"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Serious safety violations</a:t>
            </a:r>
            <a:endParaRPr lang="en-US" sz="1600" dirty="0"/>
          </a:p>
        </p:txBody>
      </p:sp>
      <p:sp>
        <p:nvSpPr>
          <p:cNvPr id="71" name="Text 69"/>
          <p:cNvSpPr/>
          <p:nvPr/>
        </p:nvSpPr>
        <p:spPr>
          <a:xfrm>
            <a:off x="9257259" y="4517613"/>
            <a:ext cx="111089" cy="185148"/>
          </a:xfrm>
          <a:prstGeom prst="rect">
            <a:avLst/>
          </a:prstGeom>
          <a:noFill/>
          <a:ln/>
        </p:spPr>
        <p:txBody>
          <a:bodyPr wrap="square" lIns="0" tIns="0" rIns="0" bIns="0" rtlCol="0" anchor="ctr"/>
          <a:lstStyle/>
          <a:p>
            <a:pPr>
              <a:lnSpc>
                <a:spcPct val="120000"/>
              </a:lnSpc>
            </a:pPr>
            <a:r>
              <a:rPr lang="en-US" sz="1021" dirty="0">
                <a:solidFill>
                  <a:srgbClr val="E7000B"/>
                </a:solidFill>
                <a:latin typeface="Liter" pitchFamily="34" charset="0"/>
                <a:ea typeface="Liter" pitchFamily="34" charset="-122"/>
                <a:cs typeface="Liter" pitchFamily="34" charset="-120"/>
              </a:rPr>
              <a:t>•</a:t>
            </a:r>
            <a:endParaRPr lang="en-US" sz="1600" dirty="0"/>
          </a:p>
        </p:txBody>
      </p:sp>
      <p:sp>
        <p:nvSpPr>
          <p:cNvPr id="72" name="Text 70"/>
          <p:cNvSpPr/>
          <p:nvPr/>
        </p:nvSpPr>
        <p:spPr>
          <a:xfrm>
            <a:off x="9379919" y="4517613"/>
            <a:ext cx="1444155"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Intentional crop damage</a:t>
            </a:r>
            <a:endParaRPr lang="en-US" sz="1600" dirty="0"/>
          </a:p>
        </p:txBody>
      </p:sp>
      <p:sp>
        <p:nvSpPr>
          <p:cNvPr id="73" name="Text 71"/>
          <p:cNvSpPr/>
          <p:nvPr/>
        </p:nvSpPr>
        <p:spPr>
          <a:xfrm>
            <a:off x="9257259" y="4739790"/>
            <a:ext cx="111089" cy="185148"/>
          </a:xfrm>
          <a:prstGeom prst="rect">
            <a:avLst/>
          </a:prstGeom>
          <a:noFill/>
          <a:ln/>
        </p:spPr>
        <p:txBody>
          <a:bodyPr wrap="square" lIns="0" tIns="0" rIns="0" bIns="0" rtlCol="0" anchor="ctr"/>
          <a:lstStyle/>
          <a:p>
            <a:pPr>
              <a:lnSpc>
                <a:spcPct val="120000"/>
              </a:lnSpc>
            </a:pPr>
            <a:r>
              <a:rPr lang="en-US" sz="1021" dirty="0">
                <a:solidFill>
                  <a:srgbClr val="E7000B"/>
                </a:solidFill>
                <a:latin typeface="Liter" pitchFamily="34" charset="0"/>
                <a:ea typeface="Liter" pitchFamily="34" charset="-122"/>
                <a:cs typeface="Liter" pitchFamily="34" charset="-120"/>
              </a:rPr>
              <a:t>•</a:t>
            </a:r>
            <a:endParaRPr lang="en-US" sz="1600" dirty="0"/>
          </a:p>
        </p:txBody>
      </p:sp>
      <p:sp>
        <p:nvSpPr>
          <p:cNvPr id="74" name="Text 72"/>
          <p:cNvSpPr/>
          <p:nvPr/>
        </p:nvSpPr>
        <p:spPr>
          <a:xfrm>
            <a:off x="9379919" y="4739790"/>
            <a:ext cx="1795936" cy="185148"/>
          </a:xfrm>
          <a:prstGeom prst="rect">
            <a:avLst/>
          </a:prstGeom>
          <a:noFill/>
          <a:ln/>
        </p:spPr>
        <p:txBody>
          <a:bodyPr wrap="square" lIns="0" tIns="0" rIns="0" bIns="0" rtlCol="0" anchor="ctr"/>
          <a:lstStyle/>
          <a:p>
            <a:pPr>
              <a:lnSpc>
                <a:spcPct val="120000"/>
              </a:lnSpc>
            </a:pPr>
            <a:r>
              <a:rPr lang="en-US" sz="1021" dirty="0">
                <a:solidFill>
                  <a:srgbClr val="2C3531">
                    <a:alpha val="80000"/>
                  </a:srgbClr>
                </a:solidFill>
                <a:latin typeface="Liter" pitchFamily="34" charset="0"/>
                <a:ea typeface="Liter" pitchFamily="34" charset="-122"/>
                <a:cs typeface="Liter" pitchFamily="34" charset="-120"/>
              </a:rPr>
              <a:t>Fourth disciplinary occurrence</a:t>
            </a:r>
            <a:endParaRPr lang="en-US" sz="1600" dirty="0"/>
          </a:p>
        </p:txBody>
      </p:sp>
      <p:sp>
        <p:nvSpPr>
          <p:cNvPr id="75" name="Shape 73"/>
          <p:cNvSpPr/>
          <p:nvPr/>
        </p:nvSpPr>
        <p:spPr>
          <a:xfrm>
            <a:off x="9257259" y="5040656"/>
            <a:ext cx="2379153" cy="9257"/>
          </a:xfrm>
          <a:custGeom>
            <a:avLst/>
            <a:gdLst/>
            <a:ahLst/>
            <a:cxnLst/>
            <a:rect l="l" t="t" r="r" b="b"/>
            <a:pathLst>
              <a:path w="2379153" h="9257">
                <a:moveTo>
                  <a:pt x="0" y="0"/>
                </a:moveTo>
                <a:lnTo>
                  <a:pt x="2379153" y="0"/>
                </a:lnTo>
                <a:lnTo>
                  <a:pt x="2379153" y="9257"/>
                </a:lnTo>
                <a:lnTo>
                  <a:pt x="0" y="9257"/>
                </a:lnTo>
                <a:lnTo>
                  <a:pt x="0" y="0"/>
                </a:lnTo>
                <a:close/>
              </a:path>
            </a:pathLst>
          </a:custGeom>
          <a:solidFill>
            <a:srgbClr val="FFC9C9"/>
          </a:solidFill>
          <a:ln/>
        </p:spPr>
      </p:sp>
      <p:sp>
        <p:nvSpPr>
          <p:cNvPr id="76" name="Shape 74"/>
          <p:cNvSpPr/>
          <p:nvPr/>
        </p:nvSpPr>
        <p:spPr>
          <a:xfrm>
            <a:off x="9275773" y="5184146"/>
            <a:ext cx="129604" cy="129604"/>
          </a:xfrm>
          <a:custGeom>
            <a:avLst/>
            <a:gdLst/>
            <a:ahLst/>
            <a:cxnLst/>
            <a:rect l="l" t="t" r="r" b="b"/>
            <a:pathLst>
              <a:path w="129604" h="129604">
                <a:moveTo>
                  <a:pt x="64802" y="0"/>
                </a:moveTo>
                <a:cubicBezTo>
                  <a:pt x="68523" y="0"/>
                  <a:pt x="71940" y="2050"/>
                  <a:pt x="73712" y="5316"/>
                </a:cubicBezTo>
                <a:lnTo>
                  <a:pt x="128389" y="106569"/>
                </a:lnTo>
                <a:cubicBezTo>
                  <a:pt x="130085" y="109707"/>
                  <a:pt x="130009" y="113504"/>
                  <a:pt x="128186" y="116567"/>
                </a:cubicBezTo>
                <a:cubicBezTo>
                  <a:pt x="126364" y="119630"/>
                  <a:pt x="123048" y="121503"/>
                  <a:pt x="119478" y="121503"/>
                </a:cubicBezTo>
                <a:lnTo>
                  <a:pt x="10125" y="121503"/>
                </a:lnTo>
                <a:cubicBezTo>
                  <a:pt x="6556" y="121503"/>
                  <a:pt x="3265" y="119630"/>
                  <a:pt x="1418" y="116567"/>
                </a:cubicBezTo>
                <a:cubicBezTo>
                  <a:pt x="-430" y="113504"/>
                  <a:pt x="-481" y="109707"/>
                  <a:pt x="1215" y="106569"/>
                </a:cubicBezTo>
                <a:lnTo>
                  <a:pt x="55892" y="5316"/>
                </a:lnTo>
                <a:cubicBezTo>
                  <a:pt x="57663" y="2050"/>
                  <a:pt x="61081" y="0"/>
                  <a:pt x="64802" y="0"/>
                </a:cubicBezTo>
                <a:close/>
                <a:moveTo>
                  <a:pt x="64802" y="42526"/>
                </a:moveTo>
                <a:cubicBezTo>
                  <a:pt x="61435" y="42526"/>
                  <a:pt x="58727" y="45235"/>
                  <a:pt x="58727" y="48601"/>
                </a:cubicBezTo>
                <a:lnTo>
                  <a:pt x="58727" y="76952"/>
                </a:lnTo>
                <a:cubicBezTo>
                  <a:pt x="58727" y="80319"/>
                  <a:pt x="61435" y="83027"/>
                  <a:pt x="64802" y="83027"/>
                </a:cubicBezTo>
                <a:cubicBezTo>
                  <a:pt x="68168" y="83027"/>
                  <a:pt x="70877" y="80319"/>
                  <a:pt x="70877" y="76952"/>
                </a:cubicBezTo>
                <a:lnTo>
                  <a:pt x="70877" y="48601"/>
                </a:lnTo>
                <a:cubicBezTo>
                  <a:pt x="70877" y="45235"/>
                  <a:pt x="68168" y="42526"/>
                  <a:pt x="64802" y="42526"/>
                </a:cubicBezTo>
                <a:close/>
                <a:moveTo>
                  <a:pt x="71560" y="97203"/>
                </a:moveTo>
                <a:cubicBezTo>
                  <a:pt x="71714" y="94694"/>
                  <a:pt x="70463" y="92307"/>
                  <a:pt x="68313" y="91006"/>
                </a:cubicBezTo>
                <a:cubicBezTo>
                  <a:pt x="66162" y="89705"/>
                  <a:pt x="63467" y="89705"/>
                  <a:pt x="61316" y="91006"/>
                </a:cubicBezTo>
                <a:cubicBezTo>
                  <a:pt x="59166" y="92307"/>
                  <a:pt x="57915" y="94694"/>
                  <a:pt x="58069" y="97203"/>
                </a:cubicBezTo>
                <a:cubicBezTo>
                  <a:pt x="57915" y="99711"/>
                  <a:pt x="59166" y="102098"/>
                  <a:pt x="61316" y="103399"/>
                </a:cubicBezTo>
                <a:cubicBezTo>
                  <a:pt x="63467" y="104700"/>
                  <a:pt x="66162" y="104700"/>
                  <a:pt x="68313" y="103399"/>
                </a:cubicBezTo>
                <a:cubicBezTo>
                  <a:pt x="70463" y="102098"/>
                  <a:pt x="71714" y="99711"/>
                  <a:pt x="71560" y="97203"/>
                </a:cubicBezTo>
                <a:close/>
              </a:path>
            </a:pathLst>
          </a:custGeom>
          <a:solidFill>
            <a:srgbClr val="E7000B"/>
          </a:solidFill>
          <a:ln/>
        </p:spPr>
      </p:sp>
      <p:sp>
        <p:nvSpPr>
          <p:cNvPr id="77" name="Text 75"/>
          <p:cNvSpPr/>
          <p:nvPr/>
        </p:nvSpPr>
        <p:spPr>
          <a:xfrm>
            <a:off x="9477876" y="5156374"/>
            <a:ext cx="2223337" cy="370296"/>
          </a:xfrm>
          <a:prstGeom prst="rect">
            <a:avLst/>
          </a:prstGeom>
          <a:noFill/>
          <a:ln/>
        </p:spPr>
        <p:txBody>
          <a:bodyPr wrap="square" lIns="0" tIns="0" rIns="0" bIns="0" rtlCol="0" anchor="ctr"/>
          <a:lstStyle/>
          <a:p>
            <a:pPr>
              <a:lnSpc>
                <a:spcPct val="120000"/>
              </a:lnSpc>
            </a:pPr>
            <a:r>
              <a:rPr lang="en-US" sz="1021" dirty="0">
                <a:solidFill>
                  <a:srgbClr val="2C3531">
                    <a:alpha val="70000"/>
                  </a:srgbClr>
                </a:solidFill>
                <a:latin typeface="Liter" pitchFamily="34" charset="0"/>
                <a:ea typeface="Liter" pitchFamily="34" charset="-122"/>
                <a:cs typeface="Liter" pitchFamily="34" charset="-120"/>
              </a:rPr>
              <a:t>Immediate dismissal, final pay per regulations</a:t>
            </a:r>
            <a:endParaRPr lang="en-US" sz="1600" dirty="0"/>
          </a:p>
        </p:txBody>
      </p:sp>
      <p:sp>
        <p:nvSpPr>
          <p:cNvPr id="78" name="Shape 76"/>
          <p:cNvSpPr/>
          <p:nvPr/>
        </p:nvSpPr>
        <p:spPr>
          <a:xfrm>
            <a:off x="370296" y="5896966"/>
            <a:ext cx="5656273" cy="962770"/>
          </a:xfrm>
          <a:custGeom>
            <a:avLst/>
            <a:gdLst/>
            <a:ahLst/>
            <a:cxnLst/>
            <a:rect l="l" t="t" r="r" b="b"/>
            <a:pathLst>
              <a:path w="5656273" h="962770">
                <a:moveTo>
                  <a:pt x="74056" y="0"/>
                </a:moveTo>
                <a:lnTo>
                  <a:pt x="5582217" y="0"/>
                </a:lnTo>
                <a:cubicBezTo>
                  <a:pt x="5623117" y="0"/>
                  <a:pt x="5656273" y="33156"/>
                  <a:pt x="5656273" y="74056"/>
                </a:cubicBezTo>
                <a:lnTo>
                  <a:pt x="5656273" y="888714"/>
                </a:lnTo>
                <a:cubicBezTo>
                  <a:pt x="5656273" y="929614"/>
                  <a:pt x="5623117" y="962770"/>
                  <a:pt x="5582217" y="962770"/>
                </a:cubicBezTo>
                <a:lnTo>
                  <a:pt x="74056" y="962770"/>
                </a:lnTo>
                <a:cubicBezTo>
                  <a:pt x="33156" y="962770"/>
                  <a:pt x="0" y="929614"/>
                  <a:pt x="0" y="888714"/>
                </a:cubicBezTo>
                <a:lnTo>
                  <a:pt x="0" y="74056"/>
                </a:lnTo>
                <a:cubicBezTo>
                  <a:pt x="0" y="33183"/>
                  <a:pt x="33183" y="0"/>
                  <a:pt x="74056" y="0"/>
                </a:cubicBezTo>
                <a:close/>
              </a:path>
            </a:pathLst>
          </a:custGeom>
          <a:solidFill>
            <a:srgbClr val="4A5D52"/>
          </a:solidFill>
          <a:ln/>
        </p:spPr>
      </p:sp>
      <p:sp>
        <p:nvSpPr>
          <p:cNvPr id="79" name="Shape 77"/>
          <p:cNvSpPr/>
          <p:nvPr/>
        </p:nvSpPr>
        <p:spPr>
          <a:xfrm>
            <a:off x="511472" y="6045084"/>
            <a:ext cx="162005" cy="185148"/>
          </a:xfrm>
          <a:custGeom>
            <a:avLst/>
            <a:gdLst/>
            <a:ahLst/>
            <a:cxnLst/>
            <a:rect l="l" t="t" r="r" b="b"/>
            <a:pathLst>
              <a:path w="162005" h="185148">
                <a:moveTo>
                  <a:pt x="122516" y="-3580"/>
                </a:moveTo>
                <a:cubicBezTo>
                  <a:pt x="126819" y="-470"/>
                  <a:pt x="128410" y="5171"/>
                  <a:pt x="126458" y="10089"/>
                </a:cubicBezTo>
                <a:lnTo>
                  <a:pt x="98107" y="81002"/>
                </a:lnTo>
                <a:lnTo>
                  <a:pt x="150433" y="81002"/>
                </a:lnTo>
                <a:cubicBezTo>
                  <a:pt x="155315" y="81002"/>
                  <a:pt x="159654" y="84040"/>
                  <a:pt x="161317" y="88632"/>
                </a:cubicBezTo>
                <a:cubicBezTo>
                  <a:pt x="162981" y="93225"/>
                  <a:pt x="161571" y="98360"/>
                  <a:pt x="157846" y="101470"/>
                </a:cubicBezTo>
                <a:lnTo>
                  <a:pt x="53700" y="188258"/>
                </a:lnTo>
                <a:cubicBezTo>
                  <a:pt x="49614" y="191657"/>
                  <a:pt x="43792" y="191838"/>
                  <a:pt x="39489" y="188728"/>
                </a:cubicBezTo>
                <a:cubicBezTo>
                  <a:pt x="35185" y="185618"/>
                  <a:pt x="33594" y="179977"/>
                  <a:pt x="35547" y="175059"/>
                </a:cubicBezTo>
                <a:lnTo>
                  <a:pt x="63898" y="104146"/>
                </a:lnTo>
                <a:lnTo>
                  <a:pt x="11572" y="104146"/>
                </a:lnTo>
                <a:cubicBezTo>
                  <a:pt x="6690" y="104146"/>
                  <a:pt x="2351" y="101108"/>
                  <a:pt x="687" y="96516"/>
                </a:cubicBezTo>
                <a:cubicBezTo>
                  <a:pt x="-976" y="91923"/>
                  <a:pt x="434" y="86788"/>
                  <a:pt x="4159" y="83678"/>
                </a:cubicBezTo>
                <a:lnTo>
                  <a:pt x="108304" y="-3110"/>
                </a:lnTo>
                <a:cubicBezTo>
                  <a:pt x="112391" y="-6509"/>
                  <a:pt x="118213" y="-6690"/>
                  <a:pt x="122516" y="-3580"/>
                </a:cubicBezTo>
                <a:close/>
              </a:path>
            </a:pathLst>
          </a:custGeom>
          <a:solidFill>
            <a:srgbClr val="D4A056"/>
          </a:solidFill>
          <a:ln/>
        </p:spPr>
      </p:sp>
      <p:sp>
        <p:nvSpPr>
          <p:cNvPr id="80" name="Text 78"/>
          <p:cNvSpPr/>
          <p:nvPr/>
        </p:nvSpPr>
        <p:spPr>
          <a:xfrm>
            <a:off x="781961" y="6045084"/>
            <a:ext cx="5165631" cy="222178"/>
          </a:xfrm>
          <a:prstGeom prst="rect">
            <a:avLst/>
          </a:prstGeom>
          <a:noFill/>
          <a:ln/>
        </p:spPr>
        <p:txBody>
          <a:bodyPr wrap="square" lIns="0" tIns="0" rIns="0" bIns="0" rtlCol="0" anchor="ctr"/>
          <a:lstStyle/>
          <a:p>
            <a:pPr>
              <a:lnSpc>
                <a:spcPct val="130000"/>
              </a:lnSpc>
            </a:pPr>
            <a:r>
              <a:rPr lang="en-US" sz="1166" b="1" dirty="0">
                <a:solidFill>
                  <a:srgbClr val="F8F7F2"/>
                </a:solidFill>
                <a:latin typeface="Liter" pitchFamily="34" charset="0"/>
                <a:ea typeface="Liter" pitchFamily="34" charset="-122"/>
                <a:cs typeface="Liter" pitchFamily="34" charset="-120"/>
              </a:rPr>
              <a:t>Immediate Termination Offenses</a:t>
            </a:r>
            <a:endParaRPr lang="en-US" sz="1600" dirty="0"/>
          </a:p>
        </p:txBody>
      </p:sp>
      <p:sp>
        <p:nvSpPr>
          <p:cNvPr id="81" name="Text 79"/>
          <p:cNvSpPr/>
          <p:nvPr/>
        </p:nvSpPr>
        <p:spPr>
          <a:xfrm>
            <a:off x="781961" y="6304292"/>
            <a:ext cx="5156374" cy="407326"/>
          </a:xfrm>
          <a:prstGeom prst="rect">
            <a:avLst/>
          </a:prstGeom>
          <a:noFill/>
          <a:ln/>
        </p:spPr>
        <p:txBody>
          <a:bodyPr wrap="square" lIns="0" tIns="0" rIns="0" bIns="0" rtlCol="0" anchor="ctr"/>
          <a:lstStyle/>
          <a:p>
            <a:pPr>
              <a:lnSpc>
                <a:spcPct val="140000"/>
              </a:lnSpc>
            </a:pPr>
            <a:r>
              <a:rPr lang="en-US" sz="1021" dirty="0">
                <a:solidFill>
                  <a:srgbClr val="F8F7F2">
                    <a:alpha val="90000"/>
                  </a:srgbClr>
                </a:solidFill>
                <a:latin typeface="Liter" pitchFamily="34" charset="0"/>
                <a:ea typeface="Liter" pitchFamily="34" charset="-122"/>
                <a:cs typeface="Liter" pitchFamily="34" charset="-120"/>
              </a:rPr>
              <a:t>Theft, violence, drug/alcohol use, sabotage, gross negligence, or criminal conduct result in immediate termination without prior warnings.</a:t>
            </a:r>
            <a:endParaRPr lang="en-US" sz="1600" dirty="0"/>
          </a:p>
        </p:txBody>
      </p:sp>
      <p:sp>
        <p:nvSpPr>
          <p:cNvPr id="82" name="Shape 80"/>
          <p:cNvSpPr/>
          <p:nvPr/>
        </p:nvSpPr>
        <p:spPr>
          <a:xfrm>
            <a:off x="6171506" y="5896966"/>
            <a:ext cx="5656273" cy="962770"/>
          </a:xfrm>
          <a:custGeom>
            <a:avLst/>
            <a:gdLst/>
            <a:ahLst/>
            <a:cxnLst/>
            <a:rect l="l" t="t" r="r" b="b"/>
            <a:pathLst>
              <a:path w="5656273" h="962770">
                <a:moveTo>
                  <a:pt x="74056" y="0"/>
                </a:moveTo>
                <a:lnTo>
                  <a:pt x="5582217" y="0"/>
                </a:lnTo>
                <a:cubicBezTo>
                  <a:pt x="5623117" y="0"/>
                  <a:pt x="5656273" y="33156"/>
                  <a:pt x="5656273" y="74056"/>
                </a:cubicBezTo>
                <a:lnTo>
                  <a:pt x="5656273" y="888714"/>
                </a:lnTo>
                <a:cubicBezTo>
                  <a:pt x="5656273" y="929614"/>
                  <a:pt x="5623117" y="962770"/>
                  <a:pt x="5582217" y="962770"/>
                </a:cubicBezTo>
                <a:lnTo>
                  <a:pt x="74056" y="962770"/>
                </a:lnTo>
                <a:cubicBezTo>
                  <a:pt x="33156" y="962770"/>
                  <a:pt x="0" y="929614"/>
                  <a:pt x="0" y="888714"/>
                </a:cubicBezTo>
                <a:lnTo>
                  <a:pt x="0" y="74056"/>
                </a:lnTo>
                <a:cubicBezTo>
                  <a:pt x="0" y="33183"/>
                  <a:pt x="33183" y="0"/>
                  <a:pt x="74056" y="0"/>
                </a:cubicBezTo>
                <a:close/>
              </a:path>
            </a:pathLst>
          </a:custGeom>
          <a:solidFill>
            <a:srgbClr val="A88B6A"/>
          </a:solidFill>
          <a:ln/>
        </p:spPr>
      </p:sp>
      <p:sp>
        <p:nvSpPr>
          <p:cNvPr id="83" name="Shape 81"/>
          <p:cNvSpPr/>
          <p:nvPr/>
        </p:nvSpPr>
        <p:spPr>
          <a:xfrm>
            <a:off x="6301109" y="6045084"/>
            <a:ext cx="185148" cy="185148"/>
          </a:xfrm>
          <a:custGeom>
            <a:avLst/>
            <a:gdLst/>
            <a:ahLst/>
            <a:cxnLst/>
            <a:rect l="l" t="t" r="r" b="b"/>
            <a:pathLst>
              <a:path w="185148" h="185148">
                <a:moveTo>
                  <a:pt x="92574" y="23144"/>
                </a:moveTo>
                <a:cubicBezTo>
                  <a:pt x="72034" y="23144"/>
                  <a:pt x="53556" y="32075"/>
                  <a:pt x="40827" y="46287"/>
                </a:cubicBezTo>
                <a:lnTo>
                  <a:pt x="57859" y="46287"/>
                </a:lnTo>
                <a:cubicBezTo>
                  <a:pt x="64259" y="46287"/>
                  <a:pt x="69431" y="51458"/>
                  <a:pt x="69431" y="57859"/>
                </a:cubicBezTo>
                <a:cubicBezTo>
                  <a:pt x="69431" y="64259"/>
                  <a:pt x="64259" y="69431"/>
                  <a:pt x="57859" y="69431"/>
                </a:cubicBezTo>
                <a:lnTo>
                  <a:pt x="11572" y="69431"/>
                </a:lnTo>
                <a:cubicBezTo>
                  <a:pt x="5171" y="69431"/>
                  <a:pt x="0" y="64259"/>
                  <a:pt x="0" y="57859"/>
                </a:cubicBezTo>
                <a:lnTo>
                  <a:pt x="0" y="11572"/>
                </a:lnTo>
                <a:cubicBezTo>
                  <a:pt x="0" y="5171"/>
                  <a:pt x="5171" y="0"/>
                  <a:pt x="11572" y="0"/>
                </a:cubicBezTo>
                <a:cubicBezTo>
                  <a:pt x="17972" y="0"/>
                  <a:pt x="23144" y="5171"/>
                  <a:pt x="23144" y="11572"/>
                </a:cubicBezTo>
                <a:lnTo>
                  <a:pt x="23144" y="31352"/>
                </a:lnTo>
                <a:cubicBezTo>
                  <a:pt x="40103" y="12150"/>
                  <a:pt x="64910" y="0"/>
                  <a:pt x="92574" y="0"/>
                </a:cubicBezTo>
                <a:cubicBezTo>
                  <a:pt x="143707" y="0"/>
                  <a:pt x="185148" y="41441"/>
                  <a:pt x="185148" y="92574"/>
                </a:cubicBezTo>
                <a:cubicBezTo>
                  <a:pt x="185148" y="143707"/>
                  <a:pt x="143707" y="185148"/>
                  <a:pt x="92574" y="185148"/>
                </a:cubicBezTo>
                <a:cubicBezTo>
                  <a:pt x="61113" y="185148"/>
                  <a:pt x="33305" y="169454"/>
                  <a:pt x="16598" y="145479"/>
                </a:cubicBezTo>
                <a:cubicBezTo>
                  <a:pt x="12946" y="140235"/>
                  <a:pt x="14212" y="133039"/>
                  <a:pt x="19455" y="129351"/>
                </a:cubicBezTo>
                <a:cubicBezTo>
                  <a:pt x="24698" y="125662"/>
                  <a:pt x="31895" y="126964"/>
                  <a:pt x="35583" y="132207"/>
                </a:cubicBezTo>
                <a:cubicBezTo>
                  <a:pt x="48167" y="150216"/>
                  <a:pt x="68997" y="161968"/>
                  <a:pt x="92574" y="161968"/>
                </a:cubicBezTo>
                <a:cubicBezTo>
                  <a:pt x="130905" y="161968"/>
                  <a:pt x="162005" y="130869"/>
                  <a:pt x="162005" y="92538"/>
                </a:cubicBezTo>
                <a:cubicBezTo>
                  <a:pt x="162005" y="54206"/>
                  <a:pt x="130905" y="23144"/>
                  <a:pt x="92574" y="23144"/>
                </a:cubicBezTo>
                <a:close/>
              </a:path>
            </a:pathLst>
          </a:custGeom>
          <a:solidFill>
            <a:srgbClr val="F8F7F2"/>
          </a:solidFill>
          <a:ln/>
        </p:spPr>
      </p:sp>
      <p:sp>
        <p:nvSpPr>
          <p:cNvPr id="84" name="Text 82"/>
          <p:cNvSpPr/>
          <p:nvPr/>
        </p:nvSpPr>
        <p:spPr>
          <a:xfrm>
            <a:off x="6576662" y="6045084"/>
            <a:ext cx="5174888" cy="222178"/>
          </a:xfrm>
          <a:prstGeom prst="rect">
            <a:avLst/>
          </a:prstGeom>
          <a:noFill/>
          <a:ln/>
        </p:spPr>
        <p:txBody>
          <a:bodyPr wrap="square" lIns="0" tIns="0" rIns="0" bIns="0" rtlCol="0" anchor="ctr"/>
          <a:lstStyle/>
          <a:p>
            <a:pPr>
              <a:lnSpc>
                <a:spcPct val="130000"/>
              </a:lnSpc>
            </a:pPr>
            <a:r>
              <a:rPr lang="en-US" sz="1166" b="1" dirty="0">
                <a:solidFill>
                  <a:srgbClr val="F8F7F2"/>
                </a:solidFill>
                <a:latin typeface="Liter" pitchFamily="34" charset="0"/>
                <a:ea typeface="Liter" pitchFamily="34" charset="-122"/>
                <a:cs typeface="Liter" pitchFamily="34" charset="-120"/>
              </a:rPr>
              <a:t>Warning Expiration</a:t>
            </a:r>
            <a:endParaRPr lang="en-US" sz="1600" dirty="0"/>
          </a:p>
        </p:txBody>
      </p:sp>
      <p:sp>
        <p:nvSpPr>
          <p:cNvPr id="85" name="Text 83"/>
          <p:cNvSpPr/>
          <p:nvPr/>
        </p:nvSpPr>
        <p:spPr>
          <a:xfrm>
            <a:off x="6576662" y="6304292"/>
            <a:ext cx="5165631" cy="407326"/>
          </a:xfrm>
          <a:prstGeom prst="rect">
            <a:avLst/>
          </a:prstGeom>
          <a:noFill/>
          <a:ln/>
        </p:spPr>
        <p:txBody>
          <a:bodyPr wrap="square" lIns="0" tIns="0" rIns="0" bIns="0" rtlCol="0" anchor="ctr"/>
          <a:lstStyle/>
          <a:p>
            <a:pPr>
              <a:lnSpc>
                <a:spcPct val="140000"/>
              </a:lnSpc>
            </a:pPr>
            <a:r>
              <a:rPr lang="en-US" sz="1021" dirty="0">
                <a:solidFill>
                  <a:srgbClr val="F8F7F2">
                    <a:alpha val="90000"/>
                  </a:srgbClr>
                </a:solidFill>
                <a:latin typeface="Liter" pitchFamily="34" charset="0"/>
                <a:ea typeface="Liter" pitchFamily="34" charset="-122"/>
                <a:cs typeface="Liter" pitchFamily="34" charset="-120"/>
              </a:rPr>
              <a:t>Warnings expire after designated periods. If no further violations occur, discipline level resets. However, pattern of behavior may be considered.</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Text 0"/>
          <p:cNvSpPr/>
          <p:nvPr/>
        </p:nvSpPr>
        <p:spPr>
          <a:xfrm>
            <a:off x="351608" y="351608"/>
            <a:ext cx="3753413" cy="175804"/>
          </a:xfrm>
          <a:prstGeom prst="rect">
            <a:avLst/>
          </a:prstGeom>
          <a:noFill/>
          <a:ln/>
        </p:spPr>
        <p:txBody>
          <a:bodyPr wrap="square" lIns="0" tIns="0" rIns="0" bIns="0" rtlCol="0" anchor="ctr"/>
          <a:lstStyle/>
          <a:p>
            <a:pPr>
              <a:lnSpc>
                <a:spcPct val="120000"/>
              </a:lnSpc>
            </a:pPr>
            <a:r>
              <a:rPr lang="en-US" sz="969" b="1" spc="97" kern="0" dirty="0">
                <a:solidFill>
                  <a:srgbClr val="A88B6A"/>
                </a:solidFill>
                <a:latin typeface="Liter" pitchFamily="34" charset="0"/>
                <a:ea typeface="Liter" pitchFamily="34" charset="-122"/>
                <a:cs typeface="Liter" pitchFamily="34" charset="-120"/>
              </a:rPr>
              <a:t>Section 6</a:t>
            </a:r>
            <a:endParaRPr lang="en-US" sz="1600" dirty="0"/>
          </a:p>
        </p:txBody>
      </p:sp>
      <p:sp>
        <p:nvSpPr>
          <p:cNvPr id="3" name="Text 1"/>
          <p:cNvSpPr/>
          <p:nvPr/>
        </p:nvSpPr>
        <p:spPr>
          <a:xfrm>
            <a:off x="351608" y="597733"/>
            <a:ext cx="3902846" cy="1054823"/>
          </a:xfrm>
          <a:prstGeom prst="rect">
            <a:avLst/>
          </a:prstGeom>
          <a:noFill/>
          <a:ln/>
        </p:spPr>
        <p:txBody>
          <a:bodyPr wrap="square" lIns="0" tIns="0" rIns="0" bIns="0" rtlCol="0" anchor="ctr"/>
          <a:lstStyle/>
          <a:p>
            <a:pPr>
              <a:lnSpc>
                <a:spcPct val="100000"/>
              </a:lnSpc>
            </a:pPr>
            <a:r>
              <a:rPr lang="en-US" sz="3322" b="1" dirty="0">
                <a:solidFill>
                  <a:srgbClr val="4A5D52"/>
                </a:solidFill>
                <a:latin typeface="Oranienbaum" pitchFamily="34" charset="0"/>
                <a:ea typeface="Oranienbaum" pitchFamily="34" charset="-122"/>
                <a:cs typeface="Oranienbaum" pitchFamily="34" charset="-120"/>
              </a:rPr>
              <a:t>Termination</a:t>
            </a:r>
            <a:endParaRPr lang="en-US" sz="1600" dirty="0"/>
          </a:p>
          <a:p>
            <a:pPr>
              <a:lnSpc>
                <a:spcPct val="100000"/>
              </a:lnSpc>
            </a:pPr>
            <a:r>
              <a:rPr lang="en-US" sz="3322" b="1" dirty="0">
                <a:solidFill>
                  <a:srgbClr val="4A5D52"/>
                </a:solidFill>
                <a:latin typeface="Oranienbaum" pitchFamily="34" charset="0"/>
                <a:ea typeface="Oranienbaum" pitchFamily="34" charset="-122"/>
                <a:cs typeface="Oranienbaum" pitchFamily="34" charset="-120"/>
              </a:rPr>
              <a:t>Conditions &amp; Effects</a:t>
            </a:r>
            <a:endParaRPr lang="en-US" sz="1600" dirty="0"/>
          </a:p>
        </p:txBody>
      </p:sp>
      <p:sp>
        <p:nvSpPr>
          <p:cNvPr id="4" name="Shape 2"/>
          <p:cNvSpPr/>
          <p:nvPr/>
        </p:nvSpPr>
        <p:spPr>
          <a:xfrm>
            <a:off x="351608" y="1758039"/>
            <a:ext cx="703216" cy="35161"/>
          </a:xfrm>
          <a:custGeom>
            <a:avLst/>
            <a:gdLst/>
            <a:ahLst/>
            <a:cxnLst/>
            <a:rect l="l" t="t" r="r" b="b"/>
            <a:pathLst>
              <a:path w="703216" h="35161">
                <a:moveTo>
                  <a:pt x="0" y="0"/>
                </a:moveTo>
                <a:lnTo>
                  <a:pt x="703216" y="0"/>
                </a:lnTo>
                <a:lnTo>
                  <a:pt x="703216" y="35161"/>
                </a:lnTo>
                <a:lnTo>
                  <a:pt x="0" y="35161"/>
                </a:lnTo>
                <a:lnTo>
                  <a:pt x="0" y="0"/>
                </a:lnTo>
                <a:close/>
              </a:path>
            </a:pathLst>
          </a:custGeom>
          <a:solidFill>
            <a:srgbClr val="D4A056"/>
          </a:solidFill>
          <a:ln/>
        </p:spPr>
      </p:sp>
      <p:sp>
        <p:nvSpPr>
          <p:cNvPr id="5" name="Shape 3"/>
          <p:cNvSpPr/>
          <p:nvPr/>
        </p:nvSpPr>
        <p:spPr>
          <a:xfrm>
            <a:off x="351608" y="2004164"/>
            <a:ext cx="3691882" cy="4500580"/>
          </a:xfrm>
          <a:custGeom>
            <a:avLst/>
            <a:gdLst/>
            <a:ahLst/>
            <a:cxnLst/>
            <a:rect l="l" t="t" r="r" b="b"/>
            <a:pathLst>
              <a:path w="3691882" h="4500580">
                <a:moveTo>
                  <a:pt x="70330" y="0"/>
                </a:moveTo>
                <a:lnTo>
                  <a:pt x="3621551" y="0"/>
                </a:lnTo>
                <a:cubicBezTo>
                  <a:pt x="3660394" y="0"/>
                  <a:pt x="3691882" y="31488"/>
                  <a:pt x="3691882" y="70330"/>
                </a:cubicBezTo>
                <a:lnTo>
                  <a:pt x="3691882" y="4430249"/>
                </a:lnTo>
                <a:cubicBezTo>
                  <a:pt x="3691882" y="4469092"/>
                  <a:pt x="3660394" y="4500580"/>
                  <a:pt x="3621551" y="4500580"/>
                </a:cubicBezTo>
                <a:lnTo>
                  <a:pt x="70330" y="4500580"/>
                </a:lnTo>
                <a:cubicBezTo>
                  <a:pt x="31488" y="4500580"/>
                  <a:pt x="0" y="4469092"/>
                  <a:pt x="0" y="4430249"/>
                </a:cubicBezTo>
                <a:lnTo>
                  <a:pt x="0" y="70330"/>
                </a:lnTo>
                <a:cubicBezTo>
                  <a:pt x="0" y="31514"/>
                  <a:pt x="31514" y="0"/>
                  <a:pt x="70330" y="0"/>
                </a:cubicBezTo>
                <a:close/>
              </a:path>
            </a:pathLst>
          </a:custGeom>
          <a:solidFill>
            <a:srgbClr val="4A5D52"/>
          </a:solidFill>
          <a:ln/>
        </p:spPr>
      </p:sp>
      <p:sp>
        <p:nvSpPr>
          <p:cNvPr id="6" name="Shape 4"/>
          <p:cNvSpPr/>
          <p:nvPr/>
        </p:nvSpPr>
        <p:spPr>
          <a:xfrm>
            <a:off x="641684" y="2215129"/>
            <a:ext cx="369188" cy="421929"/>
          </a:xfrm>
          <a:custGeom>
            <a:avLst/>
            <a:gdLst/>
            <a:ahLst/>
            <a:cxnLst/>
            <a:rect l="l" t="t" r="r" b="b"/>
            <a:pathLst>
              <a:path w="369188" h="421929">
                <a:moveTo>
                  <a:pt x="237335" y="52741"/>
                </a:moveTo>
                <a:lnTo>
                  <a:pt x="290076" y="52741"/>
                </a:lnTo>
                <a:lnTo>
                  <a:pt x="290076" y="395559"/>
                </a:lnTo>
                <a:cubicBezTo>
                  <a:pt x="290076" y="410145"/>
                  <a:pt x="301861" y="421929"/>
                  <a:pt x="316447" y="421929"/>
                </a:cubicBezTo>
                <a:lnTo>
                  <a:pt x="342818" y="421929"/>
                </a:lnTo>
                <a:cubicBezTo>
                  <a:pt x="357404" y="421929"/>
                  <a:pt x="369188" y="410145"/>
                  <a:pt x="369188" y="395559"/>
                </a:cubicBezTo>
                <a:cubicBezTo>
                  <a:pt x="369188" y="380973"/>
                  <a:pt x="357404" y="369188"/>
                  <a:pt x="342818" y="369188"/>
                </a:cubicBezTo>
                <a:lnTo>
                  <a:pt x="342818" y="52741"/>
                </a:lnTo>
                <a:cubicBezTo>
                  <a:pt x="342818" y="23651"/>
                  <a:pt x="319166" y="0"/>
                  <a:pt x="290076" y="0"/>
                </a:cubicBezTo>
                <a:lnTo>
                  <a:pt x="210965" y="0"/>
                </a:lnTo>
                <a:lnTo>
                  <a:pt x="210965" y="0"/>
                </a:lnTo>
                <a:lnTo>
                  <a:pt x="79112" y="0"/>
                </a:lnTo>
                <a:cubicBezTo>
                  <a:pt x="50022" y="0"/>
                  <a:pt x="26371" y="23651"/>
                  <a:pt x="26371" y="52741"/>
                </a:cubicBezTo>
                <a:lnTo>
                  <a:pt x="26371" y="369188"/>
                </a:lnTo>
                <a:cubicBezTo>
                  <a:pt x="11784" y="369188"/>
                  <a:pt x="0" y="380973"/>
                  <a:pt x="0" y="395559"/>
                </a:cubicBezTo>
                <a:cubicBezTo>
                  <a:pt x="0" y="410145"/>
                  <a:pt x="11784" y="421929"/>
                  <a:pt x="26371" y="421929"/>
                </a:cubicBezTo>
                <a:lnTo>
                  <a:pt x="210965" y="421929"/>
                </a:lnTo>
                <a:cubicBezTo>
                  <a:pt x="225551" y="421929"/>
                  <a:pt x="237335" y="410145"/>
                  <a:pt x="237335" y="395559"/>
                </a:cubicBezTo>
                <a:lnTo>
                  <a:pt x="237335" y="52741"/>
                </a:lnTo>
                <a:close/>
                <a:moveTo>
                  <a:pt x="131853" y="210965"/>
                </a:moveTo>
                <a:cubicBezTo>
                  <a:pt x="131853" y="196410"/>
                  <a:pt x="143669" y="184594"/>
                  <a:pt x="158224" y="184594"/>
                </a:cubicBezTo>
                <a:cubicBezTo>
                  <a:pt x="172778" y="184594"/>
                  <a:pt x="184594" y="196410"/>
                  <a:pt x="184594" y="210965"/>
                </a:cubicBezTo>
                <a:cubicBezTo>
                  <a:pt x="184594" y="225519"/>
                  <a:pt x="172778" y="237335"/>
                  <a:pt x="158224" y="237335"/>
                </a:cubicBezTo>
                <a:cubicBezTo>
                  <a:pt x="143669" y="237335"/>
                  <a:pt x="131853" y="225519"/>
                  <a:pt x="131853" y="210965"/>
                </a:cubicBezTo>
                <a:close/>
              </a:path>
            </a:pathLst>
          </a:custGeom>
          <a:solidFill>
            <a:srgbClr val="D4A056"/>
          </a:solidFill>
          <a:ln/>
        </p:spPr>
      </p:sp>
      <p:sp>
        <p:nvSpPr>
          <p:cNvPr id="7" name="Text 5"/>
          <p:cNvSpPr/>
          <p:nvPr/>
        </p:nvSpPr>
        <p:spPr>
          <a:xfrm>
            <a:off x="562572" y="2777702"/>
            <a:ext cx="3375435" cy="272496"/>
          </a:xfrm>
          <a:prstGeom prst="rect">
            <a:avLst/>
          </a:prstGeom>
          <a:noFill/>
          <a:ln/>
        </p:spPr>
        <p:txBody>
          <a:bodyPr wrap="square" lIns="0" tIns="0" rIns="0" bIns="0" rtlCol="0" anchor="ctr"/>
          <a:lstStyle/>
          <a:p>
            <a:pPr>
              <a:lnSpc>
                <a:spcPct val="110000"/>
              </a:lnSpc>
            </a:pPr>
            <a:r>
              <a:rPr lang="en-US" sz="1661" b="1" dirty="0">
                <a:solidFill>
                  <a:srgbClr val="F8F7F2"/>
                </a:solidFill>
                <a:latin typeface="Unna" pitchFamily="34" charset="0"/>
                <a:ea typeface="Unna" pitchFamily="34" charset="-122"/>
                <a:cs typeface="Unna" pitchFamily="34" charset="-120"/>
              </a:rPr>
              <a:t>Employment End</a:t>
            </a:r>
            <a:endParaRPr lang="en-US" sz="1600" dirty="0"/>
          </a:p>
        </p:txBody>
      </p:sp>
      <p:sp>
        <p:nvSpPr>
          <p:cNvPr id="8" name="Text 6"/>
          <p:cNvSpPr/>
          <p:nvPr/>
        </p:nvSpPr>
        <p:spPr>
          <a:xfrm>
            <a:off x="562572" y="3155680"/>
            <a:ext cx="3340274" cy="914180"/>
          </a:xfrm>
          <a:prstGeom prst="rect">
            <a:avLst/>
          </a:prstGeom>
          <a:noFill/>
          <a:ln/>
        </p:spPr>
        <p:txBody>
          <a:bodyPr wrap="square" lIns="0" tIns="0" rIns="0" bIns="0" rtlCol="0" anchor="ctr"/>
          <a:lstStyle/>
          <a:p>
            <a:pPr>
              <a:lnSpc>
                <a:spcPct val="140000"/>
              </a:lnSpc>
            </a:pPr>
            <a:r>
              <a:rPr lang="en-US" sz="1107" dirty="0">
                <a:solidFill>
                  <a:srgbClr val="F8F7F2">
                    <a:alpha val="90000"/>
                  </a:srgbClr>
                </a:solidFill>
                <a:latin typeface="Liter" pitchFamily="34" charset="0"/>
                <a:ea typeface="Liter" pitchFamily="34" charset="-122"/>
                <a:cs typeface="Liter" pitchFamily="34" charset="-120"/>
              </a:rPr>
              <a:t>Employment may end through natural season conclusion, voluntary resignation, or termination for cause. This section outlines all termination scenarios and their consequences.</a:t>
            </a:r>
            <a:endParaRPr lang="en-US" sz="1600" dirty="0"/>
          </a:p>
        </p:txBody>
      </p:sp>
      <p:sp>
        <p:nvSpPr>
          <p:cNvPr id="9" name="Shape 7"/>
          <p:cNvSpPr/>
          <p:nvPr/>
        </p:nvSpPr>
        <p:spPr>
          <a:xfrm>
            <a:off x="562572" y="4992831"/>
            <a:ext cx="3269952" cy="1300949"/>
          </a:xfrm>
          <a:custGeom>
            <a:avLst/>
            <a:gdLst/>
            <a:ahLst/>
            <a:cxnLst/>
            <a:rect l="l" t="t" r="r" b="b"/>
            <a:pathLst>
              <a:path w="3269952" h="1300949">
                <a:moveTo>
                  <a:pt x="70316" y="0"/>
                </a:moveTo>
                <a:lnTo>
                  <a:pt x="3199636" y="0"/>
                </a:lnTo>
                <a:cubicBezTo>
                  <a:pt x="3238471" y="0"/>
                  <a:pt x="3269952" y="31482"/>
                  <a:pt x="3269952" y="70316"/>
                </a:cubicBezTo>
                <a:lnTo>
                  <a:pt x="3269952" y="1230633"/>
                </a:lnTo>
                <a:cubicBezTo>
                  <a:pt x="3269952" y="1269467"/>
                  <a:pt x="3238471" y="1300949"/>
                  <a:pt x="3199636" y="1300949"/>
                </a:cubicBezTo>
                <a:lnTo>
                  <a:pt x="70316" y="1300949"/>
                </a:lnTo>
                <a:cubicBezTo>
                  <a:pt x="31482" y="1300949"/>
                  <a:pt x="0" y="1269467"/>
                  <a:pt x="0" y="1230633"/>
                </a:cubicBezTo>
                <a:lnTo>
                  <a:pt x="0" y="70316"/>
                </a:lnTo>
                <a:cubicBezTo>
                  <a:pt x="0" y="31508"/>
                  <a:pt x="31508" y="0"/>
                  <a:pt x="70316" y="0"/>
                </a:cubicBezTo>
                <a:close/>
              </a:path>
            </a:pathLst>
          </a:custGeom>
          <a:solidFill>
            <a:srgbClr val="F8F7F2">
              <a:alpha val="10196"/>
            </a:srgbClr>
          </a:solidFill>
          <a:ln/>
        </p:spPr>
      </p:sp>
      <p:sp>
        <p:nvSpPr>
          <p:cNvPr id="10" name="Text 8"/>
          <p:cNvSpPr/>
          <p:nvPr/>
        </p:nvSpPr>
        <p:spPr>
          <a:xfrm>
            <a:off x="703216" y="5133474"/>
            <a:ext cx="3050198" cy="175804"/>
          </a:xfrm>
          <a:prstGeom prst="rect">
            <a:avLst/>
          </a:prstGeom>
          <a:noFill/>
          <a:ln/>
        </p:spPr>
        <p:txBody>
          <a:bodyPr wrap="square" lIns="0" tIns="0" rIns="0" bIns="0" rtlCol="0" anchor="ctr"/>
          <a:lstStyle/>
          <a:p>
            <a:pPr>
              <a:lnSpc>
                <a:spcPct val="120000"/>
              </a:lnSpc>
            </a:pPr>
            <a:r>
              <a:rPr lang="en-US" sz="969" b="1" spc="24" kern="0" dirty="0">
                <a:solidFill>
                  <a:srgbClr val="D4A056"/>
                </a:solidFill>
                <a:latin typeface="Liter" pitchFamily="34" charset="0"/>
                <a:ea typeface="Liter" pitchFamily="34" charset="-122"/>
                <a:cs typeface="Liter" pitchFamily="34" charset="-120"/>
              </a:rPr>
              <a:t>Season End Date</a:t>
            </a:r>
            <a:endParaRPr lang="en-US" sz="1600" dirty="0"/>
          </a:p>
        </p:txBody>
      </p:sp>
      <p:sp>
        <p:nvSpPr>
          <p:cNvPr id="11" name="Shape 9"/>
          <p:cNvSpPr/>
          <p:nvPr/>
        </p:nvSpPr>
        <p:spPr>
          <a:xfrm>
            <a:off x="703216" y="5414760"/>
            <a:ext cx="2988666" cy="738376"/>
          </a:xfrm>
          <a:custGeom>
            <a:avLst/>
            <a:gdLst/>
            <a:ahLst/>
            <a:cxnLst/>
            <a:rect l="l" t="t" r="r" b="b"/>
            <a:pathLst>
              <a:path w="2988666" h="738376">
                <a:moveTo>
                  <a:pt x="70323" y="0"/>
                </a:moveTo>
                <a:lnTo>
                  <a:pt x="2918343" y="0"/>
                </a:lnTo>
                <a:cubicBezTo>
                  <a:pt x="2957182" y="0"/>
                  <a:pt x="2988666" y="31485"/>
                  <a:pt x="2988666" y="70323"/>
                </a:cubicBezTo>
                <a:lnTo>
                  <a:pt x="2988666" y="668053"/>
                </a:lnTo>
                <a:cubicBezTo>
                  <a:pt x="2988666" y="706892"/>
                  <a:pt x="2957182" y="738376"/>
                  <a:pt x="2918343" y="738376"/>
                </a:cubicBezTo>
                <a:lnTo>
                  <a:pt x="70323" y="738376"/>
                </a:lnTo>
                <a:cubicBezTo>
                  <a:pt x="31511" y="738376"/>
                  <a:pt x="0" y="706866"/>
                  <a:pt x="0" y="668053"/>
                </a:cubicBezTo>
                <a:lnTo>
                  <a:pt x="0" y="70323"/>
                </a:lnTo>
                <a:cubicBezTo>
                  <a:pt x="0" y="31511"/>
                  <a:pt x="31511" y="0"/>
                  <a:pt x="70323" y="0"/>
                </a:cubicBezTo>
                <a:close/>
              </a:path>
            </a:pathLst>
          </a:custGeom>
          <a:solidFill>
            <a:srgbClr val="D4A056"/>
          </a:solidFill>
          <a:ln/>
        </p:spPr>
      </p:sp>
      <p:sp>
        <p:nvSpPr>
          <p:cNvPr id="12" name="Text 10"/>
          <p:cNvSpPr/>
          <p:nvPr/>
        </p:nvSpPr>
        <p:spPr>
          <a:xfrm>
            <a:off x="742771" y="5520242"/>
            <a:ext cx="2909554" cy="316447"/>
          </a:xfrm>
          <a:prstGeom prst="rect">
            <a:avLst/>
          </a:prstGeom>
          <a:noFill/>
          <a:ln/>
        </p:spPr>
        <p:txBody>
          <a:bodyPr wrap="square" lIns="0" tIns="0" rIns="0" bIns="0" rtlCol="0" anchor="ctr"/>
          <a:lstStyle/>
          <a:p>
            <a:pPr algn="ctr">
              <a:lnSpc>
                <a:spcPct val="100000"/>
              </a:lnSpc>
            </a:pPr>
            <a:r>
              <a:rPr lang="en-US" sz="2076" b="1" dirty="0">
                <a:solidFill>
                  <a:srgbClr val="2C3531"/>
                </a:solidFill>
                <a:latin typeface="Oranienbaum" pitchFamily="34" charset="0"/>
                <a:ea typeface="Oranienbaum" pitchFamily="34" charset="-122"/>
                <a:cs typeface="Oranienbaum" pitchFamily="34" charset="-120"/>
              </a:rPr>
              <a:t>[End Date]</a:t>
            </a:r>
            <a:endParaRPr lang="en-US" sz="1600" dirty="0"/>
          </a:p>
        </p:txBody>
      </p:sp>
      <p:sp>
        <p:nvSpPr>
          <p:cNvPr id="13" name="Text 11"/>
          <p:cNvSpPr/>
          <p:nvPr/>
        </p:nvSpPr>
        <p:spPr>
          <a:xfrm>
            <a:off x="777932" y="5871850"/>
            <a:ext cx="2839233" cy="175804"/>
          </a:xfrm>
          <a:prstGeom prst="rect">
            <a:avLst/>
          </a:prstGeom>
          <a:noFill/>
          <a:ln/>
        </p:spPr>
        <p:txBody>
          <a:bodyPr wrap="square" lIns="0" tIns="0" rIns="0" bIns="0" rtlCol="0" anchor="ctr"/>
          <a:lstStyle/>
          <a:p>
            <a:pPr algn="ctr">
              <a:lnSpc>
                <a:spcPct val="120000"/>
              </a:lnSpc>
            </a:pPr>
            <a:r>
              <a:rPr lang="en-US" sz="969" dirty="0">
                <a:solidFill>
                  <a:srgbClr val="2C3531">
                    <a:alpha val="70000"/>
                  </a:srgbClr>
                </a:solidFill>
                <a:latin typeface="Liter" pitchFamily="34" charset="0"/>
                <a:ea typeface="Liter" pitchFamily="34" charset="-122"/>
                <a:cs typeface="Liter" pitchFamily="34" charset="-120"/>
              </a:rPr>
              <a:t>Employment automatically concludes</a:t>
            </a:r>
            <a:endParaRPr lang="en-US" sz="1600" dirty="0"/>
          </a:p>
        </p:txBody>
      </p:sp>
      <p:sp>
        <p:nvSpPr>
          <p:cNvPr id="14" name="Shape 12"/>
          <p:cNvSpPr/>
          <p:nvPr/>
        </p:nvSpPr>
        <p:spPr>
          <a:xfrm>
            <a:off x="4324776" y="351608"/>
            <a:ext cx="7515616" cy="2988666"/>
          </a:xfrm>
          <a:custGeom>
            <a:avLst/>
            <a:gdLst/>
            <a:ahLst/>
            <a:cxnLst/>
            <a:rect l="l" t="t" r="r" b="b"/>
            <a:pathLst>
              <a:path w="7515616" h="2988666">
                <a:moveTo>
                  <a:pt x="70323" y="0"/>
                </a:moveTo>
                <a:lnTo>
                  <a:pt x="7445293" y="0"/>
                </a:lnTo>
                <a:cubicBezTo>
                  <a:pt x="7484132" y="0"/>
                  <a:pt x="7515616" y="31485"/>
                  <a:pt x="7515616" y="70323"/>
                </a:cubicBezTo>
                <a:lnTo>
                  <a:pt x="7515616" y="2918343"/>
                </a:lnTo>
                <a:cubicBezTo>
                  <a:pt x="7515616" y="2957181"/>
                  <a:pt x="7484132" y="2988666"/>
                  <a:pt x="7445293" y="2988666"/>
                </a:cubicBezTo>
                <a:lnTo>
                  <a:pt x="70323" y="2988666"/>
                </a:lnTo>
                <a:cubicBezTo>
                  <a:pt x="31485" y="2988666"/>
                  <a:pt x="0" y="2957181"/>
                  <a:pt x="0" y="2918343"/>
                </a:cubicBezTo>
                <a:lnTo>
                  <a:pt x="0" y="70323"/>
                </a:lnTo>
                <a:cubicBezTo>
                  <a:pt x="0" y="31511"/>
                  <a:pt x="31511" y="0"/>
                  <a:pt x="70323" y="0"/>
                </a:cubicBezTo>
                <a:close/>
              </a:path>
            </a:pathLst>
          </a:custGeom>
          <a:solidFill>
            <a:srgbClr val="FFFFFF"/>
          </a:solidFill>
          <a:ln/>
          <a:effectLst>
            <a:outerShdw sx="100000" sy="100000" kx="0" ky="0" algn="bl" rotWithShape="0" blurRad="52741" dist="35161" dir="5400000">
              <a:srgbClr val="000000">
                <a:alpha val="10196"/>
              </a:srgbClr>
            </a:outerShdw>
          </a:effectLst>
        </p:spPr>
      </p:sp>
      <p:sp>
        <p:nvSpPr>
          <p:cNvPr id="15" name="Shape 13"/>
          <p:cNvSpPr/>
          <p:nvPr/>
        </p:nvSpPr>
        <p:spPr>
          <a:xfrm>
            <a:off x="4535740" y="562572"/>
            <a:ext cx="421929" cy="421929"/>
          </a:xfrm>
          <a:custGeom>
            <a:avLst/>
            <a:gdLst/>
            <a:ahLst/>
            <a:cxnLst/>
            <a:rect l="l" t="t" r="r" b="b"/>
            <a:pathLst>
              <a:path w="421929" h="421929">
                <a:moveTo>
                  <a:pt x="70323" y="0"/>
                </a:moveTo>
                <a:lnTo>
                  <a:pt x="351606" y="0"/>
                </a:lnTo>
                <a:cubicBezTo>
                  <a:pt x="390419" y="0"/>
                  <a:pt x="421929" y="31511"/>
                  <a:pt x="421929" y="70323"/>
                </a:cubicBezTo>
                <a:lnTo>
                  <a:pt x="421929" y="351606"/>
                </a:lnTo>
                <a:cubicBezTo>
                  <a:pt x="421929" y="390445"/>
                  <a:pt x="390445" y="421929"/>
                  <a:pt x="351606" y="421929"/>
                </a:cubicBezTo>
                <a:lnTo>
                  <a:pt x="70323" y="421929"/>
                </a:lnTo>
                <a:cubicBezTo>
                  <a:pt x="31511" y="421929"/>
                  <a:pt x="0" y="390419"/>
                  <a:pt x="0" y="351606"/>
                </a:cubicBezTo>
                <a:lnTo>
                  <a:pt x="0" y="70323"/>
                </a:lnTo>
                <a:cubicBezTo>
                  <a:pt x="0" y="31511"/>
                  <a:pt x="31511" y="0"/>
                  <a:pt x="70323" y="0"/>
                </a:cubicBezTo>
                <a:close/>
              </a:path>
            </a:pathLst>
          </a:custGeom>
          <a:solidFill>
            <a:srgbClr val="E7000B"/>
          </a:solidFill>
          <a:ln/>
        </p:spPr>
      </p:sp>
      <p:sp>
        <p:nvSpPr>
          <p:cNvPr id="16" name="Shape 14"/>
          <p:cNvSpPr/>
          <p:nvPr/>
        </p:nvSpPr>
        <p:spPr>
          <a:xfrm>
            <a:off x="4658803" y="685635"/>
            <a:ext cx="175804" cy="175804"/>
          </a:xfrm>
          <a:custGeom>
            <a:avLst/>
            <a:gdLst/>
            <a:ahLst/>
            <a:cxnLst/>
            <a:rect l="l" t="t" r="r" b="b"/>
            <a:pathLst>
              <a:path w="175804" h="175804">
                <a:moveTo>
                  <a:pt x="87902" y="175804"/>
                </a:moveTo>
                <a:cubicBezTo>
                  <a:pt x="136416" y="175804"/>
                  <a:pt x="175804" y="136416"/>
                  <a:pt x="175804" y="87902"/>
                </a:cubicBezTo>
                <a:cubicBezTo>
                  <a:pt x="175804" y="39388"/>
                  <a:pt x="136416" y="0"/>
                  <a:pt x="87902" y="0"/>
                </a:cubicBezTo>
                <a:cubicBezTo>
                  <a:pt x="39388" y="0"/>
                  <a:pt x="0" y="39388"/>
                  <a:pt x="0" y="87902"/>
                </a:cubicBezTo>
                <a:cubicBezTo>
                  <a:pt x="0" y="136416"/>
                  <a:pt x="39388" y="175804"/>
                  <a:pt x="87902" y="175804"/>
                </a:cubicBezTo>
                <a:close/>
                <a:moveTo>
                  <a:pt x="57342" y="57342"/>
                </a:moveTo>
                <a:cubicBezTo>
                  <a:pt x="60570" y="54115"/>
                  <a:pt x="65789" y="54115"/>
                  <a:pt x="68982" y="57342"/>
                </a:cubicBezTo>
                <a:lnTo>
                  <a:pt x="87868" y="76227"/>
                </a:lnTo>
                <a:lnTo>
                  <a:pt x="106753" y="57342"/>
                </a:lnTo>
                <a:cubicBezTo>
                  <a:pt x="109980" y="54115"/>
                  <a:pt x="115200" y="54115"/>
                  <a:pt x="118393" y="57342"/>
                </a:cubicBezTo>
                <a:cubicBezTo>
                  <a:pt x="121586" y="60570"/>
                  <a:pt x="121621" y="65789"/>
                  <a:pt x="118393" y="68982"/>
                </a:cubicBezTo>
                <a:lnTo>
                  <a:pt x="99508" y="87868"/>
                </a:lnTo>
                <a:lnTo>
                  <a:pt x="118393" y="106753"/>
                </a:lnTo>
                <a:cubicBezTo>
                  <a:pt x="121621" y="109980"/>
                  <a:pt x="121621" y="115200"/>
                  <a:pt x="118393" y="118393"/>
                </a:cubicBezTo>
                <a:cubicBezTo>
                  <a:pt x="115165" y="121586"/>
                  <a:pt x="109946" y="121621"/>
                  <a:pt x="106753" y="118393"/>
                </a:cubicBezTo>
                <a:lnTo>
                  <a:pt x="87868" y="99508"/>
                </a:lnTo>
                <a:lnTo>
                  <a:pt x="68982" y="118393"/>
                </a:lnTo>
                <a:cubicBezTo>
                  <a:pt x="65755" y="121621"/>
                  <a:pt x="60536" y="121621"/>
                  <a:pt x="57342" y="118393"/>
                </a:cubicBezTo>
                <a:cubicBezTo>
                  <a:pt x="54149" y="115165"/>
                  <a:pt x="54115" y="109946"/>
                  <a:pt x="57342" y="106753"/>
                </a:cubicBezTo>
                <a:lnTo>
                  <a:pt x="76227" y="87868"/>
                </a:lnTo>
                <a:lnTo>
                  <a:pt x="57342" y="68982"/>
                </a:lnTo>
                <a:cubicBezTo>
                  <a:pt x="54115" y="65755"/>
                  <a:pt x="54115" y="60536"/>
                  <a:pt x="57342" y="57342"/>
                </a:cubicBezTo>
                <a:close/>
              </a:path>
            </a:pathLst>
          </a:custGeom>
          <a:solidFill>
            <a:srgbClr val="F8F7F2"/>
          </a:solidFill>
          <a:ln/>
        </p:spPr>
      </p:sp>
      <p:sp>
        <p:nvSpPr>
          <p:cNvPr id="17" name="Text 15"/>
          <p:cNvSpPr/>
          <p:nvPr/>
        </p:nvSpPr>
        <p:spPr>
          <a:xfrm>
            <a:off x="5063152" y="637289"/>
            <a:ext cx="3357854" cy="272496"/>
          </a:xfrm>
          <a:prstGeom prst="rect">
            <a:avLst/>
          </a:prstGeom>
          <a:noFill/>
          <a:ln/>
        </p:spPr>
        <p:txBody>
          <a:bodyPr wrap="square" lIns="0" tIns="0" rIns="0" bIns="0" rtlCol="0" anchor="ctr"/>
          <a:lstStyle/>
          <a:p>
            <a:pPr>
              <a:lnSpc>
                <a:spcPct val="110000"/>
              </a:lnSpc>
            </a:pPr>
            <a:r>
              <a:rPr lang="en-US" sz="1661" b="1" dirty="0">
                <a:solidFill>
                  <a:srgbClr val="4A5D52"/>
                </a:solidFill>
                <a:latin typeface="Unna" pitchFamily="34" charset="0"/>
                <a:ea typeface="Unna" pitchFamily="34" charset="-122"/>
                <a:cs typeface="Unna" pitchFamily="34" charset="-120"/>
              </a:rPr>
              <a:t>Grounds for Immediate Termination</a:t>
            </a:r>
            <a:endParaRPr lang="en-US" sz="1600" dirty="0"/>
          </a:p>
        </p:txBody>
      </p:sp>
      <p:sp>
        <p:nvSpPr>
          <p:cNvPr id="18" name="Shape 16"/>
          <p:cNvSpPr/>
          <p:nvPr/>
        </p:nvSpPr>
        <p:spPr>
          <a:xfrm>
            <a:off x="4553321" y="1125145"/>
            <a:ext cx="3472127" cy="597733"/>
          </a:xfrm>
          <a:custGeom>
            <a:avLst/>
            <a:gdLst/>
            <a:ahLst/>
            <a:cxnLst/>
            <a:rect l="l" t="t" r="r" b="b"/>
            <a:pathLst>
              <a:path w="3472127" h="597733">
                <a:moveTo>
                  <a:pt x="35161" y="0"/>
                </a:moveTo>
                <a:lnTo>
                  <a:pt x="3401804" y="0"/>
                </a:lnTo>
                <a:cubicBezTo>
                  <a:pt x="3440642" y="0"/>
                  <a:pt x="3472127" y="31485"/>
                  <a:pt x="3472127" y="70323"/>
                </a:cubicBezTo>
                <a:lnTo>
                  <a:pt x="3472127" y="527410"/>
                </a:lnTo>
                <a:cubicBezTo>
                  <a:pt x="3472127" y="566248"/>
                  <a:pt x="3440642" y="597733"/>
                  <a:pt x="3401804" y="597733"/>
                </a:cubicBezTo>
                <a:lnTo>
                  <a:pt x="35161" y="597733"/>
                </a:lnTo>
                <a:cubicBezTo>
                  <a:pt x="15755" y="597733"/>
                  <a:pt x="0" y="581978"/>
                  <a:pt x="0" y="562572"/>
                </a:cubicBezTo>
                <a:lnTo>
                  <a:pt x="0" y="35161"/>
                </a:lnTo>
                <a:cubicBezTo>
                  <a:pt x="0" y="15755"/>
                  <a:pt x="15755" y="0"/>
                  <a:pt x="35161" y="0"/>
                </a:cubicBezTo>
                <a:close/>
              </a:path>
            </a:pathLst>
          </a:custGeom>
          <a:solidFill>
            <a:srgbClr val="FEF2F2"/>
          </a:solidFill>
          <a:ln/>
        </p:spPr>
      </p:sp>
      <p:sp>
        <p:nvSpPr>
          <p:cNvPr id="19" name="Shape 17"/>
          <p:cNvSpPr/>
          <p:nvPr/>
        </p:nvSpPr>
        <p:spPr>
          <a:xfrm>
            <a:off x="4553321" y="1125145"/>
            <a:ext cx="35161" cy="597733"/>
          </a:xfrm>
          <a:custGeom>
            <a:avLst/>
            <a:gdLst/>
            <a:ahLst/>
            <a:cxnLst/>
            <a:rect l="l" t="t" r="r" b="b"/>
            <a:pathLst>
              <a:path w="35161" h="597733">
                <a:moveTo>
                  <a:pt x="35161" y="0"/>
                </a:moveTo>
                <a:lnTo>
                  <a:pt x="35161" y="0"/>
                </a:lnTo>
                <a:lnTo>
                  <a:pt x="35161" y="597733"/>
                </a:lnTo>
                <a:lnTo>
                  <a:pt x="35161" y="597733"/>
                </a:lnTo>
                <a:cubicBezTo>
                  <a:pt x="15755" y="597733"/>
                  <a:pt x="0" y="581978"/>
                  <a:pt x="0" y="562572"/>
                </a:cubicBezTo>
                <a:lnTo>
                  <a:pt x="0" y="35161"/>
                </a:lnTo>
                <a:cubicBezTo>
                  <a:pt x="0" y="15755"/>
                  <a:pt x="15755" y="0"/>
                  <a:pt x="35161" y="0"/>
                </a:cubicBezTo>
                <a:close/>
              </a:path>
            </a:pathLst>
          </a:custGeom>
          <a:solidFill>
            <a:srgbClr val="E7000B"/>
          </a:solidFill>
          <a:ln/>
        </p:spPr>
      </p:sp>
      <p:sp>
        <p:nvSpPr>
          <p:cNvPr id="20" name="Shape 18"/>
          <p:cNvSpPr/>
          <p:nvPr/>
        </p:nvSpPr>
        <p:spPr>
          <a:xfrm>
            <a:off x="4698359" y="1265788"/>
            <a:ext cx="158224" cy="158224"/>
          </a:xfrm>
          <a:custGeom>
            <a:avLst/>
            <a:gdLst/>
            <a:ahLst/>
            <a:cxnLst/>
            <a:rect l="l" t="t" r="r" b="b"/>
            <a:pathLst>
              <a:path w="158224" h="158224">
                <a:moveTo>
                  <a:pt x="89001" y="9889"/>
                </a:moveTo>
                <a:cubicBezTo>
                  <a:pt x="89001" y="4419"/>
                  <a:pt x="84582" y="0"/>
                  <a:pt x="79112" y="0"/>
                </a:cubicBezTo>
                <a:cubicBezTo>
                  <a:pt x="73642" y="0"/>
                  <a:pt x="69223" y="4419"/>
                  <a:pt x="69223" y="9889"/>
                </a:cubicBezTo>
                <a:lnTo>
                  <a:pt x="69223" y="74167"/>
                </a:lnTo>
                <a:cubicBezTo>
                  <a:pt x="69223" y="76887"/>
                  <a:pt x="66998" y="79112"/>
                  <a:pt x="64278" y="79112"/>
                </a:cubicBezTo>
                <a:cubicBezTo>
                  <a:pt x="61559" y="79112"/>
                  <a:pt x="59334" y="76887"/>
                  <a:pt x="59334" y="74167"/>
                </a:cubicBezTo>
                <a:lnTo>
                  <a:pt x="59334" y="19778"/>
                </a:lnTo>
                <a:cubicBezTo>
                  <a:pt x="59334" y="14308"/>
                  <a:pt x="54915" y="9889"/>
                  <a:pt x="49445" y="9889"/>
                </a:cubicBezTo>
                <a:cubicBezTo>
                  <a:pt x="43975" y="9889"/>
                  <a:pt x="39556" y="14308"/>
                  <a:pt x="39556" y="19778"/>
                </a:cubicBezTo>
                <a:lnTo>
                  <a:pt x="39556" y="103834"/>
                </a:lnTo>
                <a:cubicBezTo>
                  <a:pt x="39556" y="104298"/>
                  <a:pt x="39556" y="104792"/>
                  <a:pt x="39587" y="105256"/>
                </a:cubicBezTo>
                <a:lnTo>
                  <a:pt x="20890" y="87456"/>
                </a:lnTo>
                <a:cubicBezTo>
                  <a:pt x="15946" y="82758"/>
                  <a:pt x="8127" y="82944"/>
                  <a:pt x="3399" y="87888"/>
                </a:cubicBezTo>
                <a:cubicBezTo>
                  <a:pt x="-1329" y="92833"/>
                  <a:pt x="-1113" y="100651"/>
                  <a:pt x="3832" y="105379"/>
                </a:cubicBezTo>
                <a:lnTo>
                  <a:pt x="38567" y="138446"/>
                </a:lnTo>
                <a:cubicBezTo>
                  <a:pt x="51886" y="151147"/>
                  <a:pt x="69594" y="158224"/>
                  <a:pt x="88012" y="158224"/>
                </a:cubicBezTo>
                <a:lnTo>
                  <a:pt x="93945" y="158224"/>
                </a:lnTo>
                <a:cubicBezTo>
                  <a:pt x="123983" y="158224"/>
                  <a:pt x="148335" y="133872"/>
                  <a:pt x="148335" y="103834"/>
                </a:cubicBezTo>
                <a:lnTo>
                  <a:pt x="148335" y="39556"/>
                </a:lnTo>
                <a:cubicBezTo>
                  <a:pt x="148335" y="34086"/>
                  <a:pt x="143915" y="29667"/>
                  <a:pt x="138446" y="29667"/>
                </a:cubicBezTo>
                <a:cubicBezTo>
                  <a:pt x="132976" y="29667"/>
                  <a:pt x="128557" y="34086"/>
                  <a:pt x="128557" y="39556"/>
                </a:cubicBezTo>
                <a:lnTo>
                  <a:pt x="128557" y="74167"/>
                </a:lnTo>
                <a:cubicBezTo>
                  <a:pt x="128557" y="76887"/>
                  <a:pt x="126332" y="79112"/>
                  <a:pt x="123612" y="79112"/>
                </a:cubicBezTo>
                <a:cubicBezTo>
                  <a:pt x="120893" y="79112"/>
                  <a:pt x="118668" y="76887"/>
                  <a:pt x="118668" y="74167"/>
                </a:cubicBezTo>
                <a:lnTo>
                  <a:pt x="118668" y="19778"/>
                </a:lnTo>
                <a:cubicBezTo>
                  <a:pt x="118668" y="14308"/>
                  <a:pt x="114248" y="9889"/>
                  <a:pt x="108779" y="9889"/>
                </a:cubicBezTo>
                <a:cubicBezTo>
                  <a:pt x="103309" y="9889"/>
                  <a:pt x="98890" y="14308"/>
                  <a:pt x="98890" y="19778"/>
                </a:cubicBezTo>
                <a:lnTo>
                  <a:pt x="98890" y="74167"/>
                </a:lnTo>
                <a:cubicBezTo>
                  <a:pt x="98890" y="76887"/>
                  <a:pt x="96665" y="79112"/>
                  <a:pt x="93945" y="79112"/>
                </a:cubicBezTo>
                <a:cubicBezTo>
                  <a:pt x="91226" y="79112"/>
                  <a:pt x="89001" y="76887"/>
                  <a:pt x="89001" y="74167"/>
                </a:cubicBezTo>
                <a:lnTo>
                  <a:pt x="89001" y="9889"/>
                </a:lnTo>
                <a:close/>
              </a:path>
            </a:pathLst>
          </a:custGeom>
          <a:solidFill>
            <a:srgbClr val="E7000B"/>
          </a:solidFill>
          <a:ln/>
        </p:spPr>
      </p:sp>
      <p:sp>
        <p:nvSpPr>
          <p:cNvPr id="21" name="Text 19"/>
          <p:cNvSpPr/>
          <p:nvPr/>
        </p:nvSpPr>
        <p:spPr>
          <a:xfrm>
            <a:off x="4979645" y="1230627"/>
            <a:ext cx="2276660"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Theft</a:t>
            </a:r>
            <a:endParaRPr lang="en-US" sz="1600" dirty="0"/>
          </a:p>
        </p:txBody>
      </p:sp>
      <p:sp>
        <p:nvSpPr>
          <p:cNvPr id="22" name="Text 20"/>
          <p:cNvSpPr/>
          <p:nvPr/>
        </p:nvSpPr>
        <p:spPr>
          <a:xfrm>
            <a:off x="4979645" y="1441592"/>
            <a:ext cx="2267870"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Stealing produce, equipment, or property</a:t>
            </a:r>
            <a:endParaRPr lang="en-US" sz="1600" dirty="0"/>
          </a:p>
        </p:txBody>
      </p:sp>
      <p:sp>
        <p:nvSpPr>
          <p:cNvPr id="23" name="Shape 21"/>
          <p:cNvSpPr/>
          <p:nvPr/>
        </p:nvSpPr>
        <p:spPr>
          <a:xfrm>
            <a:off x="8151395" y="1125145"/>
            <a:ext cx="3472127" cy="597733"/>
          </a:xfrm>
          <a:custGeom>
            <a:avLst/>
            <a:gdLst/>
            <a:ahLst/>
            <a:cxnLst/>
            <a:rect l="l" t="t" r="r" b="b"/>
            <a:pathLst>
              <a:path w="3472127" h="597733">
                <a:moveTo>
                  <a:pt x="35161" y="0"/>
                </a:moveTo>
                <a:lnTo>
                  <a:pt x="3401804" y="0"/>
                </a:lnTo>
                <a:cubicBezTo>
                  <a:pt x="3440642" y="0"/>
                  <a:pt x="3472127" y="31485"/>
                  <a:pt x="3472127" y="70323"/>
                </a:cubicBezTo>
                <a:lnTo>
                  <a:pt x="3472127" y="527410"/>
                </a:lnTo>
                <a:cubicBezTo>
                  <a:pt x="3472127" y="566248"/>
                  <a:pt x="3440642" y="597733"/>
                  <a:pt x="3401804" y="597733"/>
                </a:cubicBezTo>
                <a:lnTo>
                  <a:pt x="35161" y="597733"/>
                </a:lnTo>
                <a:cubicBezTo>
                  <a:pt x="15755" y="597733"/>
                  <a:pt x="0" y="581978"/>
                  <a:pt x="0" y="562572"/>
                </a:cubicBezTo>
                <a:lnTo>
                  <a:pt x="0" y="35161"/>
                </a:lnTo>
                <a:cubicBezTo>
                  <a:pt x="0" y="15755"/>
                  <a:pt x="15755" y="0"/>
                  <a:pt x="35161" y="0"/>
                </a:cubicBezTo>
                <a:close/>
              </a:path>
            </a:pathLst>
          </a:custGeom>
          <a:solidFill>
            <a:srgbClr val="FEF2F2"/>
          </a:solidFill>
          <a:ln/>
        </p:spPr>
      </p:sp>
      <p:sp>
        <p:nvSpPr>
          <p:cNvPr id="24" name="Shape 22"/>
          <p:cNvSpPr/>
          <p:nvPr/>
        </p:nvSpPr>
        <p:spPr>
          <a:xfrm>
            <a:off x="8151395" y="1125145"/>
            <a:ext cx="35161" cy="597733"/>
          </a:xfrm>
          <a:custGeom>
            <a:avLst/>
            <a:gdLst/>
            <a:ahLst/>
            <a:cxnLst/>
            <a:rect l="l" t="t" r="r" b="b"/>
            <a:pathLst>
              <a:path w="35161" h="597733">
                <a:moveTo>
                  <a:pt x="35161" y="0"/>
                </a:moveTo>
                <a:lnTo>
                  <a:pt x="35161" y="0"/>
                </a:lnTo>
                <a:lnTo>
                  <a:pt x="35161" y="597733"/>
                </a:lnTo>
                <a:lnTo>
                  <a:pt x="35161" y="597733"/>
                </a:lnTo>
                <a:cubicBezTo>
                  <a:pt x="15755" y="597733"/>
                  <a:pt x="0" y="581978"/>
                  <a:pt x="0" y="562572"/>
                </a:cubicBezTo>
                <a:lnTo>
                  <a:pt x="0" y="35161"/>
                </a:lnTo>
                <a:cubicBezTo>
                  <a:pt x="0" y="15755"/>
                  <a:pt x="15755" y="0"/>
                  <a:pt x="35161" y="0"/>
                </a:cubicBezTo>
                <a:close/>
              </a:path>
            </a:pathLst>
          </a:custGeom>
          <a:solidFill>
            <a:srgbClr val="E7000B"/>
          </a:solidFill>
          <a:ln/>
        </p:spPr>
      </p:sp>
      <p:sp>
        <p:nvSpPr>
          <p:cNvPr id="25" name="Shape 23"/>
          <p:cNvSpPr/>
          <p:nvPr/>
        </p:nvSpPr>
        <p:spPr>
          <a:xfrm>
            <a:off x="8296433" y="1265788"/>
            <a:ext cx="158224" cy="158224"/>
          </a:xfrm>
          <a:custGeom>
            <a:avLst/>
            <a:gdLst/>
            <a:ahLst/>
            <a:cxnLst/>
            <a:rect l="l" t="t" r="r" b="b"/>
            <a:pathLst>
              <a:path w="158224" h="158224">
                <a:moveTo>
                  <a:pt x="79112" y="0"/>
                </a:moveTo>
                <a:cubicBezTo>
                  <a:pt x="83654" y="0"/>
                  <a:pt x="87826" y="2503"/>
                  <a:pt x="89990" y="6490"/>
                </a:cubicBezTo>
                <a:lnTo>
                  <a:pt x="156740" y="130102"/>
                </a:lnTo>
                <a:cubicBezTo>
                  <a:pt x="158811" y="133934"/>
                  <a:pt x="158718" y="138569"/>
                  <a:pt x="156493" y="142308"/>
                </a:cubicBezTo>
                <a:cubicBezTo>
                  <a:pt x="154268" y="146048"/>
                  <a:pt x="150220" y="148335"/>
                  <a:pt x="145862" y="148335"/>
                </a:cubicBezTo>
                <a:lnTo>
                  <a:pt x="12361" y="148335"/>
                </a:lnTo>
                <a:cubicBezTo>
                  <a:pt x="8004" y="148335"/>
                  <a:pt x="3986" y="146048"/>
                  <a:pt x="1731" y="142308"/>
                </a:cubicBezTo>
                <a:cubicBezTo>
                  <a:pt x="-525" y="138569"/>
                  <a:pt x="-587" y="133934"/>
                  <a:pt x="1483" y="130102"/>
                </a:cubicBezTo>
                <a:lnTo>
                  <a:pt x="68234" y="6490"/>
                </a:lnTo>
                <a:cubicBezTo>
                  <a:pt x="70397" y="2503"/>
                  <a:pt x="74569" y="0"/>
                  <a:pt x="79112" y="0"/>
                </a:cubicBezTo>
                <a:close/>
                <a:moveTo>
                  <a:pt x="79112" y="51917"/>
                </a:moveTo>
                <a:cubicBezTo>
                  <a:pt x="75002" y="51917"/>
                  <a:pt x="71695" y="55224"/>
                  <a:pt x="71695" y="59334"/>
                </a:cubicBezTo>
                <a:lnTo>
                  <a:pt x="71695" y="93945"/>
                </a:lnTo>
                <a:cubicBezTo>
                  <a:pt x="71695" y="98055"/>
                  <a:pt x="75002" y="101362"/>
                  <a:pt x="79112" y="101362"/>
                </a:cubicBezTo>
                <a:cubicBezTo>
                  <a:pt x="83222" y="101362"/>
                  <a:pt x="86528" y="98055"/>
                  <a:pt x="86528" y="93945"/>
                </a:cubicBezTo>
                <a:lnTo>
                  <a:pt x="86528" y="59334"/>
                </a:lnTo>
                <a:cubicBezTo>
                  <a:pt x="86528" y="55224"/>
                  <a:pt x="83222" y="51917"/>
                  <a:pt x="79112" y="51917"/>
                </a:cubicBezTo>
                <a:close/>
                <a:moveTo>
                  <a:pt x="87363" y="118668"/>
                </a:moveTo>
                <a:cubicBezTo>
                  <a:pt x="87551" y="115605"/>
                  <a:pt x="86023" y="112691"/>
                  <a:pt x="83398" y="111103"/>
                </a:cubicBezTo>
                <a:cubicBezTo>
                  <a:pt x="80772" y="109515"/>
                  <a:pt x="77482" y="109515"/>
                  <a:pt x="74857" y="111103"/>
                </a:cubicBezTo>
                <a:cubicBezTo>
                  <a:pt x="72231" y="112691"/>
                  <a:pt x="70704" y="115605"/>
                  <a:pt x="70892" y="118668"/>
                </a:cubicBezTo>
                <a:cubicBezTo>
                  <a:pt x="70704" y="121730"/>
                  <a:pt x="72231" y="124644"/>
                  <a:pt x="74857" y="126232"/>
                </a:cubicBezTo>
                <a:cubicBezTo>
                  <a:pt x="77482" y="127820"/>
                  <a:pt x="80772" y="127820"/>
                  <a:pt x="83398" y="126232"/>
                </a:cubicBezTo>
                <a:cubicBezTo>
                  <a:pt x="86023" y="124644"/>
                  <a:pt x="87551" y="121730"/>
                  <a:pt x="87363" y="118668"/>
                </a:cubicBezTo>
                <a:close/>
              </a:path>
            </a:pathLst>
          </a:custGeom>
          <a:solidFill>
            <a:srgbClr val="E7000B"/>
          </a:solidFill>
          <a:ln/>
        </p:spPr>
      </p:sp>
      <p:sp>
        <p:nvSpPr>
          <p:cNvPr id="26" name="Text 24"/>
          <p:cNvSpPr/>
          <p:nvPr/>
        </p:nvSpPr>
        <p:spPr>
          <a:xfrm>
            <a:off x="8577719" y="1230627"/>
            <a:ext cx="2039325"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Gross Negligence</a:t>
            </a:r>
            <a:endParaRPr lang="en-US" sz="1600" dirty="0"/>
          </a:p>
        </p:txBody>
      </p:sp>
      <p:sp>
        <p:nvSpPr>
          <p:cNvPr id="27" name="Text 25"/>
          <p:cNvSpPr/>
          <p:nvPr/>
        </p:nvSpPr>
        <p:spPr>
          <a:xfrm>
            <a:off x="8577719" y="1441592"/>
            <a:ext cx="2030535"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Actions causing significant crop loss</a:t>
            </a:r>
            <a:endParaRPr lang="en-US" sz="1600" dirty="0"/>
          </a:p>
        </p:txBody>
      </p:sp>
      <p:sp>
        <p:nvSpPr>
          <p:cNvPr id="28" name="Shape 26"/>
          <p:cNvSpPr/>
          <p:nvPr/>
        </p:nvSpPr>
        <p:spPr>
          <a:xfrm>
            <a:off x="4553321" y="1828360"/>
            <a:ext cx="3472127" cy="597733"/>
          </a:xfrm>
          <a:custGeom>
            <a:avLst/>
            <a:gdLst/>
            <a:ahLst/>
            <a:cxnLst/>
            <a:rect l="l" t="t" r="r" b="b"/>
            <a:pathLst>
              <a:path w="3472127" h="597733">
                <a:moveTo>
                  <a:pt x="35161" y="0"/>
                </a:moveTo>
                <a:lnTo>
                  <a:pt x="3401804" y="0"/>
                </a:lnTo>
                <a:cubicBezTo>
                  <a:pt x="3440642" y="0"/>
                  <a:pt x="3472127" y="31485"/>
                  <a:pt x="3472127" y="70323"/>
                </a:cubicBezTo>
                <a:lnTo>
                  <a:pt x="3472127" y="527410"/>
                </a:lnTo>
                <a:cubicBezTo>
                  <a:pt x="3472127" y="566248"/>
                  <a:pt x="3440642" y="597733"/>
                  <a:pt x="3401804" y="597733"/>
                </a:cubicBezTo>
                <a:lnTo>
                  <a:pt x="35161" y="597733"/>
                </a:lnTo>
                <a:cubicBezTo>
                  <a:pt x="15755" y="597733"/>
                  <a:pt x="0" y="581978"/>
                  <a:pt x="0" y="562572"/>
                </a:cubicBezTo>
                <a:lnTo>
                  <a:pt x="0" y="35161"/>
                </a:lnTo>
                <a:cubicBezTo>
                  <a:pt x="0" y="15755"/>
                  <a:pt x="15755" y="0"/>
                  <a:pt x="35161" y="0"/>
                </a:cubicBezTo>
                <a:close/>
              </a:path>
            </a:pathLst>
          </a:custGeom>
          <a:solidFill>
            <a:srgbClr val="FEF2F2"/>
          </a:solidFill>
          <a:ln/>
        </p:spPr>
      </p:sp>
      <p:sp>
        <p:nvSpPr>
          <p:cNvPr id="29" name="Shape 27"/>
          <p:cNvSpPr/>
          <p:nvPr/>
        </p:nvSpPr>
        <p:spPr>
          <a:xfrm>
            <a:off x="4553321" y="1828360"/>
            <a:ext cx="35161" cy="597733"/>
          </a:xfrm>
          <a:custGeom>
            <a:avLst/>
            <a:gdLst/>
            <a:ahLst/>
            <a:cxnLst/>
            <a:rect l="l" t="t" r="r" b="b"/>
            <a:pathLst>
              <a:path w="35161" h="597733">
                <a:moveTo>
                  <a:pt x="35161" y="0"/>
                </a:moveTo>
                <a:lnTo>
                  <a:pt x="35161" y="0"/>
                </a:lnTo>
                <a:lnTo>
                  <a:pt x="35161" y="597733"/>
                </a:lnTo>
                <a:lnTo>
                  <a:pt x="35161" y="597733"/>
                </a:lnTo>
                <a:cubicBezTo>
                  <a:pt x="15755" y="597733"/>
                  <a:pt x="0" y="581978"/>
                  <a:pt x="0" y="562572"/>
                </a:cubicBezTo>
                <a:lnTo>
                  <a:pt x="0" y="35161"/>
                </a:lnTo>
                <a:cubicBezTo>
                  <a:pt x="0" y="15755"/>
                  <a:pt x="15755" y="0"/>
                  <a:pt x="35161" y="0"/>
                </a:cubicBezTo>
                <a:close/>
              </a:path>
            </a:pathLst>
          </a:custGeom>
          <a:solidFill>
            <a:srgbClr val="E7000B"/>
          </a:solidFill>
          <a:ln/>
        </p:spPr>
      </p:sp>
      <p:sp>
        <p:nvSpPr>
          <p:cNvPr id="30" name="Shape 28"/>
          <p:cNvSpPr/>
          <p:nvPr/>
        </p:nvSpPr>
        <p:spPr>
          <a:xfrm>
            <a:off x="4718137" y="1969004"/>
            <a:ext cx="118668" cy="158224"/>
          </a:xfrm>
          <a:custGeom>
            <a:avLst/>
            <a:gdLst/>
            <a:ahLst/>
            <a:cxnLst/>
            <a:rect l="l" t="t" r="r" b="b"/>
            <a:pathLst>
              <a:path w="118668" h="158224">
                <a:moveTo>
                  <a:pt x="49445" y="0"/>
                </a:moveTo>
                <a:cubicBezTo>
                  <a:pt x="54915" y="0"/>
                  <a:pt x="59334" y="4419"/>
                  <a:pt x="59334" y="9889"/>
                </a:cubicBezTo>
                <a:lnTo>
                  <a:pt x="59334" y="44500"/>
                </a:lnTo>
                <a:lnTo>
                  <a:pt x="39556" y="44500"/>
                </a:lnTo>
                <a:lnTo>
                  <a:pt x="39556" y="9889"/>
                </a:lnTo>
                <a:cubicBezTo>
                  <a:pt x="39556" y="4419"/>
                  <a:pt x="43975" y="0"/>
                  <a:pt x="49445" y="0"/>
                </a:cubicBezTo>
                <a:close/>
                <a:moveTo>
                  <a:pt x="9889" y="19778"/>
                </a:moveTo>
                <a:cubicBezTo>
                  <a:pt x="9889" y="14308"/>
                  <a:pt x="14308" y="9889"/>
                  <a:pt x="19778" y="9889"/>
                </a:cubicBezTo>
                <a:cubicBezTo>
                  <a:pt x="25248" y="9889"/>
                  <a:pt x="29667" y="14308"/>
                  <a:pt x="29667" y="19778"/>
                </a:cubicBezTo>
                <a:lnTo>
                  <a:pt x="29667" y="44500"/>
                </a:lnTo>
                <a:lnTo>
                  <a:pt x="9889" y="44500"/>
                </a:lnTo>
                <a:lnTo>
                  <a:pt x="9889" y="19778"/>
                </a:lnTo>
                <a:close/>
                <a:moveTo>
                  <a:pt x="69223" y="19778"/>
                </a:moveTo>
                <a:cubicBezTo>
                  <a:pt x="69223" y="14308"/>
                  <a:pt x="73642" y="9889"/>
                  <a:pt x="79112" y="9889"/>
                </a:cubicBezTo>
                <a:cubicBezTo>
                  <a:pt x="84582" y="9889"/>
                  <a:pt x="89001" y="14308"/>
                  <a:pt x="89001" y="19778"/>
                </a:cubicBezTo>
                <a:lnTo>
                  <a:pt x="89001" y="49445"/>
                </a:lnTo>
                <a:cubicBezTo>
                  <a:pt x="89001" y="54915"/>
                  <a:pt x="84582" y="59334"/>
                  <a:pt x="79112" y="59334"/>
                </a:cubicBezTo>
                <a:cubicBezTo>
                  <a:pt x="73642" y="59334"/>
                  <a:pt x="69223" y="54915"/>
                  <a:pt x="69223" y="49445"/>
                </a:cubicBezTo>
                <a:lnTo>
                  <a:pt x="69223" y="19778"/>
                </a:lnTo>
                <a:close/>
                <a:moveTo>
                  <a:pt x="98890" y="39556"/>
                </a:moveTo>
                <a:cubicBezTo>
                  <a:pt x="98890" y="34086"/>
                  <a:pt x="103309" y="29667"/>
                  <a:pt x="108779" y="29667"/>
                </a:cubicBezTo>
                <a:cubicBezTo>
                  <a:pt x="114248" y="29667"/>
                  <a:pt x="118668" y="34086"/>
                  <a:pt x="118668" y="39556"/>
                </a:cubicBezTo>
                <a:lnTo>
                  <a:pt x="118668" y="59334"/>
                </a:lnTo>
                <a:cubicBezTo>
                  <a:pt x="118668" y="64804"/>
                  <a:pt x="114248" y="69223"/>
                  <a:pt x="108779" y="69223"/>
                </a:cubicBezTo>
                <a:cubicBezTo>
                  <a:pt x="103309" y="69223"/>
                  <a:pt x="98890" y="64804"/>
                  <a:pt x="98890" y="59334"/>
                </a:cubicBezTo>
                <a:lnTo>
                  <a:pt x="98890" y="39556"/>
                </a:lnTo>
                <a:close/>
                <a:moveTo>
                  <a:pt x="69223" y="66751"/>
                </a:moveTo>
                <a:lnTo>
                  <a:pt x="69223" y="66565"/>
                </a:lnTo>
                <a:cubicBezTo>
                  <a:pt x="72128" y="68234"/>
                  <a:pt x="75496" y="69223"/>
                  <a:pt x="79112" y="69223"/>
                </a:cubicBezTo>
                <a:cubicBezTo>
                  <a:pt x="83191" y="69223"/>
                  <a:pt x="86961" y="67987"/>
                  <a:pt x="90113" y="65885"/>
                </a:cubicBezTo>
                <a:cubicBezTo>
                  <a:pt x="92802" y="73580"/>
                  <a:pt x="100157" y="79112"/>
                  <a:pt x="108779" y="79112"/>
                </a:cubicBezTo>
                <a:cubicBezTo>
                  <a:pt x="112394" y="79112"/>
                  <a:pt x="115763" y="78154"/>
                  <a:pt x="118668" y="76454"/>
                </a:cubicBezTo>
                <a:lnTo>
                  <a:pt x="118668" y="79112"/>
                </a:lnTo>
                <a:cubicBezTo>
                  <a:pt x="118668" y="95274"/>
                  <a:pt x="110911" y="109644"/>
                  <a:pt x="98890" y="118668"/>
                </a:cubicBezTo>
                <a:lnTo>
                  <a:pt x="98890" y="148335"/>
                </a:lnTo>
                <a:cubicBezTo>
                  <a:pt x="98890" y="153804"/>
                  <a:pt x="94471" y="158224"/>
                  <a:pt x="89001" y="158224"/>
                </a:cubicBezTo>
                <a:lnTo>
                  <a:pt x="39556" y="158224"/>
                </a:lnTo>
                <a:cubicBezTo>
                  <a:pt x="34086" y="158224"/>
                  <a:pt x="29667" y="153804"/>
                  <a:pt x="29667" y="148335"/>
                </a:cubicBezTo>
                <a:lnTo>
                  <a:pt x="29667" y="124107"/>
                </a:lnTo>
                <a:cubicBezTo>
                  <a:pt x="24321" y="121665"/>
                  <a:pt x="19407" y="118297"/>
                  <a:pt x="15173" y="114063"/>
                </a:cubicBezTo>
                <a:lnTo>
                  <a:pt x="11589" y="110478"/>
                </a:lnTo>
                <a:cubicBezTo>
                  <a:pt x="4172" y="103062"/>
                  <a:pt x="0" y="92987"/>
                  <a:pt x="0" y="82511"/>
                </a:cubicBezTo>
                <a:lnTo>
                  <a:pt x="0" y="74167"/>
                </a:lnTo>
                <a:cubicBezTo>
                  <a:pt x="0" y="63258"/>
                  <a:pt x="8869" y="54389"/>
                  <a:pt x="19778" y="54389"/>
                </a:cubicBezTo>
                <a:lnTo>
                  <a:pt x="46973" y="54389"/>
                </a:lnTo>
                <a:cubicBezTo>
                  <a:pt x="53802" y="54389"/>
                  <a:pt x="59334" y="59921"/>
                  <a:pt x="59334" y="66751"/>
                </a:cubicBezTo>
                <a:cubicBezTo>
                  <a:pt x="59334" y="73580"/>
                  <a:pt x="53802" y="79112"/>
                  <a:pt x="46973" y="79112"/>
                </a:cubicBezTo>
                <a:lnTo>
                  <a:pt x="29667" y="79112"/>
                </a:lnTo>
                <a:cubicBezTo>
                  <a:pt x="26947" y="79112"/>
                  <a:pt x="24722" y="81337"/>
                  <a:pt x="24722" y="84056"/>
                </a:cubicBezTo>
                <a:cubicBezTo>
                  <a:pt x="24722" y="86776"/>
                  <a:pt x="26947" y="89001"/>
                  <a:pt x="29667" y="89001"/>
                </a:cubicBezTo>
                <a:lnTo>
                  <a:pt x="46973" y="89001"/>
                </a:lnTo>
                <a:cubicBezTo>
                  <a:pt x="59272" y="89001"/>
                  <a:pt x="69223" y="79050"/>
                  <a:pt x="69223" y="66751"/>
                </a:cubicBezTo>
                <a:close/>
              </a:path>
            </a:pathLst>
          </a:custGeom>
          <a:solidFill>
            <a:srgbClr val="E7000B"/>
          </a:solidFill>
          <a:ln/>
        </p:spPr>
      </p:sp>
      <p:sp>
        <p:nvSpPr>
          <p:cNvPr id="31" name="Text 29"/>
          <p:cNvSpPr/>
          <p:nvPr/>
        </p:nvSpPr>
        <p:spPr>
          <a:xfrm>
            <a:off x="4979645" y="1933843"/>
            <a:ext cx="1731668"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Violence</a:t>
            </a:r>
            <a:endParaRPr lang="en-US" sz="1600" dirty="0"/>
          </a:p>
        </p:txBody>
      </p:sp>
      <p:sp>
        <p:nvSpPr>
          <p:cNvPr id="32" name="Text 30"/>
          <p:cNvSpPr/>
          <p:nvPr/>
        </p:nvSpPr>
        <p:spPr>
          <a:xfrm>
            <a:off x="4979645" y="2144807"/>
            <a:ext cx="1722878"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Physical altercations or threats</a:t>
            </a:r>
            <a:endParaRPr lang="en-US" sz="1600" dirty="0"/>
          </a:p>
        </p:txBody>
      </p:sp>
      <p:sp>
        <p:nvSpPr>
          <p:cNvPr id="33" name="Shape 31"/>
          <p:cNvSpPr/>
          <p:nvPr/>
        </p:nvSpPr>
        <p:spPr>
          <a:xfrm>
            <a:off x="8151395" y="1828360"/>
            <a:ext cx="3472127" cy="597733"/>
          </a:xfrm>
          <a:custGeom>
            <a:avLst/>
            <a:gdLst/>
            <a:ahLst/>
            <a:cxnLst/>
            <a:rect l="l" t="t" r="r" b="b"/>
            <a:pathLst>
              <a:path w="3472127" h="597733">
                <a:moveTo>
                  <a:pt x="35161" y="0"/>
                </a:moveTo>
                <a:lnTo>
                  <a:pt x="3401804" y="0"/>
                </a:lnTo>
                <a:cubicBezTo>
                  <a:pt x="3440642" y="0"/>
                  <a:pt x="3472127" y="31485"/>
                  <a:pt x="3472127" y="70323"/>
                </a:cubicBezTo>
                <a:lnTo>
                  <a:pt x="3472127" y="527410"/>
                </a:lnTo>
                <a:cubicBezTo>
                  <a:pt x="3472127" y="566248"/>
                  <a:pt x="3440642" y="597733"/>
                  <a:pt x="3401804" y="597733"/>
                </a:cubicBezTo>
                <a:lnTo>
                  <a:pt x="35161" y="597733"/>
                </a:lnTo>
                <a:cubicBezTo>
                  <a:pt x="15755" y="597733"/>
                  <a:pt x="0" y="581978"/>
                  <a:pt x="0" y="562572"/>
                </a:cubicBezTo>
                <a:lnTo>
                  <a:pt x="0" y="35161"/>
                </a:lnTo>
                <a:cubicBezTo>
                  <a:pt x="0" y="15755"/>
                  <a:pt x="15755" y="0"/>
                  <a:pt x="35161" y="0"/>
                </a:cubicBezTo>
                <a:close/>
              </a:path>
            </a:pathLst>
          </a:custGeom>
          <a:solidFill>
            <a:srgbClr val="FEF2F2"/>
          </a:solidFill>
          <a:ln/>
        </p:spPr>
      </p:sp>
      <p:sp>
        <p:nvSpPr>
          <p:cNvPr id="34" name="Shape 32"/>
          <p:cNvSpPr/>
          <p:nvPr/>
        </p:nvSpPr>
        <p:spPr>
          <a:xfrm>
            <a:off x="8151395" y="1828360"/>
            <a:ext cx="35161" cy="597733"/>
          </a:xfrm>
          <a:custGeom>
            <a:avLst/>
            <a:gdLst/>
            <a:ahLst/>
            <a:cxnLst/>
            <a:rect l="l" t="t" r="r" b="b"/>
            <a:pathLst>
              <a:path w="35161" h="597733">
                <a:moveTo>
                  <a:pt x="35161" y="0"/>
                </a:moveTo>
                <a:lnTo>
                  <a:pt x="35161" y="0"/>
                </a:lnTo>
                <a:lnTo>
                  <a:pt x="35161" y="597733"/>
                </a:lnTo>
                <a:lnTo>
                  <a:pt x="35161" y="597733"/>
                </a:lnTo>
                <a:cubicBezTo>
                  <a:pt x="15755" y="597733"/>
                  <a:pt x="0" y="581978"/>
                  <a:pt x="0" y="562572"/>
                </a:cubicBezTo>
                <a:lnTo>
                  <a:pt x="0" y="35161"/>
                </a:lnTo>
                <a:cubicBezTo>
                  <a:pt x="0" y="15755"/>
                  <a:pt x="15755" y="0"/>
                  <a:pt x="35161" y="0"/>
                </a:cubicBezTo>
                <a:close/>
              </a:path>
            </a:pathLst>
          </a:custGeom>
          <a:solidFill>
            <a:srgbClr val="E7000B"/>
          </a:solidFill>
          <a:ln/>
        </p:spPr>
      </p:sp>
      <p:sp>
        <p:nvSpPr>
          <p:cNvPr id="35" name="Shape 33"/>
          <p:cNvSpPr/>
          <p:nvPr/>
        </p:nvSpPr>
        <p:spPr>
          <a:xfrm>
            <a:off x="8326100" y="1969004"/>
            <a:ext cx="98890" cy="158224"/>
          </a:xfrm>
          <a:custGeom>
            <a:avLst/>
            <a:gdLst/>
            <a:ahLst/>
            <a:cxnLst/>
            <a:rect l="l" t="t" r="r" b="b"/>
            <a:pathLst>
              <a:path w="98890" h="158224">
                <a:moveTo>
                  <a:pt x="24722" y="-9889"/>
                </a:moveTo>
                <a:cubicBezTo>
                  <a:pt x="24722" y="-15359"/>
                  <a:pt x="29142" y="-19778"/>
                  <a:pt x="34611" y="-19778"/>
                </a:cubicBezTo>
                <a:lnTo>
                  <a:pt x="64278" y="-19778"/>
                </a:lnTo>
                <a:cubicBezTo>
                  <a:pt x="69748" y="-19778"/>
                  <a:pt x="74167" y="-15359"/>
                  <a:pt x="74167" y="-9889"/>
                </a:cubicBezTo>
                <a:cubicBezTo>
                  <a:pt x="74167" y="-6242"/>
                  <a:pt x="72189" y="-3028"/>
                  <a:pt x="69223" y="-1329"/>
                </a:cubicBezTo>
                <a:lnTo>
                  <a:pt x="69223" y="43666"/>
                </a:lnTo>
                <a:cubicBezTo>
                  <a:pt x="86683" y="51299"/>
                  <a:pt x="98890" y="68728"/>
                  <a:pt x="98890" y="89001"/>
                </a:cubicBezTo>
                <a:lnTo>
                  <a:pt x="98890" y="158224"/>
                </a:lnTo>
                <a:cubicBezTo>
                  <a:pt x="98890" y="169132"/>
                  <a:pt x="90021" y="178001"/>
                  <a:pt x="79112" y="178001"/>
                </a:cubicBezTo>
                <a:lnTo>
                  <a:pt x="19778" y="178001"/>
                </a:lnTo>
                <a:cubicBezTo>
                  <a:pt x="8869" y="178001"/>
                  <a:pt x="0" y="169132"/>
                  <a:pt x="0" y="158224"/>
                </a:cubicBezTo>
                <a:lnTo>
                  <a:pt x="0" y="89001"/>
                </a:lnTo>
                <a:cubicBezTo>
                  <a:pt x="0" y="68728"/>
                  <a:pt x="12207" y="51299"/>
                  <a:pt x="29667" y="43666"/>
                </a:cubicBezTo>
                <a:lnTo>
                  <a:pt x="29667" y="-1329"/>
                </a:lnTo>
                <a:cubicBezTo>
                  <a:pt x="26700" y="-3028"/>
                  <a:pt x="24722" y="-6242"/>
                  <a:pt x="24722" y="-9889"/>
                </a:cubicBezTo>
                <a:close/>
                <a:moveTo>
                  <a:pt x="29667" y="89001"/>
                </a:moveTo>
                <a:cubicBezTo>
                  <a:pt x="24197" y="89001"/>
                  <a:pt x="19778" y="93420"/>
                  <a:pt x="19778" y="98890"/>
                </a:cubicBezTo>
                <a:lnTo>
                  <a:pt x="19778" y="138446"/>
                </a:lnTo>
                <a:cubicBezTo>
                  <a:pt x="19778" y="143915"/>
                  <a:pt x="24197" y="148335"/>
                  <a:pt x="29667" y="148335"/>
                </a:cubicBezTo>
                <a:lnTo>
                  <a:pt x="69223" y="148335"/>
                </a:lnTo>
                <a:cubicBezTo>
                  <a:pt x="74693" y="148335"/>
                  <a:pt x="79112" y="143915"/>
                  <a:pt x="79112" y="138446"/>
                </a:cubicBezTo>
                <a:lnTo>
                  <a:pt x="79112" y="98890"/>
                </a:lnTo>
                <a:cubicBezTo>
                  <a:pt x="79112" y="93420"/>
                  <a:pt x="74693" y="89001"/>
                  <a:pt x="69223" y="89001"/>
                </a:cubicBezTo>
                <a:lnTo>
                  <a:pt x="29667" y="89001"/>
                </a:lnTo>
                <a:close/>
              </a:path>
            </a:pathLst>
          </a:custGeom>
          <a:solidFill>
            <a:srgbClr val="E7000B"/>
          </a:solidFill>
          <a:ln/>
        </p:spPr>
      </p:sp>
      <p:sp>
        <p:nvSpPr>
          <p:cNvPr id="36" name="Text 34"/>
          <p:cNvSpPr/>
          <p:nvPr/>
        </p:nvSpPr>
        <p:spPr>
          <a:xfrm>
            <a:off x="8577719" y="1933843"/>
            <a:ext cx="2303031"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Substance Abuse</a:t>
            </a:r>
            <a:endParaRPr lang="en-US" sz="1600" dirty="0"/>
          </a:p>
        </p:txBody>
      </p:sp>
      <p:sp>
        <p:nvSpPr>
          <p:cNvPr id="37" name="Text 35"/>
          <p:cNvSpPr/>
          <p:nvPr/>
        </p:nvSpPr>
        <p:spPr>
          <a:xfrm>
            <a:off x="8577719" y="2144807"/>
            <a:ext cx="2294241"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Working under influence of drugs/alcohol</a:t>
            </a:r>
            <a:endParaRPr lang="en-US" sz="1600" dirty="0"/>
          </a:p>
        </p:txBody>
      </p:sp>
      <p:sp>
        <p:nvSpPr>
          <p:cNvPr id="38" name="Shape 36"/>
          <p:cNvSpPr/>
          <p:nvPr/>
        </p:nvSpPr>
        <p:spPr>
          <a:xfrm>
            <a:off x="4553321" y="2531576"/>
            <a:ext cx="3472127" cy="597733"/>
          </a:xfrm>
          <a:custGeom>
            <a:avLst/>
            <a:gdLst/>
            <a:ahLst/>
            <a:cxnLst/>
            <a:rect l="l" t="t" r="r" b="b"/>
            <a:pathLst>
              <a:path w="3472127" h="597733">
                <a:moveTo>
                  <a:pt x="35161" y="0"/>
                </a:moveTo>
                <a:lnTo>
                  <a:pt x="3401804" y="0"/>
                </a:lnTo>
                <a:cubicBezTo>
                  <a:pt x="3440642" y="0"/>
                  <a:pt x="3472127" y="31485"/>
                  <a:pt x="3472127" y="70323"/>
                </a:cubicBezTo>
                <a:lnTo>
                  <a:pt x="3472127" y="527410"/>
                </a:lnTo>
                <a:cubicBezTo>
                  <a:pt x="3472127" y="566248"/>
                  <a:pt x="3440642" y="597733"/>
                  <a:pt x="3401804" y="597733"/>
                </a:cubicBezTo>
                <a:lnTo>
                  <a:pt x="35161" y="597733"/>
                </a:lnTo>
                <a:cubicBezTo>
                  <a:pt x="15755" y="597733"/>
                  <a:pt x="0" y="581978"/>
                  <a:pt x="0" y="562572"/>
                </a:cubicBezTo>
                <a:lnTo>
                  <a:pt x="0" y="35161"/>
                </a:lnTo>
                <a:cubicBezTo>
                  <a:pt x="0" y="15755"/>
                  <a:pt x="15755" y="0"/>
                  <a:pt x="35161" y="0"/>
                </a:cubicBezTo>
                <a:close/>
              </a:path>
            </a:pathLst>
          </a:custGeom>
          <a:solidFill>
            <a:srgbClr val="FEF2F2"/>
          </a:solidFill>
          <a:ln/>
        </p:spPr>
      </p:sp>
      <p:sp>
        <p:nvSpPr>
          <p:cNvPr id="39" name="Shape 37"/>
          <p:cNvSpPr/>
          <p:nvPr/>
        </p:nvSpPr>
        <p:spPr>
          <a:xfrm>
            <a:off x="4553321" y="2531576"/>
            <a:ext cx="35161" cy="597733"/>
          </a:xfrm>
          <a:custGeom>
            <a:avLst/>
            <a:gdLst/>
            <a:ahLst/>
            <a:cxnLst/>
            <a:rect l="l" t="t" r="r" b="b"/>
            <a:pathLst>
              <a:path w="35161" h="597733">
                <a:moveTo>
                  <a:pt x="35161" y="0"/>
                </a:moveTo>
                <a:lnTo>
                  <a:pt x="35161" y="0"/>
                </a:lnTo>
                <a:lnTo>
                  <a:pt x="35161" y="597733"/>
                </a:lnTo>
                <a:lnTo>
                  <a:pt x="35161" y="597733"/>
                </a:lnTo>
                <a:cubicBezTo>
                  <a:pt x="15755" y="597733"/>
                  <a:pt x="0" y="581978"/>
                  <a:pt x="0" y="562572"/>
                </a:cubicBezTo>
                <a:lnTo>
                  <a:pt x="0" y="35161"/>
                </a:lnTo>
                <a:cubicBezTo>
                  <a:pt x="0" y="15755"/>
                  <a:pt x="15755" y="0"/>
                  <a:pt x="35161" y="0"/>
                </a:cubicBezTo>
                <a:close/>
              </a:path>
            </a:pathLst>
          </a:custGeom>
          <a:solidFill>
            <a:srgbClr val="E7000B"/>
          </a:solidFill>
          <a:ln/>
        </p:spPr>
      </p:sp>
      <p:sp>
        <p:nvSpPr>
          <p:cNvPr id="40" name="Shape 38"/>
          <p:cNvSpPr/>
          <p:nvPr/>
        </p:nvSpPr>
        <p:spPr>
          <a:xfrm>
            <a:off x="4698359" y="2672219"/>
            <a:ext cx="158224" cy="158224"/>
          </a:xfrm>
          <a:custGeom>
            <a:avLst/>
            <a:gdLst/>
            <a:ahLst/>
            <a:cxnLst/>
            <a:rect l="l" t="t" r="r" b="b"/>
            <a:pathLst>
              <a:path w="158224" h="158224">
                <a:moveTo>
                  <a:pt x="113476" y="127475"/>
                </a:moveTo>
                <a:lnTo>
                  <a:pt x="30749" y="44748"/>
                </a:lnTo>
                <a:cubicBezTo>
                  <a:pt x="23826" y="54451"/>
                  <a:pt x="19778" y="66318"/>
                  <a:pt x="19778" y="79112"/>
                </a:cubicBezTo>
                <a:cubicBezTo>
                  <a:pt x="19778" y="111869"/>
                  <a:pt x="46355" y="138446"/>
                  <a:pt x="79112" y="138446"/>
                </a:cubicBezTo>
                <a:cubicBezTo>
                  <a:pt x="91937" y="138446"/>
                  <a:pt x="103803" y="134397"/>
                  <a:pt x="113476" y="127475"/>
                </a:cubicBezTo>
                <a:close/>
                <a:moveTo>
                  <a:pt x="127475" y="113476"/>
                </a:moveTo>
                <a:cubicBezTo>
                  <a:pt x="134397" y="103772"/>
                  <a:pt x="138446" y="91906"/>
                  <a:pt x="138446" y="79112"/>
                </a:cubicBezTo>
                <a:cubicBezTo>
                  <a:pt x="138446" y="46355"/>
                  <a:pt x="111869" y="19778"/>
                  <a:pt x="79112" y="19778"/>
                </a:cubicBezTo>
                <a:cubicBezTo>
                  <a:pt x="66287" y="19778"/>
                  <a:pt x="54420" y="23826"/>
                  <a:pt x="44748" y="30749"/>
                </a:cubicBezTo>
                <a:lnTo>
                  <a:pt x="127475" y="113476"/>
                </a:lnTo>
                <a:close/>
                <a:moveTo>
                  <a:pt x="0" y="79112"/>
                </a:moveTo>
                <a:cubicBezTo>
                  <a:pt x="0" y="35449"/>
                  <a:pt x="35449" y="0"/>
                  <a:pt x="79112" y="0"/>
                </a:cubicBezTo>
                <a:cubicBezTo>
                  <a:pt x="122775" y="0"/>
                  <a:pt x="158224" y="35449"/>
                  <a:pt x="158224" y="79112"/>
                </a:cubicBezTo>
                <a:cubicBezTo>
                  <a:pt x="158224" y="122775"/>
                  <a:pt x="122775" y="158224"/>
                  <a:pt x="79112" y="158224"/>
                </a:cubicBezTo>
                <a:cubicBezTo>
                  <a:pt x="35449" y="158224"/>
                  <a:pt x="0" y="122775"/>
                  <a:pt x="0" y="79112"/>
                </a:cubicBezTo>
                <a:close/>
              </a:path>
            </a:pathLst>
          </a:custGeom>
          <a:solidFill>
            <a:srgbClr val="E7000B"/>
          </a:solidFill>
          <a:ln/>
        </p:spPr>
      </p:sp>
      <p:sp>
        <p:nvSpPr>
          <p:cNvPr id="41" name="Text 39"/>
          <p:cNvSpPr/>
          <p:nvPr/>
        </p:nvSpPr>
        <p:spPr>
          <a:xfrm>
            <a:off x="4979645" y="2637058"/>
            <a:ext cx="2030535"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Safety Violations</a:t>
            </a:r>
            <a:endParaRPr lang="en-US" sz="1600" dirty="0"/>
          </a:p>
        </p:txBody>
      </p:sp>
      <p:sp>
        <p:nvSpPr>
          <p:cNvPr id="42" name="Text 40"/>
          <p:cNvSpPr/>
          <p:nvPr/>
        </p:nvSpPr>
        <p:spPr>
          <a:xfrm>
            <a:off x="4979645" y="2848023"/>
            <a:ext cx="2021745"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Serious breaches of safety protocols</a:t>
            </a:r>
            <a:endParaRPr lang="en-US" sz="1600" dirty="0"/>
          </a:p>
        </p:txBody>
      </p:sp>
      <p:sp>
        <p:nvSpPr>
          <p:cNvPr id="43" name="Shape 41"/>
          <p:cNvSpPr/>
          <p:nvPr/>
        </p:nvSpPr>
        <p:spPr>
          <a:xfrm>
            <a:off x="8151395" y="2531576"/>
            <a:ext cx="3472127" cy="597733"/>
          </a:xfrm>
          <a:custGeom>
            <a:avLst/>
            <a:gdLst/>
            <a:ahLst/>
            <a:cxnLst/>
            <a:rect l="l" t="t" r="r" b="b"/>
            <a:pathLst>
              <a:path w="3472127" h="597733">
                <a:moveTo>
                  <a:pt x="35161" y="0"/>
                </a:moveTo>
                <a:lnTo>
                  <a:pt x="3401804" y="0"/>
                </a:lnTo>
                <a:cubicBezTo>
                  <a:pt x="3440642" y="0"/>
                  <a:pt x="3472127" y="31485"/>
                  <a:pt x="3472127" y="70323"/>
                </a:cubicBezTo>
                <a:lnTo>
                  <a:pt x="3472127" y="527410"/>
                </a:lnTo>
                <a:cubicBezTo>
                  <a:pt x="3472127" y="566248"/>
                  <a:pt x="3440642" y="597733"/>
                  <a:pt x="3401804" y="597733"/>
                </a:cubicBezTo>
                <a:lnTo>
                  <a:pt x="35161" y="597733"/>
                </a:lnTo>
                <a:cubicBezTo>
                  <a:pt x="15755" y="597733"/>
                  <a:pt x="0" y="581978"/>
                  <a:pt x="0" y="562572"/>
                </a:cubicBezTo>
                <a:lnTo>
                  <a:pt x="0" y="35161"/>
                </a:lnTo>
                <a:cubicBezTo>
                  <a:pt x="0" y="15755"/>
                  <a:pt x="15755" y="0"/>
                  <a:pt x="35161" y="0"/>
                </a:cubicBezTo>
                <a:close/>
              </a:path>
            </a:pathLst>
          </a:custGeom>
          <a:solidFill>
            <a:srgbClr val="FEF2F2"/>
          </a:solidFill>
          <a:ln/>
        </p:spPr>
      </p:sp>
      <p:sp>
        <p:nvSpPr>
          <p:cNvPr id="44" name="Shape 42"/>
          <p:cNvSpPr/>
          <p:nvPr/>
        </p:nvSpPr>
        <p:spPr>
          <a:xfrm>
            <a:off x="8151395" y="2531576"/>
            <a:ext cx="35161" cy="597733"/>
          </a:xfrm>
          <a:custGeom>
            <a:avLst/>
            <a:gdLst/>
            <a:ahLst/>
            <a:cxnLst/>
            <a:rect l="l" t="t" r="r" b="b"/>
            <a:pathLst>
              <a:path w="35161" h="597733">
                <a:moveTo>
                  <a:pt x="35161" y="0"/>
                </a:moveTo>
                <a:lnTo>
                  <a:pt x="35161" y="0"/>
                </a:lnTo>
                <a:lnTo>
                  <a:pt x="35161" y="597733"/>
                </a:lnTo>
                <a:lnTo>
                  <a:pt x="35161" y="597733"/>
                </a:lnTo>
                <a:cubicBezTo>
                  <a:pt x="15755" y="597733"/>
                  <a:pt x="0" y="581978"/>
                  <a:pt x="0" y="562572"/>
                </a:cubicBezTo>
                <a:lnTo>
                  <a:pt x="0" y="35161"/>
                </a:lnTo>
                <a:cubicBezTo>
                  <a:pt x="0" y="15755"/>
                  <a:pt x="15755" y="0"/>
                  <a:pt x="35161" y="0"/>
                </a:cubicBezTo>
                <a:close/>
              </a:path>
            </a:pathLst>
          </a:custGeom>
          <a:solidFill>
            <a:srgbClr val="E7000B"/>
          </a:solidFill>
          <a:ln/>
        </p:spPr>
      </p:sp>
      <p:sp>
        <p:nvSpPr>
          <p:cNvPr id="45" name="Shape 43"/>
          <p:cNvSpPr/>
          <p:nvPr/>
        </p:nvSpPr>
        <p:spPr>
          <a:xfrm>
            <a:off x="8286544" y="2672219"/>
            <a:ext cx="178001" cy="158224"/>
          </a:xfrm>
          <a:custGeom>
            <a:avLst/>
            <a:gdLst/>
            <a:ahLst/>
            <a:cxnLst/>
            <a:rect l="l" t="t" r="r" b="b"/>
            <a:pathLst>
              <a:path w="178001" h="158224">
                <a:moveTo>
                  <a:pt x="12670" y="-7695"/>
                </a:moveTo>
                <a:cubicBezTo>
                  <a:pt x="9765" y="-10600"/>
                  <a:pt x="5068" y="-10600"/>
                  <a:pt x="2194" y="-7695"/>
                </a:cubicBezTo>
                <a:cubicBezTo>
                  <a:pt x="-680" y="-4790"/>
                  <a:pt x="-711" y="-93"/>
                  <a:pt x="2163" y="2812"/>
                </a:cubicBezTo>
                <a:lnTo>
                  <a:pt x="165331" y="165980"/>
                </a:lnTo>
                <a:cubicBezTo>
                  <a:pt x="168236" y="168885"/>
                  <a:pt x="172933" y="168885"/>
                  <a:pt x="175807" y="165980"/>
                </a:cubicBezTo>
                <a:cubicBezTo>
                  <a:pt x="178681" y="163075"/>
                  <a:pt x="178712" y="158378"/>
                  <a:pt x="175807" y="155504"/>
                </a:cubicBezTo>
                <a:lnTo>
                  <a:pt x="96263" y="75929"/>
                </a:lnTo>
                <a:cubicBezTo>
                  <a:pt x="113260" y="72560"/>
                  <a:pt x="126084" y="57541"/>
                  <a:pt x="126084" y="39556"/>
                </a:cubicBezTo>
                <a:cubicBezTo>
                  <a:pt x="126084" y="19067"/>
                  <a:pt x="109489" y="2472"/>
                  <a:pt x="89001" y="2472"/>
                </a:cubicBezTo>
                <a:cubicBezTo>
                  <a:pt x="71015" y="2472"/>
                  <a:pt x="55996" y="15297"/>
                  <a:pt x="52628" y="32294"/>
                </a:cubicBezTo>
                <a:lnTo>
                  <a:pt x="12670" y="-7695"/>
                </a:lnTo>
                <a:close/>
                <a:moveTo>
                  <a:pt x="72808" y="94378"/>
                </a:moveTo>
                <a:cubicBezTo>
                  <a:pt x="45706" y="97839"/>
                  <a:pt x="24722" y="120985"/>
                  <a:pt x="24722" y="149045"/>
                </a:cubicBezTo>
                <a:cubicBezTo>
                  <a:pt x="24722" y="154113"/>
                  <a:pt x="28833" y="158224"/>
                  <a:pt x="33901" y="158224"/>
                </a:cubicBezTo>
                <a:lnTo>
                  <a:pt x="136653" y="158224"/>
                </a:lnTo>
                <a:lnTo>
                  <a:pt x="72808" y="94378"/>
                </a:lnTo>
                <a:close/>
              </a:path>
            </a:pathLst>
          </a:custGeom>
          <a:solidFill>
            <a:srgbClr val="E7000B"/>
          </a:solidFill>
          <a:ln/>
        </p:spPr>
      </p:sp>
      <p:sp>
        <p:nvSpPr>
          <p:cNvPr id="46" name="Text 44"/>
          <p:cNvSpPr/>
          <p:nvPr/>
        </p:nvSpPr>
        <p:spPr>
          <a:xfrm>
            <a:off x="8577719" y="2637058"/>
            <a:ext cx="2223919"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Abandonment</a:t>
            </a:r>
            <a:endParaRPr lang="en-US" sz="1600" dirty="0"/>
          </a:p>
        </p:txBody>
      </p:sp>
      <p:sp>
        <p:nvSpPr>
          <p:cNvPr id="47" name="Text 45"/>
          <p:cNvSpPr/>
          <p:nvPr/>
        </p:nvSpPr>
        <p:spPr>
          <a:xfrm>
            <a:off x="8577719" y="2848023"/>
            <a:ext cx="2215129"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No-call/no-show for 3 consecutive days</a:t>
            </a:r>
            <a:endParaRPr lang="en-US" sz="1600" dirty="0"/>
          </a:p>
        </p:txBody>
      </p:sp>
      <p:sp>
        <p:nvSpPr>
          <p:cNvPr id="48" name="Shape 46"/>
          <p:cNvSpPr/>
          <p:nvPr/>
        </p:nvSpPr>
        <p:spPr>
          <a:xfrm>
            <a:off x="4324776" y="3516078"/>
            <a:ext cx="3665511" cy="2988666"/>
          </a:xfrm>
          <a:custGeom>
            <a:avLst/>
            <a:gdLst/>
            <a:ahLst/>
            <a:cxnLst/>
            <a:rect l="l" t="t" r="r" b="b"/>
            <a:pathLst>
              <a:path w="3665511" h="2988666">
                <a:moveTo>
                  <a:pt x="70323" y="0"/>
                </a:moveTo>
                <a:lnTo>
                  <a:pt x="3595188" y="0"/>
                </a:lnTo>
                <a:cubicBezTo>
                  <a:pt x="3634026" y="0"/>
                  <a:pt x="3665511" y="31485"/>
                  <a:pt x="3665511" y="70323"/>
                </a:cubicBezTo>
                <a:lnTo>
                  <a:pt x="3665511" y="2918343"/>
                </a:lnTo>
                <a:cubicBezTo>
                  <a:pt x="3665511" y="2957181"/>
                  <a:pt x="3634026" y="2988666"/>
                  <a:pt x="3595188" y="2988666"/>
                </a:cubicBezTo>
                <a:lnTo>
                  <a:pt x="70323" y="2988666"/>
                </a:lnTo>
                <a:cubicBezTo>
                  <a:pt x="31485" y="2988666"/>
                  <a:pt x="0" y="2957181"/>
                  <a:pt x="0" y="2918343"/>
                </a:cubicBezTo>
                <a:lnTo>
                  <a:pt x="0" y="70323"/>
                </a:lnTo>
                <a:cubicBezTo>
                  <a:pt x="0" y="31511"/>
                  <a:pt x="31511" y="0"/>
                  <a:pt x="70323" y="0"/>
                </a:cubicBezTo>
                <a:close/>
              </a:path>
            </a:pathLst>
          </a:custGeom>
          <a:solidFill>
            <a:srgbClr val="FFFFFF"/>
          </a:solidFill>
          <a:ln/>
          <a:effectLst>
            <a:outerShdw sx="100000" sy="100000" kx="0" ky="0" algn="bl" rotWithShape="0" blurRad="52741" dist="35161" dir="5400000">
              <a:srgbClr val="000000">
                <a:alpha val="10196"/>
              </a:srgbClr>
            </a:outerShdw>
          </a:effectLst>
        </p:spPr>
      </p:sp>
      <p:sp>
        <p:nvSpPr>
          <p:cNvPr id="49" name="Shape 47"/>
          <p:cNvSpPr/>
          <p:nvPr/>
        </p:nvSpPr>
        <p:spPr>
          <a:xfrm>
            <a:off x="4535740" y="3727043"/>
            <a:ext cx="421929" cy="421929"/>
          </a:xfrm>
          <a:custGeom>
            <a:avLst/>
            <a:gdLst/>
            <a:ahLst/>
            <a:cxnLst/>
            <a:rect l="l" t="t" r="r" b="b"/>
            <a:pathLst>
              <a:path w="421929" h="421929">
                <a:moveTo>
                  <a:pt x="70323" y="0"/>
                </a:moveTo>
                <a:lnTo>
                  <a:pt x="351606" y="0"/>
                </a:lnTo>
                <a:cubicBezTo>
                  <a:pt x="390419" y="0"/>
                  <a:pt x="421929" y="31511"/>
                  <a:pt x="421929" y="70323"/>
                </a:cubicBezTo>
                <a:lnTo>
                  <a:pt x="421929" y="351606"/>
                </a:lnTo>
                <a:cubicBezTo>
                  <a:pt x="421929" y="390445"/>
                  <a:pt x="390445" y="421929"/>
                  <a:pt x="351606" y="421929"/>
                </a:cubicBezTo>
                <a:lnTo>
                  <a:pt x="70323" y="421929"/>
                </a:lnTo>
                <a:cubicBezTo>
                  <a:pt x="31511" y="421929"/>
                  <a:pt x="0" y="390419"/>
                  <a:pt x="0" y="351606"/>
                </a:cubicBezTo>
                <a:lnTo>
                  <a:pt x="0" y="70323"/>
                </a:lnTo>
                <a:cubicBezTo>
                  <a:pt x="0" y="31511"/>
                  <a:pt x="31511" y="0"/>
                  <a:pt x="70323" y="0"/>
                </a:cubicBezTo>
                <a:close/>
              </a:path>
            </a:pathLst>
          </a:custGeom>
          <a:solidFill>
            <a:srgbClr val="4A5D52"/>
          </a:solidFill>
          <a:ln/>
        </p:spPr>
      </p:sp>
      <p:sp>
        <p:nvSpPr>
          <p:cNvPr id="50" name="Shape 48"/>
          <p:cNvSpPr/>
          <p:nvPr/>
        </p:nvSpPr>
        <p:spPr>
          <a:xfrm>
            <a:off x="4669791" y="3850105"/>
            <a:ext cx="153828" cy="175804"/>
          </a:xfrm>
          <a:custGeom>
            <a:avLst/>
            <a:gdLst/>
            <a:ahLst/>
            <a:cxnLst/>
            <a:rect l="l" t="t" r="r" b="b"/>
            <a:pathLst>
              <a:path w="153828" h="175804">
                <a:moveTo>
                  <a:pt x="43951" y="0"/>
                </a:moveTo>
                <a:cubicBezTo>
                  <a:pt x="50029" y="0"/>
                  <a:pt x="54939" y="4910"/>
                  <a:pt x="54939" y="10988"/>
                </a:cubicBezTo>
                <a:lnTo>
                  <a:pt x="54939" y="21975"/>
                </a:lnTo>
                <a:lnTo>
                  <a:pt x="98890" y="21975"/>
                </a:lnTo>
                <a:lnTo>
                  <a:pt x="98890" y="10988"/>
                </a:lnTo>
                <a:cubicBezTo>
                  <a:pt x="98890" y="4910"/>
                  <a:pt x="103800" y="0"/>
                  <a:pt x="109877" y="0"/>
                </a:cubicBezTo>
                <a:cubicBezTo>
                  <a:pt x="115955" y="0"/>
                  <a:pt x="120865" y="4910"/>
                  <a:pt x="120865" y="10988"/>
                </a:cubicBezTo>
                <a:lnTo>
                  <a:pt x="120865" y="21975"/>
                </a:lnTo>
                <a:lnTo>
                  <a:pt x="131853" y="21975"/>
                </a:lnTo>
                <a:cubicBezTo>
                  <a:pt x="143974" y="21975"/>
                  <a:pt x="153828" y="31830"/>
                  <a:pt x="153828" y="43951"/>
                </a:cubicBezTo>
                <a:lnTo>
                  <a:pt x="153828" y="142841"/>
                </a:lnTo>
                <a:cubicBezTo>
                  <a:pt x="153828" y="154962"/>
                  <a:pt x="143974" y="164816"/>
                  <a:pt x="131853" y="164816"/>
                </a:cubicBezTo>
                <a:lnTo>
                  <a:pt x="21975" y="164816"/>
                </a:lnTo>
                <a:cubicBezTo>
                  <a:pt x="9855" y="164816"/>
                  <a:pt x="0" y="154962"/>
                  <a:pt x="0" y="142841"/>
                </a:cubicBezTo>
                <a:lnTo>
                  <a:pt x="0" y="43951"/>
                </a:lnTo>
                <a:cubicBezTo>
                  <a:pt x="0" y="31830"/>
                  <a:pt x="9855" y="21975"/>
                  <a:pt x="21975" y="21975"/>
                </a:cubicBezTo>
                <a:lnTo>
                  <a:pt x="32963" y="21975"/>
                </a:lnTo>
                <a:lnTo>
                  <a:pt x="32963" y="10988"/>
                </a:lnTo>
                <a:cubicBezTo>
                  <a:pt x="32963" y="4910"/>
                  <a:pt x="37873" y="0"/>
                  <a:pt x="43951" y="0"/>
                </a:cubicBezTo>
                <a:close/>
                <a:moveTo>
                  <a:pt x="100229" y="75575"/>
                </a:moveTo>
                <a:cubicBezTo>
                  <a:pt x="97001" y="72347"/>
                  <a:pt x="91782" y="72347"/>
                  <a:pt x="88589" y="75575"/>
                </a:cubicBezTo>
                <a:lnTo>
                  <a:pt x="76949" y="87215"/>
                </a:lnTo>
                <a:lnTo>
                  <a:pt x="65308" y="75575"/>
                </a:lnTo>
                <a:cubicBezTo>
                  <a:pt x="62081" y="72347"/>
                  <a:pt x="56862" y="72347"/>
                  <a:pt x="53668" y="75575"/>
                </a:cubicBezTo>
                <a:cubicBezTo>
                  <a:pt x="50475" y="78803"/>
                  <a:pt x="50441" y="84022"/>
                  <a:pt x="53668" y="87215"/>
                </a:cubicBezTo>
                <a:lnTo>
                  <a:pt x="65308" y="98855"/>
                </a:lnTo>
                <a:lnTo>
                  <a:pt x="53668" y="110495"/>
                </a:lnTo>
                <a:cubicBezTo>
                  <a:pt x="50441" y="113723"/>
                  <a:pt x="50441" y="118942"/>
                  <a:pt x="53668" y="122136"/>
                </a:cubicBezTo>
                <a:cubicBezTo>
                  <a:pt x="56896" y="125329"/>
                  <a:pt x="62115" y="125363"/>
                  <a:pt x="65308" y="122136"/>
                </a:cubicBezTo>
                <a:lnTo>
                  <a:pt x="76949" y="110495"/>
                </a:lnTo>
                <a:lnTo>
                  <a:pt x="88589" y="122136"/>
                </a:lnTo>
                <a:cubicBezTo>
                  <a:pt x="91816" y="125363"/>
                  <a:pt x="97036" y="125363"/>
                  <a:pt x="100229" y="122136"/>
                </a:cubicBezTo>
                <a:cubicBezTo>
                  <a:pt x="103422" y="118908"/>
                  <a:pt x="103456" y="113689"/>
                  <a:pt x="100229" y="110495"/>
                </a:cubicBezTo>
                <a:lnTo>
                  <a:pt x="88589" y="98855"/>
                </a:lnTo>
                <a:lnTo>
                  <a:pt x="100229" y="87215"/>
                </a:lnTo>
                <a:cubicBezTo>
                  <a:pt x="103456" y="83988"/>
                  <a:pt x="103456" y="78768"/>
                  <a:pt x="100229" y="75575"/>
                </a:cubicBezTo>
                <a:close/>
              </a:path>
            </a:pathLst>
          </a:custGeom>
          <a:solidFill>
            <a:srgbClr val="F8F7F2"/>
          </a:solidFill>
          <a:ln/>
        </p:spPr>
      </p:sp>
      <p:sp>
        <p:nvSpPr>
          <p:cNvPr id="51" name="Text 49"/>
          <p:cNvSpPr/>
          <p:nvPr/>
        </p:nvSpPr>
        <p:spPr>
          <a:xfrm>
            <a:off x="5063152" y="3814944"/>
            <a:ext cx="1098774" cy="246125"/>
          </a:xfrm>
          <a:prstGeom prst="rect">
            <a:avLst/>
          </a:prstGeom>
          <a:noFill/>
          <a:ln/>
        </p:spPr>
        <p:txBody>
          <a:bodyPr wrap="square" lIns="0" tIns="0" rIns="0" bIns="0" rtlCol="0" anchor="ctr"/>
          <a:lstStyle/>
          <a:p>
            <a:pPr>
              <a:lnSpc>
                <a:spcPct val="120000"/>
              </a:lnSpc>
            </a:pPr>
            <a:r>
              <a:rPr lang="en-US" sz="1384" b="1" dirty="0">
                <a:solidFill>
                  <a:srgbClr val="4A5D52"/>
                </a:solidFill>
                <a:latin typeface="Unna" pitchFamily="34" charset="0"/>
                <a:ea typeface="Unna" pitchFamily="34" charset="-122"/>
                <a:cs typeface="Unna" pitchFamily="34" charset="-120"/>
              </a:rPr>
              <a:t>Notice Period</a:t>
            </a:r>
            <a:endParaRPr lang="en-US" sz="1600" dirty="0"/>
          </a:p>
        </p:txBody>
      </p:sp>
      <p:sp>
        <p:nvSpPr>
          <p:cNvPr id="52" name="Shape 50"/>
          <p:cNvSpPr/>
          <p:nvPr/>
        </p:nvSpPr>
        <p:spPr>
          <a:xfrm>
            <a:off x="4553321" y="4289615"/>
            <a:ext cx="35161" cy="439510"/>
          </a:xfrm>
          <a:custGeom>
            <a:avLst/>
            <a:gdLst/>
            <a:ahLst/>
            <a:cxnLst/>
            <a:rect l="l" t="t" r="r" b="b"/>
            <a:pathLst>
              <a:path w="35161" h="439510">
                <a:moveTo>
                  <a:pt x="0" y="0"/>
                </a:moveTo>
                <a:lnTo>
                  <a:pt x="35161" y="0"/>
                </a:lnTo>
                <a:lnTo>
                  <a:pt x="35161" y="439510"/>
                </a:lnTo>
                <a:lnTo>
                  <a:pt x="0" y="439510"/>
                </a:lnTo>
                <a:lnTo>
                  <a:pt x="0" y="0"/>
                </a:lnTo>
                <a:close/>
              </a:path>
            </a:pathLst>
          </a:custGeom>
          <a:solidFill>
            <a:srgbClr val="4A5D52"/>
          </a:solidFill>
          <a:ln/>
        </p:spPr>
      </p:sp>
      <p:sp>
        <p:nvSpPr>
          <p:cNvPr id="53" name="Text 51"/>
          <p:cNvSpPr/>
          <p:nvPr/>
        </p:nvSpPr>
        <p:spPr>
          <a:xfrm>
            <a:off x="4676384" y="4289615"/>
            <a:ext cx="3164470" cy="175804"/>
          </a:xfrm>
          <a:prstGeom prst="rect">
            <a:avLst/>
          </a:prstGeom>
          <a:noFill/>
          <a:ln/>
        </p:spPr>
        <p:txBody>
          <a:bodyPr wrap="square" lIns="0" tIns="0" rIns="0" bIns="0" rtlCol="0" anchor="ctr"/>
          <a:lstStyle/>
          <a:p>
            <a:pPr>
              <a:lnSpc>
                <a:spcPct val="120000"/>
              </a:lnSpc>
            </a:pPr>
            <a:r>
              <a:rPr lang="en-US" sz="969" b="1" spc="24" kern="0" dirty="0">
                <a:solidFill>
                  <a:srgbClr val="A88B6A"/>
                </a:solidFill>
                <a:latin typeface="Liter" pitchFamily="34" charset="0"/>
                <a:ea typeface="Liter" pitchFamily="34" charset="-122"/>
                <a:cs typeface="Liter" pitchFamily="34" charset="-120"/>
              </a:rPr>
              <a:t>Employee Resignation</a:t>
            </a:r>
            <a:endParaRPr lang="en-US" sz="1600" dirty="0"/>
          </a:p>
        </p:txBody>
      </p:sp>
      <p:sp>
        <p:nvSpPr>
          <p:cNvPr id="54" name="Text 52"/>
          <p:cNvSpPr/>
          <p:nvPr/>
        </p:nvSpPr>
        <p:spPr>
          <a:xfrm>
            <a:off x="4676384" y="4500580"/>
            <a:ext cx="3173260" cy="228545"/>
          </a:xfrm>
          <a:prstGeom prst="rect">
            <a:avLst/>
          </a:prstGeom>
          <a:noFill/>
          <a:ln/>
        </p:spPr>
        <p:txBody>
          <a:bodyPr wrap="square" lIns="0" tIns="0" rIns="0" bIns="0" rtlCol="0" anchor="ctr"/>
          <a:lstStyle/>
          <a:p>
            <a:pPr>
              <a:lnSpc>
                <a:spcPct val="140000"/>
              </a:lnSpc>
            </a:pPr>
            <a:r>
              <a:rPr lang="en-US" sz="1107" dirty="0">
                <a:solidFill>
                  <a:srgbClr val="2C3531"/>
                </a:solidFill>
                <a:latin typeface="Liter" pitchFamily="34" charset="0"/>
                <a:ea typeface="Liter" pitchFamily="34" charset="-122"/>
                <a:cs typeface="Liter" pitchFamily="34" charset="-120"/>
              </a:rPr>
              <a:t>Minimum </a:t>
            </a:r>
            <a:pPr>
              <a:lnSpc>
                <a:spcPct val="140000"/>
              </a:lnSpc>
            </a:pPr>
            <a:r>
              <a:rPr lang="en-US" sz="1107" b="1" dirty="0">
                <a:solidFill>
                  <a:srgbClr val="4A5D52"/>
                </a:solidFill>
                <a:latin typeface="Liter" pitchFamily="34" charset="0"/>
                <a:ea typeface="Liter" pitchFamily="34" charset="-122"/>
                <a:cs typeface="Liter" pitchFamily="34" charset="-120"/>
              </a:rPr>
              <a:t>2 weeks</a:t>
            </a:r>
            <a:pPr>
              <a:lnSpc>
                <a:spcPct val="140000"/>
              </a:lnSpc>
            </a:pPr>
            <a:r>
              <a:rPr lang="en-US" sz="1107" dirty="0">
                <a:solidFill>
                  <a:srgbClr val="2C3531"/>
                </a:solidFill>
                <a:latin typeface="Liter" pitchFamily="34" charset="0"/>
                <a:ea typeface="Liter" pitchFamily="34" charset="-122"/>
                <a:cs typeface="Liter" pitchFamily="34" charset="-120"/>
              </a:rPr>
              <a:t> written notice required</a:t>
            </a:r>
            <a:endParaRPr lang="en-US" sz="1600" dirty="0"/>
          </a:p>
        </p:txBody>
      </p:sp>
      <p:sp>
        <p:nvSpPr>
          <p:cNvPr id="55" name="Shape 53"/>
          <p:cNvSpPr/>
          <p:nvPr/>
        </p:nvSpPr>
        <p:spPr>
          <a:xfrm>
            <a:off x="4553321" y="4834607"/>
            <a:ext cx="35161" cy="439510"/>
          </a:xfrm>
          <a:custGeom>
            <a:avLst/>
            <a:gdLst/>
            <a:ahLst/>
            <a:cxnLst/>
            <a:rect l="l" t="t" r="r" b="b"/>
            <a:pathLst>
              <a:path w="35161" h="439510">
                <a:moveTo>
                  <a:pt x="0" y="0"/>
                </a:moveTo>
                <a:lnTo>
                  <a:pt x="35161" y="0"/>
                </a:lnTo>
                <a:lnTo>
                  <a:pt x="35161" y="439510"/>
                </a:lnTo>
                <a:lnTo>
                  <a:pt x="0" y="439510"/>
                </a:lnTo>
                <a:lnTo>
                  <a:pt x="0" y="0"/>
                </a:lnTo>
                <a:close/>
              </a:path>
            </a:pathLst>
          </a:custGeom>
          <a:solidFill>
            <a:srgbClr val="A88B6A"/>
          </a:solidFill>
          <a:ln/>
        </p:spPr>
      </p:sp>
      <p:sp>
        <p:nvSpPr>
          <p:cNvPr id="56" name="Text 54"/>
          <p:cNvSpPr/>
          <p:nvPr/>
        </p:nvSpPr>
        <p:spPr>
          <a:xfrm>
            <a:off x="4676384" y="4834607"/>
            <a:ext cx="3164470" cy="175804"/>
          </a:xfrm>
          <a:prstGeom prst="rect">
            <a:avLst/>
          </a:prstGeom>
          <a:noFill/>
          <a:ln/>
        </p:spPr>
        <p:txBody>
          <a:bodyPr wrap="square" lIns="0" tIns="0" rIns="0" bIns="0" rtlCol="0" anchor="ctr"/>
          <a:lstStyle/>
          <a:p>
            <a:pPr>
              <a:lnSpc>
                <a:spcPct val="120000"/>
              </a:lnSpc>
            </a:pPr>
            <a:r>
              <a:rPr lang="en-US" sz="969" b="1" spc="24" kern="0" dirty="0">
                <a:solidFill>
                  <a:srgbClr val="A88B6A"/>
                </a:solidFill>
                <a:latin typeface="Liter" pitchFamily="34" charset="0"/>
                <a:ea typeface="Liter" pitchFamily="34" charset="-122"/>
                <a:cs typeface="Liter" pitchFamily="34" charset="-120"/>
              </a:rPr>
              <a:t>Employer Termination (Non-Cause)</a:t>
            </a:r>
            <a:endParaRPr lang="en-US" sz="1600" dirty="0"/>
          </a:p>
        </p:txBody>
      </p:sp>
      <p:sp>
        <p:nvSpPr>
          <p:cNvPr id="57" name="Text 55"/>
          <p:cNvSpPr/>
          <p:nvPr/>
        </p:nvSpPr>
        <p:spPr>
          <a:xfrm>
            <a:off x="4676384" y="5045572"/>
            <a:ext cx="3173260" cy="228545"/>
          </a:xfrm>
          <a:prstGeom prst="rect">
            <a:avLst/>
          </a:prstGeom>
          <a:noFill/>
          <a:ln/>
        </p:spPr>
        <p:txBody>
          <a:bodyPr wrap="square" lIns="0" tIns="0" rIns="0" bIns="0" rtlCol="0" anchor="ctr"/>
          <a:lstStyle/>
          <a:p>
            <a:pPr>
              <a:lnSpc>
                <a:spcPct val="140000"/>
              </a:lnSpc>
            </a:pPr>
            <a:r>
              <a:rPr lang="en-US" sz="1107" b="1" dirty="0">
                <a:solidFill>
                  <a:srgbClr val="A88B6A"/>
                </a:solidFill>
                <a:latin typeface="Liter" pitchFamily="34" charset="0"/>
                <a:ea typeface="Liter" pitchFamily="34" charset="-122"/>
                <a:cs typeface="Liter" pitchFamily="34" charset="-120"/>
              </a:rPr>
              <a:t>1 week</a:t>
            </a:r>
            <a:pPr>
              <a:lnSpc>
                <a:spcPct val="140000"/>
              </a:lnSpc>
            </a:pPr>
            <a:r>
              <a:rPr lang="en-US" sz="1107" dirty="0">
                <a:solidFill>
                  <a:srgbClr val="2C3531"/>
                </a:solidFill>
                <a:latin typeface="Liter" pitchFamily="34" charset="0"/>
                <a:ea typeface="Liter" pitchFamily="34" charset="-122"/>
                <a:cs typeface="Liter" pitchFamily="34" charset="-120"/>
              </a:rPr>
              <a:t> notice or pay in lieu</a:t>
            </a:r>
            <a:endParaRPr lang="en-US" sz="1600" dirty="0"/>
          </a:p>
        </p:txBody>
      </p:sp>
      <p:sp>
        <p:nvSpPr>
          <p:cNvPr id="58" name="Shape 56"/>
          <p:cNvSpPr/>
          <p:nvPr/>
        </p:nvSpPr>
        <p:spPr>
          <a:xfrm>
            <a:off x="4535740" y="5379599"/>
            <a:ext cx="3243582" cy="597733"/>
          </a:xfrm>
          <a:custGeom>
            <a:avLst/>
            <a:gdLst/>
            <a:ahLst/>
            <a:cxnLst/>
            <a:rect l="l" t="t" r="r" b="b"/>
            <a:pathLst>
              <a:path w="3243582" h="597733">
                <a:moveTo>
                  <a:pt x="70323" y="0"/>
                </a:moveTo>
                <a:lnTo>
                  <a:pt x="3173259" y="0"/>
                </a:lnTo>
                <a:cubicBezTo>
                  <a:pt x="3212097" y="0"/>
                  <a:pt x="3243582" y="31485"/>
                  <a:pt x="3243582" y="70323"/>
                </a:cubicBezTo>
                <a:lnTo>
                  <a:pt x="3243582" y="527410"/>
                </a:lnTo>
                <a:cubicBezTo>
                  <a:pt x="3243582" y="566248"/>
                  <a:pt x="3212097" y="597733"/>
                  <a:pt x="3173259" y="597733"/>
                </a:cubicBezTo>
                <a:lnTo>
                  <a:pt x="70323" y="597733"/>
                </a:lnTo>
                <a:cubicBezTo>
                  <a:pt x="31511" y="597733"/>
                  <a:pt x="0" y="566222"/>
                  <a:pt x="0" y="527410"/>
                </a:cubicBezTo>
                <a:lnTo>
                  <a:pt x="0" y="70323"/>
                </a:lnTo>
                <a:cubicBezTo>
                  <a:pt x="0" y="31511"/>
                  <a:pt x="31511" y="0"/>
                  <a:pt x="70323" y="0"/>
                </a:cubicBezTo>
                <a:close/>
              </a:path>
            </a:pathLst>
          </a:custGeom>
          <a:solidFill>
            <a:srgbClr val="4A5D52">
              <a:alpha val="5098"/>
            </a:srgbClr>
          </a:solidFill>
          <a:ln/>
        </p:spPr>
      </p:sp>
      <p:sp>
        <p:nvSpPr>
          <p:cNvPr id="59" name="Shape 57"/>
          <p:cNvSpPr/>
          <p:nvPr/>
        </p:nvSpPr>
        <p:spPr>
          <a:xfrm>
            <a:off x="4658803" y="5520242"/>
            <a:ext cx="123063" cy="123063"/>
          </a:xfrm>
          <a:custGeom>
            <a:avLst/>
            <a:gdLst/>
            <a:ahLst/>
            <a:cxnLst/>
            <a:rect l="l" t="t" r="r" b="b"/>
            <a:pathLst>
              <a:path w="123063" h="123063">
                <a:moveTo>
                  <a:pt x="61531" y="123063"/>
                </a:moveTo>
                <a:cubicBezTo>
                  <a:pt x="95491" y="123063"/>
                  <a:pt x="123063" y="95491"/>
                  <a:pt x="123063" y="61531"/>
                </a:cubicBezTo>
                <a:cubicBezTo>
                  <a:pt x="123063" y="27571"/>
                  <a:pt x="95491" y="0"/>
                  <a:pt x="61531" y="0"/>
                </a:cubicBezTo>
                <a:cubicBezTo>
                  <a:pt x="27571" y="0"/>
                  <a:pt x="0" y="27571"/>
                  <a:pt x="0" y="61531"/>
                </a:cubicBezTo>
                <a:cubicBezTo>
                  <a:pt x="0" y="95491"/>
                  <a:pt x="27571" y="123063"/>
                  <a:pt x="61531" y="123063"/>
                </a:cubicBezTo>
                <a:close/>
                <a:moveTo>
                  <a:pt x="53840" y="38457"/>
                </a:moveTo>
                <a:cubicBezTo>
                  <a:pt x="53840" y="34212"/>
                  <a:pt x="57286" y="30766"/>
                  <a:pt x="61531" y="30766"/>
                </a:cubicBezTo>
                <a:cubicBezTo>
                  <a:pt x="65776" y="30766"/>
                  <a:pt x="69223" y="34212"/>
                  <a:pt x="69223" y="38457"/>
                </a:cubicBezTo>
                <a:cubicBezTo>
                  <a:pt x="69223" y="42702"/>
                  <a:pt x="65776" y="46149"/>
                  <a:pt x="61531" y="46149"/>
                </a:cubicBezTo>
                <a:cubicBezTo>
                  <a:pt x="57286" y="46149"/>
                  <a:pt x="53840" y="42702"/>
                  <a:pt x="53840" y="38457"/>
                </a:cubicBezTo>
                <a:close/>
                <a:moveTo>
                  <a:pt x="51917" y="53840"/>
                </a:moveTo>
                <a:lnTo>
                  <a:pt x="63454" y="53840"/>
                </a:lnTo>
                <a:cubicBezTo>
                  <a:pt x="66651" y="53840"/>
                  <a:pt x="69223" y="56412"/>
                  <a:pt x="69223" y="59609"/>
                </a:cubicBezTo>
                <a:lnTo>
                  <a:pt x="69223" y="80760"/>
                </a:lnTo>
                <a:lnTo>
                  <a:pt x="71146" y="80760"/>
                </a:lnTo>
                <a:cubicBezTo>
                  <a:pt x="74342" y="80760"/>
                  <a:pt x="76914" y="83332"/>
                  <a:pt x="76914" y="86528"/>
                </a:cubicBezTo>
                <a:cubicBezTo>
                  <a:pt x="76914" y="89725"/>
                  <a:pt x="74342" y="92297"/>
                  <a:pt x="71146" y="92297"/>
                </a:cubicBezTo>
                <a:lnTo>
                  <a:pt x="51917" y="92297"/>
                </a:lnTo>
                <a:cubicBezTo>
                  <a:pt x="48720" y="92297"/>
                  <a:pt x="46149" y="89725"/>
                  <a:pt x="46149" y="86528"/>
                </a:cubicBezTo>
                <a:cubicBezTo>
                  <a:pt x="46149" y="83332"/>
                  <a:pt x="48720" y="80760"/>
                  <a:pt x="51917" y="80760"/>
                </a:cubicBezTo>
                <a:lnTo>
                  <a:pt x="57686" y="80760"/>
                </a:lnTo>
                <a:lnTo>
                  <a:pt x="57686" y="65377"/>
                </a:lnTo>
                <a:lnTo>
                  <a:pt x="51917" y="65377"/>
                </a:lnTo>
                <a:cubicBezTo>
                  <a:pt x="48720" y="65377"/>
                  <a:pt x="46149" y="62805"/>
                  <a:pt x="46149" y="59609"/>
                </a:cubicBezTo>
                <a:cubicBezTo>
                  <a:pt x="46149" y="56412"/>
                  <a:pt x="48720" y="53840"/>
                  <a:pt x="51917" y="53840"/>
                </a:cubicBezTo>
                <a:close/>
              </a:path>
            </a:pathLst>
          </a:custGeom>
          <a:solidFill>
            <a:srgbClr val="4A5D52"/>
          </a:solidFill>
          <a:ln/>
        </p:spPr>
      </p:sp>
      <p:sp>
        <p:nvSpPr>
          <p:cNvPr id="60" name="Text 58"/>
          <p:cNvSpPr/>
          <p:nvPr/>
        </p:nvSpPr>
        <p:spPr>
          <a:xfrm>
            <a:off x="4848119" y="5485081"/>
            <a:ext cx="2887253" cy="386769"/>
          </a:xfrm>
          <a:prstGeom prst="rect">
            <a:avLst/>
          </a:prstGeom>
          <a:noFill/>
          <a:ln/>
        </p:spPr>
        <p:txBody>
          <a:bodyPr wrap="square" lIns="0" tIns="0" rIns="0" bIns="0" rtlCol="0" anchor="ctr"/>
          <a:lstStyle/>
          <a:p>
            <a:pPr>
              <a:lnSpc>
                <a:spcPct val="140000"/>
              </a:lnSpc>
            </a:pPr>
            <a:r>
              <a:rPr lang="en-US" sz="969" dirty="0">
                <a:solidFill>
                  <a:srgbClr val="2C3531">
                    <a:alpha val="80000"/>
                  </a:srgbClr>
                </a:solidFill>
                <a:latin typeface="Liter" pitchFamily="34" charset="0"/>
                <a:ea typeface="Liter" pitchFamily="34" charset="-122"/>
                <a:cs typeface="Liter" pitchFamily="34" charset="-120"/>
              </a:rPr>
              <a:t>Immediate termination for cause requires no advance notice</a:t>
            </a:r>
            <a:endParaRPr lang="en-US" sz="1600" dirty="0"/>
          </a:p>
        </p:txBody>
      </p:sp>
      <p:sp>
        <p:nvSpPr>
          <p:cNvPr id="61" name="Shape 59"/>
          <p:cNvSpPr/>
          <p:nvPr/>
        </p:nvSpPr>
        <p:spPr>
          <a:xfrm>
            <a:off x="8168975" y="3516078"/>
            <a:ext cx="3665511" cy="2988666"/>
          </a:xfrm>
          <a:custGeom>
            <a:avLst/>
            <a:gdLst/>
            <a:ahLst/>
            <a:cxnLst/>
            <a:rect l="l" t="t" r="r" b="b"/>
            <a:pathLst>
              <a:path w="3665511" h="2988666">
                <a:moveTo>
                  <a:pt x="70323" y="0"/>
                </a:moveTo>
                <a:lnTo>
                  <a:pt x="3595188" y="0"/>
                </a:lnTo>
                <a:cubicBezTo>
                  <a:pt x="3634026" y="0"/>
                  <a:pt x="3665511" y="31485"/>
                  <a:pt x="3665511" y="70323"/>
                </a:cubicBezTo>
                <a:lnTo>
                  <a:pt x="3665511" y="2918343"/>
                </a:lnTo>
                <a:cubicBezTo>
                  <a:pt x="3665511" y="2957181"/>
                  <a:pt x="3634026" y="2988666"/>
                  <a:pt x="3595188" y="2988666"/>
                </a:cubicBezTo>
                <a:lnTo>
                  <a:pt x="70323" y="2988666"/>
                </a:lnTo>
                <a:cubicBezTo>
                  <a:pt x="31485" y="2988666"/>
                  <a:pt x="0" y="2957181"/>
                  <a:pt x="0" y="2918343"/>
                </a:cubicBezTo>
                <a:lnTo>
                  <a:pt x="0" y="70323"/>
                </a:lnTo>
                <a:cubicBezTo>
                  <a:pt x="0" y="31511"/>
                  <a:pt x="31511" y="0"/>
                  <a:pt x="70323" y="0"/>
                </a:cubicBezTo>
                <a:close/>
              </a:path>
            </a:pathLst>
          </a:custGeom>
          <a:solidFill>
            <a:srgbClr val="FFFFFF"/>
          </a:solidFill>
          <a:ln/>
          <a:effectLst>
            <a:outerShdw sx="100000" sy="100000" kx="0" ky="0" algn="bl" rotWithShape="0" blurRad="52741" dist="35161" dir="5400000">
              <a:srgbClr val="000000">
                <a:alpha val="10196"/>
              </a:srgbClr>
            </a:outerShdw>
          </a:effectLst>
        </p:spPr>
      </p:sp>
      <p:sp>
        <p:nvSpPr>
          <p:cNvPr id="62" name="Shape 60"/>
          <p:cNvSpPr/>
          <p:nvPr/>
        </p:nvSpPr>
        <p:spPr>
          <a:xfrm>
            <a:off x="8379940" y="3727043"/>
            <a:ext cx="421929" cy="421929"/>
          </a:xfrm>
          <a:custGeom>
            <a:avLst/>
            <a:gdLst/>
            <a:ahLst/>
            <a:cxnLst/>
            <a:rect l="l" t="t" r="r" b="b"/>
            <a:pathLst>
              <a:path w="421929" h="421929">
                <a:moveTo>
                  <a:pt x="70323" y="0"/>
                </a:moveTo>
                <a:lnTo>
                  <a:pt x="351606" y="0"/>
                </a:lnTo>
                <a:cubicBezTo>
                  <a:pt x="390419" y="0"/>
                  <a:pt x="421929" y="31511"/>
                  <a:pt x="421929" y="70323"/>
                </a:cubicBezTo>
                <a:lnTo>
                  <a:pt x="421929" y="351606"/>
                </a:lnTo>
                <a:cubicBezTo>
                  <a:pt x="421929" y="390445"/>
                  <a:pt x="390445" y="421929"/>
                  <a:pt x="351606" y="421929"/>
                </a:cubicBezTo>
                <a:lnTo>
                  <a:pt x="70323" y="421929"/>
                </a:lnTo>
                <a:cubicBezTo>
                  <a:pt x="31511" y="421929"/>
                  <a:pt x="0" y="390419"/>
                  <a:pt x="0" y="351606"/>
                </a:cubicBezTo>
                <a:lnTo>
                  <a:pt x="0" y="70323"/>
                </a:lnTo>
                <a:cubicBezTo>
                  <a:pt x="0" y="31511"/>
                  <a:pt x="31511" y="0"/>
                  <a:pt x="70323" y="0"/>
                </a:cubicBezTo>
                <a:close/>
              </a:path>
            </a:pathLst>
          </a:custGeom>
          <a:solidFill>
            <a:srgbClr val="A88B6A"/>
          </a:solidFill>
          <a:ln/>
        </p:spPr>
      </p:sp>
      <p:sp>
        <p:nvSpPr>
          <p:cNvPr id="63" name="Shape 61"/>
          <p:cNvSpPr/>
          <p:nvPr/>
        </p:nvSpPr>
        <p:spPr>
          <a:xfrm>
            <a:off x="8503003" y="3850105"/>
            <a:ext cx="175804" cy="175804"/>
          </a:xfrm>
          <a:custGeom>
            <a:avLst/>
            <a:gdLst/>
            <a:ahLst/>
            <a:cxnLst/>
            <a:rect l="l" t="t" r="r" b="b"/>
            <a:pathLst>
              <a:path w="175804" h="175804">
                <a:moveTo>
                  <a:pt x="21975" y="21975"/>
                </a:moveTo>
                <a:cubicBezTo>
                  <a:pt x="9855" y="21975"/>
                  <a:pt x="0" y="31830"/>
                  <a:pt x="0" y="43951"/>
                </a:cubicBezTo>
                <a:lnTo>
                  <a:pt x="0" y="131853"/>
                </a:lnTo>
                <a:cubicBezTo>
                  <a:pt x="0" y="143974"/>
                  <a:pt x="9855" y="153828"/>
                  <a:pt x="21975" y="153828"/>
                </a:cubicBezTo>
                <a:lnTo>
                  <a:pt x="153828" y="153828"/>
                </a:lnTo>
                <a:cubicBezTo>
                  <a:pt x="165949" y="153828"/>
                  <a:pt x="175804" y="143974"/>
                  <a:pt x="175804" y="131853"/>
                </a:cubicBezTo>
                <a:lnTo>
                  <a:pt x="175804" y="43951"/>
                </a:lnTo>
                <a:cubicBezTo>
                  <a:pt x="175804" y="31830"/>
                  <a:pt x="165949" y="21975"/>
                  <a:pt x="153828" y="21975"/>
                </a:cubicBezTo>
                <a:lnTo>
                  <a:pt x="21975" y="21975"/>
                </a:lnTo>
                <a:close/>
                <a:moveTo>
                  <a:pt x="101637" y="98890"/>
                </a:moveTo>
                <a:lnTo>
                  <a:pt x="145588" y="98890"/>
                </a:lnTo>
                <a:cubicBezTo>
                  <a:pt x="150154" y="98890"/>
                  <a:pt x="153828" y="102564"/>
                  <a:pt x="153828" y="107130"/>
                </a:cubicBezTo>
                <a:cubicBezTo>
                  <a:pt x="153828" y="111697"/>
                  <a:pt x="150154" y="115371"/>
                  <a:pt x="145588" y="115371"/>
                </a:cubicBezTo>
                <a:lnTo>
                  <a:pt x="101637" y="115371"/>
                </a:lnTo>
                <a:cubicBezTo>
                  <a:pt x="97070" y="115371"/>
                  <a:pt x="93396" y="111697"/>
                  <a:pt x="93396" y="107130"/>
                </a:cubicBezTo>
                <a:cubicBezTo>
                  <a:pt x="93396" y="102564"/>
                  <a:pt x="97070" y="98890"/>
                  <a:pt x="101637" y="98890"/>
                </a:cubicBezTo>
                <a:close/>
                <a:moveTo>
                  <a:pt x="93396" y="68673"/>
                </a:moveTo>
                <a:cubicBezTo>
                  <a:pt x="93396" y="64107"/>
                  <a:pt x="97070" y="60433"/>
                  <a:pt x="101637" y="60433"/>
                </a:cubicBezTo>
                <a:lnTo>
                  <a:pt x="145588" y="60433"/>
                </a:lnTo>
                <a:cubicBezTo>
                  <a:pt x="150154" y="60433"/>
                  <a:pt x="153828" y="64107"/>
                  <a:pt x="153828" y="68673"/>
                </a:cubicBezTo>
                <a:cubicBezTo>
                  <a:pt x="153828" y="73240"/>
                  <a:pt x="150154" y="76914"/>
                  <a:pt x="145588" y="76914"/>
                </a:cubicBezTo>
                <a:lnTo>
                  <a:pt x="101637" y="76914"/>
                </a:lnTo>
                <a:cubicBezTo>
                  <a:pt x="97070" y="76914"/>
                  <a:pt x="93396" y="73240"/>
                  <a:pt x="93396" y="68673"/>
                </a:cubicBezTo>
                <a:close/>
                <a:moveTo>
                  <a:pt x="50818" y="49445"/>
                </a:moveTo>
                <a:cubicBezTo>
                  <a:pt x="54595" y="49445"/>
                  <a:pt x="57686" y="52535"/>
                  <a:pt x="57686" y="56312"/>
                </a:cubicBezTo>
                <a:lnTo>
                  <a:pt x="57686" y="57686"/>
                </a:lnTo>
                <a:lnTo>
                  <a:pt x="60433" y="57686"/>
                </a:lnTo>
                <a:cubicBezTo>
                  <a:pt x="64210" y="57686"/>
                  <a:pt x="67300" y="60776"/>
                  <a:pt x="67300" y="64553"/>
                </a:cubicBezTo>
                <a:cubicBezTo>
                  <a:pt x="67300" y="68330"/>
                  <a:pt x="64210" y="71420"/>
                  <a:pt x="60433" y="71420"/>
                </a:cubicBezTo>
                <a:lnTo>
                  <a:pt x="44123" y="71420"/>
                </a:lnTo>
                <a:cubicBezTo>
                  <a:pt x="41753" y="71420"/>
                  <a:pt x="39831" y="73343"/>
                  <a:pt x="39831" y="75712"/>
                </a:cubicBezTo>
                <a:cubicBezTo>
                  <a:pt x="39831" y="77807"/>
                  <a:pt x="41341" y="79592"/>
                  <a:pt x="43402" y="79936"/>
                </a:cubicBezTo>
                <a:lnTo>
                  <a:pt x="57720" y="82339"/>
                </a:lnTo>
                <a:cubicBezTo>
                  <a:pt x="66407" y="83782"/>
                  <a:pt x="72794" y="91301"/>
                  <a:pt x="72794" y="100126"/>
                </a:cubicBezTo>
                <a:cubicBezTo>
                  <a:pt x="72794" y="109088"/>
                  <a:pt x="66270" y="116504"/>
                  <a:pt x="57686" y="117912"/>
                </a:cubicBezTo>
                <a:lnTo>
                  <a:pt x="57686" y="119526"/>
                </a:lnTo>
                <a:cubicBezTo>
                  <a:pt x="57686" y="123303"/>
                  <a:pt x="54595" y="126393"/>
                  <a:pt x="50818" y="126393"/>
                </a:cubicBezTo>
                <a:cubicBezTo>
                  <a:pt x="47041" y="126393"/>
                  <a:pt x="43951" y="123303"/>
                  <a:pt x="43951" y="119526"/>
                </a:cubicBezTo>
                <a:lnTo>
                  <a:pt x="43951" y="118153"/>
                </a:lnTo>
                <a:lnTo>
                  <a:pt x="35710" y="118153"/>
                </a:lnTo>
                <a:cubicBezTo>
                  <a:pt x="31933" y="118153"/>
                  <a:pt x="28843" y="115062"/>
                  <a:pt x="28843" y="111285"/>
                </a:cubicBezTo>
                <a:cubicBezTo>
                  <a:pt x="28843" y="107508"/>
                  <a:pt x="31933" y="104418"/>
                  <a:pt x="35710" y="104418"/>
                </a:cubicBezTo>
                <a:lnTo>
                  <a:pt x="54767" y="104418"/>
                </a:lnTo>
                <a:cubicBezTo>
                  <a:pt x="57136" y="104418"/>
                  <a:pt x="59059" y="102495"/>
                  <a:pt x="59059" y="100126"/>
                </a:cubicBezTo>
                <a:cubicBezTo>
                  <a:pt x="59059" y="98031"/>
                  <a:pt x="57548" y="96246"/>
                  <a:pt x="55488" y="95902"/>
                </a:cubicBezTo>
                <a:lnTo>
                  <a:pt x="41170" y="93499"/>
                </a:lnTo>
                <a:cubicBezTo>
                  <a:pt x="32448" y="92022"/>
                  <a:pt x="26096" y="84503"/>
                  <a:pt x="26096" y="75712"/>
                </a:cubicBezTo>
                <a:cubicBezTo>
                  <a:pt x="26096" y="65823"/>
                  <a:pt x="34062" y="57789"/>
                  <a:pt x="43951" y="57686"/>
                </a:cubicBezTo>
                <a:lnTo>
                  <a:pt x="43951" y="56312"/>
                </a:lnTo>
                <a:cubicBezTo>
                  <a:pt x="43951" y="52535"/>
                  <a:pt x="47041" y="49445"/>
                  <a:pt x="50818" y="49445"/>
                </a:cubicBezTo>
                <a:close/>
              </a:path>
            </a:pathLst>
          </a:custGeom>
          <a:solidFill>
            <a:srgbClr val="F8F7F2"/>
          </a:solidFill>
          <a:ln/>
        </p:spPr>
      </p:sp>
      <p:sp>
        <p:nvSpPr>
          <p:cNvPr id="64" name="Text 62"/>
          <p:cNvSpPr/>
          <p:nvPr/>
        </p:nvSpPr>
        <p:spPr>
          <a:xfrm>
            <a:off x="8907351" y="3814944"/>
            <a:ext cx="1494333" cy="246125"/>
          </a:xfrm>
          <a:prstGeom prst="rect">
            <a:avLst/>
          </a:prstGeom>
          <a:noFill/>
          <a:ln/>
        </p:spPr>
        <p:txBody>
          <a:bodyPr wrap="square" lIns="0" tIns="0" rIns="0" bIns="0" rtlCol="0" anchor="ctr"/>
          <a:lstStyle/>
          <a:p>
            <a:pPr>
              <a:lnSpc>
                <a:spcPct val="120000"/>
              </a:lnSpc>
            </a:pPr>
            <a:r>
              <a:rPr lang="en-US" sz="1384" b="1" dirty="0">
                <a:solidFill>
                  <a:srgbClr val="4A5D52"/>
                </a:solidFill>
                <a:latin typeface="Unna" pitchFamily="34" charset="0"/>
                <a:ea typeface="Unna" pitchFamily="34" charset="-122"/>
                <a:cs typeface="Unna" pitchFamily="34" charset="-120"/>
              </a:rPr>
              <a:t>Final Pay &amp; Effects</a:t>
            </a:r>
            <a:endParaRPr lang="en-US" sz="1600" dirty="0"/>
          </a:p>
        </p:txBody>
      </p:sp>
      <p:sp>
        <p:nvSpPr>
          <p:cNvPr id="65" name="Shape 63"/>
          <p:cNvSpPr/>
          <p:nvPr/>
        </p:nvSpPr>
        <p:spPr>
          <a:xfrm>
            <a:off x="8379940" y="4289615"/>
            <a:ext cx="3243582" cy="597733"/>
          </a:xfrm>
          <a:custGeom>
            <a:avLst/>
            <a:gdLst/>
            <a:ahLst/>
            <a:cxnLst/>
            <a:rect l="l" t="t" r="r" b="b"/>
            <a:pathLst>
              <a:path w="3243582" h="597733">
                <a:moveTo>
                  <a:pt x="70323" y="0"/>
                </a:moveTo>
                <a:lnTo>
                  <a:pt x="3173259" y="0"/>
                </a:lnTo>
                <a:cubicBezTo>
                  <a:pt x="3212097" y="0"/>
                  <a:pt x="3243582" y="31485"/>
                  <a:pt x="3243582" y="70323"/>
                </a:cubicBezTo>
                <a:lnTo>
                  <a:pt x="3243582" y="527410"/>
                </a:lnTo>
                <a:cubicBezTo>
                  <a:pt x="3243582" y="566248"/>
                  <a:pt x="3212097" y="597733"/>
                  <a:pt x="3173259" y="597733"/>
                </a:cubicBezTo>
                <a:lnTo>
                  <a:pt x="70323" y="597733"/>
                </a:lnTo>
                <a:cubicBezTo>
                  <a:pt x="31511" y="597733"/>
                  <a:pt x="0" y="566222"/>
                  <a:pt x="0" y="527410"/>
                </a:cubicBezTo>
                <a:lnTo>
                  <a:pt x="0" y="70323"/>
                </a:lnTo>
                <a:cubicBezTo>
                  <a:pt x="0" y="31511"/>
                  <a:pt x="31511" y="0"/>
                  <a:pt x="70323" y="0"/>
                </a:cubicBezTo>
                <a:close/>
              </a:path>
            </a:pathLst>
          </a:custGeom>
          <a:solidFill>
            <a:srgbClr val="4A5D52">
              <a:alpha val="5098"/>
            </a:srgbClr>
          </a:solidFill>
          <a:ln/>
        </p:spPr>
      </p:sp>
      <p:sp>
        <p:nvSpPr>
          <p:cNvPr id="66" name="Shape 64"/>
          <p:cNvSpPr/>
          <p:nvPr/>
        </p:nvSpPr>
        <p:spPr>
          <a:xfrm>
            <a:off x="8537065" y="4430258"/>
            <a:ext cx="98890" cy="158224"/>
          </a:xfrm>
          <a:custGeom>
            <a:avLst/>
            <a:gdLst/>
            <a:ahLst/>
            <a:cxnLst/>
            <a:rect l="l" t="t" r="r" b="b"/>
            <a:pathLst>
              <a:path w="98890" h="158224">
                <a:moveTo>
                  <a:pt x="42028" y="7417"/>
                </a:moveTo>
                <a:cubicBezTo>
                  <a:pt x="42028" y="3307"/>
                  <a:pt x="45335" y="0"/>
                  <a:pt x="49445" y="0"/>
                </a:cubicBezTo>
                <a:cubicBezTo>
                  <a:pt x="53555" y="0"/>
                  <a:pt x="56862" y="3307"/>
                  <a:pt x="56862" y="7417"/>
                </a:cubicBezTo>
                <a:lnTo>
                  <a:pt x="56862" y="19778"/>
                </a:lnTo>
                <a:lnTo>
                  <a:pt x="74167" y="19778"/>
                </a:lnTo>
                <a:cubicBezTo>
                  <a:pt x="79637" y="19778"/>
                  <a:pt x="84056" y="24197"/>
                  <a:pt x="84056" y="29667"/>
                </a:cubicBezTo>
                <a:cubicBezTo>
                  <a:pt x="84056" y="35137"/>
                  <a:pt x="79637" y="39556"/>
                  <a:pt x="74167" y="39556"/>
                </a:cubicBezTo>
                <a:lnTo>
                  <a:pt x="38660" y="39556"/>
                </a:lnTo>
                <a:cubicBezTo>
                  <a:pt x="30965" y="39556"/>
                  <a:pt x="24722" y="45798"/>
                  <a:pt x="24722" y="53493"/>
                </a:cubicBezTo>
                <a:cubicBezTo>
                  <a:pt x="24722" y="60446"/>
                  <a:pt x="29821" y="66318"/>
                  <a:pt x="36682" y="67307"/>
                </a:cubicBezTo>
                <a:lnTo>
                  <a:pt x="64989" y="71355"/>
                </a:lnTo>
                <a:cubicBezTo>
                  <a:pt x="81615" y="73735"/>
                  <a:pt x="93945" y="87950"/>
                  <a:pt x="93945" y="104730"/>
                </a:cubicBezTo>
                <a:cubicBezTo>
                  <a:pt x="93945" y="123365"/>
                  <a:pt x="78834" y="138446"/>
                  <a:pt x="60230" y="138446"/>
                </a:cubicBezTo>
                <a:lnTo>
                  <a:pt x="56862" y="138446"/>
                </a:lnTo>
                <a:lnTo>
                  <a:pt x="56862" y="150807"/>
                </a:lnTo>
                <a:cubicBezTo>
                  <a:pt x="56862" y="154917"/>
                  <a:pt x="53555" y="158224"/>
                  <a:pt x="49445" y="158224"/>
                </a:cubicBezTo>
                <a:cubicBezTo>
                  <a:pt x="45335" y="158224"/>
                  <a:pt x="42028" y="154917"/>
                  <a:pt x="42028" y="150807"/>
                </a:cubicBezTo>
                <a:lnTo>
                  <a:pt x="42028" y="138446"/>
                </a:lnTo>
                <a:lnTo>
                  <a:pt x="19778" y="138446"/>
                </a:lnTo>
                <a:cubicBezTo>
                  <a:pt x="14308" y="138446"/>
                  <a:pt x="9889" y="134026"/>
                  <a:pt x="9889" y="128557"/>
                </a:cubicBezTo>
                <a:cubicBezTo>
                  <a:pt x="9889" y="123087"/>
                  <a:pt x="14308" y="118668"/>
                  <a:pt x="19778" y="118668"/>
                </a:cubicBezTo>
                <a:lnTo>
                  <a:pt x="60230" y="118668"/>
                </a:lnTo>
                <a:cubicBezTo>
                  <a:pt x="67925" y="118668"/>
                  <a:pt x="74167" y="112425"/>
                  <a:pt x="74167" y="104730"/>
                </a:cubicBezTo>
                <a:cubicBezTo>
                  <a:pt x="74167" y="97777"/>
                  <a:pt x="69068" y="91906"/>
                  <a:pt x="62208" y="90917"/>
                </a:cubicBezTo>
                <a:lnTo>
                  <a:pt x="33901" y="86868"/>
                </a:lnTo>
                <a:cubicBezTo>
                  <a:pt x="17275" y="84520"/>
                  <a:pt x="4944" y="70273"/>
                  <a:pt x="4944" y="53493"/>
                </a:cubicBezTo>
                <a:cubicBezTo>
                  <a:pt x="4944" y="34890"/>
                  <a:pt x="20056" y="19778"/>
                  <a:pt x="38660" y="19778"/>
                </a:cubicBezTo>
                <a:lnTo>
                  <a:pt x="42028" y="19778"/>
                </a:lnTo>
                <a:lnTo>
                  <a:pt x="42028" y="7417"/>
                </a:lnTo>
                <a:close/>
              </a:path>
            </a:pathLst>
          </a:custGeom>
          <a:solidFill>
            <a:srgbClr val="4A5D52"/>
          </a:solidFill>
          <a:ln/>
        </p:spPr>
      </p:sp>
      <p:sp>
        <p:nvSpPr>
          <p:cNvPr id="67" name="Text 65"/>
          <p:cNvSpPr/>
          <p:nvPr/>
        </p:nvSpPr>
        <p:spPr>
          <a:xfrm>
            <a:off x="8788684" y="4395097"/>
            <a:ext cx="1670137"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Final Paycheck</a:t>
            </a:r>
            <a:endParaRPr lang="en-US" sz="1600" dirty="0"/>
          </a:p>
        </p:txBody>
      </p:sp>
      <p:sp>
        <p:nvSpPr>
          <p:cNvPr id="68" name="Text 66"/>
          <p:cNvSpPr/>
          <p:nvPr/>
        </p:nvSpPr>
        <p:spPr>
          <a:xfrm>
            <a:off x="8788684" y="4606062"/>
            <a:ext cx="1661347"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Issued on next regular payday</a:t>
            </a:r>
            <a:endParaRPr lang="en-US" sz="1600" dirty="0"/>
          </a:p>
        </p:txBody>
      </p:sp>
      <p:sp>
        <p:nvSpPr>
          <p:cNvPr id="69" name="Shape 67"/>
          <p:cNvSpPr/>
          <p:nvPr/>
        </p:nvSpPr>
        <p:spPr>
          <a:xfrm>
            <a:off x="8379940" y="4992831"/>
            <a:ext cx="3243582" cy="597733"/>
          </a:xfrm>
          <a:custGeom>
            <a:avLst/>
            <a:gdLst/>
            <a:ahLst/>
            <a:cxnLst/>
            <a:rect l="l" t="t" r="r" b="b"/>
            <a:pathLst>
              <a:path w="3243582" h="597733">
                <a:moveTo>
                  <a:pt x="70323" y="0"/>
                </a:moveTo>
                <a:lnTo>
                  <a:pt x="3173259" y="0"/>
                </a:lnTo>
                <a:cubicBezTo>
                  <a:pt x="3212097" y="0"/>
                  <a:pt x="3243582" y="31485"/>
                  <a:pt x="3243582" y="70323"/>
                </a:cubicBezTo>
                <a:lnTo>
                  <a:pt x="3243582" y="527410"/>
                </a:lnTo>
                <a:cubicBezTo>
                  <a:pt x="3243582" y="566248"/>
                  <a:pt x="3212097" y="597733"/>
                  <a:pt x="3173259" y="597733"/>
                </a:cubicBezTo>
                <a:lnTo>
                  <a:pt x="70323" y="597733"/>
                </a:lnTo>
                <a:cubicBezTo>
                  <a:pt x="31511" y="597733"/>
                  <a:pt x="0" y="566222"/>
                  <a:pt x="0" y="527410"/>
                </a:cubicBezTo>
                <a:lnTo>
                  <a:pt x="0" y="70323"/>
                </a:lnTo>
                <a:cubicBezTo>
                  <a:pt x="0" y="31511"/>
                  <a:pt x="31511" y="0"/>
                  <a:pt x="70323" y="0"/>
                </a:cubicBezTo>
                <a:close/>
              </a:path>
            </a:pathLst>
          </a:custGeom>
          <a:solidFill>
            <a:srgbClr val="A88B6A">
              <a:alpha val="5098"/>
            </a:srgbClr>
          </a:solidFill>
          <a:ln/>
        </p:spPr>
      </p:sp>
      <p:sp>
        <p:nvSpPr>
          <p:cNvPr id="70" name="Shape 68"/>
          <p:cNvSpPr/>
          <p:nvPr/>
        </p:nvSpPr>
        <p:spPr>
          <a:xfrm>
            <a:off x="8507398" y="5133474"/>
            <a:ext cx="158224" cy="158224"/>
          </a:xfrm>
          <a:custGeom>
            <a:avLst/>
            <a:gdLst/>
            <a:ahLst/>
            <a:cxnLst/>
            <a:rect l="l" t="t" r="r" b="b"/>
            <a:pathLst>
              <a:path w="158224" h="158224">
                <a:moveTo>
                  <a:pt x="79112" y="158224"/>
                </a:moveTo>
                <a:cubicBezTo>
                  <a:pt x="122775" y="158224"/>
                  <a:pt x="158224" y="122775"/>
                  <a:pt x="158224" y="79112"/>
                </a:cubicBezTo>
                <a:cubicBezTo>
                  <a:pt x="158224" y="35449"/>
                  <a:pt x="122775" y="0"/>
                  <a:pt x="79112" y="0"/>
                </a:cubicBezTo>
                <a:cubicBezTo>
                  <a:pt x="35449" y="0"/>
                  <a:pt x="0" y="35449"/>
                  <a:pt x="0" y="79112"/>
                </a:cubicBezTo>
                <a:cubicBezTo>
                  <a:pt x="0" y="122775"/>
                  <a:pt x="35449" y="158224"/>
                  <a:pt x="79112" y="158224"/>
                </a:cubicBezTo>
                <a:close/>
                <a:moveTo>
                  <a:pt x="51917" y="71695"/>
                </a:moveTo>
                <a:lnTo>
                  <a:pt x="106306" y="71695"/>
                </a:lnTo>
                <a:cubicBezTo>
                  <a:pt x="110417" y="71695"/>
                  <a:pt x="113723" y="75002"/>
                  <a:pt x="113723" y="79112"/>
                </a:cubicBezTo>
                <a:cubicBezTo>
                  <a:pt x="113723" y="83222"/>
                  <a:pt x="110417" y="86528"/>
                  <a:pt x="106306" y="86528"/>
                </a:cubicBezTo>
                <a:lnTo>
                  <a:pt x="51917" y="86528"/>
                </a:lnTo>
                <a:cubicBezTo>
                  <a:pt x="47807" y="86528"/>
                  <a:pt x="44500" y="83222"/>
                  <a:pt x="44500" y="79112"/>
                </a:cubicBezTo>
                <a:cubicBezTo>
                  <a:pt x="44500" y="75002"/>
                  <a:pt x="47807" y="71695"/>
                  <a:pt x="51917" y="71695"/>
                </a:cubicBezTo>
                <a:close/>
              </a:path>
            </a:pathLst>
          </a:custGeom>
          <a:solidFill>
            <a:srgbClr val="A88B6A"/>
          </a:solidFill>
          <a:ln/>
        </p:spPr>
      </p:sp>
      <p:sp>
        <p:nvSpPr>
          <p:cNvPr id="71" name="Text 69"/>
          <p:cNvSpPr/>
          <p:nvPr/>
        </p:nvSpPr>
        <p:spPr>
          <a:xfrm>
            <a:off x="8788684" y="5098313"/>
            <a:ext cx="2619478"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Deductions</a:t>
            </a:r>
            <a:endParaRPr lang="en-US" sz="1600" dirty="0"/>
          </a:p>
        </p:txBody>
      </p:sp>
      <p:sp>
        <p:nvSpPr>
          <p:cNvPr id="72" name="Text 70"/>
          <p:cNvSpPr/>
          <p:nvPr/>
        </p:nvSpPr>
        <p:spPr>
          <a:xfrm>
            <a:off x="8788684" y="5309278"/>
            <a:ext cx="2610688"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Unreturned equipment, damages (if applicable)</a:t>
            </a:r>
            <a:endParaRPr lang="en-US" sz="1600" dirty="0"/>
          </a:p>
        </p:txBody>
      </p:sp>
      <p:sp>
        <p:nvSpPr>
          <p:cNvPr id="73" name="Shape 71"/>
          <p:cNvSpPr/>
          <p:nvPr/>
        </p:nvSpPr>
        <p:spPr>
          <a:xfrm>
            <a:off x="8379940" y="5696046"/>
            <a:ext cx="3243582" cy="597733"/>
          </a:xfrm>
          <a:custGeom>
            <a:avLst/>
            <a:gdLst/>
            <a:ahLst/>
            <a:cxnLst/>
            <a:rect l="l" t="t" r="r" b="b"/>
            <a:pathLst>
              <a:path w="3243582" h="597733">
                <a:moveTo>
                  <a:pt x="70323" y="0"/>
                </a:moveTo>
                <a:lnTo>
                  <a:pt x="3173259" y="0"/>
                </a:lnTo>
                <a:cubicBezTo>
                  <a:pt x="3212097" y="0"/>
                  <a:pt x="3243582" y="31485"/>
                  <a:pt x="3243582" y="70323"/>
                </a:cubicBezTo>
                <a:lnTo>
                  <a:pt x="3243582" y="527410"/>
                </a:lnTo>
                <a:cubicBezTo>
                  <a:pt x="3243582" y="566248"/>
                  <a:pt x="3212097" y="597733"/>
                  <a:pt x="3173259" y="597733"/>
                </a:cubicBezTo>
                <a:lnTo>
                  <a:pt x="70323" y="597733"/>
                </a:lnTo>
                <a:cubicBezTo>
                  <a:pt x="31511" y="597733"/>
                  <a:pt x="0" y="566222"/>
                  <a:pt x="0" y="527410"/>
                </a:cubicBezTo>
                <a:lnTo>
                  <a:pt x="0" y="70323"/>
                </a:lnTo>
                <a:cubicBezTo>
                  <a:pt x="0" y="31511"/>
                  <a:pt x="31511" y="0"/>
                  <a:pt x="70323" y="0"/>
                </a:cubicBezTo>
                <a:close/>
              </a:path>
            </a:pathLst>
          </a:custGeom>
          <a:solidFill>
            <a:srgbClr val="D4A056">
              <a:alpha val="5098"/>
            </a:srgbClr>
          </a:solidFill>
          <a:ln/>
        </p:spPr>
      </p:sp>
      <p:sp>
        <p:nvSpPr>
          <p:cNvPr id="74" name="Shape 72"/>
          <p:cNvSpPr/>
          <p:nvPr/>
        </p:nvSpPr>
        <p:spPr>
          <a:xfrm>
            <a:off x="8507398" y="5836689"/>
            <a:ext cx="158224" cy="158224"/>
          </a:xfrm>
          <a:custGeom>
            <a:avLst/>
            <a:gdLst/>
            <a:ahLst/>
            <a:cxnLst/>
            <a:rect l="l" t="t" r="r" b="b"/>
            <a:pathLst>
              <a:path w="158224" h="158224">
                <a:moveTo>
                  <a:pt x="113476" y="127475"/>
                </a:moveTo>
                <a:lnTo>
                  <a:pt x="30749" y="44748"/>
                </a:lnTo>
                <a:cubicBezTo>
                  <a:pt x="23826" y="54451"/>
                  <a:pt x="19778" y="66318"/>
                  <a:pt x="19778" y="79112"/>
                </a:cubicBezTo>
                <a:cubicBezTo>
                  <a:pt x="19778" y="111869"/>
                  <a:pt x="46355" y="138446"/>
                  <a:pt x="79112" y="138446"/>
                </a:cubicBezTo>
                <a:cubicBezTo>
                  <a:pt x="91937" y="138446"/>
                  <a:pt x="103803" y="134397"/>
                  <a:pt x="113476" y="127475"/>
                </a:cubicBezTo>
                <a:close/>
                <a:moveTo>
                  <a:pt x="127475" y="113476"/>
                </a:moveTo>
                <a:cubicBezTo>
                  <a:pt x="134397" y="103772"/>
                  <a:pt x="138446" y="91906"/>
                  <a:pt x="138446" y="79112"/>
                </a:cubicBezTo>
                <a:cubicBezTo>
                  <a:pt x="138446" y="46355"/>
                  <a:pt x="111869" y="19778"/>
                  <a:pt x="79112" y="19778"/>
                </a:cubicBezTo>
                <a:cubicBezTo>
                  <a:pt x="66287" y="19778"/>
                  <a:pt x="54420" y="23826"/>
                  <a:pt x="44748" y="30749"/>
                </a:cubicBezTo>
                <a:lnTo>
                  <a:pt x="127475" y="113476"/>
                </a:lnTo>
                <a:close/>
                <a:moveTo>
                  <a:pt x="0" y="79112"/>
                </a:moveTo>
                <a:cubicBezTo>
                  <a:pt x="0" y="35449"/>
                  <a:pt x="35449" y="0"/>
                  <a:pt x="79112" y="0"/>
                </a:cubicBezTo>
                <a:cubicBezTo>
                  <a:pt x="122775" y="0"/>
                  <a:pt x="158224" y="35449"/>
                  <a:pt x="158224" y="79112"/>
                </a:cubicBezTo>
                <a:cubicBezTo>
                  <a:pt x="158224" y="122775"/>
                  <a:pt x="122775" y="158224"/>
                  <a:pt x="79112" y="158224"/>
                </a:cubicBezTo>
                <a:cubicBezTo>
                  <a:pt x="35449" y="158224"/>
                  <a:pt x="0" y="122775"/>
                  <a:pt x="0" y="79112"/>
                </a:cubicBezTo>
                <a:close/>
              </a:path>
            </a:pathLst>
          </a:custGeom>
          <a:solidFill>
            <a:srgbClr val="D4A056"/>
          </a:solidFill>
          <a:ln/>
        </p:spPr>
      </p:sp>
      <p:sp>
        <p:nvSpPr>
          <p:cNvPr id="75" name="Text 73"/>
          <p:cNvSpPr/>
          <p:nvPr/>
        </p:nvSpPr>
        <p:spPr>
          <a:xfrm>
            <a:off x="8788684" y="5801528"/>
            <a:ext cx="2417304" cy="210965"/>
          </a:xfrm>
          <a:prstGeom prst="rect">
            <a:avLst/>
          </a:prstGeom>
          <a:noFill/>
          <a:ln/>
        </p:spPr>
        <p:txBody>
          <a:bodyPr wrap="square" lIns="0" tIns="0" rIns="0" bIns="0" rtlCol="0" anchor="ctr"/>
          <a:lstStyle/>
          <a:p>
            <a:pPr>
              <a:lnSpc>
                <a:spcPct val="130000"/>
              </a:lnSpc>
            </a:pPr>
            <a:r>
              <a:rPr lang="en-US" sz="1107" b="1" dirty="0">
                <a:solidFill>
                  <a:srgbClr val="2C3531"/>
                </a:solidFill>
                <a:latin typeface="Liter" pitchFamily="34" charset="0"/>
                <a:ea typeface="Liter" pitchFamily="34" charset="-122"/>
                <a:cs typeface="Liter" pitchFamily="34" charset="-120"/>
              </a:rPr>
              <a:t>Rehire Eligibility</a:t>
            </a:r>
            <a:endParaRPr lang="en-US" sz="1600" dirty="0"/>
          </a:p>
        </p:txBody>
      </p:sp>
      <p:sp>
        <p:nvSpPr>
          <p:cNvPr id="76" name="Text 74"/>
          <p:cNvSpPr/>
          <p:nvPr/>
        </p:nvSpPr>
        <p:spPr>
          <a:xfrm>
            <a:off x="8788684" y="6012493"/>
            <a:ext cx="2408513" cy="175804"/>
          </a:xfrm>
          <a:prstGeom prst="rect">
            <a:avLst/>
          </a:prstGeom>
          <a:noFill/>
          <a:ln/>
        </p:spPr>
        <p:txBody>
          <a:bodyPr wrap="square" lIns="0" tIns="0" rIns="0" bIns="0" rtlCol="0" anchor="ctr"/>
          <a:lstStyle/>
          <a:p>
            <a:pPr>
              <a:lnSpc>
                <a:spcPct val="120000"/>
              </a:lnSpc>
            </a:pPr>
            <a:r>
              <a:rPr lang="en-US" sz="969" dirty="0">
                <a:solidFill>
                  <a:srgbClr val="2C3531">
                    <a:alpha val="70000"/>
                  </a:srgbClr>
                </a:solidFill>
                <a:latin typeface="Liter" pitchFamily="34" charset="0"/>
                <a:ea typeface="Liter" pitchFamily="34" charset="-122"/>
                <a:cs typeface="Liter" pitchFamily="34" charset="-120"/>
              </a:rPr>
              <a:t>Terminated employees ineligible for 2 years</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pic>
        <p:nvPicPr>
          <p:cNvPr id="2" name="Image 0" descr="https://kimi-web-img.moonshot.cn/img/peppergeek.com/20c4a4e11e3320b957711baf4c10bc26bf354fc6.jpeg">    </p:cNvPr>
          <p:cNvPicPr>
            <a:picLocks noChangeAspect="1"/>
          </p:cNvPicPr>
          <p:nvPr/>
        </p:nvPicPr>
        <p:blipFill>
          <a:blip r:embed="rId1"/>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4A5D52">
                  <a:alpha val="95000"/>
                </a:srgbClr>
              </a:gs>
              <a:gs pos="50000">
                <a:srgbClr val="4A5D52">
                  <a:alpha val="90000"/>
                </a:srgbClr>
              </a:gs>
              <a:gs pos="100000">
                <a:srgbClr val="4A5D52">
                  <a:alpha val="85000"/>
                </a:srgbClr>
              </a:gs>
            </a:gsLst>
            <a:lin ang="2700000" scaled="1"/>
          </a:gradFill>
          <a:ln/>
        </p:spPr>
      </p:sp>
      <p:sp>
        <p:nvSpPr>
          <p:cNvPr id="4" name="Shape 1"/>
          <p:cNvSpPr/>
          <p:nvPr/>
        </p:nvSpPr>
        <p:spPr>
          <a:xfrm>
            <a:off x="5857875" y="317500"/>
            <a:ext cx="476250" cy="381000"/>
          </a:xfrm>
          <a:custGeom>
            <a:avLst/>
            <a:gdLst/>
            <a:ahLst/>
            <a:cxnLst/>
            <a:rect l="l" t="t" r="r" b="b"/>
            <a:pathLst>
              <a:path w="476250" h="381000">
                <a:moveTo>
                  <a:pt x="47699" y="47625"/>
                </a:moveTo>
                <a:cubicBezTo>
                  <a:pt x="47699" y="21357"/>
                  <a:pt x="69056" y="0"/>
                  <a:pt x="95324" y="0"/>
                </a:cubicBezTo>
                <a:lnTo>
                  <a:pt x="206573" y="0"/>
                </a:lnTo>
                <a:cubicBezTo>
                  <a:pt x="219224" y="0"/>
                  <a:pt x="231353" y="4986"/>
                  <a:pt x="240283" y="13915"/>
                </a:cubicBezTo>
                <a:lnTo>
                  <a:pt x="319460" y="93241"/>
                </a:lnTo>
                <a:cubicBezTo>
                  <a:pt x="328389" y="102171"/>
                  <a:pt x="333375" y="114300"/>
                  <a:pt x="333375" y="126950"/>
                </a:cubicBezTo>
                <a:lnTo>
                  <a:pt x="333375" y="199504"/>
                </a:lnTo>
                <a:lnTo>
                  <a:pt x="235148" y="297731"/>
                </a:lnTo>
                <a:lnTo>
                  <a:pt x="203820" y="297731"/>
                </a:lnTo>
                <a:lnTo>
                  <a:pt x="191839" y="257845"/>
                </a:lnTo>
                <a:cubicBezTo>
                  <a:pt x="188342" y="246162"/>
                  <a:pt x="177626" y="238199"/>
                  <a:pt x="165422" y="238199"/>
                </a:cubicBezTo>
                <a:cubicBezTo>
                  <a:pt x="157014" y="238199"/>
                  <a:pt x="149126" y="241995"/>
                  <a:pt x="143917" y="248543"/>
                </a:cubicBezTo>
                <a:lnTo>
                  <a:pt x="99194" y="304354"/>
                </a:lnTo>
                <a:cubicBezTo>
                  <a:pt x="93018" y="312018"/>
                  <a:pt x="94283" y="323329"/>
                  <a:pt x="101947" y="329431"/>
                </a:cubicBezTo>
                <a:cubicBezTo>
                  <a:pt x="109612" y="335533"/>
                  <a:pt x="120923" y="334342"/>
                  <a:pt x="127025" y="326603"/>
                </a:cubicBezTo>
                <a:lnTo>
                  <a:pt x="162074" y="282848"/>
                </a:lnTo>
                <a:lnTo>
                  <a:pt x="173385" y="320576"/>
                </a:lnTo>
                <a:cubicBezTo>
                  <a:pt x="175617" y="328166"/>
                  <a:pt x="182612" y="333301"/>
                  <a:pt x="190500" y="333301"/>
                </a:cubicBezTo>
                <a:lnTo>
                  <a:pt x="213940" y="333301"/>
                </a:lnTo>
                <a:cubicBezTo>
                  <a:pt x="213271" y="335607"/>
                  <a:pt x="212675" y="337989"/>
                  <a:pt x="212229" y="340370"/>
                </a:cubicBezTo>
                <a:lnTo>
                  <a:pt x="204118" y="380926"/>
                </a:lnTo>
                <a:lnTo>
                  <a:pt x="95324" y="380926"/>
                </a:lnTo>
                <a:cubicBezTo>
                  <a:pt x="69056" y="380926"/>
                  <a:pt x="47699" y="359569"/>
                  <a:pt x="47699" y="333301"/>
                </a:cubicBezTo>
                <a:lnTo>
                  <a:pt x="47699" y="47551"/>
                </a:lnTo>
                <a:close/>
                <a:moveTo>
                  <a:pt x="202481" y="43532"/>
                </a:moveTo>
                <a:lnTo>
                  <a:pt x="202481" y="113109"/>
                </a:lnTo>
                <a:cubicBezTo>
                  <a:pt x="202481" y="123006"/>
                  <a:pt x="210443" y="130969"/>
                  <a:pt x="220340" y="130969"/>
                </a:cubicBezTo>
                <a:lnTo>
                  <a:pt x="289917" y="130969"/>
                </a:lnTo>
                <a:lnTo>
                  <a:pt x="202481" y="43532"/>
                </a:lnTo>
                <a:close/>
                <a:moveTo>
                  <a:pt x="247278" y="347439"/>
                </a:moveTo>
                <a:cubicBezTo>
                  <a:pt x="249138" y="338212"/>
                  <a:pt x="253678" y="329729"/>
                  <a:pt x="260300" y="323106"/>
                </a:cubicBezTo>
                <a:lnTo>
                  <a:pt x="348779" y="234628"/>
                </a:lnTo>
                <a:lnTo>
                  <a:pt x="408310" y="294159"/>
                </a:lnTo>
                <a:lnTo>
                  <a:pt x="319832" y="382637"/>
                </a:lnTo>
                <a:cubicBezTo>
                  <a:pt x="313209" y="389260"/>
                  <a:pt x="304726" y="393799"/>
                  <a:pt x="295498" y="395660"/>
                </a:cubicBezTo>
                <a:lnTo>
                  <a:pt x="251147" y="404515"/>
                </a:lnTo>
                <a:cubicBezTo>
                  <a:pt x="250478" y="404664"/>
                  <a:pt x="249734" y="404738"/>
                  <a:pt x="248989" y="404738"/>
                </a:cubicBezTo>
                <a:cubicBezTo>
                  <a:pt x="243036" y="404738"/>
                  <a:pt x="238125" y="399901"/>
                  <a:pt x="238125" y="393874"/>
                </a:cubicBezTo>
                <a:cubicBezTo>
                  <a:pt x="238125" y="393129"/>
                  <a:pt x="238199" y="392460"/>
                  <a:pt x="238348" y="391716"/>
                </a:cubicBezTo>
                <a:lnTo>
                  <a:pt x="247204" y="347365"/>
                </a:lnTo>
                <a:close/>
                <a:moveTo>
                  <a:pt x="446559" y="255910"/>
                </a:moveTo>
                <a:lnTo>
                  <a:pt x="425128" y="277341"/>
                </a:lnTo>
                <a:lnTo>
                  <a:pt x="365596" y="217810"/>
                </a:lnTo>
                <a:lnTo>
                  <a:pt x="387028" y="196379"/>
                </a:lnTo>
                <a:cubicBezTo>
                  <a:pt x="403473" y="179933"/>
                  <a:pt x="430113" y="179933"/>
                  <a:pt x="446559" y="196379"/>
                </a:cubicBezTo>
                <a:cubicBezTo>
                  <a:pt x="463004" y="212824"/>
                  <a:pt x="463004" y="239464"/>
                  <a:pt x="446559" y="255910"/>
                </a:cubicBezTo>
                <a:close/>
              </a:path>
            </a:pathLst>
          </a:custGeom>
          <a:solidFill>
            <a:srgbClr val="D4A056"/>
          </a:solidFill>
          <a:ln/>
        </p:spPr>
      </p:sp>
      <p:sp>
        <p:nvSpPr>
          <p:cNvPr id="5" name="Text 2"/>
          <p:cNvSpPr/>
          <p:nvPr/>
        </p:nvSpPr>
        <p:spPr>
          <a:xfrm>
            <a:off x="222250" y="793750"/>
            <a:ext cx="11747500" cy="381000"/>
          </a:xfrm>
          <a:prstGeom prst="rect">
            <a:avLst/>
          </a:prstGeom>
          <a:noFill/>
          <a:ln/>
        </p:spPr>
        <p:txBody>
          <a:bodyPr wrap="square" lIns="0" tIns="0" rIns="0" bIns="0" rtlCol="0" anchor="ctr"/>
          <a:lstStyle/>
          <a:p>
            <a:pPr algn="ctr">
              <a:lnSpc>
                <a:spcPct val="80000"/>
              </a:lnSpc>
            </a:pPr>
            <a:r>
              <a:rPr lang="en-US" sz="3000" b="1" dirty="0">
                <a:solidFill>
                  <a:srgbClr val="F8F7F2"/>
                </a:solidFill>
                <a:latin typeface="Oranienbaum" pitchFamily="34" charset="0"/>
                <a:ea typeface="Oranienbaum" pitchFamily="34" charset="-122"/>
                <a:cs typeface="Oranienbaum" pitchFamily="34" charset="-120"/>
              </a:rPr>
              <a:t>Agreement Acknowledgment</a:t>
            </a:r>
            <a:endParaRPr lang="en-US" sz="1600" dirty="0"/>
          </a:p>
        </p:txBody>
      </p:sp>
      <p:sp>
        <p:nvSpPr>
          <p:cNvPr id="6" name="Shape 3"/>
          <p:cNvSpPr/>
          <p:nvPr/>
        </p:nvSpPr>
        <p:spPr>
          <a:xfrm>
            <a:off x="5715000" y="127000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D4A056"/>
          </a:solidFill>
          <a:ln/>
        </p:spPr>
      </p:sp>
      <p:sp>
        <p:nvSpPr>
          <p:cNvPr id="7" name="Text 4"/>
          <p:cNvSpPr/>
          <p:nvPr/>
        </p:nvSpPr>
        <p:spPr>
          <a:xfrm>
            <a:off x="3008313" y="1397000"/>
            <a:ext cx="6175375" cy="508000"/>
          </a:xfrm>
          <a:prstGeom prst="rect">
            <a:avLst/>
          </a:prstGeom>
          <a:noFill/>
          <a:ln/>
        </p:spPr>
        <p:txBody>
          <a:bodyPr wrap="square" lIns="0" tIns="0" rIns="0" bIns="0" rtlCol="0" anchor="ctr"/>
          <a:lstStyle/>
          <a:p>
            <a:pPr algn="ctr">
              <a:lnSpc>
                <a:spcPct val="140000"/>
              </a:lnSpc>
            </a:pPr>
            <a:r>
              <a:rPr lang="en-US" sz="1250" dirty="0">
                <a:solidFill>
                  <a:srgbClr val="F8F7F2">
                    <a:alpha val="90000"/>
                  </a:srgbClr>
                </a:solidFill>
                <a:latin typeface="Liter" pitchFamily="34" charset="0"/>
                <a:ea typeface="Liter" pitchFamily="34" charset="-122"/>
                <a:cs typeface="Liter" pitchFamily="34" charset="-120"/>
              </a:rPr>
              <a:t>By signing below, both parties acknowledge they have read, understood, and agree to all terms and conditions outlined in this employment contract.</a:t>
            </a:r>
            <a:endParaRPr lang="en-US" sz="1600" dirty="0"/>
          </a:p>
        </p:txBody>
      </p:sp>
      <p:sp>
        <p:nvSpPr>
          <p:cNvPr id="8" name="Shape 5"/>
          <p:cNvSpPr/>
          <p:nvPr/>
        </p:nvSpPr>
        <p:spPr>
          <a:xfrm>
            <a:off x="325438" y="2039938"/>
            <a:ext cx="5667375" cy="3690937"/>
          </a:xfrm>
          <a:custGeom>
            <a:avLst/>
            <a:gdLst/>
            <a:ahLst/>
            <a:cxnLst/>
            <a:rect l="l" t="t" r="r" b="b"/>
            <a:pathLst>
              <a:path w="5667375" h="3690937">
                <a:moveTo>
                  <a:pt x="63484" y="0"/>
                </a:moveTo>
                <a:lnTo>
                  <a:pt x="5603891" y="0"/>
                </a:lnTo>
                <a:cubicBezTo>
                  <a:pt x="5638952" y="0"/>
                  <a:pt x="5667375" y="28423"/>
                  <a:pt x="5667375" y="63484"/>
                </a:cubicBezTo>
                <a:lnTo>
                  <a:pt x="5667375" y="3627453"/>
                </a:lnTo>
                <a:cubicBezTo>
                  <a:pt x="5667375" y="3662515"/>
                  <a:pt x="5638952" y="3690938"/>
                  <a:pt x="5603891" y="3690937"/>
                </a:cubicBezTo>
                <a:lnTo>
                  <a:pt x="63484" y="3690937"/>
                </a:lnTo>
                <a:cubicBezTo>
                  <a:pt x="28423" y="3690937"/>
                  <a:pt x="0" y="3662515"/>
                  <a:pt x="0" y="3627453"/>
                </a:cubicBezTo>
                <a:lnTo>
                  <a:pt x="0" y="63484"/>
                </a:lnTo>
                <a:cubicBezTo>
                  <a:pt x="0" y="28446"/>
                  <a:pt x="28446" y="0"/>
                  <a:pt x="63484" y="0"/>
                </a:cubicBezTo>
                <a:close/>
              </a:path>
            </a:pathLst>
          </a:custGeom>
          <a:solidFill>
            <a:srgbClr val="F8F7F2">
              <a:alpha val="10196"/>
            </a:srgbClr>
          </a:solidFill>
          <a:ln w="25400">
            <a:solidFill>
              <a:srgbClr val="F8F7F2">
                <a:alpha val="30196"/>
              </a:srgbClr>
            </a:solidFill>
            <a:prstDash val="solid"/>
          </a:ln>
        </p:spPr>
      </p:sp>
      <p:sp>
        <p:nvSpPr>
          <p:cNvPr id="9" name="Shape 6"/>
          <p:cNvSpPr/>
          <p:nvPr/>
        </p:nvSpPr>
        <p:spPr>
          <a:xfrm>
            <a:off x="559594" y="2266156"/>
            <a:ext cx="166688" cy="190500"/>
          </a:xfrm>
          <a:custGeom>
            <a:avLst/>
            <a:gdLst/>
            <a:ahLst/>
            <a:cxnLst/>
            <a:rect l="l" t="t" r="r" b="b"/>
            <a:pathLst>
              <a:path w="166688" h="190500">
                <a:moveTo>
                  <a:pt x="83344" y="92273"/>
                </a:moveTo>
                <a:cubicBezTo>
                  <a:pt x="58702" y="92273"/>
                  <a:pt x="38695" y="72267"/>
                  <a:pt x="38695" y="47625"/>
                </a:cubicBezTo>
                <a:cubicBezTo>
                  <a:pt x="38695" y="22983"/>
                  <a:pt x="58702" y="2977"/>
                  <a:pt x="83344" y="2977"/>
                </a:cubicBezTo>
                <a:cubicBezTo>
                  <a:pt x="107986" y="2977"/>
                  <a:pt x="127992" y="22983"/>
                  <a:pt x="127992" y="47625"/>
                </a:cubicBezTo>
                <a:cubicBezTo>
                  <a:pt x="127992" y="72267"/>
                  <a:pt x="107986" y="92273"/>
                  <a:pt x="83344" y="92273"/>
                </a:cubicBezTo>
                <a:close/>
                <a:moveTo>
                  <a:pt x="71996" y="113109"/>
                </a:moveTo>
                <a:lnTo>
                  <a:pt x="94692" y="113109"/>
                </a:lnTo>
                <a:cubicBezTo>
                  <a:pt x="98301" y="113109"/>
                  <a:pt x="101203" y="116012"/>
                  <a:pt x="101203" y="119621"/>
                </a:cubicBezTo>
                <a:cubicBezTo>
                  <a:pt x="101203" y="121183"/>
                  <a:pt x="100645" y="122672"/>
                  <a:pt x="99640" y="123862"/>
                </a:cubicBezTo>
                <a:lnTo>
                  <a:pt x="89446" y="135768"/>
                </a:lnTo>
                <a:lnTo>
                  <a:pt x="100980" y="178594"/>
                </a:lnTo>
                <a:lnTo>
                  <a:pt x="101203" y="178594"/>
                </a:lnTo>
                <a:lnTo>
                  <a:pt x="114077" y="127062"/>
                </a:lnTo>
                <a:cubicBezTo>
                  <a:pt x="114895" y="123825"/>
                  <a:pt x="118207" y="121853"/>
                  <a:pt x="121332" y="123044"/>
                </a:cubicBezTo>
                <a:cubicBezTo>
                  <a:pt x="144363" y="131825"/>
                  <a:pt x="160734" y="154149"/>
                  <a:pt x="160734" y="180268"/>
                </a:cubicBezTo>
                <a:cubicBezTo>
                  <a:pt x="160734" y="185886"/>
                  <a:pt x="156158" y="190463"/>
                  <a:pt x="150540" y="190463"/>
                </a:cubicBezTo>
                <a:lnTo>
                  <a:pt x="16148" y="190500"/>
                </a:lnTo>
                <a:cubicBezTo>
                  <a:pt x="10530" y="190500"/>
                  <a:pt x="5953" y="185924"/>
                  <a:pt x="5953" y="180305"/>
                </a:cubicBezTo>
                <a:cubicBezTo>
                  <a:pt x="5953" y="154186"/>
                  <a:pt x="22324" y="131862"/>
                  <a:pt x="45355" y="123081"/>
                </a:cubicBezTo>
                <a:cubicBezTo>
                  <a:pt x="48481" y="121890"/>
                  <a:pt x="51792" y="123862"/>
                  <a:pt x="52611" y="127099"/>
                </a:cubicBezTo>
                <a:lnTo>
                  <a:pt x="65484" y="178631"/>
                </a:lnTo>
                <a:lnTo>
                  <a:pt x="65708" y="178631"/>
                </a:lnTo>
                <a:lnTo>
                  <a:pt x="77242" y="135806"/>
                </a:lnTo>
                <a:lnTo>
                  <a:pt x="67047" y="123899"/>
                </a:lnTo>
                <a:cubicBezTo>
                  <a:pt x="66042" y="122709"/>
                  <a:pt x="65484" y="121221"/>
                  <a:pt x="65484" y="119658"/>
                </a:cubicBezTo>
                <a:cubicBezTo>
                  <a:pt x="65484" y="116049"/>
                  <a:pt x="68387" y="113147"/>
                  <a:pt x="71996" y="113147"/>
                </a:cubicBezTo>
                <a:close/>
              </a:path>
            </a:pathLst>
          </a:custGeom>
          <a:solidFill>
            <a:srgbClr val="D4A056"/>
          </a:solidFill>
          <a:ln/>
        </p:spPr>
      </p:sp>
      <p:sp>
        <p:nvSpPr>
          <p:cNvPr id="10" name="Text 7"/>
          <p:cNvSpPr/>
          <p:nvPr/>
        </p:nvSpPr>
        <p:spPr>
          <a:xfrm>
            <a:off x="762000" y="2238375"/>
            <a:ext cx="5127625" cy="246063"/>
          </a:xfrm>
          <a:prstGeom prst="rect">
            <a:avLst/>
          </a:prstGeom>
          <a:noFill/>
          <a:ln/>
        </p:spPr>
        <p:txBody>
          <a:bodyPr wrap="square" lIns="0" tIns="0" rIns="0" bIns="0" rtlCol="0" anchor="ctr"/>
          <a:lstStyle/>
          <a:p>
            <a:pPr>
              <a:lnSpc>
                <a:spcPct val="110000"/>
              </a:lnSpc>
            </a:pPr>
            <a:r>
              <a:rPr lang="en-US" sz="1500" b="1" dirty="0">
                <a:solidFill>
                  <a:srgbClr val="F8F7F2"/>
                </a:solidFill>
                <a:latin typeface="Unna" pitchFamily="34" charset="0"/>
                <a:ea typeface="Unna" pitchFamily="34" charset="-122"/>
                <a:cs typeface="Unna" pitchFamily="34" charset="-120"/>
              </a:rPr>
              <a:t>Employer</a:t>
            </a:r>
            <a:endParaRPr lang="en-US" sz="1600" dirty="0"/>
          </a:p>
        </p:txBody>
      </p:sp>
      <p:sp>
        <p:nvSpPr>
          <p:cNvPr id="11" name="Text 8"/>
          <p:cNvSpPr/>
          <p:nvPr/>
        </p:nvSpPr>
        <p:spPr>
          <a:xfrm>
            <a:off x="523875" y="2611438"/>
            <a:ext cx="5326063"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Company Representative</a:t>
            </a:r>
            <a:endParaRPr lang="en-US" sz="1600" dirty="0"/>
          </a:p>
        </p:txBody>
      </p:sp>
      <p:sp>
        <p:nvSpPr>
          <p:cNvPr id="12" name="Shape 9"/>
          <p:cNvSpPr/>
          <p:nvPr/>
        </p:nvSpPr>
        <p:spPr>
          <a:xfrm>
            <a:off x="523875" y="2833688"/>
            <a:ext cx="5270500" cy="381000"/>
          </a:xfrm>
          <a:custGeom>
            <a:avLst/>
            <a:gdLst/>
            <a:ahLst/>
            <a:cxnLst/>
            <a:rect l="l" t="t" r="r" b="b"/>
            <a:pathLst>
              <a:path w="5270500" h="381000">
                <a:moveTo>
                  <a:pt x="63501" y="0"/>
                </a:moveTo>
                <a:lnTo>
                  <a:pt x="5206999" y="0"/>
                </a:lnTo>
                <a:cubicBezTo>
                  <a:pt x="5242070" y="0"/>
                  <a:pt x="5270500" y="28430"/>
                  <a:pt x="5270500" y="63501"/>
                </a:cubicBezTo>
                <a:lnTo>
                  <a:pt x="5270500" y="317499"/>
                </a:lnTo>
                <a:cubicBezTo>
                  <a:pt x="5270500" y="352570"/>
                  <a:pt x="5242070" y="381000"/>
                  <a:pt x="5206999" y="381000"/>
                </a:cubicBezTo>
                <a:lnTo>
                  <a:pt x="63501" y="381000"/>
                </a:lnTo>
                <a:cubicBezTo>
                  <a:pt x="28454" y="381000"/>
                  <a:pt x="0" y="352546"/>
                  <a:pt x="0" y="317499"/>
                </a:cubicBezTo>
                <a:lnTo>
                  <a:pt x="0" y="63501"/>
                </a:lnTo>
                <a:cubicBezTo>
                  <a:pt x="0" y="28454"/>
                  <a:pt x="28454" y="0"/>
                  <a:pt x="63501" y="0"/>
                </a:cubicBezTo>
                <a:close/>
              </a:path>
            </a:pathLst>
          </a:custGeom>
          <a:solidFill>
            <a:srgbClr val="F8F7F2">
              <a:alpha val="10196"/>
            </a:srgbClr>
          </a:solidFill>
          <a:ln/>
        </p:spPr>
      </p:sp>
      <p:sp>
        <p:nvSpPr>
          <p:cNvPr id="13" name="Text 10"/>
          <p:cNvSpPr/>
          <p:nvPr/>
        </p:nvSpPr>
        <p:spPr>
          <a:xfrm>
            <a:off x="523875" y="3341688"/>
            <a:ext cx="5326063"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Title</a:t>
            </a:r>
            <a:endParaRPr lang="en-US" sz="1600" dirty="0"/>
          </a:p>
        </p:txBody>
      </p:sp>
      <p:sp>
        <p:nvSpPr>
          <p:cNvPr id="14" name="Shape 11"/>
          <p:cNvSpPr/>
          <p:nvPr/>
        </p:nvSpPr>
        <p:spPr>
          <a:xfrm>
            <a:off x="523875" y="3563938"/>
            <a:ext cx="5270500" cy="381000"/>
          </a:xfrm>
          <a:custGeom>
            <a:avLst/>
            <a:gdLst/>
            <a:ahLst/>
            <a:cxnLst/>
            <a:rect l="l" t="t" r="r" b="b"/>
            <a:pathLst>
              <a:path w="5270500" h="381000">
                <a:moveTo>
                  <a:pt x="63501" y="0"/>
                </a:moveTo>
                <a:lnTo>
                  <a:pt x="5206999" y="0"/>
                </a:lnTo>
                <a:cubicBezTo>
                  <a:pt x="5242070" y="0"/>
                  <a:pt x="5270500" y="28430"/>
                  <a:pt x="5270500" y="63501"/>
                </a:cubicBezTo>
                <a:lnTo>
                  <a:pt x="5270500" y="317499"/>
                </a:lnTo>
                <a:cubicBezTo>
                  <a:pt x="5270500" y="352570"/>
                  <a:pt x="5242070" y="381000"/>
                  <a:pt x="5206999" y="381000"/>
                </a:cubicBezTo>
                <a:lnTo>
                  <a:pt x="63501" y="381000"/>
                </a:lnTo>
                <a:cubicBezTo>
                  <a:pt x="28454" y="381000"/>
                  <a:pt x="0" y="352546"/>
                  <a:pt x="0" y="317499"/>
                </a:cubicBezTo>
                <a:lnTo>
                  <a:pt x="0" y="63501"/>
                </a:lnTo>
                <a:cubicBezTo>
                  <a:pt x="0" y="28454"/>
                  <a:pt x="28454" y="0"/>
                  <a:pt x="63501" y="0"/>
                </a:cubicBezTo>
                <a:close/>
              </a:path>
            </a:pathLst>
          </a:custGeom>
          <a:solidFill>
            <a:srgbClr val="F8F7F2">
              <a:alpha val="10196"/>
            </a:srgbClr>
          </a:solidFill>
          <a:ln/>
        </p:spPr>
      </p:sp>
      <p:sp>
        <p:nvSpPr>
          <p:cNvPr id="15" name="Text 12"/>
          <p:cNvSpPr/>
          <p:nvPr/>
        </p:nvSpPr>
        <p:spPr>
          <a:xfrm>
            <a:off x="523875" y="4071938"/>
            <a:ext cx="5326063"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Signature</a:t>
            </a:r>
            <a:endParaRPr lang="en-US" sz="1600" dirty="0"/>
          </a:p>
        </p:txBody>
      </p:sp>
      <p:sp>
        <p:nvSpPr>
          <p:cNvPr id="16" name="Shape 13"/>
          <p:cNvSpPr/>
          <p:nvPr/>
        </p:nvSpPr>
        <p:spPr>
          <a:xfrm>
            <a:off x="523875" y="4294188"/>
            <a:ext cx="5270500" cy="508000"/>
          </a:xfrm>
          <a:custGeom>
            <a:avLst/>
            <a:gdLst/>
            <a:ahLst/>
            <a:cxnLst/>
            <a:rect l="l" t="t" r="r" b="b"/>
            <a:pathLst>
              <a:path w="5270500" h="508000">
                <a:moveTo>
                  <a:pt x="63500" y="0"/>
                </a:moveTo>
                <a:lnTo>
                  <a:pt x="5207000" y="0"/>
                </a:lnTo>
                <a:cubicBezTo>
                  <a:pt x="5242047" y="0"/>
                  <a:pt x="5270500" y="28453"/>
                  <a:pt x="5270500" y="63500"/>
                </a:cubicBezTo>
                <a:lnTo>
                  <a:pt x="5270500" y="444500"/>
                </a:lnTo>
                <a:cubicBezTo>
                  <a:pt x="5270500" y="479547"/>
                  <a:pt x="5242047" y="508000"/>
                  <a:pt x="5207000" y="508000"/>
                </a:cubicBezTo>
                <a:lnTo>
                  <a:pt x="63500" y="508000"/>
                </a:lnTo>
                <a:cubicBezTo>
                  <a:pt x="28453" y="508000"/>
                  <a:pt x="0" y="479547"/>
                  <a:pt x="0" y="444500"/>
                </a:cubicBezTo>
                <a:lnTo>
                  <a:pt x="0" y="63500"/>
                </a:lnTo>
                <a:cubicBezTo>
                  <a:pt x="0" y="28453"/>
                  <a:pt x="28453" y="0"/>
                  <a:pt x="63500" y="0"/>
                </a:cubicBezTo>
                <a:close/>
              </a:path>
            </a:pathLst>
          </a:custGeom>
          <a:solidFill>
            <a:srgbClr val="F8F7F2">
              <a:alpha val="10196"/>
            </a:srgbClr>
          </a:solidFill>
          <a:ln/>
        </p:spPr>
      </p:sp>
      <p:sp>
        <p:nvSpPr>
          <p:cNvPr id="17" name="Text 14"/>
          <p:cNvSpPr/>
          <p:nvPr/>
        </p:nvSpPr>
        <p:spPr>
          <a:xfrm>
            <a:off x="523875" y="4929188"/>
            <a:ext cx="5326063"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Date</a:t>
            </a:r>
            <a:endParaRPr lang="en-US" sz="1600" dirty="0"/>
          </a:p>
        </p:txBody>
      </p:sp>
      <p:sp>
        <p:nvSpPr>
          <p:cNvPr id="18" name="Shape 15"/>
          <p:cNvSpPr/>
          <p:nvPr/>
        </p:nvSpPr>
        <p:spPr>
          <a:xfrm>
            <a:off x="523875" y="5151438"/>
            <a:ext cx="5270500" cy="381000"/>
          </a:xfrm>
          <a:custGeom>
            <a:avLst/>
            <a:gdLst/>
            <a:ahLst/>
            <a:cxnLst/>
            <a:rect l="l" t="t" r="r" b="b"/>
            <a:pathLst>
              <a:path w="5270500" h="381000">
                <a:moveTo>
                  <a:pt x="63501" y="0"/>
                </a:moveTo>
                <a:lnTo>
                  <a:pt x="5206999" y="0"/>
                </a:lnTo>
                <a:cubicBezTo>
                  <a:pt x="5242070" y="0"/>
                  <a:pt x="5270500" y="28430"/>
                  <a:pt x="5270500" y="63501"/>
                </a:cubicBezTo>
                <a:lnTo>
                  <a:pt x="5270500" y="317499"/>
                </a:lnTo>
                <a:cubicBezTo>
                  <a:pt x="5270500" y="352570"/>
                  <a:pt x="5242070" y="381000"/>
                  <a:pt x="5206999" y="381000"/>
                </a:cubicBezTo>
                <a:lnTo>
                  <a:pt x="63501" y="381000"/>
                </a:lnTo>
                <a:cubicBezTo>
                  <a:pt x="28454" y="381000"/>
                  <a:pt x="0" y="352546"/>
                  <a:pt x="0" y="317499"/>
                </a:cubicBezTo>
                <a:lnTo>
                  <a:pt x="0" y="63501"/>
                </a:lnTo>
                <a:cubicBezTo>
                  <a:pt x="0" y="28454"/>
                  <a:pt x="28454" y="0"/>
                  <a:pt x="63501" y="0"/>
                </a:cubicBezTo>
                <a:close/>
              </a:path>
            </a:pathLst>
          </a:custGeom>
          <a:solidFill>
            <a:srgbClr val="F8F7F2">
              <a:alpha val="10196"/>
            </a:srgbClr>
          </a:solidFill>
          <a:ln/>
        </p:spPr>
      </p:sp>
      <p:sp>
        <p:nvSpPr>
          <p:cNvPr id="19" name="Shape 16"/>
          <p:cNvSpPr/>
          <p:nvPr/>
        </p:nvSpPr>
        <p:spPr>
          <a:xfrm>
            <a:off x="6199188" y="2039938"/>
            <a:ext cx="5667375" cy="3690937"/>
          </a:xfrm>
          <a:custGeom>
            <a:avLst/>
            <a:gdLst/>
            <a:ahLst/>
            <a:cxnLst/>
            <a:rect l="l" t="t" r="r" b="b"/>
            <a:pathLst>
              <a:path w="5667375" h="3690937">
                <a:moveTo>
                  <a:pt x="63484" y="0"/>
                </a:moveTo>
                <a:lnTo>
                  <a:pt x="5603891" y="0"/>
                </a:lnTo>
                <a:cubicBezTo>
                  <a:pt x="5638952" y="0"/>
                  <a:pt x="5667375" y="28423"/>
                  <a:pt x="5667375" y="63484"/>
                </a:cubicBezTo>
                <a:lnTo>
                  <a:pt x="5667375" y="3627453"/>
                </a:lnTo>
                <a:cubicBezTo>
                  <a:pt x="5667375" y="3662515"/>
                  <a:pt x="5638952" y="3690938"/>
                  <a:pt x="5603891" y="3690937"/>
                </a:cubicBezTo>
                <a:lnTo>
                  <a:pt x="63484" y="3690937"/>
                </a:lnTo>
                <a:cubicBezTo>
                  <a:pt x="28423" y="3690937"/>
                  <a:pt x="0" y="3662515"/>
                  <a:pt x="0" y="3627453"/>
                </a:cubicBezTo>
                <a:lnTo>
                  <a:pt x="0" y="63484"/>
                </a:lnTo>
                <a:cubicBezTo>
                  <a:pt x="0" y="28446"/>
                  <a:pt x="28446" y="0"/>
                  <a:pt x="63484" y="0"/>
                </a:cubicBezTo>
                <a:close/>
              </a:path>
            </a:pathLst>
          </a:custGeom>
          <a:solidFill>
            <a:srgbClr val="F8F7F2">
              <a:alpha val="10196"/>
            </a:srgbClr>
          </a:solidFill>
          <a:ln w="25400">
            <a:solidFill>
              <a:srgbClr val="F8F7F2">
                <a:alpha val="30196"/>
              </a:srgbClr>
            </a:solidFill>
            <a:prstDash val="solid"/>
          </a:ln>
        </p:spPr>
      </p:sp>
      <p:sp>
        <p:nvSpPr>
          <p:cNvPr id="20" name="Shape 17"/>
          <p:cNvSpPr/>
          <p:nvPr/>
        </p:nvSpPr>
        <p:spPr>
          <a:xfrm>
            <a:off x="6433344" y="2266156"/>
            <a:ext cx="166688" cy="190500"/>
          </a:xfrm>
          <a:custGeom>
            <a:avLst/>
            <a:gdLst/>
            <a:ahLst/>
            <a:cxnLst/>
            <a:rect l="l" t="t" r="r" b="b"/>
            <a:pathLst>
              <a:path w="166688" h="190500">
                <a:moveTo>
                  <a:pt x="83344" y="92273"/>
                </a:moveTo>
                <a:cubicBezTo>
                  <a:pt x="107986" y="92273"/>
                  <a:pt x="127992" y="72267"/>
                  <a:pt x="127992" y="47625"/>
                </a:cubicBezTo>
                <a:cubicBezTo>
                  <a:pt x="127992" y="22983"/>
                  <a:pt x="107986" y="2977"/>
                  <a:pt x="83344" y="2977"/>
                </a:cubicBezTo>
                <a:cubicBezTo>
                  <a:pt x="58702" y="2977"/>
                  <a:pt x="38695" y="22983"/>
                  <a:pt x="38695" y="47625"/>
                </a:cubicBezTo>
                <a:cubicBezTo>
                  <a:pt x="38695" y="72267"/>
                  <a:pt x="58702" y="92273"/>
                  <a:pt x="83344" y="92273"/>
                </a:cubicBezTo>
                <a:close/>
                <a:moveTo>
                  <a:pt x="72293" y="113109"/>
                </a:moveTo>
                <a:cubicBezTo>
                  <a:pt x="35644" y="113109"/>
                  <a:pt x="5953" y="142801"/>
                  <a:pt x="5953" y="179450"/>
                </a:cubicBezTo>
                <a:cubicBezTo>
                  <a:pt x="5953" y="185551"/>
                  <a:pt x="10902" y="190500"/>
                  <a:pt x="17004" y="190500"/>
                </a:cubicBezTo>
                <a:lnTo>
                  <a:pt x="149684" y="190500"/>
                </a:lnTo>
                <a:cubicBezTo>
                  <a:pt x="155786" y="190500"/>
                  <a:pt x="160734" y="185551"/>
                  <a:pt x="160734" y="179450"/>
                </a:cubicBezTo>
                <a:cubicBezTo>
                  <a:pt x="160734" y="142801"/>
                  <a:pt x="131043" y="113109"/>
                  <a:pt x="94394" y="113109"/>
                </a:cubicBezTo>
                <a:lnTo>
                  <a:pt x="72293" y="113109"/>
                </a:lnTo>
                <a:close/>
              </a:path>
            </a:pathLst>
          </a:custGeom>
          <a:solidFill>
            <a:srgbClr val="D4A056"/>
          </a:solidFill>
          <a:ln/>
        </p:spPr>
      </p:sp>
      <p:sp>
        <p:nvSpPr>
          <p:cNvPr id="21" name="Text 18"/>
          <p:cNvSpPr/>
          <p:nvPr/>
        </p:nvSpPr>
        <p:spPr>
          <a:xfrm>
            <a:off x="6635750" y="2238375"/>
            <a:ext cx="5127625" cy="246063"/>
          </a:xfrm>
          <a:prstGeom prst="rect">
            <a:avLst/>
          </a:prstGeom>
          <a:noFill/>
          <a:ln/>
        </p:spPr>
        <p:txBody>
          <a:bodyPr wrap="square" lIns="0" tIns="0" rIns="0" bIns="0" rtlCol="0" anchor="ctr"/>
          <a:lstStyle/>
          <a:p>
            <a:pPr>
              <a:lnSpc>
                <a:spcPct val="110000"/>
              </a:lnSpc>
            </a:pPr>
            <a:r>
              <a:rPr lang="en-US" sz="1500" b="1" dirty="0">
                <a:solidFill>
                  <a:srgbClr val="F8F7F2"/>
                </a:solidFill>
                <a:latin typeface="Unna" pitchFamily="34" charset="0"/>
                <a:ea typeface="Unna" pitchFamily="34" charset="-122"/>
                <a:cs typeface="Unna" pitchFamily="34" charset="-120"/>
              </a:rPr>
              <a:t>Employee</a:t>
            </a:r>
            <a:endParaRPr lang="en-US" sz="1600" dirty="0"/>
          </a:p>
        </p:txBody>
      </p:sp>
      <p:sp>
        <p:nvSpPr>
          <p:cNvPr id="22" name="Text 19"/>
          <p:cNvSpPr/>
          <p:nvPr/>
        </p:nvSpPr>
        <p:spPr>
          <a:xfrm>
            <a:off x="6397625" y="2611438"/>
            <a:ext cx="5326063"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Full Legal Name</a:t>
            </a:r>
            <a:endParaRPr lang="en-US" sz="1600" dirty="0"/>
          </a:p>
        </p:txBody>
      </p:sp>
      <p:sp>
        <p:nvSpPr>
          <p:cNvPr id="23" name="Shape 20"/>
          <p:cNvSpPr/>
          <p:nvPr/>
        </p:nvSpPr>
        <p:spPr>
          <a:xfrm>
            <a:off x="6397625" y="2833688"/>
            <a:ext cx="5270500" cy="381000"/>
          </a:xfrm>
          <a:custGeom>
            <a:avLst/>
            <a:gdLst/>
            <a:ahLst/>
            <a:cxnLst/>
            <a:rect l="l" t="t" r="r" b="b"/>
            <a:pathLst>
              <a:path w="5270500" h="381000">
                <a:moveTo>
                  <a:pt x="63501" y="0"/>
                </a:moveTo>
                <a:lnTo>
                  <a:pt x="5206999" y="0"/>
                </a:lnTo>
                <a:cubicBezTo>
                  <a:pt x="5242070" y="0"/>
                  <a:pt x="5270500" y="28430"/>
                  <a:pt x="5270500" y="63501"/>
                </a:cubicBezTo>
                <a:lnTo>
                  <a:pt x="5270500" y="317499"/>
                </a:lnTo>
                <a:cubicBezTo>
                  <a:pt x="5270500" y="352570"/>
                  <a:pt x="5242070" y="381000"/>
                  <a:pt x="5206999" y="381000"/>
                </a:cubicBezTo>
                <a:lnTo>
                  <a:pt x="63501" y="381000"/>
                </a:lnTo>
                <a:cubicBezTo>
                  <a:pt x="28454" y="381000"/>
                  <a:pt x="0" y="352546"/>
                  <a:pt x="0" y="317499"/>
                </a:cubicBezTo>
                <a:lnTo>
                  <a:pt x="0" y="63501"/>
                </a:lnTo>
                <a:cubicBezTo>
                  <a:pt x="0" y="28454"/>
                  <a:pt x="28454" y="0"/>
                  <a:pt x="63501" y="0"/>
                </a:cubicBezTo>
                <a:close/>
              </a:path>
            </a:pathLst>
          </a:custGeom>
          <a:solidFill>
            <a:srgbClr val="F8F7F2">
              <a:alpha val="10196"/>
            </a:srgbClr>
          </a:solidFill>
          <a:ln/>
        </p:spPr>
      </p:sp>
      <p:sp>
        <p:nvSpPr>
          <p:cNvPr id="24" name="Text 21"/>
          <p:cNvSpPr/>
          <p:nvPr/>
        </p:nvSpPr>
        <p:spPr>
          <a:xfrm>
            <a:off x="6397625" y="3341688"/>
            <a:ext cx="5326063"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Signature</a:t>
            </a:r>
            <a:endParaRPr lang="en-US" sz="1600" dirty="0"/>
          </a:p>
        </p:txBody>
      </p:sp>
      <p:sp>
        <p:nvSpPr>
          <p:cNvPr id="25" name="Shape 22"/>
          <p:cNvSpPr/>
          <p:nvPr/>
        </p:nvSpPr>
        <p:spPr>
          <a:xfrm>
            <a:off x="6397625" y="3563938"/>
            <a:ext cx="5270500" cy="508000"/>
          </a:xfrm>
          <a:custGeom>
            <a:avLst/>
            <a:gdLst/>
            <a:ahLst/>
            <a:cxnLst/>
            <a:rect l="l" t="t" r="r" b="b"/>
            <a:pathLst>
              <a:path w="5270500" h="508000">
                <a:moveTo>
                  <a:pt x="63500" y="0"/>
                </a:moveTo>
                <a:lnTo>
                  <a:pt x="5207000" y="0"/>
                </a:lnTo>
                <a:cubicBezTo>
                  <a:pt x="5242047" y="0"/>
                  <a:pt x="5270500" y="28453"/>
                  <a:pt x="5270500" y="63500"/>
                </a:cubicBezTo>
                <a:lnTo>
                  <a:pt x="5270500" y="444500"/>
                </a:lnTo>
                <a:cubicBezTo>
                  <a:pt x="5270500" y="479547"/>
                  <a:pt x="5242047" y="508000"/>
                  <a:pt x="5207000" y="508000"/>
                </a:cubicBezTo>
                <a:lnTo>
                  <a:pt x="63500" y="508000"/>
                </a:lnTo>
                <a:cubicBezTo>
                  <a:pt x="28453" y="508000"/>
                  <a:pt x="0" y="479547"/>
                  <a:pt x="0" y="444500"/>
                </a:cubicBezTo>
                <a:lnTo>
                  <a:pt x="0" y="63500"/>
                </a:lnTo>
                <a:cubicBezTo>
                  <a:pt x="0" y="28453"/>
                  <a:pt x="28453" y="0"/>
                  <a:pt x="63500" y="0"/>
                </a:cubicBezTo>
                <a:close/>
              </a:path>
            </a:pathLst>
          </a:custGeom>
          <a:solidFill>
            <a:srgbClr val="F8F7F2">
              <a:alpha val="10196"/>
            </a:srgbClr>
          </a:solidFill>
          <a:ln/>
        </p:spPr>
      </p:sp>
      <p:sp>
        <p:nvSpPr>
          <p:cNvPr id="26" name="Text 23"/>
          <p:cNvSpPr/>
          <p:nvPr/>
        </p:nvSpPr>
        <p:spPr>
          <a:xfrm>
            <a:off x="6397625" y="4198938"/>
            <a:ext cx="5326063"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Date</a:t>
            </a:r>
            <a:endParaRPr lang="en-US" sz="1600" dirty="0"/>
          </a:p>
        </p:txBody>
      </p:sp>
      <p:sp>
        <p:nvSpPr>
          <p:cNvPr id="27" name="Shape 24"/>
          <p:cNvSpPr/>
          <p:nvPr/>
        </p:nvSpPr>
        <p:spPr>
          <a:xfrm>
            <a:off x="6397625" y="4421188"/>
            <a:ext cx="5270500" cy="381000"/>
          </a:xfrm>
          <a:custGeom>
            <a:avLst/>
            <a:gdLst/>
            <a:ahLst/>
            <a:cxnLst/>
            <a:rect l="l" t="t" r="r" b="b"/>
            <a:pathLst>
              <a:path w="5270500" h="381000">
                <a:moveTo>
                  <a:pt x="63501" y="0"/>
                </a:moveTo>
                <a:lnTo>
                  <a:pt x="5206999" y="0"/>
                </a:lnTo>
                <a:cubicBezTo>
                  <a:pt x="5242070" y="0"/>
                  <a:pt x="5270500" y="28430"/>
                  <a:pt x="5270500" y="63501"/>
                </a:cubicBezTo>
                <a:lnTo>
                  <a:pt x="5270500" y="317499"/>
                </a:lnTo>
                <a:cubicBezTo>
                  <a:pt x="5270500" y="352570"/>
                  <a:pt x="5242070" y="381000"/>
                  <a:pt x="5206999" y="381000"/>
                </a:cubicBezTo>
                <a:lnTo>
                  <a:pt x="63501" y="381000"/>
                </a:lnTo>
                <a:cubicBezTo>
                  <a:pt x="28454" y="381000"/>
                  <a:pt x="0" y="352546"/>
                  <a:pt x="0" y="317499"/>
                </a:cubicBezTo>
                <a:lnTo>
                  <a:pt x="0" y="63501"/>
                </a:lnTo>
                <a:cubicBezTo>
                  <a:pt x="0" y="28454"/>
                  <a:pt x="28454" y="0"/>
                  <a:pt x="63501" y="0"/>
                </a:cubicBezTo>
                <a:close/>
              </a:path>
            </a:pathLst>
          </a:custGeom>
          <a:solidFill>
            <a:srgbClr val="F8F7F2">
              <a:alpha val="10196"/>
            </a:srgbClr>
          </a:solidFill>
          <a:ln/>
        </p:spPr>
      </p:sp>
      <p:sp>
        <p:nvSpPr>
          <p:cNvPr id="28" name="Shape 25"/>
          <p:cNvSpPr/>
          <p:nvPr/>
        </p:nvSpPr>
        <p:spPr>
          <a:xfrm>
            <a:off x="6401594" y="4933156"/>
            <a:ext cx="5262563" cy="547688"/>
          </a:xfrm>
          <a:custGeom>
            <a:avLst/>
            <a:gdLst/>
            <a:ahLst/>
            <a:cxnLst/>
            <a:rect l="l" t="t" r="r" b="b"/>
            <a:pathLst>
              <a:path w="5262563" h="547688">
                <a:moveTo>
                  <a:pt x="63499" y="0"/>
                </a:moveTo>
                <a:lnTo>
                  <a:pt x="5199064" y="0"/>
                </a:lnTo>
                <a:cubicBezTo>
                  <a:pt x="5234133" y="0"/>
                  <a:pt x="5262563" y="28429"/>
                  <a:pt x="5262563" y="63499"/>
                </a:cubicBezTo>
                <a:lnTo>
                  <a:pt x="5262563" y="484189"/>
                </a:lnTo>
                <a:cubicBezTo>
                  <a:pt x="5262563" y="519258"/>
                  <a:pt x="5234133" y="547688"/>
                  <a:pt x="5199064" y="547688"/>
                </a:cubicBezTo>
                <a:lnTo>
                  <a:pt x="63499" y="547688"/>
                </a:lnTo>
                <a:cubicBezTo>
                  <a:pt x="28429" y="547688"/>
                  <a:pt x="0" y="519258"/>
                  <a:pt x="0" y="484189"/>
                </a:cubicBezTo>
                <a:lnTo>
                  <a:pt x="0" y="63499"/>
                </a:lnTo>
                <a:cubicBezTo>
                  <a:pt x="0" y="28453"/>
                  <a:pt x="28453" y="0"/>
                  <a:pt x="63499" y="0"/>
                </a:cubicBezTo>
                <a:close/>
              </a:path>
            </a:pathLst>
          </a:custGeom>
          <a:solidFill>
            <a:srgbClr val="D4A056">
              <a:alpha val="20000"/>
            </a:srgbClr>
          </a:solidFill>
          <a:ln w="12700">
            <a:solidFill>
              <a:srgbClr val="D4A056"/>
            </a:solidFill>
            <a:prstDash val="solid"/>
          </a:ln>
        </p:spPr>
      </p:sp>
      <p:sp>
        <p:nvSpPr>
          <p:cNvPr id="29" name="Shape 26"/>
          <p:cNvSpPr/>
          <p:nvPr/>
        </p:nvSpPr>
        <p:spPr>
          <a:xfrm>
            <a:off x="6509742" y="5064125"/>
            <a:ext cx="125016" cy="111125"/>
          </a:xfrm>
          <a:custGeom>
            <a:avLst/>
            <a:gdLst/>
            <a:ahLst/>
            <a:cxnLst/>
            <a:rect l="l" t="t" r="r" b="b"/>
            <a:pathLst>
              <a:path w="125016" h="111125">
                <a:moveTo>
                  <a:pt x="0" y="20836"/>
                </a:moveTo>
                <a:cubicBezTo>
                  <a:pt x="0" y="13174"/>
                  <a:pt x="6229" y="6945"/>
                  <a:pt x="13891" y="6945"/>
                </a:cubicBezTo>
                <a:lnTo>
                  <a:pt x="111125" y="6945"/>
                </a:lnTo>
                <a:cubicBezTo>
                  <a:pt x="118787" y="6945"/>
                  <a:pt x="125016" y="13174"/>
                  <a:pt x="125016" y="20836"/>
                </a:cubicBezTo>
                <a:lnTo>
                  <a:pt x="0" y="20836"/>
                </a:lnTo>
                <a:close/>
                <a:moveTo>
                  <a:pt x="0" y="31254"/>
                </a:moveTo>
                <a:lnTo>
                  <a:pt x="125016" y="31254"/>
                </a:lnTo>
                <a:lnTo>
                  <a:pt x="125016" y="90289"/>
                </a:lnTo>
                <a:cubicBezTo>
                  <a:pt x="125016" y="97951"/>
                  <a:pt x="118787" y="104180"/>
                  <a:pt x="111125" y="104180"/>
                </a:cubicBezTo>
                <a:lnTo>
                  <a:pt x="13891" y="104180"/>
                </a:lnTo>
                <a:cubicBezTo>
                  <a:pt x="6229" y="104180"/>
                  <a:pt x="0" y="97951"/>
                  <a:pt x="0" y="90289"/>
                </a:cubicBezTo>
                <a:lnTo>
                  <a:pt x="0" y="31254"/>
                </a:lnTo>
                <a:close/>
                <a:moveTo>
                  <a:pt x="53674" y="90289"/>
                </a:moveTo>
                <a:cubicBezTo>
                  <a:pt x="58058" y="90289"/>
                  <a:pt x="61336" y="86078"/>
                  <a:pt x="58536" y="82693"/>
                </a:cubicBezTo>
                <a:cubicBezTo>
                  <a:pt x="55345" y="78851"/>
                  <a:pt x="50527" y="76398"/>
                  <a:pt x="45145" y="76398"/>
                </a:cubicBezTo>
                <a:lnTo>
                  <a:pt x="31254" y="76398"/>
                </a:lnTo>
                <a:cubicBezTo>
                  <a:pt x="25871" y="76398"/>
                  <a:pt x="21053" y="78851"/>
                  <a:pt x="17862" y="82693"/>
                </a:cubicBezTo>
                <a:cubicBezTo>
                  <a:pt x="15063" y="86078"/>
                  <a:pt x="18340" y="90289"/>
                  <a:pt x="22724" y="90289"/>
                </a:cubicBezTo>
                <a:lnTo>
                  <a:pt x="53653" y="90289"/>
                </a:lnTo>
                <a:close/>
                <a:moveTo>
                  <a:pt x="38199" y="67717"/>
                </a:moveTo>
                <a:cubicBezTo>
                  <a:pt x="44907" y="67717"/>
                  <a:pt x="50354" y="62271"/>
                  <a:pt x="50354" y="55563"/>
                </a:cubicBezTo>
                <a:cubicBezTo>
                  <a:pt x="50354" y="48854"/>
                  <a:pt x="44907" y="43408"/>
                  <a:pt x="38199" y="43408"/>
                </a:cubicBezTo>
                <a:cubicBezTo>
                  <a:pt x="31491" y="43408"/>
                  <a:pt x="26045" y="48854"/>
                  <a:pt x="26045" y="55563"/>
                </a:cubicBezTo>
                <a:cubicBezTo>
                  <a:pt x="26045" y="62271"/>
                  <a:pt x="31491" y="67717"/>
                  <a:pt x="38199" y="67717"/>
                </a:cubicBezTo>
                <a:close/>
                <a:moveTo>
                  <a:pt x="78135" y="45145"/>
                </a:moveTo>
                <a:cubicBezTo>
                  <a:pt x="75248" y="45145"/>
                  <a:pt x="72926" y="47467"/>
                  <a:pt x="72926" y="50354"/>
                </a:cubicBezTo>
                <a:cubicBezTo>
                  <a:pt x="72926" y="53240"/>
                  <a:pt x="75248" y="55563"/>
                  <a:pt x="78135" y="55563"/>
                </a:cubicBezTo>
                <a:lnTo>
                  <a:pt x="102443" y="55563"/>
                </a:lnTo>
                <a:cubicBezTo>
                  <a:pt x="105330" y="55563"/>
                  <a:pt x="107652" y="53240"/>
                  <a:pt x="107652" y="50354"/>
                </a:cubicBezTo>
                <a:cubicBezTo>
                  <a:pt x="107652" y="47467"/>
                  <a:pt x="105330" y="45145"/>
                  <a:pt x="102443" y="45145"/>
                </a:cubicBezTo>
                <a:lnTo>
                  <a:pt x="78135" y="45145"/>
                </a:lnTo>
                <a:close/>
                <a:moveTo>
                  <a:pt x="78135" y="65980"/>
                </a:moveTo>
                <a:cubicBezTo>
                  <a:pt x="75248" y="65980"/>
                  <a:pt x="72926" y="68303"/>
                  <a:pt x="72926" y="71189"/>
                </a:cubicBezTo>
                <a:cubicBezTo>
                  <a:pt x="72926" y="74076"/>
                  <a:pt x="75248" y="76398"/>
                  <a:pt x="78135" y="76398"/>
                </a:cubicBezTo>
                <a:lnTo>
                  <a:pt x="102443" y="76398"/>
                </a:lnTo>
                <a:cubicBezTo>
                  <a:pt x="105330" y="76398"/>
                  <a:pt x="107652" y="74076"/>
                  <a:pt x="107652" y="71189"/>
                </a:cubicBezTo>
                <a:cubicBezTo>
                  <a:pt x="107652" y="68303"/>
                  <a:pt x="105330" y="65980"/>
                  <a:pt x="102443" y="65980"/>
                </a:cubicBezTo>
                <a:lnTo>
                  <a:pt x="78135" y="65980"/>
                </a:lnTo>
                <a:close/>
              </a:path>
            </a:pathLst>
          </a:custGeom>
          <a:solidFill>
            <a:srgbClr val="D4A056"/>
          </a:solidFill>
          <a:ln/>
        </p:spPr>
      </p:sp>
      <p:sp>
        <p:nvSpPr>
          <p:cNvPr id="30" name="Text 27"/>
          <p:cNvSpPr/>
          <p:nvPr/>
        </p:nvSpPr>
        <p:spPr>
          <a:xfrm>
            <a:off x="6683375" y="5032375"/>
            <a:ext cx="4937125" cy="349250"/>
          </a:xfrm>
          <a:prstGeom prst="rect">
            <a:avLst/>
          </a:prstGeom>
          <a:noFill/>
          <a:ln/>
        </p:spPr>
        <p:txBody>
          <a:bodyPr wrap="square" lIns="0" tIns="0" rIns="0" bIns="0" rtlCol="0" anchor="ctr"/>
          <a:lstStyle/>
          <a:p>
            <a:pPr>
              <a:lnSpc>
                <a:spcPct val="140000"/>
              </a:lnSpc>
            </a:pPr>
            <a:r>
              <a:rPr lang="en-US" sz="875" b="1" dirty="0">
                <a:solidFill>
                  <a:srgbClr val="F8F7F2"/>
                </a:solidFill>
                <a:latin typeface="Liter" pitchFamily="34" charset="0"/>
                <a:ea typeface="Liter" pitchFamily="34" charset="-122"/>
                <a:cs typeface="Liter" pitchFamily="34" charset="-120"/>
              </a:rPr>
              <a:t>ID Verification:</a:t>
            </a:r>
            <a:pPr>
              <a:lnSpc>
                <a:spcPct val="140000"/>
              </a:lnSpc>
            </a:pPr>
            <a:r>
              <a:rPr lang="en-US" sz="875" dirty="0">
                <a:solidFill>
                  <a:srgbClr val="F8F7F2"/>
                </a:solidFill>
                <a:latin typeface="Liter" pitchFamily="34" charset="0"/>
                <a:ea typeface="Liter" pitchFamily="34" charset="-122"/>
                <a:cs typeface="Liter" pitchFamily="34" charset="-120"/>
              </a:rPr>
              <a:t> Employee must present valid government-issued photo identification before signing.</a:t>
            </a:r>
            <a:endParaRPr lang="en-US" sz="1600" dirty="0"/>
          </a:p>
        </p:txBody>
      </p:sp>
      <p:sp>
        <p:nvSpPr>
          <p:cNvPr id="31" name="Shape 28"/>
          <p:cNvSpPr/>
          <p:nvPr/>
        </p:nvSpPr>
        <p:spPr>
          <a:xfrm>
            <a:off x="321469" y="5869781"/>
            <a:ext cx="11549063" cy="1071563"/>
          </a:xfrm>
          <a:custGeom>
            <a:avLst/>
            <a:gdLst/>
            <a:ahLst/>
            <a:cxnLst/>
            <a:rect l="l" t="t" r="r" b="b"/>
            <a:pathLst>
              <a:path w="11549063" h="1071563">
                <a:moveTo>
                  <a:pt x="63501" y="0"/>
                </a:moveTo>
                <a:lnTo>
                  <a:pt x="11485562" y="0"/>
                </a:lnTo>
                <a:cubicBezTo>
                  <a:pt x="11520632" y="0"/>
                  <a:pt x="11549063" y="28430"/>
                  <a:pt x="11549063" y="63501"/>
                </a:cubicBezTo>
                <a:lnTo>
                  <a:pt x="11549063" y="1008062"/>
                </a:lnTo>
                <a:cubicBezTo>
                  <a:pt x="11549063" y="1043132"/>
                  <a:pt x="11520632" y="1071563"/>
                  <a:pt x="11485562" y="1071562"/>
                </a:cubicBezTo>
                <a:lnTo>
                  <a:pt x="63501" y="1071563"/>
                </a:lnTo>
                <a:cubicBezTo>
                  <a:pt x="28430" y="1071562"/>
                  <a:pt x="0" y="1043132"/>
                  <a:pt x="0" y="1008062"/>
                </a:cubicBezTo>
                <a:lnTo>
                  <a:pt x="0" y="63501"/>
                </a:lnTo>
                <a:cubicBezTo>
                  <a:pt x="0" y="28454"/>
                  <a:pt x="28454" y="0"/>
                  <a:pt x="63501" y="0"/>
                </a:cubicBezTo>
                <a:close/>
              </a:path>
            </a:pathLst>
          </a:custGeom>
          <a:solidFill>
            <a:srgbClr val="F8F7F2">
              <a:alpha val="10196"/>
            </a:srgbClr>
          </a:solidFill>
          <a:ln w="12700">
            <a:solidFill>
              <a:srgbClr val="F8F7F2">
                <a:alpha val="30196"/>
              </a:srgbClr>
            </a:solidFill>
            <a:prstDash val="solid"/>
          </a:ln>
        </p:spPr>
      </p:sp>
      <p:sp>
        <p:nvSpPr>
          <p:cNvPr id="32" name="Shape 29"/>
          <p:cNvSpPr/>
          <p:nvPr/>
        </p:nvSpPr>
        <p:spPr>
          <a:xfrm>
            <a:off x="476250" y="600075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a:srgbClr val="D4A056"/>
          </a:solidFill>
          <a:ln/>
        </p:spPr>
      </p:sp>
      <p:sp>
        <p:nvSpPr>
          <p:cNvPr id="33" name="Text 30"/>
          <p:cNvSpPr/>
          <p:nvPr/>
        </p:nvSpPr>
        <p:spPr>
          <a:xfrm>
            <a:off x="785813" y="6000750"/>
            <a:ext cx="11017250" cy="206375"/>
          </a:xfrm>
          <a:prstGeom prst="rect">
            <a:avLst/>
          </a:prstGeom>
          <a:noFill/>
          <a:ln/>
        </p:spPr>
        <p:txBody>
          <a:bodyPr wrap="square" lIns="0" tIns="0" rIns="0" bIns="0" rtlCol="0" anchor="ctr"/>
          <a:lstStyle/>
          <a:p>
            <a:pPr>
              <a:lnSpc>
                <a:spcPct val="140000"/>
              </a:lnSpc>
            </a:pPr>
            <a:r>
              <a:rPr lang="en-US" sz="1000" b="1" dirty="0">
                <a:solidFill>
                  <a:srgbClr val="F8F7F2"/>
                </a:solidFill>
                <a:latin typeface="Liter" pitchFamily="34" charset="0"/>
                <a:ea typeface="Liter" pitchFamily="34" charset="-122"/>
                <a:cs typeface="Liter" pitchFamily="34" charset="-120"/>
              </a:rPr>
              <a:t>Witness (Optional):</a:t>
            </a:r>
            <a:pPr>
              <a:lnSpc>
                <a:spcPct val="140000"/>
              </a:lnSpc>
            </a:pPr>
            <a:r>
              <a:rPr lang="en-US" sz="1000" dirty="0">
                <a:solidFill>
                  <a:srgbClr val="F8F7F2"/>
                </a:solidFill>
                <a:latin typeface="Liter" pitchFamily="34" charset="0"/>
                <a:ea typeface="Liter" pitchFamily="34" charset="-122"/>
                <a:cs typeface="Liter" pitchFamily="34" charset="-120"/>
              </a:rPr>
              <a:t> This contract may be witnessed by a third party. Witness signature confirms they observed both parties sign voluntarily and with understanding.</a:t>
            </a:r>
            <a:endParaRPr lang="en-US" sz="1600" dirty="0"/>
          </a:p>
        </p:txBody>
      </p:sp>
      <p:sp>
        <p:nvSpPr>
          <p:cNvPr id="34" name="Text 31"/>
          <p:cNvSpPr/>
          <p:nvPr/>
        </p:nvSpPr>
        <p:spPr>
          <a:xfrm>
            <a:off x="785813" y="6302375"/>
            <a:ext cx="5468938"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Witness Name</a:t>
            </a:r>
            <a:endParaRPr lang="en-US" sz="1600" dirty="0"/>
          </a:p>
        </p:txBody>
      </p:sp>
      <p:sp>
        <p:nvSpPr>
          <p:cNvPr id="35" name="Shape 32"/>
          <p:cNvSpPr/>
          <p:nvPr/>
        </p:nvSpPr>
        <p:spPr>
          <a:xfrm>
            <a:off x="785813" y="6492875"/>
            <a:ext cx="5413375" cy="317500"/>
          </a:xfrm>
          <a:custGeom>
            <a:avLst/>
            <a:gdLst/>
            <a:ahLst/>
            <a:cxnLst/>
            <a:rect l="l" t="t" r="r" b="b"/>
            <a:pathLst>
              <a:path w="5413375" h="317500">
                <a:moveTo>
                  <a:pt x="63500" y="0"/>
                </a:moveTo>
                <a:lnTo>
                  <a:pt x="5349875" y="0"/>
                </a:lnTo>
                <a:cubicBezTo>
                  <a:pt x="5384922" y="0"/>
                  <a:pt x="5413375" y="28453"/>
                  <a:pt x="5413375" y="63500"/>
                </a:cubicBezTo>
                <a:lnTo>
                  <a:pt x="5413375" y="254000"/>
                </a:lnTo>
                <a:cubicBezTo>
                  <a:pt x="5413375" y="289047"/>
                  <a:pt x="5384922" y="317500"/>
                  <a:pt x="5349875" y="317500"/>
                </a:cubicBezTo>
                <a:lnTo>
                  <a:pt x="63500" y="317500"/>
                </a:lnTo>
                <a:cubicBezTo>
                  <a:pt x="28453" y="317500"/>
                  <a:pt x="0" y="289047"/>
                  <a:pt x="0" y="254000"/>
                </a:cubicBezTo>
                <a:lnTo>
                  <a:pt x="0" y="63500"/>
                </a:lnTo>
                <a:cubicBezTo>
                  <a:pt x="0" y="28453"/>
                  <a:pt x="28453" y="0"/>
                  <a:pt x="63500" y="0"/>
                </a:cubicBezTo>
                <a:close/>
              </a:path>
            </a:pathLst>
          </a:custGeom>
          <a:solidFill>
            <a:srgbClr val="F8F7F2">
              <a:alpha val="10196"/>
            </a:srgbClr>
          </a:solidFill>
          <a:ln/>
        </p:spPr>
      </p:sp>
      <p:sp>
        <p:nvSpPr>
          <p:cNvPr id="36" name="Text 33"/>
          <p:cNvSpPr/>
          <p:nvPr/>
        </p:nvSpPr>
        <p:spPr>
          <a:xfrm>
            <a:off x="6326188" y="6302375"/>
            <a:ext cx="5468938" cy="158750"/>
          </a:xfrm>
          <a:prstGeom prst="rect">
            <a:avLst/>
          </a:prstGeom>
          <a:noFill/>
          <a:ln/>
        </p:spPr>
        <p:txBody>
          <a:bodyPr wrap="square" lIns="0" tIns="0" rIns="0" bIns="0" rtlCol="0" anchor="ctr"/>
          <a:lstStyle/>
          <a:p>
            <a:pPr>
              <a:lnSpc>
                <a:spcPct val="120000"/>
              </a:lnSpc>
            </a:pPr>
            <a:r>
              <a:rPr lang="en-US" sz="875" b="1" spc="22" kern="0" dirty="0">
                <a:solidFill>
                  <a:srgbClr val="D4A056"/>
                </a:solidFill>
                <a:latin typeface="Liter" pitchFamily="34" charset="0"/>
                <a:ea typeface="Liter" pitchFamily="34" charset="-122"/>
                <a:cs typeface="Liter" pitchFamily="34" charset="-120"/>
              </a:rPr>
              <a:t>Witness Signature</a:t>
            </a:r>
            <a:endParaRPr lang="en-US" sz="1600" dirty="0"/>
          </a:p>
        </p:txBody>
      </p:sp>
      <p:sp>
        <p:nvSpPr>
          <p:cNvPr id="37" name="Shape 34"/>
          <p:cNvSpPr/>
          <p:nvPr/>
        </p:nvSpPr>
        <p:spPr>
          <a:xfrm>
            <a:off x="6326188" y="6492875"/>
            <a:ext cx="5413375" cy="317500"/>
          </a:xfrm>
          <a:custGeom>
            <a:avLst/>
            <a:gdLst/>
            <a:ahLst/>
            <a:cxnLst/>
            <a:rect l="l" t="t" r="r" b="b"/>
            <a:pathLst>
              <a:path w="5413375" h="317500">
                <a:moveTo>
                  <a:pt x="63500" y="0"/>
                </a:moveTo>
                <a:lnTo>
                  <a:pt x="5349875" y="0"/>
                </a:lnTo>
                <a:cubicBezTo>
                  <a:pt x="5384922" y="0"/>
                  <a:pt x="5413375" y="28453"/>
                  <a:pt x="5413375" y="63500"/>
                </a:cubicBezTo>
                <a:lnTo>
                  <a:pt x="5413375" y="254000"/>
                </a:lnTo>
                <a:cubicBezTo>
                  <a:pt x="5413375" y="289047"/>
                  <a:pt x="5384922" y="317500"/>
                  <a:pt x="5349875" y="317500"/>
                </a:cubicBezTo>
                <a:lnTo>
                  <a:pt x="63500" y="317500"/>
                </a:lnTo>
                <a:cubicBezTo>
                  <a:pt x="28453" y="317500"/>
                  <a:pt x="0" y="289047"/>
                  <a:pt x="0" y="254000"/>
                </a:cubicBezTo>
                <a:lnTo>
                  <a:pt x="0" y="63500"/>
                </a:lnTo>
                <a:cubicBezTo>
                  <a:pt x="0" y="28453"/>
                  <a:pt x="28453" y="0"/>
                  <a:pt x="63500" y="0"/>
                </a:cubicBezTo>
                <a:close/>
              </a:path>
            </a:pathLst>
          </a:custGeom>
          <a:solidFill>
            <a:srgbClr val="F8F7F2">
              <a:alpha val="10196"/>
            </a:srgbClr>
          </a:solidFill>
          <a:ln/>
        </p:spPr>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Greenhouse Worker Employment Contract</dc:title>
  <dc:subject>Greenhouse Worker Employment Contract</dc:subject>
  <dc:creator>Kimi</dc:creator>
  <cp:lastModifiedBy>Kimi</cp:lastModifiedBy>
  <cp:revision>1</cp:revision>
  <dcterms:created xsi:type="dcterms:W3CDTF">2026-02-10T17:38:13Z</dcterms:created>
  <dcterms:modified xsi:type="dcterms:W3CDTF">2026-02-10T17:38:13Z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{"Label":"Greenhouse Worker Employment Contract","ContentProducer":"001191110108MACG2KBH8F10000","ProduceID":"19c489f0-4e42-85a1-8000-0000adea4aa1","ReservedCode1":"","ContentPropagator":"001191110108MACG2KBH8F20000","PropagateID":"19c489f0-4e42-85a1-8000-0000adea4aa1","ReservedCode2":""}</vt:lpwstr>
  </property>
</Properties>
</file>