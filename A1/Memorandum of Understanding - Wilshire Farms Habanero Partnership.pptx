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 Id="rId4" Type="http://schemas.openxmlformats.org/officeDocument/2006/relationships/custom-properties" Target="docProps/custom.xml" />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embeddedFontLst>
    <p:embeddedFont>
      <p:font typeface="Liter" charset="-122" pitchFamily="34"/>
      <p:regular r:id="rId24"/>
    </p:embeddedFont>
    <p:embeddedFont>
      <p:font typeface="Oranienbaum" charset="-122" pitchFamily="34"/>
      <p:regular r:id="rId25"/>
    </p:embeddedFont>
    <p:embeddedFont>
      <p:font typeface="Unna" charset="-122" pitchFamily="34"/>
      <p:regular r:id="rId26"/>
    </p:embeddedFont>
    <p:embeddedFont>
      <p:font typeface="Quattrocento Sans" charset="-122" pitchFamily="34"/>
      <p:regular r:id="rId27"/>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font" Target="fonts/font1.fntdata"/><Relationship Id="rId25" Type="http://schemas.openxmlformats.org/officeDocument/2006/relationships/font" Target="fonts/font2.fntdata"/><Relationship Id="rId26" Type="http://schemas.openxmlformats.org/officeDocument/2006/relationships/font" Target="fonts/font3.fntdata"/><Relationship Id="rId27"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6F2"/>
        </a:solidFill>
      </p:bgPr>
    </p:bg>
    <p:spTree>
      <p:nvGrpSpPr>
        <p:cNvPr id="1" name=""/>
        <p:cNvGrpSpPr/>
        <p:nvPr/>
      </p:nvGrpSpPr>
      <p:grpSpPr>
        <a:xfrm>
          <a:off x="0" y="0"/>
          <a:ext cx="0" cy="0"/>
          <a:chOff x="0" y="0"/>
          <a:chExt cx="0" cy="0"/>
        </a:xfrm>
      </p:grpSpPr>
      <p:sp>
        <p:nvSpPr>
          <p:cNvPr id="2" name="Shape 0"/>
          <p:cNvSpPr/>
          <p:nvPr/>
        </p:nvSpPr>
        <p:spPr>
          <a:xfrm>
            <a:off x="10668000" y="-1524000"/>
            <a:ext cx="3048000" cy="3048000"/>
          </a:xfrm>
          <a:custGeom>
            <a:avLst/>
            <a:gdLst/>
            <a:ahLst/>
            <a:cxnLst/>
            <a:rect l="l" t="t" r="r" b="b"/>
            <a:pathLst>
              <a:path w="3048000" h="3048000">
                <a:moveTo>
                  <a:pt x="1524000" y="0"/>
                </a:moveTo>
                <a:lnTo>
                  <a:pt x="1524000" y="0"/>
                </a:lnTo>
                <a:cubicBezTo>
                  <a:pt x="2365118" y="0"/>
                  <a:pt x="3048000" y="682882"/>
                  <a:pt x="3048000" y="1524000"/>
                </a:cubicBezTo>
                <a:lnTo>
                  <a:pt x="3048000" y="1524000"/>
                </a:lnTo>
                <a:cubicBezTo>
                  <a:pt x="3048000" y="2365118"/>
                  <a:pt x="2365118" y="3048000"/>
                  <a:pt x="1524000" y="3048000"/>
                </a:cubicBezTo>
                <a:lnTo>
                  <a:pt x="1524000" y="3048000"/>
                </a:lnTo>
                <a:cubicBezTo>
                  <a:pt x="682882" y="3048000"/>
                  <a:pt x="0" y="2365118"/>
                  <a:pt x="0" y="1524000"/>
                </a:cubicBezTo>
                <a:lnTo>
                  <a:pt x="0" y="1524000"/>
                </a:lnTo>
                <a:cubicBezTo>
                  <a:pt x="0" y="682882"/>
                  <a:pt x="682882" y="0"/>
                  <a:pt x="1524000" y="0"/>
                </a:cubicBezTo>
                <a:close/>
              </a:path>
            </a:pathLst>
          </a:custGeom>
          <a:solidFill>
            <a:srgbClr val="3A4D39"/>
          </a:solidFill>
          <a:ln/>
        </p:spPr>
      </p:sp>
      <p:sp>
        <p:nvSpPr>
          <p:cNvPr id="3" name="Shape 1"/>
          <p:cNvSpPr/>
          <p:nvPr/>
        </p:nvSpPr>
        <p:spPr>
          <a:xfrm>
            <a:off x="-1524000" y="5334000"/>
            <a:ext cx="3048000" cy="3048000"/>
          </a:xfrm>
          <a:custGeom>
            <a:avLst/>
            <a:gdLst/>
            <a:ahLst/>
            <a:cxnLst/>
            <a:rect l="l" t="t" r="r" b="b"/>
            <a:pathLst>
              <a:path w="3048000" h="3048000">
                <a:moveTo>
                  <a:pt x="1524000" y="0"/>
                </a:moveTo>
                <a:lnTo>
                  <a:pt x="1524000" y="0"/>
                </a:lnTo>
                <a:cubicBezTo>
                  <a:pt x="2365118" y="0"/>
                  <a:pt x="3048000" y="682882"/>
                  <a:pt x="3048000" y="1524000"/>
                </a:cubicBezTo>
                <a:lnTo>
                  <a:pt x="3048000" y="1524000"/>
                </a:lnTo>
                <a:cubicBezTo>
                  <a:pt x="3048000" y="2365118"/>
                  <a:pt x="2365118" y="3048000"/>
                  <a:pt x="1524000" y="3048000"/>
                </a:cubicBezTo>
                <a:lnTo>
                  <a:pt x="1524000" y="3048000"/>
                </a:lnTo>
                <a:cubicBezTo>
                  <a:pt x="682882" y="3048000"/>
                  <a:pt x="0" y="2365118"/>
                  <a:pt x="0" y="1524000"/>
                </a:cubicBezTo>
                <a:lnTo>
                  <a:pt x="0" y="1524000"/>
                </a:lnTo>
                <a:cubicBezTo>
                  <a:pt x="0" y="682882"/>
                  <a:pt x="682882" y="0"/>
                  <a:pt x="1524000" y="0"/>
                </a:cubicBezTo>
                <a:close/>
              </a:path>
            </a:pathLst>
          </a:custGeom>
          <a:solidFill>
            <a:srgbClr val="7A6250"/>
          </a:solidFill>
          <a:ln/>
        </p:spPr>
      </p:sp>
      <p:sp>
        <p:nvSpPr>
          <p:cNvPr id="4" name="Shape 2"/>
          <p:cNvSpPr/>
          <p:nvPr/>
        </p:nvSpPr>
        <p:spPr>
          <a:xfrm>
            <a:off x="317500" y="317500"/>
            <a:ext cx="381000" cy="381000"/>
          </a:xfrm>
          <a:custGeom>
            <a:avLst/>
            <a:gdLst/>
            <a:ahLst/>
            <a:cxnLst/>
            <a:rect l="l" t="t" r="r" b="b"/>
            <a:pathLst>
              <a:path w="381000" h="381000">
                <a:moveTo>
                  <a:pt x="63501" y="0"/>
                </a:moveTo>
                <a:lnTo>
                  <a:pt x="317499" y="0"/>
                </a:lnTo>
                <a:cubicBezTo>
                  <a:pt x="352546" y="0"/>
                  <a:pt x="381000" y="28454"/>
                  <a:pt x="381000" y="63501"/>
                </a:cubicBezTo>
                <a:lnTo>
                  <a:pt x="381000" y="317499"/>
                </a:lnTo>
                <a:cubicBezTo>
                  <a:pt x="381000" y="352546"/>
                  <a:pt x="352546" y="381000"/>
                  <a:pt x="317499" y="381000"/>
                </a:cubicBezTo>
                <a:lnTo>
                  <a:pt x="63501" y="381000"/>
                </a:lnTo>
                <a:cubicBezTo>
                  <a:pt x="28454" y="381000"/>
                  <a:pt x="0" y="352546"/>
                  <a:pt x="0" y="317499"/>
                </a:cubicBezTo>
                <a:lnTo>
                  <a:pt x="0" y="63501"/>
                </a:lnTo>
                <a:cubicBezTo>
                  <a:pt x="0" y="28454"/>
                  <a:pt x="28454" y="0"/>
                  <a:pt x="63501" y="0"/>
                </a:cubicBezTo>
                <a:close/>
              </a:path>
            </a:pathLst>
          </a:custGeom>
          <a:solidFill>
            <a:srgbClr val="3A4D39"/>
          </a:solidFill>
          <a:ln/>
        </p:spPr>
      </p:sp>
      <p:sp>
        <p:nvSpPr>
          <p:cNvPr id="5" name="Shape 3"/>
          <p:cNvSpPr/>
          <p:nvPr/>
        </p:nvSpPr>
        <p:spPr>
          <a:xfrm>
            <a:off x="428625" y="428625"/>
            <a:ext cx="158750" cy="158750"/>
          </a:xfrm>
          <a:custGeom>
            <a:avLst/>
            <a:gdLst/>
            <a:ahLst/>
            <a:cxnLst/>
            <a:rect l="l" t="t" r="r" b="b"/>
            <a:pathLst>
              <a:path w="158750" h="158750">
                <a:moveTo>
                  <a:pt x="146131" y="2077"/>
                </a:moveTo>
                <a:cubicBezTo>
                  <a:pt x="148115" y="186"/>
                  <a:pt x="150999" y="-496"/>
                  <a:pt x="153665" y="372"/>
                </a:cubicBezTo>
                <a:cubicBezTo>
                  <a:pt x="156704" y="1395"/>
                  <a:pt x="158750" y="4248"/>
                  <a:pt x="158750" y="7441"/>
                </a:cubicBezTo>
                <a:lnTo>
                  <a:pt x="158750" y="65391"/>
                </a:lnTo>
                <a:cubicBezTo>
                  <a:pt x="158750" y="106071"/>
                  <a:pt x="125233" y="138906"/>
                  <a:pt x="84708" y="138906"/>
                </a:cubicBezTo>
                <a:cubicBezTo>
                  <a:pt x="60833" y="138906"/>
                  <a:pt x="40246" y="123558"/>
                  <a:pt x="32773" y="102102"/>
                </a:cubicBezTo>
                <a:cubicBezTo>
                  <a:pt x="21797" y="111652"/>
                  <a:pt x="14883" y="125698"/>
                  <a:pt x="14883" y="141387"/>
                </a:cubicBezTo>
                <a:cubicBezTo>
                  <a:pt x="14883" y="145510"/>
                  <a:pt x="11565" y="148828"/>
                  <a:pt x="7441" y="148828"/>
                </a:cubicBezTo>
                <a:cubicBezTo>
                  <a:pt x="3318" y="148828"/>
                  <a:pt x="0" y="145510"/>
                  <a:pt x="0" y="141387"/>
                </a:cubicBezTo>
                <a:cubicBezTo>
                  <a:pt x="0" y="118163"/>
                  <a:pt x="11844" y="97699"/>
                  <a:pt x="29797" y="85669"/>
                </a:cubicBezTo>
                <a:cubicBezTo>
                  <a:pt x="40742" y="78352"/>
                  <a:pt x="53795" y="74414"/>
                  <a:pt x="66973" y="74414"/>
                </a:cubicBezTo>
                <a:lnTo>
                  <a:pt x="91777" y="74414"/>
                </a:lnTo>
                <a:cubicBezTo>
                  <a:pt x="95901" y="74414"/>
                  <a:pt x="99219" y="71096"/>
                  <a:pt x="99219" y="66973"/>
                </a:cubicBezTo>
                <a:cubicBezTo>
                  <a:pt x="99219" y="62849"/>
                  <a:pt x="95901" y="59531"/>
                  <a:pt x="91777" y="59531"/>
                </a:cubicBezTo>
                <a:lnTo>
                  <a:pt x="66973" y="59531"/>
                </a:lnTo>
                <a:cubicBezTo>
                  <a:pt x="54663" y="59531"/>
                  <a:pt x="43005" y="62260"/>
                  <a:pt x="32556" y="67128"/>
                </a:cubicBezTo>
                <a:cubicBezTo>
                  <a:pt x="39781" y="45424"/>
                  <a:pt x="60213" y="29766"/>
                  <a:pt x="84336" y="29766"/>
                </a:cubicBezTo>
                <a:cubicBezTo>
                  <a:pt x="104924" y="29766"/>
                  <a:pt x="120241" y="22913"/>
                  <a:pt x="130442" y="16123"/>
                </a:cubicBezTo>
                <a:cubicBezTo>
                  <a:pt x="136395" y="12154"/>
                  <a:pt x="141449" y="7410"/>
                  <a:pt x="146162" y="2077"/>
                </a:cubicBezTo>
                <a:close/>
              </a:path>
            </a:pathLst>
          </a:custGeom>
          <a:solidFill>
            <a:srgbClr val="F8F6F2"/>
          </a:solidFill>
          <a:ln/>
        </p:spPr>
      </p:sp>
      <p:sp>
        <p:nvSpPr>
          <p:cNvPr id="6" name="Text 4"/>
          <p:cNvSpPr/>
          <p:nvPr/>
        </p:nvSpPr>
        <p:spPr>
          <a:xfrm>
            <a:off x="793750" y="396875"/>
            <a:ext cx="2746375" cy="222250"/>
          </a:xfrm>
          <a:prstGeom prst="rect">
            <a:avLst/>
          </a:prstGeom>
          <a:noFill/>
          <a:ln/>
        </p:spPr>
        <p:txBody>
          <a:bodyPr wrap="square" lIns="0" tIns="0" rIns="0" bIns="0" rtlCol="0" anchor="ctr"/>
          <a:lstStyle/>
          <a:p>
            <a:pPr>
              <a:lnSpc>
                <a:spcPct val="130000"/>
              </a:lnSpc>
            </a:pPr>
            <a:r>
              <a:rPr lang="en-US" sz="1125" spc="113" kern="0" dirty="0">
                <a:solidFill>
                  <a:srgbClr val="7A6250"/>
                </a:solidFill>
                <a:latin typeface="Liter" pitchFamily="34" charset="0"/>
                <a:ea typeface="Liter" pitchFamily="34" charset="-122"/>
                <a:cs typeface="Liter" pitchFamily="34" charset="-120"/>
              </a:rPr>
              <a:t>Wilshire Farms and Orchards</a:t>
            </a:r>
            <a:endParaRPr lang="en-US" sz="1600" dirty="0"/>
          </a:p>
        </p:txBody>
      </p:sp>
      <p:sp>
        <p:nvSpPr>
          <p:cNvPr id="7" name="Shape 5"/>
          <p:cNvSpPr/>
          <p:nvPr/>
        </p:nvSpPr>
        <p:spPr>
          <a:xfrm>
            <a:off x="317500" y="1873250"/>
            <a:ext cx="762000" cy="31750"/>
          </a:xfrm>
          <a:custGeom>
            <a:avLst/>
            <a:gdLst/>
            <a:ahLst/>
            <a:cxnLst/>
            <a:rect l="l" t="t" r="r" b="b"/>
            <a:pathLst>
              <a:path w="762000" h="31750">
                <a:moveTo>
                  <a:pt x="0" y="0"/>
                </a:moveTo>
                <a:lnTo>
                  <a:pt x="762000" y="0"/>
                </a:lnTo>
                <a:lnTo>
                  <a:pt x="762000" y="31750"/>
                </a:lnTo>
                <a:lnTo>
                  <a:pt x="0" y="31750"/>
                </a:lnTo>
                <a:lnTo>
                  <a:pt x="0" y="0"/>
                </a:lnTo>
                <a:close/>
              </a:path>
            </a:pathLst>
          </a:custGeom>
          <a:solidFill>
            <a:srgbClr val="BCA37F"/>
          </a:solidFill>
          <a:ln/>
        </p:spPr>
      </p:sp>
      <p:sp>
        <p:nvSpPr>
          <p:cNvPr id="8" name="Text 6"/>
          <p:cNvSpPr/>
          <p:nvPr/>
        </p:nvSpPr>
        <p:spPr>
          <a:xfrm>
            <a:off x="317500" y="2159000"/>
            <a:ext cx="11842750" cy="1428750"/>
          </a:xfrm>
          <a:prstGeom prst="rect">
            <a:avLst/>
          </a:prstGeom>
          <a:noFill/>
          <a:ln/>
        </p:spPr>
        <p:txBody>
          <a:bodyPr wrap="square" lIns="0" tIns="0" rIns="0" bIns="0" rtlCol="0" anchor="ctr"/>
          <a:lstStyle/>
          <a:p>
            <a:pPr>
              <a:lnSpc>
                <a:spcPct val="100000"/>
              </a:lnSpc>
            </a:pPr>
            <a:r>
              <a:rPr lang="en-US" sz="4500" b="1" dirty="0">
                <a:solidFill>
                  <a:srgbClr val="3A4D39"/>
                </a:solidFill>
                <a:latin typeface="Oranienbaum" pitchFamily="34" charset="0"/>
                <a:ea typeface="Oranienbaum" pitchFamily="34" charset="-122"/>
                <a:cs typeface="Oranienbaum" pitchFamily="34" charset="-120"/>
              </a:rPr>
              <a:t>MEMORANDUM</a:t>
            </a:r>
            <a:endParaRPr lang="en-US" sz="1600" dirty="0"/>
          </a:p>
          <a:p>
            <a:pPr>
              <a:lnSpc>
                <a:spcPct val="100000"/>
              </a:lnSpc>
            </a:pPr>
            <a:r>
              <a:rPr lang="en-US" sz="4500" b="1" dirty="0">
                <a:solidFill>
                  <a:srgbClr val="3A4D39"/>
                </a:solidFill>
                <a:latin typeface="Oranienbaum" pitchFamily="34" charset="0"/>
                <a:ea typeface="Oranienbaum" pitchFamily="34" charset="-122"/>
                <a:cs typeface="Oranienbaum" pitchFamily="34" charset="-120"/>
              </a:rPr>
              <a:t>OF UNDERSTANDING</a:t>
            </a:r>
            <a:endParaRPr lang="en-US" sz="1600" dirty="0"/>
          </a:p>
        </p:txBody>
      </p:sp>
      <p:sp>
        <p:nvSpPr>
          <p:cNvPr id="9" name="Shape 7"/>
          <p:cNvSpPr/>
          <p:nvPr/>
        </p:nvSpPr>
        <p:spPr>
          <a:xfrm>
            <a:off x="317500" y="3778250"/>
            <a:ext cx="1016000" cy="31750"/>
          </a:xfrm>
          <a:custGeom>
            <a:avLst/>
            <a:gdLst/>
            <a:ahLst/>
            <a:cxnLst/>
            <a:rect l="l" t="t" r="r" b="b"/>
            <a:pathLst>
              <a:path w="1016000" h="31750">
                <a:moveTo>
                  <a:pt x="0" y="0"/>
                </a:moveTo>
                <a:lnTo>
                  <a:pt x="1016000" y="0"/>
                </a:lnTo>
                <a:lnTo>
                  <a:pt x="1016000" y="31750"/>
                </a:lnTo>
                <a:lnTo>
                  <a:pt x="0" y="31750"/>
                </a:lnTo>
                <a:lnTo>
                  <a:pt x="0" y="0"/>
                </a:lnTo>
                <a:close/>
              </a:path>
            </a:pathLst>
          </a:custGeom>
          <a:solidFill>
            <a:srgbClr val="7A6250"/>
          </a:solidFill>
          <a:ln/>
        </p:spPr>
      </p:sp>
      <p:sp>
        <p:nvSpPr>
          <p:cNvPr id="10" name="Text 8"/>
          <p:cNvSpPr/>
          <p:nvPr/>
        </p:nvSpPr>
        <p:spPr>
          <a:xfrm>
            <a:off x="317500" y="4318000"/>
            <a:ext cx="11676063" cy="285750"/>
          </a:xfrm>
          <a:prstGeom prst="rect">
            <a:avLst/>
          </a:prstGeom>
          <a:noFill/>
          <a:ln/>
        </p:spPr>
        <p:txBody>
          <a:bodyPr wrap="square" lIns="0" tIns="0" rIns="0" bIns="0" rtlCol="0" anchor="ctr"/>
          <a:lstStyle/>
          <a:p>
            <a:pPr>
              <a:lnSpc>
                <a:spcPct val="100000"/>
              </a:lnSpc>
            </a:pPr>
            <a:r>
              <a:rPr lang="en-US" sz="1875" dirty="0">
                <a:solidFill>
                  <a:srgbClr val="7A6250"/>
                </a:solidFill>
                <a:latin typeface="Unna" pitchFamily="34" charset="0"/>
                <a:ea typeface="Unna" pitchFamily="34" charset="-122"/>
                <a:cs typeface="Unna" pitchFamily="34" charset="-120"/>
              </a:rPr>
              <a:t>Habanero Growing Season Investment Partnership</a:t>
            </a:r>
            <a:endParaRPr lang="en-US" sz="1600" dirty="0"/>
          </a:p>
        </p:txBody>
      </p:sp>
      <p:sp>
        <p:nvSpPr>
          <p:cNvPr id="11" name="Text 9"/>
          <p:cNvSpPr/>
          <p:nvPr/>
        </p:nvSpPr>
        <p:spPr>
          <a:xfrm>
            <a:off x="317500" y="4730750"/>
            <a:ext cx="11636375" cy="222250"/>
          </a:xfrm>
          <a:prstGeom prst="rect">
            <a:avLst/>
          </a:prstGeom>
          <a:noFill/>
          <a:ln/>
        </p:spPr>
        <p:txBody>
          <a:bodyPr wrap="square" lIns="0" tIns="0" rIns="0" bIns="0" rtlCol="0" anchor="ctr"/>
          <a:lstStyle/>
          <a:p>
            <a:pPr>
              <a:lnSpc>
                <a:spcPct val="120000"/>
              </a:lnSpc>
            </a:pPr>
            <a:r>
              <a:rPr lang="en-US" sz="1250" dirty="0">
                <a:solidFill>
                  <a:srgbClr val="2C2C2C"/>
                </a:solidFill>
                <a:latin typeface="Quattrocento Sans" pitchFamily="34" charset="0"/>
                <a:ea typeface="Quattrocento Sans" pitchFamily="34" charset="-122"/>
                <a:cs typeface="Quattrocento Sans" pitchFamily="34" charset="-120"/>
              </a:rPr>
              <a:t>8-Month Agricultural Investment Agreement</a:t>
            </a:r>
            <a:endParaRPr lang="en-US" sz="1600" dirty="0"/>
          </a:p>
        </p:txBody>
      </p:sp>
      <p:sp>
        <p:nvSpPr>
          <p:cNvPr id="12" name="Text 10"/>
          <p:cNvSpPr/>
          <p:nvPr/>
        </p:nvSpPr>
        <p:spPr>
          <a:xfrm>
            <a:off x="317500" y="6127750"/>
            <a:ext cx="3167063" cy="190500"/>
          </a:xfrm>
          <a:prstGeom prst="rect">
            <a:avLst/>
          </a:prstGeom>
          <a:noFill/>
          <a:ln/>
        </p:spPr>
        <p:txBody>
          <a:bodyPr wrap="square" lIns="0" tIns="0" rIns="0" bIns="0" rtlCol="0" anchor="ctr"/>
          <a:lstStyle/>
          <a:p>
            <a:pPr>
              <a:lnSpc>
                <a:spcPct val="130000"/>
              </a:lnSpc>
            </a:pPr>
            <a:r>
              <a:rPr lang="en-US" sz="1000" dirty="0">
                <a:solidFill>
                  <a:srgbClr val="7A6250"/>
                </a:solidFill>
                <a:latin typeface="Quattrocento Sans" pitchFamily="34" charset="0"/>
                <a:ea typeface="Quattrocento Sans" pitchFamily="34" charset="-122"/>
                <a:cs typeface="Quattrocento Sans" pitchFamily="34" charset="-120"/>
              </a:rPr>
              <a:t>Investment Period: 8 Months</a:t>
            </a:r>
            <a:endParaRPr lang="en-US" sz="1600" dirty="0"/>
          </a:p>
        </p:txBody>
      </p:sp>
      <p:sp>
        <p:nvSpPr>
          <p:cNvPr id="13" name="Text 11"/>
          <p:cNvSpPr/>
          <p:nvPr/>
        </p:nvSpPr>
        <p:spPr>
          <a:xfrm>
            <a:off x="317500" y="6350000"/>
            <a:ext cx="3167063" cy="190500"/>
          </a:xfrm>
          <a:prstGeom prst="rect">
            <a:avLst/>
          </a:prstGeom>
          <a:noFill/>
          <a:ln/>
        </p:spPr>
        <p:txBody>
          <a:bodyPr wrap="square" lIns="0" tIns="0" rIns="0" bIns="0" rtlCol="0" anchor="ctr"/>
          <a:lstStyle/>
          <a:p>
            <a:pPr>
              <a:lnSpc>
                <a:spcPct val="130000"/>
              </a:lnSpc>
            </a:pPr>
            <a:r>
              <a:rPr lang="en-US" sz="1000" dirty="0">
                <a:solidFill>
                  <a:srgbClr val="7A6250"/>
                </a:solidFill>
                <a:latin typeface="Quattrocento Sans" pitchFamily="34" charset="0"/>
                <a:ea typeface="Quattrocento Sans" pitchFamily="34" charset="-122"/>
                <a:cs typeface="Quattrocento Sans" pitchFamily="34" charset="-120"/>
              </a:rPr>
              <a:t>Partnership Type: Multi-Stakeholder Agricultural Venture</a:t>
            </a:r>
            <a:endParaRPr lang="en-US" sz="1600" dirty="0"/>
          </a:p>
        </p:txBody>
      </p:sp>
      <p:sp>
        <p:nvSpPr>
          <p:cNvPr id="14" name="Text 12"/>
          <p:cNvSpPr/>
          <p:nvPr/>
        </p:nvSpPr>
        <p:spPr>
          <a:xfrm>
            <a:off x="9583787" y="6159500"/>
            <a:ext cx="2293938" cy="190500"/>
          </a:xfrm>
          <a:prstGeom prst="rect">
            <a:avLst/>
          </a:prstGeom>
          <a:noFill/>
          <a:ln/>
        </p:spPr>
        <p:txBody>
          <a:bodyPr wrap="square" lIns="0" tIns="0" rIns="0" bIns="0" rtlCol="0" anchor="ctr"/>
          <a:lstStyle/>
          <a:p>
            <a:pPr algn="r">
              <a:lnSpc>
                <a:spcPct val="130000"/>
              </a:lnSpc>
            </a:pPr>
            <a:r>
              <a:rPr lang="en-US" sz="1000" b="1" dirty="0">
                <a:solidFill>
                  <a:srgbClr val="3A4D39"/>
                </a:solidFill>
                <a:latin typeface="Quattrocento Sans" pitchFamily="34" charset="0"/>
                <a:ea typeface="Quattrocento Sans" pitchFamily="34" charset="-122"/>
                <a:cs typeface="Quattrocento Sans" pitchFamily="34" charset="-120"/>
              </a:rPr>
              <a:t>Document Reference: WF-MOU-2026</a:t>
            </a:r>
            <a:endParaRPr lang="en-US" sz="1600" dirty="0"/>
          </a:p>
        </p:txBody>
      </p:sp>
      <p:sp>
        <p:nvSpPr>
          <p:cNvPr id="15" name="Text 13"/>
          <p:cNvSpPr/>
          <p:nvPr/>
        </p:nvSpPr>
        <p:spPr>
          <a:xfrm>
            <a:off x="9583787" y="6350000"/>
            <a:ext cx="2293938" cy="190500"/>
          </a:xfrm>
          <a:prstGeom prst="rect">
            <a:avLst/>
          </a:prstGeom>
          <a:noFill/>
          <a:ln/>
        </p:spPr>
        <p:txBody>
          <a:bodyPr wrap="square" lIns="0" tIns="0" rIns="0" bIns="0" rtlCol="0" anchor="ctr"/>
          <a:lstStyle/>
          <a:p>
            <a:pPr algn="r">
              <a:lnSpc>
                <a:spcPct val="130000"/>
              </a:lnSpc>
            </a:pPr>
            <a:r>
              <a:rPr lang="en-US" sz="1000" dirty="0">
                <a:solidFill>
                  <a:srgbClr val="7A6250"/>
                </a:solidFill>
                <a:latin typeface="Quattrocento Sans" pitchFamily="34" charset="0"/>
                <a:ea typeface="Quattrocento Sans" pitchFamily="34" charset="-122"/>
                <a:cs typeface="Quattrocento Sans" pitchFamily="34" charset="-120"/>
              </a:rPr>
              <a:t>Effective Date: [Insert Date]</a:t>
            </a:r>
            <a:endParaRPr lang="en-US" sz="1600" dirty="0"/>
          </a:p>
        </p:txBody>
      </p:sp>
    </p:spTree>
  </p:cSld>
  <p:clrMapOvr>
    <a:masterClrMapping/>
  </p:clrMapOvr>
  <p:transition>
    <p:fade/>
    <p:spd val="med"/>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6F2"/>
        </a:solidFill>
      </p:bgPr>
    </p:bg>
    <p:spTree>
      <p:nvGrpSpPr>
        <p:cNvPr id="1" name=""/>
        <p:cNvGrpSpPr/>
        <p:nvPr/>
      </p:nvGrpSpPr>
      <p:grpSpPr>
        <a:xfrm>
          <a:off x="0" y="0"/>
          <a:ext cx="0" cy="0"/>
          <a:chOff x="0" y="0"/>
          <a:chExt cx="0" cy="0"/>
        </a:xfrm>
      </p:grpSpPr>
      <p:sp>
        <p:nvSpPr>
          <p:cNvPr id="2" name="Shape 0"/>
          <p:cNvSpPr/>
          <p:nvPr/>
        </p:nvSpPr>
        <p:spPr>
          <a:xfrm>
            <a:off x="334486" y="367934"/>
            <a:ext cx="334486" cy="334486"/>
          </a:xfrm>
          <a:custGeom>
            <a:avLst/>
            <a:gdLst/>
            <a:ahLst/>
            <a:cxnLst/>
            <a:rect l="l" t="t" r="r" b="b"/>
            <a:pathLst>
              <a:path w="334486" h="334486">
                <a:moveTo>
                  <a:pt x="33449" y="0"/>
                </a:moveTo>
                <a:lnTo>
                  <a:pt x="301037" y="0"/>
                </a:lnTo>
                <a:cubicBezTo>
                  <a:pt x="319510" y="0"/>
                  <a:pt x="334486" y="14975"/>
                  <a:pt x="334486" y="33449"/>
                </a:cubicBezTo>
                <a:lnTo>
                  <a:pt x="334486" y="301037"/>
                </a:lnTo>
                <a:cubicBezTo>
                  <a:pt x="334486" y="319510"/>
                  <a:pt x="319510" y="334486"/>
                  <a:pt x="301037" y="334486"/>
                </a:cubicBezTo>
                <a:lnTo>
                  <a:pt x="33449" y="334486"/>
                </a:lnTo>
                <a:cubicBezTo>
                  <a:pt x="14975" y="334486"/>
                  <a:pt x="0" y="319510"/>
                  <a:pt x="0" y="301037"/>
                </a:cubicBezTo>
                <a:lnTo>
                  <a:pt x="0" y="33449"/>
                </a:lnTo>
                <a:cubicBezTo>
                  <a:pt x="0" y="14988"/>
                  <a:pt x="14988" y="0"/>
                  <a:pt x="33449" y="0"/>
                </a:cubicBezTo>
                <a:close/>
              </a:path>
            </a:pathLst>
          </a:custGeom>
          <a:solidFill>
            <a:srgbClr val="3A4D39"/>
          </a:solidFill>
          <a:ln/>
        </p:spPr>
      </p:sp>
      <p:sp>
        <p:nvSpPr>
          <p:cNvPr id="3" name="Shape 1"/>
          <p:cNvSpPr/>
          <p:nvPr/>
        </p:nvSpPr>
        <p:spPr>
          <a:xfrm>
            <a:off x="428560" y="459918"/>
            <a:ext cx="150519" cy="150519"/>
          </a:xfrm>
          <a:custGeom>
            <a:avLst/>
            <a:gdLst/>
            <a:ahLst/>
            <a:cxnLst/>
            <a:rect l="l" t="t" r="r" b="b"/>
            <a:pathLst>
              <a:path w="150519" h="150519">
                <a:moveTo>
                  <a:pt x="11759" y="14111"/>
                </a:moveTo>
                <a:cubicBezTo>
                  <a:pt x="7849" y="14111"/>
                  <a:pt x="4704" y="17257"/>
                  <a:pt x="4704" y="21167"/>
                </a:cubicBezTo>
                <a:lnTo>
                  <a:pt x="4704" y="35278"/>
                </a:lnTo>
                <a:cubicBezTo>
                  <a:pt x="4704" y="39188"/>
                  <a:pt x="7849" y="42333"/>
                  <a:pt x="11759" y="42333"/>
                </a:cubicBezTo>
                <a:lnTo>
                  <a:pt x="25870" y="42333"/>
                </a:lnTo>
                <a:cubicBezTo>
                  <a:pt x="29780" y="42333"/>
                  <a:pt x="32926" y="39188"/>
                  <a:pt x="32926" y="35278"/>
                </a:cubicBezTo>
                <a:lnTo>
                  <a:pt x="32926" y="21167"/>
                </a:lnTo>
                <a:cubicBezTo>
                  <a:pt x="32926" y="17257"/>
                  <a:pt x="29780" y="14111"/>
                  <a:pt x="25870" y="14111"/>
                </a:cubicBezTo>
                <a:lnTo>
                  <a:pt x="11759" y="14111"/>
                </a:lnTo>
                <a:close/>
                <a:moveTo>
                  <a:pt x="56444" y="18815"/>
                </a:moveTo>
                <a:cubicBezTo>
                  <a:pt x="51241" y="18815"/>
                  <a:pt x="47037" y="23019"/>
                  <a:pt x="47037" y="28222"/>
                </a:cubicBezTo>
                <a:cubicBezTo>
                  <a:pt x="47037" y="33426"/>
                  <a:pt x="51241" y="37630"/>
                  <a:pt x="56444" y="37630"/>
                </a:cubicBezTo>
                <a:lnTo>
                  <a:pt x="141111" y="37630"/>
                </a:lnTo>
                <a:cubicBezTo>
                  <a:pt x="146315" y="37630"/>
                  <a:pt x="150519" y="33426"/>
                  <a:pt x="150519" y="28222"/>
                </a:cubicBezTo>
                <a:cubicBezTo>
                  <a:pt x="150519" y="23019"/>
                  <a:pt x="146315" y="18815"/>
                  <a:pt x="141111" y="18815"/>
                </a:cubicBezTo>
                <a:lnTo>
                  <a:pt x="56444" y="18815"/>
                </a:lnTo>
                <a:close/>
                <a:moveTo>
                  <a:pt x="56444" y="65852"/>
                </a:moveTo>
                <a:cubicBezTo>
                  <a:pt x="51241" y="65852"/>
                  <a:pt x="47037" y="70056"/>
                  <a:pt x="47037" y="75259"/>
                </a:cubicBezTo>
                <a:cubicBezTo>
                  <a:pt x="47037" y="80463"/>
                  <a:pt x="51241" y="84667"/>
                  <a:pt x="56444" y="84667"/>
                </a:cubicBezTo>
                <a:lnTo>
                  <a:pt x="141111" y="84667"/>
                </a:lnTo>
                <a:cubicBezTo>
                  <a:pt x="146315" y="84667"/>
                  <a:pt x="150519" y="80463"/>
                  <a:pt x="150519" y="75259"/>
                </a:cubicBezTo>
                <a:cubicBezTo>
                  <a:pt x="150519" y="70056"/>
                  <a:pt x="146315" y="65852"/>
                  <a:pt x="141111" y="65852"/>
                </a:cubicBezTo>
                <a:lnTo>
                  <a:pt x="56444" y="65852"/>
                </a:lnTo>
                <a:close/>
                <a:moveTo>
                  <a:pt x="56444" y="112889"/>
                </a:moveTo>
                <a:cubicBezTo>
                  <a:pt x="51241" y="112889"/>
                  <a:pt x="47037" y="117093"/>
                  <a:pt x="47037" y="122296"/>
                </a:cubicBezTo>
                <a:cubicBezTo>
                  <a:pt x="47037" y="127500"/>
                  <a:pt x="51241" y="131704"/>
                  <a:pt x="56444" y="131704"/>
                </a:cubicBezTo>
                <a:lnTo>
                  <a:pt x="141111" y="131704"/>
                </a:lnTo>
                <a:cubicBezTo>
                  <a:pt x="146315" y="131704"/>
                  <a:pt x="150519" y="127500"/>
                  <a:pt x="150519" y="122296"/>
                </a:cubicBezTo>
                <a:cubicBezTo>
                  <a:pt x="150519" y="117093"/>
                  <a:pt x="146315" y="112889"/>
                  <a:pt x="141111" y="112889"/>
                </a:cubicBezTo>
                <a:lnTo>
                  <a:pt x="56444" y="112889"/>
                </a:lnTo>
                <a:close/>
                <a:moveTo>
                  <a:pt x="4704" y="68204"/>
                </a:moveTo>
                <a:lnTo>
                  <a:pt x="4704" y="82315"/>
                </a:lnTo>
                <a:cubicBezTo>
                  <a:pt x="4704" y="86225"/>
                  <a:pt x="7849" y="89370"/>
                  <a:pt x="11759" y="89370"/>
                </a:cubicBezTo>
                <a:lnTo>
                  <a:pt x="25870" y="89370"/>
                </a:lnTo>
                <a:cubicBezTo>
                  <a:pt x="29780" y="89370"/>
                  <a:pt x="32926" y="86225"/>
                  <a:pt x="32926" y="82315"/>
                </a:cubicBezTo>
                <a:lnTo>
                  <a:pt x="32926" y="68204"/>
                </a:lnTo>
                <a:cubicBezTo>
                  <a:pt x="32926" y="64294"/>
                  <a:pt x="29780" y="61148"/>
                  <a:pt x="25870" y="61148"/>
                </a:cubicBezTo>
                <a:lnTo>
                  <a:pt x="11759" y="61148"/>
                </a:lnTo>
                <a:cubicBezTo>
                  <a:pt x="7849" y="61148"/>
                  <a:pt x="4704" y="64294"/>
                  <a:pt x="4704" y="68204"/>
                </a:cubicBezTo>
                <a:close/>
                <a:moveTo>
                  <a:pt x="11759" y="108185"/>
                </a:moveTo>
                <a:cubicBezTo>
                  <a:pt x="7849" y="108185"/>
                  <a:pt x="4704" y="111331"/>
                  <a:pt x="4704" y="115241"/>
                </a:cubicBezTo>
                <a:lnTo>
                  <a:pt x="4704" y="129352"/>
                </a:lnTo>
                <a:cubicBezTo>
                  <a:pt x="4704" y="133262"/>
                  <a:pt x="7849" y="136407"/>
                  <a:pt x="11759" y="136407"/>
                </a:cubicBezTo>
                <a:lnTo>
                  <a:pt x="25870" y="136407"/>
                </a:lnTo>
                <a:cubicBezTo>
                  <a:pt x="29780" y="136407"/>
                  <a:pt x="32926" y="133262"/>
                  <a:pt x="32926" y="129352"/>
                </a:cubicBezTo>
                <a:lnTo>
                  <a:pt x="32926" y="115241"/>
                </a:lnTo>
                <a:cubicBezTo>
                  <a:pt x="32926" y="111331"/>
                  <a:pt x="29780" y="108185"/>
                  <a:pt x="25870" y="108185"/>
                </a:cubicBezTo>
                <a:lnTo>
                  <a:pt x="11759" y="108185"/>
                </a:lnTo>
                <a:close/>
              </a:path>
            </a:pathLst>
          </a:custGeom>
          <a:solidFill>
            <a:srgbClr val="F8F6F2"/>
          </a:solidFill>
          <a:ln/>
        </p:spPr>
      </p:sp>
      <p:sp>
        <p:nvSpPr>
          <p:cNvPr id="4" name="Text 2"/>
          <p:cNvSpPr/>
          <p:nvPr/>
        </p:nvSpPr>
        <p:spPr>
          <a:xfrm>
            <a:off x="769317" y="334486"/>
            <a:ext cx="3194337" cy="401383"/>
          </a:xfrm>
          <a:prstGeom prst="rect">
            <a:avLst/>
          </a:prstGeom>
          <a:noFill/>
          <a:ln/>
        </p:spPr>
        <p:txBody>
          <a:bodyPr wrap="square" lIns="0" tIns="0" rIns="0" bIns="0" rtlCol="0" anchor="ctr"/>
          <a:lstStyle/>
          <a:p>
            <a:pPr>
              <a:lnSpc>
                <a:spcPct val="80000"/>
              </a:lnSpc>
            </a:pPr>
            <a:r>
              <a:rPr lang="en-US" sz="3160" b="1" dirty="0">
                <a:solidFill>
                  <a:srgbClr val="3A4D39"/>
                </a:solidFill>
                <a:latin typeface="Oranienbaum" pitchFamily="34" charset="0"/>
                <a:ea typeface="Oranienbaum" pitchFamily="34" charset="-122"/>
                <a:cs typeface="Oranienbaum" pitchFamily="34" charset="-120"/>
              </a:rPr>
              <a:t>Table of Contents</a:t>
            </a:r>
            <a:endParaRPr lang="en-US" sz="1600" dirty="0"/>
          </a:p>
        </p:txBody>
      </p:sp>
      <p:sp>
        <p:nvSpPr>
          <p:cNvPr id="5" name="Shape 3"/>
          <p:cNvSpPr/>
          <p:nvPr/>
        </p:nvSpPr>
        <p:spPr>
          <a:xfrm>
            <a:off x="334486" y="802765"/>
            <a:ext cx="668971" cy="33449"/>
          </a:xfrm>
          <a:custGeom>
            <a:avLst/>
            <a:gdLst/>
            <a:ahLst/>
            <a:cxnLst/>
            <a:rect l="l" t="t" r="r" b="b"/>
            <a:pathLst>
              <a:path w="668971" h="33449">
                <a:moveTo>
                  <a:pt x="0" y="0"/>
                </a:moveTo>
                <a:lnTo>
                  <a:pt x="668971" y="0"/>
                </a:lnTo>
                <a:lnTo>
                  <a:pt x="668971" y="33449"/>
                </a:lnTo>
                <a:lnTo>
                  <a:pt x="0" y="33449"/>
                </a:lnTo>
                <a:lnTo>
                  <a:pt x="0" y="0"/>
                </a:lnTo>
                <a:close/>
              </a:path>
            </a:pathLst>
          </a:custGeom>
          <a:solidFill>
            <a:srgbClr val="BCA37F"/>
          </a:solidFill>
          <a:ln/>
        </p:spPr>
      </p:sp>
      <p:sp>
        <p:nvSpPr>
          <p:cNvPr id="6" name="Shape 4"/>
          <p:cNvSpPr/>
          <p:nvPr/>
        </p:nvSpPr>
        <p:spPr>
          <a:xfrm>
            <a:off x="351210" y="1036905"/>
            <a:ext cx="5610996" cy="668971"/>
          </a:xfrm>
          <a:custGeom>
            <a:avLst/>
            <a:gdLst/>
            <a:ahLst/>
            <a:cxnLst/>
            <a:rect l="l" t="t" r="r" b="b"/>
            <a:pathLst>
              <a:path w="5610996" h="668971">
                <a:moveTo>
                  <a:pt x="33449" y="0"/>
                </a:moveTo>
                <a:lnTo>
                  <a:pt x="5544099" y="0"/>
                </a:lnTo>
                <a:cubicBezTo>
                  <a:pt x="5581045" y="0"/>
                  <a:pt x="5610996" y="29951"/>
                  <a:pt x="5610996" y="66897"/>
                </a:cubicBezTo>
                <a:lnTo>
                  <a:pt x="5610996" y="602074"/>
                </a:lnTo>
                <a:cubicBezTo>
                  <a:pt x="5610996" y="639020"/>
                  <a:pt x="5581045" y="668971"/>
                  <a:pt x="5544099" y="668971"/>
                </a:cubicBezTo>
                <a:lnTo>
                  <a:pt x="33449" y="668971"/>
                </a:lnTo>
                <a:cubicBezTo>
                  <a:pt x="14975" y="668971"/>
                  <a:pt x="0" y="653996"/>
                  <a:pt x="0" y="635523"/>
                </a:cubicBezTo>
                <a:lnTo>
                  <a:pt x="0" y="33449"/>
                </a:lnTo>
                <a:cubicBezTo>
                  <a:pt x="0" y="14988"/>
                  <a:pt x="14988" y="0"/>
                  <a:pt x="33449" y="0"/>
                </a:cubicBezTo>
                <a:close/>
              </a:path>
            </a:pathLst>
          </a:custGeom>
          <a:solidFill>
            <a:srgbClr val="FFFFFF"/>
          </a:solidFill>
          <a:ln/>
          <a:effectLst>
            <a:outerShdw sx="100000" sy="100000" kx="0" ky="0" algn="bl" rotWithShape="0" blurRad="25086" dist="8362" dir="5400000">
              <a:srgbClr val="000000">
                <a:alpha val="10196"/>
              </a:srgbClr>
            </a:outerShdw>
          </a:effectLst>
        </p:spPr>
      </p:sp>
      <p:sp>
        <p:nvSpPr>
          <p:cNvPr id="7" name="Shape 5"/>
          <p:cNvSpPr/>
          <p:nvPr/>
        </p:nvSpPr>
        <p:spPr>
          <a:xfrm>
            <a:off x="351210" y="1036905"/>
            <a:ext cx="33449" cy="668971"/>
          </a:xfrm>
          <a:custGeom>
            <a:avLst/>
            <a:gdLst/>
            <a:ahLst/>
            <a:cxnLst/>
            <a:rect l="l" t="t" r="r" b="b"/>
            <a:pathLst>
              <a:path w="33449" h="668971">
                <a:moveTo>
                  <a:pt x="33449" y="0"/>
                </a:moveTo>
                <a:lnTo>
                  <a:pt x="33449" y="0"/>
                </a:lnTo>
                <a:lnTo>
                  <a:pt x="33449" y="668971"/>
                </a:lnTo>
                <a:lnTo>
                  <a:pt x="33449" y="668971"/>
                </a:lnTo>
                <a:cubicBezTo>
                  <a:pt x="14975" y="668971"/>
                  <a:pt x="0" y="653996"/>
                  <a:pt x="0" y="635523"/>
                </a:cubicBezTo>
                <a:lnTo>
                  <a:pt x="0" y="33449"/>
                </a:lnTo>
                <a:cubicBezTo>
                  <a:pt x="0" y="14988"/>
                  <a:pt x="14988" y="0"/>
                  <a:pt x="33449" y="0"/>
                </a:cubicBezTo>
                <a:close/>
              </a:path>
            </a:pathLst>
          </a:custGeom>
          <a:solidFill>
            <a:srgbClr val="3A4D39"/>
          </a:solidFill>
          <a:ln/>
        </p:spPr>
      </p:sp>
      <p:sp>
        <p:nvSpPr>
          <p:cNvPr id="8" name="Shape 6"/>
          <p:cNvSpPr/>
          <p:nvPr/>
        </p:nvSpPr>
        <p:spPr>
          <a:xfrm>
            <a:off x="468280" y="1137251"/>
            <a:ext cx="334486" cy="334486"/>
          </a:xfrm>
          <a:custGeom>
            <a:avLst/>
            <a:gdLst/>
            <a:ahLst/>
            <a:cxnLst/>
            <a:rect l="l" t="t" r="r" b="b"/>
            <a:pathLst>
              <a:path w="334486" h="334486">
                <a:moveTo>
                  <a:pt x="167243" y="0"/>
                </a:moveTo>
                <a:lnTo>
                  <a:pt x="167243" y="0"/>
                </a:lnTo>
                <a:cubicBezTo>
                  <a:pt x="259547" y="0"/>
                  <a:pt x="334486" y="74939"/>
                  <a:pt x="334486" y="167243"/>
                </a:cubicBezTo>
                <a:lnTo>
                  <a:pt x="334486" y="167243"/>
                </a:lnTo>
                <a:cubicBezTo>
                  <a:pt x="334486" y="259547"/>
                  <a:pt x="259547" y="334486"/>
                  <a:pt x="167243" y="334486"/>
                </a:cubicBezTo>
                <a:lnTo>
                  <a:pt x="167243" y="334486"/>
                </a:lnTo>
                <a:cubicBezTo>
                  <a:pt x="74939" y="334486"/>
                  <a:pt x="0" y="259547"/>
                  <a:pt x="0" y="167243"/>
                </a:cubicBezTo>
                <a:lnTo>
                  <a:pt x="0" y="167243"/>
                </a:lnTo>
                <a:cubicBezTo>
                  <a:pt x="0" y="74939"/>
                  <a:pt x="74939" y="0"/>
                  <a:pt x="167243" y="0"/>
                </a:cubicBezTo>
                <a:close/>
              </a:path>
            </a:pathLst>
          </a:custGeom>
          <a:solidFill>
            <a:srgbClr val="3A4D39"/>
          </a:solidFill>
          <a:ln/>
        </p:spPr>
      </p:sp>
      <p:sp>
        <p:nvSpPr>
          <p:cNvPr id="9" name="Text 7"/>
          <p:cNvSpPr/>
          <p:nvPr/>
        </p:nvSpPr>
        <p:spPr>
          <a:xfrm>
            <a:off x="611481" y="1187424"/>
            <a:ext cx="125432" cy="234140"/>
          </a:xfrm>
          <a:prstGeom prst="rect">
            <a:avLst/>
          </a:prstGeom>
          <a:noFill/>
          <a:ln/>
        </p:spPr>
        <p:txBody>
          <a:bodyPr wrap="square" lIns="0" tIns="0" rIns="0" bIns="0" rtlCol="0" anchor="ctr"/>
          <a:lstStyle/>
          <a:p>
            <a:pPr>
              <a:lnSpc>
                <a:spcPct val="130000"/>
              </a:lnSpc>
            </a:pPr>
            <a:r>
              <a:rPr lang="en-US" sz="1185" b="1" dirty="0">
                <a:solidFill>
                  <a:srgbClr val="F8F6F2"/>
                </a:solidFill>
                <a:latin typeface="Oranienbaum" pitchFamily="34" charset="0"/>
                <a:ea typeface="Oranienbaum" pitchFamily="34" charset="-122"/>
                <a:cs typeface="Oranienbaum" pitchFamily="34" charset="-120"/>
              </a:rPr>
              <a:t>1</a:t>
            </a:r>
            <a:endParaRPr lang="en-US" sz="1600" dirty="0"/>
          </a:p>
        </p:txBody>
      </p:sp>
      <p:sp>
        <p:nvSpPr>
          <p:cNvPr id="10" name="Text 8"/>
          <p:cNvSpPr/>
          <p:nvPr/>
        </p:nvSpPr>
        <p:spPr>
          <a:xfrm>
            <a:off x="936560" y="1137251"/>
            <a:ext cx="2575539" cy="234140"/>
          </a:xfrm>
          <a:prstGeom prst="rect">
            <a:avLst/>
          </a:prstGeom>
          <a:noFill/>
          <a:ln/>
        </p:spPr>
        <p:txBody>
          <a:bodyPr wrap="square" lIns="0" tIns="0" rIns="0" bIns="0" rtlCol="0" anchor="ctr"/>
          <a:lstStyle/>
          <a:p>
            <a:pPr>
              <a:lnSpc>
                <a:spcPct val="120000"/>
              </a:lnSpc>
            </a:pPr>
            <a:r>
              <a:rPr lang="en-US" sz="1317" b="1" dirty="0">
                <a:solidFill>
                  <a:srgbClr val="3A4D39"/>
                </a:solidFill>
                <a:latin typeface="Unna" pitchFamily="34" charset="0"/>
                <a:ea typeface="Unna" pitchFamily="34" charset="-122"/>
                <a:cs typeface="Unna" pitchFamily="34" charset="-120"/>
              </a:rPr>
              <a:t>Background and Recitals</a:t>
            </a:r>
            <a:endParaRPr lang="en-US" sz="1600" dirty="0"/>
          </a:p>
        </p:txBody>
      </p:sp>
      <p:sp>
        <p:nvSpPr>
          <p:cNvPr id="11" name="Text 9"/>
          <p:cNvSpPr/>
          <p:nvPr/>
        </p:nvSpPr>
        <p:spPr>
          <a:xfrm>
            <a:off x="936560" y="1404840"/>
            <a:ext cx="2558815" cy="200691"/>
          </a:xfrm>
          <a:prstGeom prst="rect">
            <a:avLst/>
          </a:prstGeom>
          <a:noFill/>
          <a:ln/>
        </p:spPr>
        <p:txBody>
          <a:bodyPr wrap="square" lIns="0" tIns="0" rIns="0" bIns="0" rtlCol="0" anchor="ctr"/>
          <a:lstStyle/>
          <a:p>
            <a:pPr>
              <a:lnSpc>
                <a:spcPct val="130000"/>
              </a:lnSpc>
            </a:pPr>
            <a:r>
              <a:rPr lang="en-US" sz="1053" dirty="0">
                <a:solidFill>
                  <a:srgbClr val="2C2C2C"/>
                </a:solidFill>
                <a:latin typeface="Quattrocento Sans" pitchFamily="34" charset="0"/>
                <a:ea typeface="Quattrocento Sans" pitchFamily="34" charset="-122"/>
                <a:cs typeface="Quattrocento Sans" pitchFamily="34" charset="-120"/>
              </a:rPr>
              <a:t>Context, intent, and partnership framework</a:t>
            </a:r>
            <a:endParaRPr lang="en-US" sz="1600" dirty="0"/>
          </a:p>
        </p:txBody>
      </p:sp>
      <p:sp>
        <p:nvSpPr>
          <p:cNvPr id="12" name="Shape 10"/>
          <p:cNvSpPr/>
          <p:nvPr/>
        </p:nvSpPr>
        <p:spPr>
          <a:xfrm>
            <a:off x="351210" y="1772774"/>
            <a:ext cx="5610996" cy="668971"/>
          </a:xfrm>
          <a:custGeom>
            <a:avLst/>
            <a:gdLst/>
            <a:ahLst/>
            <a:cxnLst/>
            <a:rect l="l" t="t" r="r" b="b"/>
            <a:pathLst>
              <a:path w="5610996" h="668971">
                <a:moveTo>
                  <a:pt x="33449" y="0"/>
                </a:moveTo>
                <a:lnTo>
                  <a:pt x="5544099" y="0"/>
                </a:lnTo>
                <a:cubicBezTo>
                  <a:pt x="5581045" y="0"/>
                  <a:pt x="5610996" y="29951"/>
                  <a:pt x="5610996" y="66897"/>
                </a:cubicBezTo>
                <a:lnTo>
                  <a:pt x="5610996" y="602074"/>
                </a:lnTo>
                <a:cubicBezTo>
                  <a:pt x="5610996" y="639020"/>
                  <a:pt x="5581045" y="668971"/>
                  <a:pt x="5544099" y="668971"/>
                </a:cubicBezTo>
                <a:lnTo>
                  <a:pt x="33449" y="668971"/>
                </a:lnTo>
                <a:cubicBezTo>
                  <a:pt x="14975" y="668971"/>
                  <a:pt x="0" y="653996"/>
                  <a:pt x="0" y="635523"/>
                </a:cubicBezTo>
                <a:lnTo>
                  <a:pt x="0" y="33449"/>
                </a:lnTo>
                <a:cubicBezTo>
                  <a:pt x="0" y="14988"/>
                  <a:pt x="14988" y="0"/>
                  <a:pt x="33449" y="0"/>
                </a:cubicBezTo>
                <a:close/>
              </a:path>
            </a:pathLst>
          </a:custGeom>
          <a:solidFill>
            <a:srgbClr val="FFFFFF"/>
          </a:solidFill>
          <a:ln/>
          <a:effectLst>
            <a:outerShdw sx="100000" sy="100000" kx="0" ky="0" algn="bl" rotWithShape="0" blurRad="25086" dist="8362" dir="5400000">
              <a:srgbClr val="000000">
                <a:alpha val="10196"/>
              </a:srgbClr>
            </a:outerShdw>
          </a:effectLst>
        </p:spPr>
      </p:sp>
      <p:sp>
        <p:nvSpPr>
          <p:cNvPr id="13" name="Shape 11"/>
          <p:cNvSpPr/>
          <p:nvPr/>
        </p:nvSpPr>
        <p:spPr>
          <a:xfrm>
            <a:off x="351210" y="1772774"/>
            <a:ext cx="33449" cy="668971"/>
          </a:xfrm>
          <a:custGeom>
            <a:avLst/>
            <a:gdLst/>
            <a:ahLst/>
            <a:cxnLst/>
            <a:rect l="l" t="t" r="r" b="b"/>
            <a:pathLst>
              <a:path w="33449" h="668971">
                <a:moveTo>
                  <a:pt x="33449" y="0"/>
                </a:moveTo>
                <a:lnTo>
                  <a:pt x="33449" y="0"/>
                </a:lnTo>
                <a:lnTo>
                  <a:pt x="33449" y="668971"/>
                </a:lnTo>
                <a:lnTo>
                  <a:pt x="33449" y="668971"/>
                </a:lnTo>
                <a:cubicBezTo>
                  <a:pt x="14975" y="668971"/>
                  <a:pt x="0" y="653996"/>
                  <a:pt x="0" y="635523"/>
                </a:cubicBezTo>
                <a:lnTo>
                  <a:pt x="0" y="33449"/>
                </a:lnTo>
                <a:cubicBezTo>
                  <a:pt x="0" y="14988"/>
                  <a:pt x="14988" y="0"/>
                  <a:pt x="33449" y="0"/>
                </a:cubicBezTo>
                <a:close/>
              </a:path>
            </a:pathLst>
          </a:custGeom>
          <a:solidFill>
            <a:srgbClr val="7A6250"/>
          </a:solidFill>
          <a:ln/>
        </p:spPr>
      </p:sp>
      <p:sp>
        <p:nvSpPr>
          <p:cNvPr id="14" name="Shape 12"/>
          <p:cNvSpPr/>
          <p:nvPr/>
        </p:nvSpPr>
        <p:spPr>
          <a:xfrm>
            <a:off x="468280" y="1873119"/>
            <a:ext cx="334486" cy="334486"/>
          </a:xfrm>
          <a:custGeom>
            <a:avLst/>
            <a:gdLst/>
            <a:ahLst/>
            <a:cxnLst/>
            <a:rect l="l" t="t" r="r" b="b"/>
            <a:pathLst>
              <a:path w="334486" h="334486">
                <a:moveTo>
                  <a:pt x="167243" y="0"/>
                </a:moveTo>
                <a:lnTo>
                  <a:pt x="167243" y="0"/>
                </a:lnTo>
                <a:cubicBezTo>
                  <a:pt x="259547" y="0"/>
                  <a:pt x="334486" y="74939"/>
                  <a:pt x="334486" y="167243"/>
                </a:cubicBezTo>
                <a:lnTo>
                  <a:pt x="334486" y="167243"/>
                </a:lnTo>
                <a:cubicBezTo>
                  <a:pt x="334486" y="259547"/>
                  <a:pt x="259547" y="334486"/>
                  <a:pt x="167243" y="334486"/>
                </a:cubicBezTo>
                <a:lnTo>
                  <a:pt x="167243" y="334486"/>
                </a:lnTo>
                <a:cubicBezTo>
                  <a:pt x="74939" y="334486"/>
                  <a:pt x="0" y="259547"/>
                  <a:pt x="0" y="167243"/>
                </a:cubicBezTo>
                <a:lnTo>
                  <a:pt x="0" y="167243"/>
                </a:lnTo>
                <a:cubicBezTo>
                  <a:pt x="0" y="74939"/>
                  <a:pt x="74939" y="0"/>
                  <a:pt x="167243" y="0"/>
                </a:cubicBezTo>
                <a:close/>
              </a:path>
            </a:pathLst>
          </a:custGeom>
          <a:solidFill>
            <a:srgbClr val="7A6250"/>
          </a:solidFill>
          <a:ln/>
        </p:spPr>
      </p:sp>
      <p:sp>
        <p:nvSpPr>
          <p:cNvPr id="15" name="Text 13"/>
          <p:cNvSpPr/>
          <p:nvPr/>
        </p:nvSpPr>
        <p:spPr>
          <a:xfrm>
            <a:off x="597632" y="1923292"/>
            <a:ext cx="150519" cy="234140"/>
          </a:xfrm>
          <a:prstGeom prst="rect">
            <a:avLst/>
          </a:prstGeom>
          <a:noFill/>
          <a:ln/>
        </p:spPr>
        <p:txBody>
          <a:bodyPr wrap="square" lIns="0" tIns="0" rIns="0" bIns="0" rtlCol="0" anchor="ctr"/>
          <a:lstStyle/>
          <a:p>
            <a:pPr>
              <a:lnSpc>
                <a:spcPct val="130000"/>
              </a:lnSpc>
            </a:pPr>
            <a:r>
              <a:rPr lang="en-US" sz="1185" b="1" dirty="0">
                <a:solidFill>
                  <a:srgbClr val="F8F6F2"/>
                </a:solidFill>
                <a:latin typeface="Oranienbaum" pitchFamily="34" charset="0"/>
                <a:ea typeface="Oranienbaum" pitchFamily="34" charset="-122"/>
                <a:cs typeface="Oranienbaum" pitchFamily="34" charset="-120"/>
              </a:rPr>
              <a:t>2</a:t>
            </a:r>
            <a:endParaRPr lang="en-US" sz="1600" dirty="0"/>
          </a:p>
        </p:txBody>
      </p:sp>
      <p:sp>
        <p:nvSpPr>
          <p:cNvPr id="16" name="Text 14"/>
          <p:cNvSpPr/>
          <p:nvPr/>
        </p:nvSpPr>
        <p:spPr>
          <a:xfrm>
            <a:off x="936560" y="1873119"/>
            <a:ext cx="2282864" cy="234140"/>
          </a:xfrm>
          <a:prstGeom prst="rect">
            <a:avLst/>
          </a:prstGeom>
          <a:noFill/>
          <a:ln/>
        </p:spPr>
        <p:txBody>
          <a:bodyPr wrap="square" lIns="0" tIns="0" rIns="0" bIns="0" rtlCol="0" anchor="ctr"/>
          <a:lstStyle/>
          <a:p>
            <a:pPr>
              <a:lnSpc>
                <a:spcPct val="120000"/>
              </a:lnSpc>
            </a:pPr>
            <a:r>
              <a:rPr lang="en-US" sz="1317" b="1" dirty="0">
                <a:solidFill>
                  <a:srgbClr val="3A4D39"/>
                </a:solidFill>
                <a:latin typeface="Unna" pitchFamily="34" charset="0"/>
                <a:ea typeface="Unna" pitchFamily="34" charset="-122"/>
                <a:cs typeface="Unna" pitchFamily="34" charset="-120"/>
              </a:rPr>
              <a:t>Definitions and Interpretations</a:t>
            </a:r>
            <a:endParaRPr lang="en-US" sz="1600" dirty="0"/>
          </a:p>
        </p:txBody>
      </p:sp>
      <p:sp>
        <p:nvSpPr>
          <p:cNvPr id="17" name="Text 15"/>
          <p:cNvSpPr/>
          <p:nvPr/>
        </p:nvSpPr>
        <p:spPr>
          <a:xfrm>
            <a:off x="936560" y="2140708"/>
            <a:ext cx="2266140" cy="200691"/>
          </a:xfrm>
          <a:prstGeom prst="rect">
            <a:avLst/>
          </a:prstGeom>
          <a:noFill/>
          <a:ln/>
        </p:spPr>
        <p:txBody>
          <a:bodyPr wrap="square" lIns="0" tIns="0" rIns="0" bIns="0" rtlCol="0" anchor="ctr"/>
          <a:lstStyle/>
          <a:p>
            <a:pPr>
              <a:lnSpc>
                <a:spcPct val="130000"/>
              </a:lnSpc>
            </a:pPr>
            <a:r>
              <a:rPr lang="en-US" sz="1053" dirty="0">
                <a:solidFill>
                  <a:srgbClr val="2C2C2C"/>
                </a:solidFill>
                <a:latin typeface="Quattrocento Sans" pitchFamily="34" charset="0"/>
                <a:ea typeface="Quattrocento Sans" pitchFamily="34" charset="-122"/>
                <a:cs typeface="Quattrocento Sans" pitchFamily="34" charset="-120"/>
              </a:rPr>
              <a:t>Key terms and their legal meanings</a:t>
            </a:r>
            <a:endParaRPr lang="en-US" sz="1600" dirty="0"/>
          </a:p>
        </p:txBody>
      </p:sp>
      <p:sp>
        <p:nvSpPr>
          <p:cNvPr id="18" name="Shape 16"/>
          <p:cNvSpPr/>
          <p:nvPr/>
        </p:nvSpPr>
        <p:spPr>
          <a:xfrm>
            <a:off x="351210" y="2508642"/>
            <a:ext cx="5610996" cy="668971"/>
          </a:xfrm>
          <a:custGeom>
            <a:avLst/>
            <a:gdLst/>
            <a:ahLst/>
            <a:cxnLst/>
            <a:rect l="l" t="t" r="r" b="b"/>
            <a:pathLst>
              <a:path w="5610996" h="668971">
                <a:moveTo>
                  <a:pt x="33449" y="0"/>
                </a:moveTo>
                <a:lnTo>
                  <a:pt x="5544099" y="0"/>
                </a:lnTo>
                <a:cubicBezTo>
                  <a:pt x="5581045" y="0"/>
                  <a:pt x="5610996" y="29951"/>
                  <a:pt x="5610996" y="66897"/>
                </a:cubicBezTo>
                <a:lnTo>
                  <a:pt x="5610996" y="602074"/>
                </a:lnTo>
                <a:cubicBezTo>
                  <a:pt x="5610996" y="639020"/>
                  <a:pt x="5581045" y="668971"/>
                  <a:pt x="5544099" y="668971"/>
                </a:cubicBezTo>
                <a:lnTo>
                  <a:pt x="33449" y="668971"/>
                </a:lnTo>
                <a:cubicBezTo>
                  <a:pt x="14975" y="668971"/>
                  <a:pt x="0" y="653996"/>
                  <a:pt x="0" y="635523"/>
                </a:cubicBezTo>
                <a:lnTo>
                  <a:pt x="0" y="33449"/>
                </a:lnTo>
                <a:cubicBezTo>
                  <a:pt x="0" y="14988"/>
                  <a:pt x="14988" y="0"/>
                  <a:pt x="33449" y="0"/>
                </a:cubicBezTo>
                <a:close/>
              </a:path>
            </a:pathLst>
          </a:custGeom>
          <a:solidFill>
            <a:srgbClr val="FFFFFF"/>
          </a:solidFill>
          <a:ln/>
          <a:effectLst>
            <a:outerShdw sx="100000" sy="100000" kx="0" ky="0" algn="bl" rotWithShape="0" blurRad="25086" dist="8362" dir="5400000">
              <a:srgbClr val="000000">
                <a:alpha val="10196"/>
              </a:srgbClr>
            </a:outerShdw>
          </a:effectLst>
        </p:spPr>
      </p:sp>
      <p:sp>
        <p:nvSpPr>
          <p:cNvPr id="19" name="Shape 17"/>
          <p:cNvSpPr/>
          <p:nvPr/>
        </p:nvSpPr>
        <p:spPr>
          <a:xfrm>
            <a:off x="351210" y="2508642"/>
            <a:ext cx="33449" cy="668971"/>
          </a:xfrm>
          <a:custGeom>
            <a:avLst/>
            <a:gdLst/>
            <a:ahLst/>
            <a:cxnLst/>
            <a:rect l="l" t="t" r="r" b="b"/>
            <a:pathLst>
              <a:path w="33449" h="668971">
                <a:moveTo>
                  <a:pt x="33449" y="0"/>
                </a:moveTo>
                <a:lnTo>
                  <a:pt x="33449" y="0"/>
                </a:lnTo>
                <a:lnTo>
                  <a:pt x="33449" y="668971"/>
                </a:lnTo>
                <a:lnTo>
                  <a:pt x="33449" y="668971"/>
                </a:lnTo>
                <a:cubicBezTo>
                  <a:pt x="14975" y="668971"/>
                  <a:pt x="0" y="653996"/>
                  <a:pt x="0" y="635523"/>
                </a:cubicBezTo>
                <a:lnTo>
                  <a:pt x="0" y="33449"/>
                </a:lnTo>
                <a:cubicBezTo>
                  <a:pt x="0" y="14988"/>
                  <a:pt x="14988" y="0"/>
                  <a:pt x="33449" y="0"/>
                </a:cubicBezTo>
                <a:close/>
              </a:path>
            </a:pathLst>
          </a:custGeom>
          <a:solidFill>
            <a:srgbClr val="3A4D39"/>
          </a:solidFill>
          <a:ln/>
        </p:spPr>
      </p:sp>
      <p:sp>
        <p:nvSpPr>
          <p:cNvPr id="20" name="Shape 18"/>
          <p:cNvSpPr/>
          <p:nvPr/>
        </p:nvSpPr>
        <p:spPr>
          <a:xfrm>
            <a:off x="468280" y="2608988"/>
            <a:ext cx="334486" cy="334486"/>
          </a:xfrm>
          <a:custGeom>
            <a:avLst/>
            <a:gdLst/>
            <a:ahLst/>
            <a:cxnLst/>
            <a:rect l="l" t="t" r="r" b="b"/>
            <a:pathLst>
              <a:path w="334486" h="334486">
                <a:moveTo>
                  <a:pt x="167243" y="0"/>
                </a:moveTo>
                <a:lnTo>
                  <a:pt x="167243" y="0"/>
                </a:lnTo>
                <a:cubicBezTo>
                  <a:pt x="259547" y="0"/>
                  <a:pt x="334486" y="74939"/>
                  <a:pt x="334486" y="167243"/>
                </a:cubicBezTo>
                <a:lnTo>
                  <a:pt x="334486" y="167243"/>
                </a:lnTo>
                <a:cubicBezTo>
                  <a:pt x="334486" y="259547"/>
                  <a:pt x="259547" y="334486"/>
                  <a:pt x="167243" y="334486"/>
                </a:cubicBezTo>
                <a:lnTo>
                  <a:pt x="167243" y="334486"/>
                </a:lnTo>
                <a:cubicBezTo>
                  <a:pt x="74939" y="334486"/>
                  <a:pt x="0" y="259547"/>
                  <a:pt x="0" y="167243"/>
                </a:cubicBezTo>
                <a:lnTo>
                  <a:pt x="0" y="167243"/>
                </a:lnTo>
                <a:cubicBezTo>
                  <a:pt x="0" y="74939"/>
                  <a:pt x="74939" y="0"/>
                  <a:pt x="167243" y="0"/>
                </a:cubicBezTo>
                <a:close/>
              </a:path>
            </a:pathLst>
          </a:custGeom>
          <a:solidFill>
            <a:srgbClr val="3A4D39"/>
          </a:solidFill>
          <a:ln/>
        </p:spPr>
      </p:sp>
      <p:sp>
        <p:nvSpPr>
          <p:cNvPr id="21" name="Text 19"/>
          <p:cNvSpPr/>
          <p:nvPr/>
        </p:nvSpPr>
        <p:spPr>
          <a:xfrm>
            <a:off x="597240" y="2659160"/>
            <a:ext cx="150519" cy="234140"/>
          </a:xfrm>
          <a:prstGeom prst="rect">
            <a:avLst/>
          </a:prstGeom>
          <a:noFill/>
          <a:ln/>
        </p:spPr>
        <p:txBody>
          <a:bodyPr wrap="square" lIns="0" tIns="0" rIns="0" bIns="0" rtlCol="0" anchor="ctr"/>
          <a:lstStyle/>
          <a:p>
            <a:pPr>
              <a:lnSpc>
                <a:spcPct val="130000"/>
              </a:lnSpc>
            </a:pPr>
            <a:r>
              <a:rPr lang="en-US" sz="1185" b="1" dirty="0">
                <a:solidFill>
                  <a:srgbClr val="F8F6F2"/>
                </a:solidFill>
                <a:latin typeface="Oranienbaum" pitchFamily="34" charset="0"/>
                <a:ea typeface="Oranienbaum" pitchFamily="34" charset="-122"/>
                <a:cs typeface="Oranienbaum" pitchFamily="34" charset="-120"/>
              </a:rPr>
              <a:t>3</a:t>
            </a:r>
            <a:endParaRPr lang="en-US" sz="1600" dirty="0"/>
          </a:p>
        </p:txBody>
      </p:sp>
      <p:sp>
        <p:nvSpPr>
          <p:cNvPr id="22" name="Text 20"/>
          <p:cNvSpPr/>
          <p:nvPr/>
        </p:nvSpPr>
        <p:spPr>
          <a:xfrm>
            <a:off x="936560" y="2608988"/>
            <a:ext cx="2558815" cy="234140"/>
          </a:xfrm>
          <a:prstGeom prst="rect">
            <a:avLst/>
          </a:prstGeom>
          <a:noFill/>
          <a:ln/>
        </p:spPr>
        <p:txBody>
          <a:bodyPr wrap="square" lIns="0" tIns="0" rIns="0" bIns="0" rtlCol="0" anchor="ctr"/>
          <a:lstStyle/>
          <a:p>
            <a:pPr>
              <a:lnSpc>
                <a:spcPct val="120000"/>
              </a:lnSpc>
            </a:pPr>
            <a:r>
              <a:rPr lang="en-US" sz="1317" b="1" dirty="0">
                <a:solidFill>
                  <a:srgbClr val="3A4D39"/>
                </a:solidFill>
                <a:latin typeface="Unna" pitchFamily="34" charset="0"/>
                <a:ea typeface="Unna" pitchFamily="34" charset="-122"/>
                <a:cs typeface="Unna" pitchFamily="34" charset="-120"/>
              </a:rPr>
              <a:t>Purpose and Scope</a:t>
            </a:r>
            <a:endParaRPr lang="en-US" sz="1600" dirty="0"/>
          </a:p>
        </p:txBody>
      </p:sp>
      <p:sp>
        <p:nvSpPr>
          <p:cNvPr id="23" name="Text 21"/>
          <p:cNvSpPr/>
          <p:nvPr/>
        </p:nvSpPr>
        <p:spPr>
          <a:xfrm>
            <a:off x="936560" y="2876576"/>
            <a:ext cx="2542091" cy="200691"/>
          </a:xfrm>
          <a:prstGeom prst="rect">
            <a:avLst/>
          </a:prstGeom>
          <a:noFill/>
          <a:ln/>
        </p:spPr>
        <p:txBody>
          <a:bodyPr wrap="square" lIns="0" tIns="0" rIns="0" bIns="0" rtlCol="0" anchor="ctr"/>
          <a:lstStyle/>
          <a:p>
            <a:pPr>
              <a:lnSpc>
                <a:spcPct val="130000"/>
              </a:lnSpc>
            </a:pPr>
            <a:r>
              <a:rPr lang="en-US" sz="1053" dirty="0">
                <a:solidFill>
                  <a:srgbClr val="2C2C2C"/>
                </a:solidFill>
                <a:latin typeface="Quattrocento Sans" pitchFamily="34" charset="0"/>
                <a:ea typeface="Quattrocento Sans" pitchFamily="34" charset="-122"/>
                <a:cs typeface="Quattrocento Sans" pitchFamily="34" charset="-120"/>
              </a:rPr>
              <a:t>Objectives, boundaries, and binding nature</a:t>
            </a:r>
            <a:endParaRPr lang="en-US" sz="1600" dirty="0"/>
          </a:p>
        </p:txBody>
      </p:sp>
      <p:sp>
        <p:nvSpPr>
          <p:cNvPr id="24" name="Shape 22"/>
          <p:cNvSpPr/>
          <p:nvPr/>
        </p:nvSpPr>
        <p:spPr>
          <a:xfrm>
            <a:off x="351210" y="3244510"/>
            <a:ext cx="5610996" cy="668971"/>
          </a:xfrm>
          <a:custGeom>
            <a:avLst/>
            <a:gdLst/>
            <a:ahLst/>
            <a:cxnLst/>
            <a:rect l="l" t="t" r="r" b="b"/>
            <a:pathLst>
              <a:path w="5610996" h="668971">
                <a:moveTo>
                  <a:pt x="33449" y="0"/>
                </a:moveTo>
                <a:lnTo>
                  <a:pt x="5544099" y="0"/>
                </a:lnTo>
                <a:cubicBezTo>
                  <a:pt x="5581045" y="0"/>
                  <a:pt x="5610996" y="29951"/>
                  <a:pt x="5610996" y="66897"/>
                </a:cubicBezTo>
                <a:lnTo>
                  <a:pt x="5610996" y="602074"/>
                </a:lnTo>
                <a:cubicBezTo>
                  <a:pt x="5610996" y="639020"/>
                  <a:pt x="5581045" y="668971"/>
                  <a:pt x="5544099" y="668971"/>
                </a:cubicBezTo>
                <a:lnTo>
                  <a:pt x="33449" y="668971"/>
                </a:lnTo>
                <a:cubicBezTo>
                  <a:pt x="14975" y="668971"/>
                  <a:pt x="0" y="653996"/>
                  <a:pt x="0" y="635523"/>
                </a:cubicBezTo>
                <a:lnTo>
                  <a:pt x="0" y="33449"/>
                </a:lnTo>
                <a:cubicBezTo>
                  <a:pt x="0" y="14988"/>
                  <a:pt x="14988" y="0"/>
                  <a:pt x="33449" y="0"/>
                </a:cubicBezTo>
                <a:close/>
              </a:path>
            </a:pathLst>
          </a:custGeom>
          <a:solidFill>
            <a:srgbClr val="FFFFFF"/>
          </a:solidFill>
          <a:ln/>
          <a:effectLst>
            <a:outerShdw sx="100000" sy="100000" kx="0" ky="0" algn="bl" rotWithShape="0" blurRad="25086" dist="8362" dir="5400000">
              <a:srgbClr val="000000">
                <a:alpha val="10196"/>
              </a:srgbClr>
            </a:outerShdw>
          </a:effectLst>
        </p:spPr>
      </p:sp>
      <p:sp>
        <p:nvSpPr>
          <p:cNvPr id="25" name="Shape 23"/>
          <p:cNvSpPr/>
          <p:nvPr/>
        </p:nvSpPr>
        <p:spPr>
          <a:xfrm>
            <a:off x="351210" y="3244510"/>
            <a:ext cx="33449" cy="668971"/>
          </a:xfrm>
          <a:custGeom>
            <a:avLst/>
            <a:gdLst/>
            <a:ahLst/>
            <a:cxnLst/>
            <a:rect l="l" t="t" r="r" b="b"/>
            <a:pathLst>
              <a:path w="33449" h="668971">
                <a:moveTo>
                  <a:pt x="33449" y="0"/>
                </a:moveTo>
                <a:lnTo>
                  <a:pt x="33449" y="0"/>
                </a:lnTo>
                <a:lnTo>
                  <a:pt x="33449" y="668971"/>
                </a:lnTo>
                <a:lnTo>
                  <a:pt x="33449" y="668971"/>
                </a:lnTo>
                <a:cubicBezTo>
                  <a:pt x="14975" y="668971"/>
                  <a:pt x="0" y="653996"/>
                  <a:pt x="0" y="635523"/>
                </a:cubicBezTo>
                <a:lnTo>
                  <a:pt x="0" y="33449"/>
                </a:lnTo>
                <a:cubicBezTo>
                  <a:pt x="0" y="14988"/>
                  <a:pt x="14988" y="0"/>
                  <a:pt x="33449" y="0"/>
                </a:cubicBezTo>
                <a:close/>
              </a:path>
            </a:pathLst>
          </a:custGeom>
          <a:solidFill>
            <a:srgbClr val="7A6250"/>
          </a:solidFill>
          <a:ln/>
        </p:spPr>
      </p:sp>
      <p:sp>
        <p:nvSpPr>
          <p:cNvPr id="26" name="Shape 24"/>
          <p:cNvSpPr/>
          <p:nvPr/>
        </p:nvSpPr>
        <p:spPr>
          <a:xfrm>
            <a:off x="468280" y="3344856"/>
            <a:ext cx="334486" cy="334486"/>
          </a:xfrm>
          <a:custGeom>
            <a:avLst/>
            <a:gdLst/>
            <a:ahLst/>
            <a:cxnLst/>
            <a:rect l="l" t="t" r="r" b="b"/>
            <a:pathLst>
              <a:path w="334486" h="334486">
                <a:moveTo>
                  <a:pt x="167243" y="0"/>
                </a:moveTo>
                <a:lnTo>
                  <a:pt x="167243" y="0"/>
                </a:lnTo>
                <a:cubicBezTo>
                  <a:pt x="259547" y="0"/>
                  <a:pt x="334486" y="74939"/>
                  <a:pt x="334486" y="167243"/>
                </a:cubicBezTo>
                <a:lnTo>
                  <a:pt x="334486" y="167243"/>
                </a:lnTo>
                <a:cubicBezTo>
                  <a:pt x="334486" y="259547"/>
                  <a:pt x="259547" y="334486"/>
                  <a:pt x="167243" y="334486"/>
                </a:cubicBezTo>
                <a:lnTo>
                  <a:pt x="167243" y="334486"/>
                </a:lnTo>
                <a:cubicBezTo>
                  <a:pt x="74939" y="334486"/>
                  <a:pt x="0" y="259547"/>
                  <a:pt x="0" y="167243"/>
                </a:cubicBezTo>
                <a:lnTo>
                  <a:pt x="0" y="167243"/>
                </a:lnTo>
                <a:cubicBezTo>
                  <a:pt x="0" y="74939"/>
                  <a:pt x="74939" y="0"/>
                  <a:pt x="167243" y="0"/>
                </a:cubicBezTo>
                <a:close/>
              </a:path>
            </a:pathLst>
          </a:custGeom>
          <a:solidFill>
            <a:srgbClr val="7A6250"/>
          </a:solidFill>
          <a:ln/>
        </p:spPr>
      </p:sp>
      <p:sp>
        <p:nvSpPr>
          <p:cNvPr id="27" name="Text 25"/>
          <p:cNvSpPr/>
          <p:nvPr/>
        </p:nvSpPr>
        <p:spPr>
          <a:xfrm>
            <a:off x="593843" y="3395029"/>
            <a:ext cx="158881" cy="234140"/>
          </a:xfrm>
          <a:prstGeom prst="rect">
            <a:avLst/>
          </a:prstGeom>
          <a:noFill/>
          <a:ln/>
        </p:spPr>
        <p:txBody>
          <a:bodyPr wrap="square" lIns="0" tIns="0" rIns="0" bIns="0" rtlCol="0" anchor="ctr"/>
          <a:lstStyle/>
          <a:p>
            <a:pPr>
              <a:lnSpc>
                <a:spcPct val="130000"/>
              </a:lnSpc>
            </a:pPr>
            <a:r>
              <a:rPr lang="en-US" sz="1185" b="1" dirty="0">
                <a:solidFill>
                  <a:srgbClr val="F8F6F2"/>
                </a:solidFill>
                <a:latin typeface="Oranienbaum" pitchFamily="34" charset="0"/>
                <a:ea typeface="Oranienbaum" pitchFamily="34" charset="-122"/>
                <a:cs typeface="Oranienbaum" pitchFamily="34" charset="-120"/>
              </a:rPr>
              <a:t>4</a:t>
            </a:r>
            <a:endParaRPr lang="en-US" sz="1600" dirty="0"/>
          </a:p>
        </p:txBody>
      </p:sp>
      <p:sp>
        <p:nvSpPr>
          <p:cNvPr id="28" name="Text 26"/>
          <p:cNvSpPr/>
          <p:nvPr/>
        </p:nvSpPr>
        <p:spPr>
          <a:xfrm>
            <a:off x="936560" y="3344856"/>
            <a:ext cx="2199243" cy="234140"/>
          </a:xfrm>
          <a:prstGeom prst="rect">
            <a:avLst/>
          </a:prstGeom>
          <a:noFill/>
          <a:ln/>
        </p:spPr>
        <p:txBody>
          <a:bodyPr wrap="square" lIns="0" tIns="0" rIns="0" bIns="0" rtlCol="0" anchor="ctr"/>
          <a:lstStyle/>
          <a:p>
            <a:pPr>
              <a:lnSpc>
                <a:spcPct val="120000"/>
              </a:lnSpc>
            </a:pPr>
            <a:r>
              <a:rPr lang="en-US" sz="1317" b="1" dirty="0">
                <a:solidFill>
                  <a:srgbClr val="3A4D39"/>
                </a:solidFill>
                <a:latin typeface="Unna" pitchFamily="34" charset="0"/>
                <a:ea typeface="Unna" pitchFamily="34" charset="-122"/>
                <a:cs typeface="Unna" pitchFamily="34" charset="-120"/>
              </a:rPr>
              <a:t>Partner Categories and Roles</a:t>
            </a:r>
            <a:endParaRPr lang="en-US" sz="1600" dirty="0"/>
          </a:p>
        </p:txBody>
      </p:sp>
      <p:sp>
        <p:nvSpPr>
          <p:cNvPr id="29" name="Text 27"/>
          <p:cNvSpPr/>
          <p:nvPr/>
        </p:nvSpPr>
        <p:spPr>
          <a:xfrm>
            <a:off x="936560" y="3612444"/>
            <a:ext cx="2182519" cy="200691"/>
          </a:xfrm>
          <a:prstGeom prst="rect">
            <a:avLst/>
          </a:prstGeom>
          <a:noFill/>
          <a:ln/>
        </p:spPr>
        <p:txBody>
          <a:bodyPr wrap="square" lIns="0" tIns="0" rIns="0" bIns="0" rtlCol="0" anchor="ctr"/>
          <a:lstStyle/>
          <a:p>
            <a:pPr>
              <a:lnSpc>
                <a:spcPct val="130000"/>
              </a:lnSpc>
            </a:pPr>
            <a:r>
              <a:rPr lang="en-US" sz="1053" dirty="0">
                <a:solidFill>
                  <a:srgbClr val="2C2C2C"/>
                </a:solidFill>
                <a:latin typeface="Quattrocento Sans" pitchFamily="34" charset="0"/>
                <a:ea typeface="Quattrocento Sans" pitchFamily="34" charset="-122"/>
                <a:cs typeface="Quattrocento Sans" pitchFamily="34" charset="-120"/>
              </a:rPr>
              <a:t>Detailed breakdown of partner types</a:t>
            </a:r>
            <a:endParaRPr lang="en-US" sz="1600" dirty="0"/>
          </a:p>
        </p:txBody>
      </p:sp>
      <p:sp>
        <p:nvSpPr>
          <p:cNvPr id="30" name="Shape 28"/>
          <p:cNvSpPr/>
          <p:nvPr/>
        </p:nvSpPr>
        <p:spPr>
          <a:xfrm>
            <a:off x="351210" y="3980379"/>
            <a:ext cx="5610996" cy="668971"/>
          </a:xfrm>
          <a:custGeom>
            <a:avLst/>
            <a:gdLst/>
            <a:ahLst/>
            <a:cxnLst/>
            <a:rect l="l" t="t" r="r" b="b"/>
            <a:pathLst>
              <a:path w="5610996" h="668971">
                <a:moveTo>
                  <a:pt x="33449" y="0"/>
                </a:moveTo>
                <a:lnTo>
                  <a:pt x="5544099" y="0"/>
                </a:lnTo>
                <a:cubicBezTo>
                  <a:pt x="5581045" y="0"/>
                  <a:pt x="5610996" y="29951"/>
                  <a:pt x="5610996" y="66897"/>
                </a:cubicBezTo>
                <a:lnTo>
                  <a:pt x="5610996" y="602074"/>
                </a:lnTo>
                <a:cubicBezTo>
                  <a:pt x="5610996" y="639020"/>
                  <a:pt x="5581045" y="668971"/>
                  <a:pt x="5544099" y="668971"/>
                </a:cubicBezTo>
                <a:lnTo>
                  <a:pt x="33449" y="668971"/>
                </a:lnTo>
                <a:cubicBezTo>
                  <a:pt x="14975" y="668971"/>
                  <a:pt x="0" y="653996"/>
                  <a:pt x="0" y="635523"/>
                </a:cubicBezTo>
                <a:lnTo>
                  <a:pt x="0" y="33449"/>
                </a:lnTo>
                <a:cubicBezTo>
                  <a:pt x="0" y="14988"/>
                  <a:pt x="14988" y="0"/>
                  <a:pt x="33449" y="0"/>
                </a:cubicBezTo>
                <a:close/>
              </a:path>
            </a:pathLst>
          </a:custGeom>
          <a:solidFill>
            <a:srgbClr val="FFFFFF"/>
          </a:solidFill>
          <a:ln/>
          <a:effectLst>
            <a:outerShdw sx="100000" sy="100000" kx="0" ky="0" algn="bl" rotWithShape="0" blurRad="25086" dist="8362" dir="5400000">
              <a:srgbClr val="000000">
                <a:alpha val="10196"/>
              </a:srgbClr>
            </a:outerShdw>
          </a:effectLst>
        </p:spPr>
      </p:sp>
      <p:sp>
        <p:nvSpPr>
          <p:cNvPr id="31" name="Shape 29"/>
          <p:cNvSpPr/>
          <p:nvPr/>
        </p:nvSpPr>
        <p:spPr>
          <a:xfrm>
            <a:off x="351210" y="3980379"/>
            <a:ext cx="33449" cy="668971"/>
          </a:xfrm>
          <a:custGeom>
            <a:avLst/>
            <a:gdLst/>
            <a:ahLst/>
            <a:cxnLst/>
            <a:rect l="l" t="t" r="r" b="b"/>
            <a:pathLst>
              <a:path w="33449" h="668971">
                <a:moveTo>
                  <a:pt x="33449" y="0"/>
                </a:moveTo>
                <a:lnTo>
                  <a:pt x="33449" y="0"/>
                </a:lnTo>
                <a:lnTo>
                  <a:pt x="33449" y="668971"/>
                </a:lnTo>
                <a:lnTo>
                  <a:pt x="33449" y="668971"/>
                </a:lnTo>
                <a:cubicBezTo>
                  <a:pt x="14975" y="668971"/>
                  <a:pt x="0" y="653996"/>
                  <a:pt x="0" y="635523"/>
                </a:cubicBezTo>
                <a:lnTo>
                  <a:pt x="0" y="33449"/>
                </a:lnTo>
                <a:cubicBezTo>
                  <a:pt x="0" y="14988"/>
                  <a:pt x="14988" y="0"/>
                  <a:pt x="33449" y="0"/>
                </a:cubicBezTo>
                <a:close/>
              </a:path>
            </a:pathLst>
          </a:custGeom>
          <a:solidFill>
            <a:srgbClr val="3A4D39"/>
          </a:solidFill>
          <a:ln/>
        </p:spPr>
      </p:sp>
      <p:sp>
        <p:nvSpPr>
          <p:cNvPr id="32" name="Shape 30"/>
          <p:cNvSpPr/>
          <p:nvPr/>
        </p:nvSpPr>
        <p:spPr>
          <a:xfrm>
            <a:off x="468280" y="4080724"/>
            <a:ext cx="334486" cy="334486"/>
          </a:xfrm>
          <a:custGeom>
            <a:avLst/>
            <a:gdLst/>
            <a:ahLst/>
            <a:cxnLst/>
            <a:rect l="l" t="t" r="r" b="b"/>
            <a:pathLst>
              <a:path w="334486" h="334486">
                <a:moveTo>
                  <a:pt x="167243" y="0"/>
                </a:moveTo>
                <a:lnTo>
                  <a:pt x="167243" y="0"/>
                </a:lnTo>
                <a:cubicBezTo>
                  <a:pt x="259547" y="0"/>
                  <a:pt x="334486" y="74939"/>
                  <a:pt x="334486" y="167243"/>
                </a:cubicBezTo>
                <a:lnTo>
                  <a:pt x="334486" y="167243"/>
                </a:lnTo>
                <a:cubicBezTo>
                  <a:pt x="334486" y="259547"/>
                  <a:pt x="259547" y="334486"/>
                  <a:pt x="167243" y="334486"/>
                </a:cubicBezTo>
                <a:lnTo>
                  <a:pt x="167243" y="334486"/>
                </a:lnTo>
                <a:cubicBezTo>
                  <a:pt x="74939" y="334486"/>
                  <a:pt x="0" y="259547"/>
                  <a:pt x="0" y="167243"/>
                </a:cubicBezTo>
                <a:lnTo>
                  <a:pt x="0" y="167243"/>
                </a:lnTo>
                <a:cubicBezTo>
                  <a:pt x="0" y="74939"/>
                  <a:pt x="74939" y="0"/>
                  <a:pt x="167243" y="0"/>
                </a:cubicBezTo>
                <a:close/>
              </a:path>
            </a:pathLst>
          </a:custGeom>
          <a:solidFill>
            <a:srgbClr val="3A4D39"/>
          </a:solidFill>
          <a:ln/>
        </p:spPr>
      </p:sp>
      <p:sp>
        <p:nvSpPr>
          <p:cNvPr id="33" name="Text 31"/>
          <p:cNvSpPr/>
          <p:nvPr/>
        </p:nvSpPr>
        <p:spPr>
          <a:xfrm>
            <a:off x="598024" y="4130897"/>
            <a:ext cx="150519" cy="234140"/>
          </a:xfrm>
          <a:prstGeom prst="rect">
            <a:avLst/>
          </a:prstGeom>
          <a:noFill/>
          <a:ln/>
        </p:spPr>
        <p:txBody>
          <a:bodyPr wrap="square" lIns="0" tIns="0" rIns="0" bIns="0" rtlCol="0" anchor="ctr"/>
          <a:lstStyle/>
          <a:p>
            <a:pPr>
              <a:lnSpc>
                <a:spcPct val="130000"/>
              </a:lnSpc>
            </a:pPr>
            <a:r>
              <a:rPr lang="en-US" sz="1185" b="1" dirty="0">
                <a:solidFill>
                  <a:srgbClr val="F8F6F2"/>
                </a:solidFill>
                <a:latin typeface="Oranienbaum" pitchFamily="34" charset="0"/>
                <a:ea typeface="Oranienbaum" pitchFamily="34" charset="-122"/>
                <a:cs typeface="Oranienbaum" pitchFamily="34" charset="-120"/>
              </a:rPr>
              <a:t>5</a:t>
            </a:r>
            <a:endParaRPr lang="en-US" sz="1600" dirty="0"/>
          </a:p>
        </p:txBody>
      </p:sp>
      <p:sp>
        <p:nvSpPr>
          <p:cNvPr id="34" name="Text 32"/>
          <p:cNvSpPr/>
          <p:nvPr/>
        </p:nvSpPr>
        <p:spPr>
          <a:xfrm>
            <a:off x="936560" y="4080724"/>
            <a:ext cx="2266140" cy="234140"/>
          </a:xfrm>
          <a:prstGeom prst="rect">
            <a:avLst/>
          </a:prstGeom>
          <a:noFill/>
          <a:ln/>
        </p:spPr>
        <p:txBody>
          <a:bodyPr wrap="square" lIns="0" tIns="0" rIns="0" bIns="0" rtlCol="0" anchor="ctr"/>
          <a:lstStyle/>
          <a:p>
            <a:pPr>
              <a:lnSpc>
                <a:spcPct val="120000"/>
              </a:lnSpc>
            </a:pPr>
            <a:r>
              <a:rPr lang="en-US" sz="1317" b="1" dirty="0">
                <a:solidFill>
                  <a:srgbClr val="3A4D39"/>
                </a:solidFill>
                <a:latin typeface="Unna" pitchFamily="34" charset="0"/>
                <a:ea typeface="Unna" pitchFamily="34" charset="-122"/>
                <a:cs typeface="Unna" pitchFamily="34" charset="-120"/>
              </a:rPr>
              <a:t>Investment Structure</a:t>
            </a:r>
            <a:endParaRPr lang="en-US" sz="1600" dirty="0"/>
          </a:p>
        </p:txBody>
      </p:sp>
      <p:sp>
        <p:nvSpPr>
          <p:cNvPr id="35" name="Text 33"/>
          <p:cNvSpPr/>
          <p:nvPr/>
        </p:nvSpPr>
        <p:spPr>
          <a:xfrm>
            <a:off x="936560" y="4348313"/>
            <a:ext cx="2249416" cy="200691"/>
          </a:xfrm>
          <a:prstGeom prst="rect">
            <a:avLst/>
          </a:prstGeom>
          <a:noFill/>
          <a:ln/>
        </p:spPr>
        <p:txBody>
          <a:bodyPr wrap="square" lIns="0" tIns="0" rIns="0" bIns="0" rtlCol="0" anchor="ctr"/>
          <a:lstStyle/>
          <a:p>
            <a:pPr>
              <a:lnSpc>
                <a:spcPct val="130000"/>
              </a:lnSpc>
            </a:pPr>
            <a:r>
              <a:rPr lang="en-US" sz="1053" dirty="0">
                <a:solidFill>
                  <a:srgbClr val="2C2C2C"/>
                </a:solidFill>
                <a:latin typeface="Quattrocento Sans" pitchFamily="34" charset="0"/>
                <a:ea typeface="Quattrocento Sans" pitchFamily="34" charset="-122"/>
                <a:cs typeface="Quattrocento Sans" pitchFamily="34" charset="-120"/>
              </a:rPr>
              <a:t>Components, coverage, and valuation</a:t>
            </a:r>
            <a:endParaRPr lang="en-US" sz="1600" dirty="0"/>
          </a:p>
        </p:txBody>
      </p:sp>
      <p:sp>
        <p:nvSpPr>
          <p:cNvPr id="36" name="Shape 34"/>
          <p:cNvSpPr/>
          <p:nvPr/>
        </p:nvSpPr>
        <p:spPr>
          <a:xfrm>
            <a:off x="351210" y="4716247"/>
            <a:ext cx="5610996" cy="668971"/>
          </a:xfrm>
          <a:custGeom>
            <a:avLst/>
            <a:gdLst/>
            <a:ahLst/>
            <a:cxnLst/>
            <a:rect l="l" t="t" r="r" b="b"/>
            <a:pathLst>
              <a:path w="5610996" h="668971">
                <a:moveTo>
                  <a:pt x="33449" y="0"/>
                </a:moveTo>
                <a:lnTo>
                  <a:pt x="5544099" y="0"/>
                </a:lnTo>
                <a:cubicBezTo>
                  <a:pt x="5581045" y="0"/>
                  <a:pt x="5610996" y="29951"/>
                  <a:pt x="5610996" y="66897"/>
                </a:cubicBezTo>
                <a:lnTo>
                  <a:pt x="5610996" y="602074"/>
                </a:lnTo>
                <a:cubicBezTo>
                  <a:pt x="5610996" y="639020"/>
                  <a:pt x="5581045" y="668971"/>
                  <a:pt x="5544099" y="668971"/>
                </a:cubicBezTo>
                <a:lnTo>
                  <a:pt x="33449" y="668971"/>
                </a:lnTo>
                <a:cubicBezTo>
                  <a:pt x="14975" y="668971"/>
                  <a:pt x="0" y="653996"/>
                  <a:pt x="0" y="635523"/>
                </a:cubicBezTo>
                <a:lnTo>
                  <a:pt x="0" y="33449"/>
                </a:lnTo>
                <a:cubicBezTo>
                  <a:pt x="0" y="14988"/>
                  <a:pt x="14988" y="0"/>
                  <a:pt x="33449" y="0"/>
                </a:cubicBezTo>
                <a:close/>
              </a:path>
            </a:pathLst>
          </a:custGeom>
          <a:solidFill>
            <a:srgbClr val="FFFFFF"/>
          </a:solidFill>
          <a:ln/>
          <a:effectLst>
            <a:outerShdw sx="100000" sy="100000" kx="0" ky="0" algn="bl" rotWithShape="0" blurRad="25086" dist="8362" dir="5400000">
              <a:srgbClr val="000000">
                <a:alpha val="10196"/>
              </a:srgbClr>
            </a:outerShdw>
          </a:effectLst>
        </p:spPr>
      </p:sp>
      <p:sp>
        <p:nvSpPr>
          <p:cNvPr id="37" name="Shape 35"/>
          <p:cNvSpPr/>
          <p:nvPr/>
        </p:nvSpPr>
        <p:spPr>
          <a:xfrm>
            <a:off x="351210" y="4716247"/>
            <a:ext cx="33449" cy="668971"/>
          </a:xfrm>
          <a:custGeom>
            <a:avLst/>
            <a:gdLst/>
            <a:ahLst/>
            <a:cxnLst/>
            <a:rect l="l" t="t" r="r" b="b"/>
            <a:pathLst>
              <a:path w="33449" h="668971">
                <a:moveTo>
                  <a:pt x="33449" y="0"/>
                </a:moveTo>
                <a:lnTo>
                  <a:pt x="33449" y="0"/>
                </a:lnTo>
                <a:lnTo>
                  <a:pt x="33449" y="668971"/>
                </a:lnTo>
                <a:lnTo>
                  <a:pt x="33449" y="668971"/>
                </a:lnTo>
                <a:cubicBezTo>
                  <a:pt x="14975" y="668971"/>
                  <a:pt x="0" y="653996"/>
                  <a:pt x="0" y="635523"/>
                </a:cubicBezTo>
                <a:lnTo>
                  <a:pt x="0" y="33449"/>
                </a:lnTo>
                <a:cubicBezTo>
                  <a:pt x="0" y="14988"/>
                  <a:pt x="14988" y="0"/>
                  <a:pt x="33449" y="0"/>
                </a:cubicBezTo>
                <a:close/>
              </a:path>
            </a:pathLst>
          </a:custGeom>
          <a:solidFill>
            <a:srgbClr val="7A6250"/>
          </a:solidFill>
          <a:ln/>
        </p:spPr>
      </p:sp>
      <p:sp>
        <p:nvSpPr>
          <p:cNvPr id="38" name="Shape 36"/>
          <p:cNvSpPr/>
          <p:nvPr/>
        </p:nvSpPr>
        <p:spPr>
          <a:xfrm>
            <a:off x="468280" y="4816593"/>
            <a:ext cx="334486" cy="334486"/>
          </a:xfrm>
          <a:custGeom>
            <a:avLst/>
            <a:gdLst/>
            <a:ahLst/>
            <a:cxnLst/>
            <a:rect l="l" t="t" r="r" b="b"/>
            <a:pathLst>
              <a:path w="334486" h="334486">
                <a:moveTo>
                  <a:pt x="167243" y="0"/>
                </a:moveTo>
                <a:lnTo>
                  <a:pt x="167243" y="0"/>
                </a:lnTo>
                <a:cubicBezTo>
                  <a:pt x="259547" y="0"/>
                  <a:pt x="334486" y="74939"/>
                  <a:pt x="334486" y="167243"/>
                </a:cubicBezTo>
                <a:lnTo>
                  <a:pt x="334486" y="167243"/>
                </a:lnTo>
                <a:cubicBezTo>
                  <a:pt x="334486" y="259547"/>
                  <a:pt x="259547" y="334486"/>
                  <a:pt x="167243" y="334486"/>
                </a:cubicBezTo>
                <a:lnTo>
                  <a:pt x="167243" y="334486"/>
                </a:lnTo>
                <a:cubicBezTo>
                  <a:pt x="74939" y="334486"/>
                  <a:pt x="0" y="259547"/>
                  <a:pt x="0" y="167243"/>
                </a:cubicBezTo>
                <a:lnTo>
                  <a:pt x="0" y="167243"/>
                </a:lnTo>
                <a:cubicBezTo>
                  <a:pt x="0" y="74939"/>
                  <a:pt x="74939" y="0"/>
                  <a:pt x="167243" y="0"/>
                </a:cubicBezTo>
                <a:close/>
              </a:path>
            </a:pathLst>
          </a:custGeom>
          <a:solidFill>
            <a:srgbClr val="7A6250"/>
          </a:solidFill>
          <a:ln/>
        </p:spPr>
      </p:sp>
      <p:sp>
        <p:nvSpPr>
          <p:cNvPr id="39" name="Text 37"/>
          <p:cNvSpPr/>
          <p:nvPr/>
        </p:nvSpPr>
        <p:spPr>
          <a:xfrm>
            <a:off x="596064" y="4866765"/>
            <a:ext cx="150519" cy="234140"/>
          </a:xfrm>
          <a:prstGeom prst="rect">
            <a:avLst/>
          </a:prstGeom>
          <a:noFill/>
          <a:ln/>
        </p:spPr>
        <p:txBody>
          <a:bodyPr wrap="square" lIns="0" tIns="0" rIns="0" bIns="0" rtlCol="0" anchor="ctr"/>
          <a:lstStyle/>
          <a:p>
            <a:pPr>
              <a:lnSpc>
                <a:spcPct val="130000"/>
              </a:lnSpc>
            </a:pPr>
            <a:r>
              <a:rPr lang="en-US" sz="1185" b="1" dirty="0">
                <a:solidFill>
                  <a:srgbClr val="F8F6F2"/>
                </a:solidFill>
                <a:latin typeface="Oranienbaum" pitchFamily="34" charset="0"/>
                <a:ea typeface="Oranienbaum" pitchFamily="34" charset="-122"/>
                <a:cs typeface="Oranienbaum" pitchFamily="34" charset="-120"/>
              </a:rPr>
              <a:t>6</a:t>
            </a:r>
            <a:endParaRPr lang="en-US" sz="1600" dirty="0"/>
          </a:p>
        </p:txBody>
      </p:sp>
      <p:sp>
        <p:nvSpPr>
          <p:cNvPr id="40" name="Text 38"/>
          <p:cNvSpPr/>
          <p:nvPr/>
        </p:nvSpPr>
        <p:spPr>
          <a:xfrm>
            <a:off x="936560" y="4816593"/>
            <a:ext cx="2659160" cy="234140"/>
          </a:xfrm>
          <a:prstGeom prst="rect">
            <a:avLst/>
          </a:prstGeom>
          <a:noFill/>
          <a:ln/>
        </p:spPr>
        <p:txBody>
          <a:bodyPr wrap="square" lIns="0" tIns="0" rIns="0" bIns="0" rtlCol="0" anchor="ctr"/>
          <a:lstStyle/>
          <a:p>
            <a:pPr>
              <a:lnSpc>
                <a:spcPct val="120000"/>
              </a:lnSpc>
            </a:pPr>
            <a:r>
              <a:rPr lang="en-US" sz="1317" b="1" dirty="0">
                <a:solidFill>
                  <a:srgbClr val="3A4D39"/>
                </a:solidFill>
                <a:latin typeface="Unna" pitchFamily="34" charset="0"/>
                <a:ea typeface="Unna" pitchFamily="34" charset="-122"/>
                <a:cs typeface="Unna" pitchFamily="34" charset="-120"/>
              </a:rPr>
              <a:t>Financial Terms and Distribution</a:t>
            </a:r>
            <a:endParaRPr lang="en-US" sz="1600" dirty="0"/>
          </a:p>
        </p:txBody>
      </p:sp>
      <p:sp>
        <p:nvSpPr>
          <p:cNvPr id="41" name="Text 39"/>
          <p:cNvSpPr/>
          <p:nvPr/>
        </p:nvSpPr>
        <p:spPr>
          <a:xfrm>
            <a:off x="936560" y="5084181"/>
            <a:ext cx="2642436" cy="200691"/>
          </a:xfrm>
          <a:prstGeom prst="rect">
            <a:avLst/>
          </a:prstGeom>
          <a:noFill/>
          <a:ln/>
        </p:spPr>
        <p:txBody>
          <a:bodyPr wrap="square" lIns="0" tIns="0" rIns="0" bIns="0" rtlCol="0" anchor="ctr"/>
          <a:lstStyle/>
          <a:p>
            <a:pPr>
              <a:lnSpc>
                <a:spcPct val="130000"/>
              </a:lnSpc>
            </a:pPr>
            <a:r>
              <a:rPr lang="en-US" sz="1053" dirty="0">
                <a:solidFill>
                  <a:srgbClr val="2C2C2C"/>
                </a:solidFill>
                <a:latin typeface="Quattrocento Sans" pitchFamily="34" charset="0"/>
                <a:ea typeface="Quattrocento Sans" pitchFamily="34" charset="-122"/>
                <a:cs typeface="Quattrocento Sans" pitchFamily="34" charset="-120"/>
              </a:rPr>
              <a:t>Ownership, revenue sharing, and accounting</a:t>
            </a:r>
            <a:endParaRPr lang="en-US" sz="1600" dirty="0"/>
          </a:p>
        </p:txBody>
      </p:sp>
      <p:sp>
        <p:nvSpPr>
          <p:cNvPr id="42" name="Shape 40"/>
          <p:cNvSpPr/>
          <p:nvPr/>
        </p:nvSpPr>
        <p:spPr>
          <a:xfrm>
            <a:off x="351210" y="5452115"/>
            <a:ext cx="5610996" cy="668971"/>
          </a:xfrm>
          <a:custGeom>
            <a:avLst/>
            <a:gdLst/>
            <a:ahLst/>
            <a:cxnLst/>
            <a:rect l="l" t="t" r="r" b="b"/>
            <a:pathLst>
              <a:path w="5610996" h="668971">
                <a:moveTo>
                  <a:pt x="33449" y="0"/>
                </a:moveTo>
                <a:lnTo>
                  <a:pt x="5544099" y="0"/>
                </a:lnTo>
                <a:cubicBezTo>
                  <a:pt x="5581045" y="0"/>
                  <a:pt x="5610996" y="29951"/>
                  <a:pt x="5610996" y="66897"/>
                </a:cubicBezTo>
                <a:lnTo>
                  <a:pt x="5610996" y="602074"/>
                </a:lnTo>
                <a:cubicBezTo>
                  <a:pt x="5610996" y="639020"/>
                  <a:pt x="5581045" y="668971"/>
                  <a:pt x="5544099" y="668971"/>
                </a:cubicBezTo>
                <a:lnTo>
                  <a:pt x="33449" y="668971"/>
                </a:lnTo>
                <a:cubicBezTo>
                  <a:pt x="14975" y="668971"/>
                  <a:pt x="0" y="653996"/>
                  <a:pt x="0" y="635523"/>
                </a:cubicBezTo>
                <a:lnTo>
                  <a:pt x="0" y="33449"/>
                </a:lnTo>
                <a:cubicBezTo>
                  <a:pt x="0" y="14988"/>
                  <a:pt x="14988" y="0"/>
                  <a:pt x="33449" y="0"/>
                </a:cubicBezTo>
                <a:close/>
              </a:path>
            </a:pathLst>
          </a:custGeom>
          <a:solidFill>
            <a:srgbClr val="FFFFFF"/>
          </a:solidFill>
          <a:ln/>
          <a:effectLst>
            <a:outerShdw sx="100000" sy="100000" kx="0" ky="0" algn="bl" rotWithShape="0" blurRad="25086" dist="8362" dir="5400000">
              <a:srgbClr val="000000">
                <a:alpha val="10196"/>
              </a:srgbClr>
            </a:outerShdw>
          </a:effectLst>
        </p:spPr>
      </p:sp>
      <p:sp>
        <p:nvSpPr>
          <p:cNvPr id="43" name="Shape 41"/>
          <p:cNvSpPr/>
          <p:nvPr/>
        </p:nvSpPr>
        <p:spPr>
          <a:xfrm>
            <a:off x="351210" y="5452115"/>
            <a:ext cx="33449" cy="668971"/>
          </a:xfrm>
          <a:custGeom>
            <a:avLst/>
            <a:gdLst/>
            <a:ahLst/>
            <a:cxnLst/>
            <a:rect l="l" t="t" r="r" b="b"/>
            <a:pathLst>
              <a:path w="33449" h="668971">
                <a:moveTo>
                  <a:pt x="33449" y="0"/>
                </a:moveTo>
                <a:lnTo>
                  <a:pt x="33449" y="0"/>
                </a:lnTo>
                <a:lnTo>
                  <a:pt x="33449" y="668971"/>
                </a:lnTo>
                <a:lnTo>
                  <a:pt x="33449" y="668971"/>
                </a:lnTo>
                <a:cubicBezTo>
                  <a:pt x="14975" y="668971"/>
                  <a:pt x="0" y="653996"/>
                  <a:pt x="0" y="635523"/>
                </a:cubicBezTo>
                <a:lnTo>
                  <a:pt x="0" y="33449"/>
                </a:lnTo>
                <a:cubicBezTo>
                  <a:pt x="0" y="14988"/>
                  <a:pt x="14988" y="0"/>
                  <a:pt x="33449" y="0"/>
                </a:cubicBezTo>
                <a:close/>
              </a:path>
            </a:pathLst>
          </a:custGeom>
          <a:solidFill>
            <a:srgbClr val="3A4D39"/>
          </a:solidFill>
          <a:ln/>
        </p:spPr>
      </p:sp>
      <p:sp>
        <p:nvSpPr>
          <p:cNvPr id="44" name="Shape 42"/>
          <p:cNvSpPr/>
          <p:nvPr/>
        </p:nvSpPr>
        <p:spPr>
          <a:xfrm>
            <a:off x="468280" y="5552461"/>
            <a:ext cx="334486" cy="334486"/>
          </a:xfrm>
          <a:custGeom>
            <a:avLst/>
            <a:gdLst/>
            <a:ahLst/>
            <a:cxnLst/>
            <a:rect l="l" t="t" r="r" b="b"/>
            <a:pathLst>
              <a:path w="334486" h="334486">
                <a:moveTo>
                  <a:pt x="167243" y="0"/>
                </a:moveTo>
                <a:lnTo>
                  <a:pt x="167243" y="0"/>
                </a:lnTo>
                <a:cubicBezTo>
                  <a:pt x="259547" y="0"/>
                  <a:pt x="334486" y="74939"/>
                  <a:pt x="334486" y="167243"/>
                </a:cubicBezTo>
                <a:lnTo>
                  <a:pt x="334486" y="167243"/>
                </a:lnTo>
                <a:cubicBezTo>
                  <a:pt x="334486" y="259547"/>
                  <a:pt x="259547" y="334486"/>
                  <a:pt x="167243" y="334486"/>
                </a:cubicBezTo>
                <a:lnTo>
                  <a:pt x="167243" y="334486"/>
                </a:lnTo>
                <a:cubicBezTo>
                  <a:pt x="74939" y="334486"/>
                  <a:pt x="0" y="259547"/>
                  <a:pt x="0" y="167243"/>
                </a:cubicBezTo>
                <a:lnTo>
                  <a:pt x="0" y="167243"/>
                </a:lnTo>
                <a:cubicBezTo>
                  <a:pt x="0" y="74939"/>
                  <a:pt x="74939" y="0"/>
                  <a:pt x="167243" y="0"/>
                </a:cubicBezTo>
                <a:close/>
              </a:path>
            </a:pathLst>
          </a:custGeom>
          <a:solidFill>
            <a:srgbClr val="3A4D39"/>
          </a:solidFill>
          <a:ln/>
        </p:spPr>
      </p:sp>
      <p:sp>
        <p:nvSpPr>
          <p:cNvPr id="45" name="Text 43"/>
          <p:cNvSpPr/>
          <p:nvPr/>
        </p:nvSpPr>
        <p:spPr>
          <a:xfrm>
            <a:off x="599984" y="5602634"/>
            <a:ext cx="142156" cy="234140"/>
          </a:xfrm>
          <a:prstGeom prst="rect">
            <a:avLst/>
          </a:prstGeom>
          <a:noFill/>
          <a:ln/>
        </p:spPr>
        <p:txBody>
          <a:bodyPr wrap="square" lIns="0" tIns="0" rIns="0" bIns="0" rtlCol="0" anchor="ctr"/>
          <a:lstStyle/>
          <a:p>
            <a:pPr>
              <a:lnSpc>
                <a:spcPct val="130000"/>
              </a:lnSpc>
            </a:pPr>
            <a:r>
              <a:rPr lang="en-US" sz="1185" b="1" dirty="0">
                <a:solidFill>
                  <a:srgbClr val="F8F6F2"/>
                </a:solidFill>
                <a:latin typeface="Oranienbaum" pitchFamily="34" charset="0"/>
                <a:ea typeface="Oranienbaum" pitchFamily="34" charset="-122"/>
                <a:cs typeface="Oranienbaum" pitchFamily="34" charset="-120"/>
              </a:rPr>
              <a:t>7</a:t>
            </a:r>
            <a:endParaRPr lang="en-US" sz="1600" dirty="0"/>
          </a:p>
        </p:txBody>
      </p:sp>
      <p:sp>
        <p:nvSpPr>
          <p:cNvPr id="46" name="Text 44"/>
          <p:cNvSpPr/>
          <p:nvPr/>
        </p:nvSpPr>
        <p:spPr>
          <a:xfrm>
            <a:off x="936560" y="5552461"/>
            <a:ext cx="2700971" cy="234140"/>
          </a:xfrm>
          <a:prstGeom prst="rect">
            <a:avLst/>
          </a:prstGeom>
          <a:noFill/>
          <a:ln/>
        </p:spPr>
        <p:txBody>
          <a:bodyPr wrap="square" lIns="0" tIns="0" rIns="0" bIns="0" rtlCol="0" anchor="ctr"/>
          <a:lstStyle/>
          <a:p>
            <a:pPr>
              <a:lnSpc>
                <a:spcPct val="120000"/>
              </a:lnSpc>
            </a:pPr>
            <a:r>
              <a:rPr lang="en-US" sz="1317" b="1" dirty="0">
                <a:solidFill>
                  <a:srgbClr val="3A4D39"/>
                </a:solidFill>
                <a:latin typeface="Unna" pitchFamily="34" charset="0"/>
                <a:ea typeface="Unna" pitchFamily="34" charset="-122"/>
                <a:cs typeface="Unna" pitchFamily="34" charset="-120"/>
              </a:rPr>
              <a:t>Operational Procedures</a:t>
            </a:r>
            <a:endParaRPr lang="en-US" sz="1600" dirty="0"/>
          </a:p>
        </p:txBody>
      </p:sp>
      <p:sp>
        <p:nvSpPr>
          <p:cNvPr id="47" name="Text 45"/>
          <p:cNvSpPr/>
          <p:nvPr/>
        </p:nvSpPr>
        <p:spPr>
          <a:xfrm>
            <a:off x="936560" y="5820049"/>
            <a:ext cx="2684247" cy="200691"/>
          </a:xfrm>
          <a:prstGeom prst="rect">
            <a:avLst/>
          </a:prstGeom>
          <a:noFill/>
          <a:ln/>
        </p:spPr>
        <p:txBody>
          <a:bodyPr wrap="square" lIns="0" tIns="0" rIns="0" bIns="0" rtlCol="0" anchor="ctr"/>
          <a:lstStyle/>
          <a:p>
            <a:pPr>
              <a:lnSpc>
                <a:spcPct val="130000"/>
              </a:lnSpc>
            </a:pPr>
            <a:r>
              <a:rPr lang="en-US" sz="1053" dirty="0">
                <a:solidFill>
                  <a:srgbClr val="2C2C2C"/>
                </a:solidFill>
                <a:latin typeface="Quattrocento Sans" pitchFamily="34" charset="0"/>
                <a:ea typeface="Quattrocento Sans" pitchFamily="34" charset="-122"/>
                <a:cs typeface="Quattrocento Sans" pitchFamily="34" charset="-120"/>
              </a:rPr>
              <a:t>Day-to-day management and responsibilities</a:t>
            </a:r>
            <a:endParaRPr lang="en-US" sz="1600" dirty="0"/>
          </a:p>
        </p:txBody>
      </p:sp>
      <p:sp>
        <p:nvSpPr>
          <p:cNvPr id="48" name="Shape 46"/>
          <p:cNvSpPr/>
          <p:nvPr/>
        </p:nvSpPr>
        <p:spPr>
          <a:xfrm>
            <a:off x="6245473" y="1036905"/>
            <a:ext cx="5610996" cy="668971"/>
          </a:xfrm>
          <a:custGeom>
            <a:avLst/>
            <a:gdLst/>
            <a:ahLst/>
            <a:cxnLst/>
            <a:rect l="l" t="t" r="r" b="b"/>
            <a:pathLst>
              <a:path w="5610996" h="668971">
                <a:moveTo>
                  <a:pt x="33449" y="0"/>
                </a:moveTo>
                <a:lnTo>
                  <a:pt x="5544099" y="0"/>
                </a:lnTo>
                <a:cubicBezTo>
                  <a:pt x="5581045" y="0"/>
                  <a:pt x="5610996" y="29951"/>
                  <a:pt x="5610996" y="66897"/>
                </a:cubicBezTo>
                <a:lnTo>
                  <a:pt x="5610996" y="602074"/>
                </a:lnTo>
                <a:cubicBezTo>
                  <a:pt x="5610996" y="639020"/>
                  <a:pt x="5581045" y="668971"/>
                  <a:pt x="5544099" y="668971"/>
                </a:cubicBezTo>
                <a:lnTo>
                  <a:pt x="33449" y="668971"/>
                </a:lnTo>
                <a:cubicBezTo>
                  <a:pt x="14975" y="668971"/>
                  <a:pt x="0" y="653996"/>
                  <a:pt x="0" y="635523"/>
                </a:cubicBezTo>
                <a:lnTo>
                  <a:pt x="0" y="33449"/>
                </a:lnTo>
                <a:cubicBezTo>
                  <a:pt x="0" y="14988"/>
                  <a:pt x="14988" y="0"/>
                  <a:pt x="33449" y="0"/>
                </a:cubicBezTo>
                <a:close/>
              </a:path>
            </a:pathLst>
          </a:custGeom>
          <a:solidFill>
            <a:srgbClr val="FFFFFF"/>
          </a:solidFill>
          <a:ln/>
          <a:effectLst>
            <a:outerShdw sx="100000" sy="100000" kx="0" ky="0" algn="bl" rotWithShape="0" blurRad="25086" dist="8362" dir="5400000">
              <a:srgbClr val="000000">
                <a:alpha val="10196"/>
              </a:srgbClr>
            </a:outerShdw>
          </a:effectLst>
        </p:spPr>
      </p:sp>
      <p:sp>
        <p:nvSpPr>
          <p:cNvPr id="49" name="Shape 47"/>
          <p:cNvSpPr/>
          <p:nvPr/>
        </p:nvSpPr>
        <p:spPr>
          <a:xfrm>
            <a:off x="6245473" y="1036905"/>
            <a:ext cx="33449" cy="668971"/>
          </a:xfrm>
          <a:custGeom>
            <a:avLst/>
            <a:gdLst/>
            <a:ahLst/>
            <a:cxnLst/>
            <a:rect l="l" t="t" r="r" b="b"/>
            <a:pathLst>
              <a:path w="33449" h="668971">
                <a:moveTo>
                  <a:pt x="33449" y="0"/>
                </a:moveTo>
                <a:lnTo>
                  <a:pt x="33449" y="0"/>
                </a:lnTo>
                <a:lnTo>
                  <a:pt x="33449" y="668971"/>
                </a:lnTo>
                <a:lnTo>
                  <a:pt x="33449" y="668971"/>
                </a:lnTo>
                <a:cubicBezTo>
                  <a:pt x="14975" y="668971"/>
                  <a:pt x="0" y="653996"/>
                  <a:pt x="0" y="635523"/>
                </a:cubicBezTo>
                <a:lnTo>
                  <a:pt x="0" y="33449"/>
                </a:lnTo>
                <a:cubicBezTo>
                  <a:pt x="0" y="14988"/>
                  <a:pt x="14988" y="0"/>
                  <a:pt x="33449" y="0"/>
                </a:cubicBezTo>
                <a:close/>
              </a:path>
            </a:pathLst>
          </a:custGeom>
          <a:solidFill>
            <a:srgbClr val="7A6250"/>
          </a:solidFill>
          <a:ln/>
        </p:spPr>
      </p:sp>
      <p:sp>
        <p:nvSpPr>
          <p:cNvPr id="50" name="Shape 48"/>
          <p:cNvSpPr/>
          <p:nvPr/>
        </p:nvSpPr>
        <p:spPr>
          <a:xfrm>
            <a:off x="6362543" y="1137251"/>
            <a:ext cx="334486" cy="334486"/>
          </a:xfrm>
          <a:custGeom>
            <a:avLst/>
            <a:gdLst/>
            <a:ahLst/>
            <a:cxnLst/>
            <a:rect l="l" t="t" r="r" b="b"/>
            <a:pathLst>
              <a:path w="334486" h="334486">
                <a:moveTo>
                  <a:pt x="167243" y="0"/>
                </a:moveTo>
                <a:lnTo>
                  <a:pt x="167243" y="0"/>
                </a:lnTo>
                <a:cubicBezTo>
                  <a:pt x="259547" y="0"/>
                  <a:pt x="334486" y="74939"/>
                  <a:pt x="334486" y="167243"/>
                </a:cubicBezTo>
                <a:lnTo>
                  <a:pt x="334486" y="167243"/>
                </a:lnTo>
                <a:cubicBezTo>
                  <a:pt x="334486" y="259547"/>
                  <a:pt x="259547" y="334486"/>
                  <a:pt x="167243" y="334486"/>
                </a:cubicBezTo>
                <a:lnTo>
                  <a:pt x="167243" y="334486"/>
                </a:lnTo>
                <a:cubicBezTo>
                  <a:pt x="74939" y="334486"/>
                  <a:pt x="0" y="259547"/>
                  <a:pt x="0" y="167243"/>
                </a:cubicBezTo>
                <a:lnTo>
                  <a:pt x="0" y="167243"/>
                </a:lnTo>
                <a:cubicBezTo>
                  <a:pt x="0" y="74939"/>
                  <a:pt x="74939" y="0"/>
                  <a:pt x="167243" y="0"/>
                </a:cubicBezTo>
                <a:close/>
              </a:path>
            </a:pathLst>
          </a:custGeom>
          <a:solidFill>
            <a:srgbClr val="7A6250"/>
          </a:solidFill>
          <a:ln/>
        </p:spPr>
      </p:sp>
      <p:sp>
        <p:nvSpPr>
          <p:cNvPr id="51" name="Text 49"/>
          <p:cNvSpPr/>
          <p:nvPr/>
        </p:nvSpPr>
        <p:spPr>
          <a:xfrm>
            <a:off x="6489282" y="1187424"/>
            <a:ext cx="158881" cy="234140"/>
          </a:xfrm>
          <a:prstGeom prst="rect">
            <a:avLst/>
          </a:prstGeom>
          <a:noFill/>
          <a:ln/>
        </p:spPr>
        <p:txBody>
          <a:bodyPr wrap="square" lIns="0" tIns="0" rIns="0" bIns="0" rtlCol="0" anchor="ctr"/>
          <a:lstStyle/>
          <a:p>
            <a:pPr>
              <a:lnSpc>
                <a:spcPct val="130000"/>
              </a:lnSpc>
            </a:pPr>
            <a:r>
              <a:rPr lang="en-US" sz="1185" b="1" dirty="0">
                <a:solidFill>
                  <a:srgbClr val="F8F6F2"/>
                </a:solidFill>
                <a:latin typeface="Oranienbaum" pitchFamily="34" charset="0"/>
                <a:ea typeface="Oranienbaum" pitchFamily="34" charset="-122"/>
                <a:cs typeface="Oranienbaum" pitchFamily="34" charset="-120"/>
              </a:rPr>
              <a:t>8</a:t>
            </a:r>
            <a:endParaRPr lang="en-US" sz="1600" dirty="0"/>
          </a:p>
        </p:txBody>
      </p:sp>
      <p:sp>
        <p:nvSpPr>
          <p:cNvPr id="52" name="Text 50"/>
          <p:cNvSpPr/>
          <p:nvPr/>
        </p:nvSpPr>
        <p:spPr>
          <a:xfrm>
            <a:off x="6830823" y="1137251"/>
            <a:ext cx="2583901" cy="234140"/>
          </a:xfrm>
          <a:prstGeom prst="rect">
            <a:avLst/>
          </a:prstGeom>
          <a:noFill/>
          <a:ln/>
        </p:spPr>
        <p:txBody>
          <a:bodyPr wrap="square" lIns="0" tIns="0" rIns="0" bIns="0" rtlCol="0" anchor="ctr"/>
          <a:lstStyle/>
          <a:p>
            <a:pPr>
              <a:lnSpc>
                <a:spcPct val="120000"/>
              </a:lnSpc>
            </a:pPr>
            <a:r>
              <a:rPr lang="en-US" sz="1317" b="1" dirty="0">
                <a:solidFill>
                  <a:srgbClr val="3A4D39"/>
                </a:solidFill>
                <a:latin typeface="Unna" pitchFamily="34" charset="0"/>
                <a:ea typeface="Unna" pitchFamily="34" charset="-122"/>
                <a:cs typeface="Unna" pitchFamily="34" charset="-120"/>
              </a:rPr>
              <a:t>Monitoring and Reporting</a:t>
            </a:r>
            <a:endParaRPr lang="en-US" sz="1600" dirty="0"/>
          </a:p>
        </p:txBody>
      </p:sp>
      <p:sp>
        <p:nvSpPr>
          <p:cNvPr id="53" name="Text 51"/>
          <p:cNvSpPr/>
          <p:nvPr/>
        </p:nvSpPr>
        <p:spPr>
          <a:xfrm>
            <a:off x="6830823" y="1404840"/>
            <a:ext cx="2567177" cy="200691"/>
          </a:xfrm>
          <a:prstGeom prst="rect">
            <a:avLst/>
          </a:prstGeom>
          <a:noFill/>
          <a:ln/>
        </p:spPr>
        <p:txBody>
          <a:bodyPr wrap="square" lIns="0" tIns="0" rIns="0" bIns="0" rtlCol="0" anchor="ctr"/>
          <a:lstStyle/>
          <a:p>
            <a:pPr>
              <a:lnSpc>
                <a:spcPct val="130000"/>
              </a:lnSpc>
            </a:pPr>
            <a:r>
              <a:rPr lang="en-US" sz="1053" dirty="0">
                <a:solidFill>
                  <a:srgbClr val="2C2C2C"/>
                </a:solidFill>
                <a:latin typeface="Quattrocento Sans" pitchFamily="34" charset="0"/>
                <a:ea typeface="Quattrocento Sans" pitchFamily="34" charset="-122"/>
                <a:cs typeface="Quattrocento Sans" pitchFamily="34" charset="-120"/>
              </a:rPr>
              <a:t>Oversight mechanisms and communication</a:t>
            </a:r>
            <a:endParaRPr lang="en-US" sz="1600" dirty="0"/>
          </a:p>
        </p:txBody>
      </p:sp>
      <p:sp>
        <p:nvSpPr>
          <p:cNvPr id="54" name="Shape 52"/>
          <p:cNvSpPr/>
          <p:nvPr/>
        </p:nvSpPr>
        <p:spPr>
          <a:xfrm>
            <a:off x="6245473" y="1772774"/>
            <a:ext cx="5610996" cy="668971"/>
          </a:xfrm>
          <a:custGeom>
            <a:avLst/>
            <a:gdLst/>
            <a:ahLst/>
            <a:cxnLst/>
            <a:rect l="l" t="t" r="r" b="b"/>
            <a:pathLst>
              <a:path w="5610996" h="668971">
                <a:moveTo>
                  <a:pt x="33449" y="0"/>
                </a:moveTo>
                <a:lnTo>
                  <a:pt x="5544099" y="0"/>
                </a:lnTo>
                <a:cubicBezTo>
                  <a:pt x="5581045" y="0"/>
                  <a:pt x="5610996" y="29951"/>
                  <a:pt x="5610996" y="66897"/>
                </a:cubicBezTo>
                <a:lnTo>
                  <a:pt x="5610996" y="602074"/>
                </a:lnTo>
                <a:cubicBezTo>
                  <a:pt x="5610996" y="639020"/>
                  <a:pt x="5581045" y="668971"/>
                  <a:pt x="5544099" y="668971"/>
                </a:cubicBezTo>
                <a:lnTo>
                  <a:pt x="33449" y="668971"/>
                </a:lnTo>
                <a:cubicBezTo>
                  <a:pt x="14975" y="668971"/>
                  <a:pt x="0" y="653996"/>
                  <a:pt x="0" y="635523"/>
                </a:cubicBezTo>
                <a:lnTo>
                  <a:pt x="0" y="33449"/>
                </a:lnTo>
                <a:cubicBezTo>
                  <a:pt x="0" y="14988"/>
                  <a:pt x="14988" y="0"/>
                  <a:pt x="33449" y="0"/>
                </a:cubicBezTo>
                <a:close/>
              </a:path>
            </a:pathLst>
          </a:custGeom>
          <a:solidFill>
            <a:srgbClr val="FFFFFF"/>
          </a:solidFill>
          <a:ln/>
          <a:effectLst>
            <a:outerShdw sx="100000" sy="100000" kx="0" ky="0" algn="bl" rotWithShape="0" blurRad="25086" dist="8362" dir="5400000">
              <a:srgbClr val="000000">
                <a:alpha val="10196"/>
              </a:srgbClr>
            </a:outerShdw>
          </a:effectLst>
        </p:spPr>
      </p:sp>
      <p:sp>
        <p:nvSpPr>
          <p:cNvPr id="55" name="Shape 53"/>
          <p:cNvSpPr/>
          <p:nvPr/>
        </p:nvSpPr>
        <p:spPr>
          <a:xfrm>
            <a:off x="6245473" y="1772774"/>
            <a:ext cx="33449" cy="668971"/>
          </a:xfrm>
          <a:custGeom>
            <a:avLst/>
            <a:gdLst/>
            <a:ahLst/>
            <a:cxnLst/>
            <a:rect l="l" t="t" r="r" b="b"/>
            <a:pathLst>
              <a:path w="33449" h="668971">
                <a:moveTo>
                  <a:pt x="33449" y="0"/>
                </a:moveTo>
                <a:lnTo>
                  <a:pt x="33449" y="0"/>
                </a:lnTo>
                <a:lnTo>
                  <a:pt x="33449" y="668971"/>
                </a:lnTo>
                <a:lnTo>
                  <a:pt x="33449" y="668971"/>
                </a:lnTo>
                <a:cubicBezTo>
                  <a:pt x="14975" y="668971"/>
                  <a:pt x="0" y="653996"/>
                  <a:pt x="0" y="635523"/>
                </a:cubicBezTo>
                <a:lnTo>
                  <a:pt x="0" y="33449"/>
                </a:lnTo>
                <a:cubicBezTo>
                  <a:pt x="0" y="14988"/>
                  <a:pt x="14988" y="0"/>
                  <a:pt x="33449" y="0"/>
                </a:cubicBezTo>
                <a:close/>
              </a:path>
            </a:pathLst>
          </a:custGeom>
          <a:solidFill>
            <a:srgbClr val="3A4D39"/>
          </a:solidFill>
          <a:ln/>
        </p:spPr>
      </p:sp>
      <p:sp>
        <p:nvSpPr>
          <p:cNvPr id="56" name="Shape 54"/>
          <p:cNvSpPr/>
          <p:nvPr/>
        </p:nvSpPr>
        <p:spPr>
          <a:xfrm>
            <a:off x="6362543" y="1873119"/>
            <a:ext cx="334486" cy="334486"/>
          </a:xfrm>
          <a:custGeom>
            <a:avLst/>
            <a:gdLst/>
            <a:ahLst/>
            <a:cxnLst/>
            <a:rect l="l" t="t" r="r" b="b"/>
            <a:pathLst>
              <a:path w="334486" h="334486">
                <a:moveTo>
                  <a:pt x="167243" y="0"/>
                </a:moveTo>
                <a:lnTo>
                  <a:pt x="167243" y="0"/>
                </a:lnTo>
                <a:cubicBezTo>
                  <a:pt x="259547" y="0"/>
                  <a:pt x="334486" y="74939"/>
                  <a:pt x="334486" y="167243"/>
                </a:cubicBezTo>
                <a:lnTo>
                  <a:pt x="334486" y="167243"/>
                </a:lnTo>
                <a:cubicBezTo>
                  <a:pt x="334486" y="259547"/>
                  <a:pt x="259547" y="334486"/>
                  <a:pt x="167243" y="334486"/>
                </a:cubicBezTo>
                <a:lnTo>
                  <a:pt x="167243" y="334486"/>
                </a:lnTo>
                <a:cubicBezTo>
                  <a:pt x="74939" y="334486"/>
                  <a:pt x="0" y="259547"/>
                  <a:pt x="0" y="167243"/>
                </a:cubicBezTo>
                <a:lnTo>
                  <a:pt x="0" y="167243"/>
                </a:lnTo>
                <a:cubicBezTo>
                  <a:pt x="0" y="74939"/>
                  <a:pt x="74939" y="0"/>
                  <a:pt x="167243" y="0"/>
                </a:cubicBezTo>
                <a:close/>
              </a:path>
            </a:pathLst>
          </a:custGeom>
          <a:solidFill>
            <a:srgbClr val="3A4D39"/>
          </a:solidFill>
          <a:ln/>
        </p:spPr>
      </p:sp>
      <p:sp>
        <p:nvSpPr>
          <p:cNvPr id="57" name="Text 55"/>
          <p:cNvSpPr/>
          <p:nvPr/>
        </p:nvSpPr>
        <p:spPr>
          <a:xfrm>
            <a:off x="6490327" y="1923292"/>
            <a:ext cx="150519" cy="234140"/>
          </a:xfrm>
          <a:prstGeom prst="rect">
            <a:avLst/>
          </a:prstGeom>
          <a:noFill/>
          <a:ln/>
        </p:spPr>
        <p:txBody>
          <a:bodyPr wrap="square" lIns="0" tIns="0" rIns="0" bIns="0" rtlCol="0" anchor="ctr"/>
          <a:lstStyle/>
          <a:p>
            <a:pPr>
              <a:lnSpc>
                <a:spcPct val="130000"/>
              </a:lnSpc>
            </a:pPr>
            <a:r>
              <a:rPr lang="en-US" sz="1185" b="1" dirty="0">
                <a:solidFill>
                  <a:srgbClr val="F8F6F2"/>
                </a:solidFill>
                <a:latin typeface="Oranienbaum" pitchFamily="34" charset="0"/>
                <a:ea typeface="Oranienbaum" pitchFamily="34" charset="-122"/>
                <a:cs typeface="Oranienbaum" pitchFamily="34" charset="-120"/>
              </a:rPr>
              <a:t>9</a:t>
            </a:r>
            <a:endParaRPr lang="en-US" sz="1600" dirty="0"/>
          </a:p>
        </p:txBody>
      </p:sp>
      <p:sp>
        <p:nvSpPr>
          <p:cNvPr id="58" name="Text 56"/>
          <p:cNvSpPr/>
          <p:nvPr/>
        </p:nvSpPr>
        <p:spPr>
          <a:xfrm>
            <a:off x="6830823" y="1873119"/>
            <a:ext cx="2508642" cy="234140"/>
          </a:xfrm>
          <a:prstGeom prst="rect">
            <a:avLst/>
          </a:prstGeom>
          <a:noFill/>
          <a:ln/>
        </p:spPr>
        <p:txBody>
          <a:bodyPr wrap="square" lIns="0" tIns="0" rIns="0" bIns="0" rtlCol="0" anchor="ctr"/>
          <a:lstStyle/>
          <a:p>
            <a:pPr>
              <a:lnSpc>
                <a:spcPct val="120000"/>
              </a:lnSpc>
            </a:pPr>
            <a:r>
              <a:rPr lang="en-US" sz="1317" b="1" dirty="0">
                <a:solidFill>
                  <a:srgbClr val="3A4D39"/>
                </a:solidFill>
                <a:latin typeface="Unna" pitchFamily="34" charset="0"/>
                <a:ea typeface="Unna" pitchFamily="34" charset="-122"/>
                <a:cs typeface="Unna" pitchFamily="34" charset="-120"/>
              </a:rPr>
              <a:t>Governance and Decision Making</a:t>
            </a:r>
            <a:endParaRPr lang="en-US" sz="1600" dirty="0"/>
          </a:p>
        </p:txBody>
      </p:sp>
      <p:sp>
        <p:nvSpPr>
          <p:cNvPr id="59" name="Text 57"/>
          <p:cNvSpPr/>
          <p:nvPr/>
        </p:nvSpPr>
        <p:spPr>
          <a:xfrm>
            <a:off x="6830823" y="2140708"/>
            <a:ext cx="2491918" cy="200691"/>
          </a:xfrm>
          <a:prstGeom prst="rect">
            <a:avLst/>
          </a:prstGeom>
          <a:noFill/>
          <a:ln/>
        </p:spPr>
        <p:txBody>
          <a:bodyPr wrap="square" lIns="0" tIns="0" rIns="0" bIns="0" rtlCol="0" anchor="ctr"/>
          <a:lstStyle/>
          <a:p>
            <a:pPr>
              <a:lnSpc>
                <a:spcPct val="130000"/>
              </a:lnSpc>
            </a:pPr>
            <a:r>
              <a:rPr lang="en-US" sz="1053" dirty="0">
                <a:solidFill>
                  <a:srgbClr val="2C2C2C"/>
                </a:solidFill>
                <a:latin typeface="Quattrocento Sans" pitchFamily="34" charset="0"/>
                <a:ea typeface="Quattrocento Sans" pitchFamily="34" charset="-122"/>
                <a:cs typeface="Quattrocento Sans" pitchFamily="34" charset="-120"/>
              </a:rPr>
              <a:t>Hierarchy, voting, and approval processes</a:t>
            </a:r>
            <a:endParaRPr lang="en-US" sz="1600" dirty="0"/>
          </a:p>
        </p:txBody>
      </p:sp>
      <p:sp>
        <p:nvSpPr>
          <p:cNvPr id="60" name="Shape 58"/>
          <p:cNvSpPr/>
          <p:nvPr/>
        </p:nvSpPr>
        <p:spPr>
          <a:xfrm>
            <a:off x="6245473" y="2508642"/>
            <a:ext cx="5610996" cy="668971"/>
          </a:xfrm>
          <a:custGeom>
            <a:avLst/>
            <a:gdLst/>
            <a:ahLst/>
            <a:cxnLst/>
            <a:rect l="l" t="t" r="r" b="b"/>
            <a:pathLst>
              <a:path w="5610996" h="668971">
                <a:moveTo>
                  <a:pt x="33449" y="0"/>
                </a:moveTo>
                <a:lnTo>
                  <a:pt x="5544099" y="0"/>
                </a:lnTo>
                <a:cubicBezTo>
                  <a:pt x="5581045" y="0"/>
                  <a:pt x="5610996" y="29951"/>
                  <a:pt x="5610996" y="66897"/>
                </a:cubicBezTo>
                <a:lnTo>
                  <a:pt x="5610996" y="602074"/>
                </a:lnTo>
                <a:cubicBezTo>
                  <a:pt x="5610996" y="639020"/>
                  <a:pt x="5581045" y="668971"/>
                  <a:pt x="5544099" y="668971"/>
                </a:cubicBezTo>
                <a:lnTo>
                  <a:pt x="33449" y="668971"/>
                </a:lnTo>
                <a:cubicBezTo>
                  <a:pt x="14975" y="668971"/>
                  <a:pt x="0" y="653996"/>
                  <a:pt x="0" y="635523"/>
                </a:cubicBezTo>
                <a:lnTo>
                  <a:pt x="0" y="33449"/>
                </a:lnTo>
                <a:cubicBezTo>
                  <a:pt x="0" y="14988"/>
                  <a:pt x="14988" y="0"/>
                  <a:pt x="33449" y="0"/>
                </a:cubicBezTo>
                <a:close/>
              </a:path>
            </a:pathLst>
          </a:custGeom>
          <a:solidFill>
            <a:srgbClr val="FFFFFF"/>
          </a:solidFill>
          <a:ln/>
          <a:effectLst>
            <a:outerShdw sx="100000" sy="100000" kx="0" ky="0" algn="bl" rotWithShape="0" blurRad="25086" dist="8362" dir="5400000">
              <a:srgbClr val="000000">
                <a:alpha val="10196"/>
              </a:srgbClr>
            </a:outerShdw>
          </a:effectLst>
        </p:spPr>
      </p:sp>
      <p:sp>
        <p:nvSpPr>
          <p:cNvPr id="61" name="Shape 59"/>
          <p:cNvSpPr/>
          <p:nvPr/>
        </p:nvSpPr>
        <p:spPr>
          <a:xfrm>
            <a:off x="6245473" y="2508642"/>
            <a:ext cx="33449" cy="668971"/>
          </a:xfrm>
          <a:custGeom>
            <a:avLst/>
            <a:gdLst/>
            <a:ahLst/>
            <a:cxnLst/>
            <a:rect l="l" t="t" r="r" b="b"/>
            <a:pathLst>
              <a:path w="33449" h="668971">
                <a:moveTo>
                  <a:pt x="33449" y="0"/>
                </a:moveTo>
                <a:lnTo>
                  <a:pt x="33449" y="0"/>
                </a:lnTo>
                <a:lnTo>
                  <a:pt x="33449" y="668971"/>
                </a:lnTo>
                <a:lnTo>
                  <a:pt x="33449" y="668971"/>
                </a:lnTo>
                <a:cubicBezTo>
                  <a:pt x="14975" y="668971"/>
                  <a:pt x="0" y="653996"/>
                  <a:pt x="0" y="635523"/>
                </a:cubicBezTo>
                <a:lnTo>
                  <a:pt x="0" y="33449"/>
                </a:lnTo>
                <a:cubicBezTo>
                  <a:pt x="0" y="14988"/>
                  <a:pt x="14988" y="0"/>
                  <a:pt x="33449" y="0"/>
                </a:cubicBezTo>
                <a:close/>
              </a:path>
            </a:pathLst>
          </a:custGeom>
          <a:solidFill>
            <a:srgbClr val="7A6250"/>
          </a:solidFill>
          <a:ln/>
        </p:spPr>
      </p:sp>
      <p:sp>
        <p:nvSpPr>
          <p:cNvPr id="62" name="Shape 60"/>
          <p:cNvSpPr/>
          <p:nvPr/>
        </p:nvSpPr>
        <p:spPr>
          <a:xfrm>
            <a:off x="6362543" y="2608988"/>
            <a:ext cx="334486" cy="334486"/>
          </a:xfrm>
          <a:custGeom>
            <a:avLst/>
            <a:gdLst/>
            <a:ahLst/>
            <a:cxnLst/>
            <a:rect l="l" t="t" r="r" b="b"/>
            <a:pathLst>
              <a:path w="334486" h="334486">
                <a:moveTo>
                  <a:pt x="167243" y="0"/>
                </a:moveTo>
                <a:lnTo>
                  <a:pt x="167243" y="0"/>
                </a:lnTo>
                <a:cubicBezTo>
                  <a:pt x="259547" y="0"/>
                  <a:pt x="334486" y="74939"/>
                  <a:pt x="334486" y="167243"/>
                </a:cubicBezTo>
                <a:lnTo>
                  <a:pt x="334486" y="167243"/>
                </a:lnTo>
                <a:cubicBezTo>
                  <a:pt x="334486" y="259547"/>
                  <a:pt x="259547" y="334486"/>
                  <a:pt x="167243" y="334486"/>
                </a:cubicBezTo>
                <a:lnTo>
                  <a:pt x="167243" y="334486"/>
                </a:lnTo>
                <a:cubicBezTo>
                  <a:pt x="74939" y="334486"/>
                  <a:pt x="0" y="259547"/>
                  <a:pt x="0" y="167243"/>
                </a:cubicBezTo>
                <a:lnTo>
                  <a:pt x="0" y="167243"/>
                </a:lnTo>
                <a:cubicBezTo>
                  <a:pt x="0" y="74939"/>
                  <a:pt x="74939" y="0"/>
                  <a:pt x="167243" y="0"/>
                </a:cubicBezTo>
                <a:close/>
              </a:path>
            </a:pathLst>
          </a:custGeom>
          <a:solidFill>
            <a:srgbClr val="7A6250"/>
          </a:solidFill>
          <a:ln/>
        </p:spPr>
      </p:sp>
      <p:sp>
        <p:nvSpPr>
          <p:cNvPr id="63" name="Text 61"/>
          <p:cNvSpPr/>
          <p:nvPr/>
        </p:nvSpPr>
        <p:spPr>
          <a:xfrm>
            <a:off x="6464587" y="2659160"/>
            <a:ext cx="209053" cy="234140"/>
          </a:xfrm>
          <a:prstGeom prst="rect">
            <a:avLst/>
          </a:prstGeom>
          <a:noFill/>
          <a:ln/>
        </p:spPr>
        <p:txBody>
          <a:bodyPr wrap="square" lIns="0" tIns="0" rIns="0" bIns="0" rtlCol="0" anchor="ctr"/>
          <a:lstStyle/>
          <a:p>
            <a:pPr>
              <a:lnSpc>
                <a:spcPct val="130000"/>
              </a:lnSpc>
            </a:pPr>
            <a:r>
              <a:rPr lang="en-US" sz="1185" b="1" dirty="0">
                <a:solidFill>
                  <a:srgbClr val="F8F6F2"/>
                </a:solidFill>
                <a:latin typeface="Oranienbaum" pitchFamily="34" charset="0"/>
                <a:ea typeface="Oranienbaum" pitchFamily="34" charset="-122"/>
                <a:cs typeface="Oranienbaum" pitchFamily="34" charset="-120"/>
              </a:rPr>
              <a:t>10</a:t>
            </a:r>
            <a:endParaRPr lang="en-US" sz="1600" dirty="0"/>
          </a:p>
        </p:txBody>
      </p:sp>
      <p:sp>
        <p:nvSpPr>
          <p:cNvPr id="64" name="Text 62"/>
          <p:cNvSpPr/>
          <p:nvPr/>
        </p:nvSpPr>
        <p:spPr>
          <a:xfrm>
            <a:off x="6830823" y="2608988"/>
            <a:ext cx="2500280" cy="234140"/>
          </a:xfrm>
          <a:prstGeom prst="rect">
            <a:avLst/>
          </a:prstGeom>
          <a:noFill/>
          <a:ln/>
        </p:spPr>
        <p:txBody>
          <a:bodyPr wrap="square" lIns="0" tIns="0" rIns="0" bIns="0" rtlCol="0" anchor="ctr"/>
          <a:lstStyle/>
          <a:p>
            <a:pPr>
              <a:lnSpc>
                <a:spcPct val="120000"/>
              </a:lnSpc>
            </a:pPr>
            <a:r>
              <a:rPr lang="en-US" sz="1317" b="1" dirty="0">
                <a:solidFill>
                  <a:srgbClr val="3A4D39"/>
                </a:solidFill>
                <a:latin typeface="Unna" pitchFamily="34" charset="0"/>
                <a:ea typeface="Unna" pitchFamily="34" charset="-122"/>
                <a:cs typeface="Unna" pitchFamily="34" charset="-120"/>
              </a:rPr>
              <a:t>Risk Management and Liability</a:t>
            </a:r>
            <a:endParaRPr lang="en-US" sz="1600" dirty="0"/>
          </a:p>
        </p:txBody>
      </p:sp>
      <p:sp>
        <p:nvSpPr>
          <p:cNvPr id="65" name="Text 63"/>
          <p:cNvSpPr/>
          <p:nvPr/>
        </p:nvSpPr>
        <p:spPr>
          <a:xfrm>
            <a:off x="6830823" y="2876576"/>
            <a:ext cx="2483556" cy="200691"/>
          </a:xfrm>
          <a:prstGeom prst="rect">
            <a:avLst/>
          </a:prstGeom>
          <a:noFill/>
          <a:ln/>
        </p:spPr>
        <p:txBody>
          <a:bodyPr wrap="square" lIns="0" tIns="0" rIns="0" bIns="0" rtlCol="0" anchor="ctr"/>
          <a:lstStyle/>
          <a:p>
            <a:pPr>
              <a:lnSpc>
                <a:spcPct val="130000"/>
              </a:lnSpc>
            </a:pPr>
            <a:r>
              <a:rPr lang="en-US" sz="1053" dirty="0">
                <a:solidFill>
                  <a:srgbClr val="2C2C2C"/>
                </a:solidFill>
                <a:latin typeface="Quattrocento Sans" pitchFamily="34" charset="0"/>
                <a:ea typeface="Quattrocento Sans" pitchFamily="34" charset="-122"/>
                <a:cs typeface="Quattrocento Sans" pitchFamily="34" charset="-120"/>
              </a:rPr>
              <a:t>Risk allocation, insurance, and protections</a:t>
            </a:r>
            <a:endParaRPr lang="en-US" sz="1600" dirty="0"/>
          </a:p>
        </p:txBody>
      </p:sp>
      <p:sp>
        <p:nvSpPr>
          <p:cNvPr id="66" name="Shape 64"/>
          <p:cNvSpPr/>
          <p:nvPr/>
        </p:nvSpPr>
        <p:spPr>
          <a:xfrm>
            <a:off x="6245473" y="3244510"/>
            <a:ext cx="5610996" cy="668971"/>
          </a:xfrm>
          <a:custGeom>
            <a:avLst/>
            <a:gdLst/>
            <a:ahLst/>
            <a:cxnLst/>
            <a:rect l="l" t="t" r="r" b="b"/>
            <a:pathLst>
              <a:path w="5610996" h="668971">
                <a:moveTo>
                  <a:pt x="33449" y="0"/>
                </a:moveTo>
                <a:lnTo>
                  <a:pt x="5544099" y="0"/>
                </a:lnTo>
                <a:cubicBezTo>
                  <a:pt x="5581045" y="0"/>
                  <a:pt x="5610996" y="29951"/>
                  <a:pt x="5610996" y="66897"/>
                </a:cubicBezTo>
                <a:lnTo>
                  <a:pt x="5610996" y="602074"/>
                </a:lnTo>
                <a:cubicBezTo>
                  <a:pt x="5610996" y="639020"/>
                  <a:pt x="5581045" y="668971"/>
                  <a:pt x="5544099" y="668971"/>
                </a:cubicBezTo>
                <a:lnTo>
                  <a:pt x="33449" y="668971"/>
                </a:lnTo>
                <a:cubicBezTo>
                  <a:pt x="14975" y="668971"/>
                  <a:pt x="0" y="653996"/>
                  <a:pt x="0" y="635523"/>
                </a:cubicBezTo>
                <a:lnTo>
                  <a:pt x="0" y="33449"/>
                </a:lnTo>
                <a:cubicBezTo>
                  <a:pt x="0" y="14988"/>
                  <a:pt x="14988" y="0"/>
                  <a:pt x="33449" y="0"/>
                </a:cubicBezTo>
                <a:close/>
              </a:path>
            </a:pathLst>
          </a:custGeom>
          <a:solidFill>
            <a:srgbClr val="FFFFFF"/>
          </a:solidFill>
          <a:ln/>
          <a:effectLst>
            <a:outerShdw sx="100000" sy="100000" kx="0" ky="0" algn="bl" rotWithShape="0" blurRad="25086" dist="8362" dir="5400000">
              <a:srgbClr val="000000">
                <a:alpha val="10196"/>
              </a:srgbClr>
            </a:outerShdw>
          </a:effectLst>
        </p:spPr>
      </p:sp>
      <p:sp>
        <p:nvSpPr>
          <p:cNvPr id="67" name="Shape 65"/>
          <p:cNvSpPr/>
          <p:nvPr/>
        </p:nvSpPr>
        <p:spPr>
          <a:xfrm>
            <a:off x="6245473" y="3244510"/>
            <a:ext cx="33449" cy="668971"/>
          </a:xfrm>
          <a:custGeom>
            <a:avLst/>
            <a:gdLst/>
            <a:ahLst/>
            <a:cxnLst/>
            <a:rect l="l" t="t" r="r" b="b"/>
            <a:pathLst>
              <a:path w="33449" h="668971">
                <a:moveTo>
                  <a:pt x="33449" y="0"/>
                </a:moveTo>
                <a:lnTo>
                  <a:pt x="33449" y="0"/>
                </a:lnTo>
                <a:lnTo>
                  <a:pt x="33449" y="668971"/>
                </a:lnTo>
                <a:lnTo>
                  <a:pt x="33449" y="668971"/>
                </a:lnTo>
                <a:cubicBezTo>
                  <a:pt x="14975" y="668971"/>
                  <a:pt x="0" y="653996"/>
                  <a:pt x="0" y="635523"/>
                </a:cubicBezTo>
                <a:lnTo>
                  <a:pt x="0" y="33449"/>
                </a:lnTo>
                <a:cubicBezTo>
                  <a:pt x="0" y="14988"/>
                  <a:pt x="14988" y="0"/>
                  <a:pt x="33449" y="0"/>
                </a:cubicBezTo>
                <a:close/>
              </a:path>
            </a:pathLst>
          </a:custGeom>
          <a:solidFill>
            <a:srgbClr val="3A4D39"/>
          </a:solidFill>
          <a:ln/>
        </p:spPr>
      </p:sp>
      <p:sp>
        <p:nvSpPr>
          <p:cNvPr id="68" name="Shape 66"/>
          <p:cNvSpPr/>
          <p:nvPr/>
        </p:nvSpPr>
        <p:spPr>
          <a:xfrm>
            <a:off x="6362543" y="3344856"/>
            <a:ext cx="334486" cy="334486"/>
          </a:xfrm>
          <a:custGeom>
            <a:avLst/>
            <a:gdLst/>
            <a:ahLst/>
            <a:cxnLst/>
            <a:rect l="l" t="t" r="r" b="b"/>
            <a:pathLst>
              <a:path w="334486" h="334486">
                <a:moveTo>
                  <a:pt x="167243" y="0"/>
                </a:moveTo>
                <a:lnTo>
                  <a:pt x="167243" y="0"/>
                </a:lnTo>
                <a:cubicBezTo>
                  <a:pt x="259547" y="0"/>
                  <a:pt x="334486" y="74939"/>
                  <a:pt x="334486" y="167243"/>
                </a:cubicBezTo>
                <a:lnTo>
                  <a:pt x="334486" y="167243"/>
                </a:lnTo>
                <a:cubicBezTo>
                  <a:pt x="334486" y="259547"/>
                  <a:pt x="259547" y="334486"/>
                  <a:pt x="167243" y="334486"/>
                </a:cubicBezTo>
                <a:lnTo>
                  <a:pt x="167243" y="334486"/>
                </a:lnTo>
                <a:cubicBezTo>
                  <a:pt x="74939" y="334486"/>
                  <a:pt x="0" y="259547"/>
                  <a:pt x="0" y="167243"/>
                </a:cubicBezTo>
                <a:lnTo>
                  <a:pt x="0" y="167243"/>
                </a:lnTo>
                <a:cubicBezTo>
                  <a:pt x="0" y="74939"/>
                  <a:pt x="74939" y="0"/>
                  <a:pt x="167243" y="0"/>
                </a:cubicBezTo>
                <a:close/>
              </a:path>
            </a:pathLst>
          </a:custGeom>
          <a:solidFill>
            <a:srgbClr val="3A4D39"/>
          </a:solidFill>
          <a:ln/>
        </p:spPr>
      </p:sp>
      <p:sp>
        <p:nvSpPr>
          <p:cNvPr id="69" name="Text 67"/>
          <p:cNvSpPr/>
          <p:nvPr/>
        </p:nvSpPr>
        <p:spPr>
          <a:xfrm>
            <a:off x="6481834" y="3395029"/>
            <a:ext cx="167243" cy="234140"/>
          </a:xfrm>
          <a:prstGeom prst="rect">
            <a:avLst/>
          </a:prstGeom>
          <a:noFill/>
          <a:ln/>
        </p:spPr>
        <p:txBody>
          <a:bodyPr wrap="square" lIns="0" tIns="0" rIns="0" bIns="0" rtlCol="0" anchor="ctr"/>
          <a:lstStyle/>
          <a:p>
            <a:pPr>
              <a:lnSpc>
                <a:spcPct val="130000"/>
              </a:lnSpc>
            </a:pPr>
            <a:r>
              <a:rPr lang="en-US" sz="1185" b="1" dirty="0">
                <a:solidFill>
                  <a:srgbClr val="F8F6F2"/>
                </a:solidFill>
                <a:latin typeface="Oranienbaum" pitchFamily="34" charset="0"/>
                <a:ea typeface="Oranienbaum" pitchFamily="34" charset="-122"/>
                <a:cs typeface="Oranienbaum" pitchFamily="34" charset="-120"/>
              </a:rPr>
              <a:t>11</a:t>
            </a:r>
            <a:endParaRPr lang="en-US" sz="1600" dirty="0"/>
          </a:p>
        </p:txBody>
      </p:sp>
      <p:sp>
        <p:nvSpPr>
          <p:cNvPr id="70" name="Text 68"/>
          <p:cNvSpPr/>
          <p:nvPr/>
        </p:nvSpPr>
        <p:spPr>
          <a:xfrm>
            <a:off x="6830823" y="3344856"/>
            <a:ext cx="2558815" cy="234140"/>
          </a:xfrm>
          <a:prstGeom prst="rect">
            <a:avLst/>
          </a:prstGeom>
          <a:noFill/>
          <a:ln/>
        </p:spPr>
        <p:txBody>
          <a:bodyPr wrap="square" lIns="0" tIns="0" rIns="0" bIns="0" rtlCol="0" anchor="ctr"/>
          <a:lstStyle/>
          <a:p>
            <a:pPr>
              <a:lnSpc>
                <a:spcPct val="120000"/>
              </a:lnSpc>
            </a:pPr>
            <a:r>
              <a:rPr lang="en-US" sz="1317" b="1" dirty="0">
                <a:solidFill>
                  <a:srgbClr val="3A4D39"/>
                </a:solidFill>
                <a:latin typeface="Unna" pitchFamily="34" charset="0"/>
                <a:ea typeface="Unna" pitchFamily="34" charset="-122"/>
                <a:cs typeface="Unna" pitchFamily="34" charset="-120"/>
              </a:rPr>
              <a:t>Confidentiality</a:t>
            </a:r>
            <a:endParaRPr lang="en-US" sz="1600" dirty="0"/>
          </a:p>
        </p:txBody>
      </p:sp>
      <p:sp>
        <p:nvSpPr>
          <p:cNvPr id="71" name="Text 69"/>
          <p:cNvSpPr/>
          <p:nvPr/>
        </p:nvSpPr>
        <p:spPr>
          <a:xfrm>
            <a:off x="6830823" y="3612444"/>
            <a:ext cx="2542091" cy="200691"/>
          </a:xfrm>
          <a:prstGeom prst="rect">
            <a:avLst/>
          </a:prstGeom>
          <a:noFill/>
          <a:ln/>
        </p:spPr>
        <p:txBody>
          <a:bodyPr wrap="square" lIns="0" tIns="0" rIns="0" bIns="0" rtlCol="0" anchor="ctr"/>
          <a:lstStyle/>
          <a:p>
            <a:pPr>
              <a:lnSpc>
                <a:spcPct val="130000"/>
              </a:lnSpc>
            </a:pPr>
            <a:r>
              <a:rPr lang="en-US" sz="1053" dirty="0">
                <a:solidFill>
                  <a:srgbClr val="2C2C2C"/>
                </a:solidFill>
                <a:latin typeface="Quattrocento Sans" pitchFamily="34" charset="0"/>
                <a:ea typeface="Quattrocento Sans" pitchFamily="34" charset="-122"/>
                <a:cs typeface="Quattrocento Sans" pitchFamily="34" charset="-120"/>
              </a:rPr>
              <a:t>Non-disclosure and information protection</a:t>
            </a:r>
            <a:endParaRPr lang="en-US" sz="1600" dirty="0"/>
          </a:p>
        </p:txBody>
      </p:sp>
      <p:sp>
        <p:nvSpPr>
          <p:cNvPr id="72" name="Shape 70"/>
          <p:cNvSpPr/>
          <p:nvPr/>
        </p:nvSpPr>
        <p:spPr>
          <a:xfrm>
            <a:off x="6245473" y="3980379"/>
            <a:ext cx="5610996" cy="668971"/>
          </a:xfrm>
          <a:custGeom>
            <a:avLst/>
            <a:gdLst/>
            <a:ahLst/>
            <a:cxnLst/>
            <a:rect l="l" t="t" r="r" b="b"/>
            <a:pathLst>
              <a:path w="5610996" h="668971">
                <a:moveTo>
                  <a:pt x="33449" y="0"/>
                </a:moveTo>
                <a:lnTo>
                  <a:pt x="5544099" y="0"/>
                </a:lnTo>
                <a:cubicBezTo>
                  <a:pt x="5581045" y="0"/>
                  <a:pt x="5610996" y="29951"/>
                  <a:pt x="5610996" y="66897"/>
                </a:cubicBezTo>
                <a:lnTo>
                  <a:pt x="5610996" y="602074"/>
                </a:lnTo>
                <a:cubicBezTo>
                  <a:pt x="5610996" y="639020"/>
                  <a:pt x="5581045" y="668971"/>
                  <a:pt x="5544099" y="668971"/>
                </a:cubicBezTo>
                <a:lnTo>
                  <a:pt x="33449" y="668971"/>
                </a:lnTo>
                <a:cubicBezTo>
                  <a:pt x="14975" y="668971"/>
                  <a:pt x="0" y="653996"/>
                  <a:pt x="0" y="635523"/>
                </a:cubicBezTo>
                <a:lnTo>
                  <a:pt x="0" y="33449"/>
                </a:lnTo>
                <a:cubicBezTo>
                  <a:pt x="0" y="14988"/>
                  <a:pt x="14988" y="0"/>
                  <a:pt x="33449" y="0"/>
                </a:cubicBezTo>
                <a:close/>
              </a:path>
            </a:pathLst>
          </a:custGeom>
          <a:solidFill>
            <a:srgbClr val="FFFFFF"/>
          </a:solidFill>
          <a:ln/>
          <a:effectLst>
            <a:outerShdw sx="100000" sy="100000" kx="0" ky="0" algn="bl" rotWithShape="0" blurRad="25086" dist="8362" dir="5400000">
              <a:srgbClr val="000000">
                <a:alpha val="10196"/>
              </a:srgbClr>
            </a:outerShdw>
          </a:effectLst>
        </p:spPr>
      </p:sp>
      <p:sp>
        <p:nvSpPr>
          <p:cNvPr id="73" name="Shape 71"/>
          <p:cNvSpPr/>
          <p:nvPr/>
        </p:nvSpPr>
        <p:spPr>
          <a:xfrm>
            <a:off x="6245473" y="3980379"/>
            <a:ext cx="33449" cy="668971"/>
          </a:xfrm>
          <a:custGeom>
            <a:avLst/>
            <a:gdLst/>
            <a:ahLst/>
            <a:cxnLst/>
            <a:rect l="l" t="t" r="r" b="b"/>
            <a:pathLst>
              <a:path w="33449" h="668971">
                <a:moveTo>
                  <a:pt x="33449" y="0"/>
                </a:moveTo>
                <a:lnTo>
                  <a:pt x="33449" y="0"/>
                </a:lnTo>
                <a:lnTo>
                  <a:pt x="33449" y="668971"/>
                </a:lnTo>
                <a:lnTo>
                  <a:pt x="33449" y="668971"/>
                </a:lnTo>
                <a:cubicBezTo>
                  <a:pt x="14975" y="668971"/>
                  <a:pt x="0" y="653996"/>
                  <a:pt x="0" y="635523"/>
                </a:cubicBezTo>
                <a:lnTo>
                  <a:pt x="0" y="33449"/>
                </a:lnTo>
                <a:cubicBezTo>
                  <a:pt x="0" y="14988"/>
                  <a:pt x="14988" y="0"/>
                  <a:pt x="33449" y="0"/>
                </a:cubicBezTo>
                <a:close/>
              </a:path>
            </a:pathLst>
          </a:custGeom>
          <a:solidFill>
            <a:srgbClr val="7A6250"/>
          </a:solidFill>
          <a:ln/>
        </p:spPr>
      </p:sp>
      <p:sp>
        <p:nvSpPr>
          <p:cNvPr id="74" name="Shape 72"/>
          <p:cNvSpPr/>
          <p:nvPr/>
        </p:nvSpPr>
        <p:spPr>
          <a:xfrm>
            <a:off x="6362543" y="4080724"/>
            <a:ext cx="334486" cy="334486"/>
          </a:xfrm>
          <a:custGeom>
            <a:avLst/>
            <a:gdLst/>
            <a:ahLst/>
            <a:cxnLst/>
            <a:rect l="l" t="t" r="r" b="b"/>
            <a:pathLst>
              <a:path w="334486" h="334486">
                <a:moveTo>
                  <a:pt x="167243" y="0"/>
                </a:moveTo>
                <a:lnTo>
                  <a:pt x="167243" y="0"/>
                </a:lnTo>
                <a:cubicBezTo>
                  <a:pt x="259547" y="0"/>
                  <a:pt x="334486" y="74939"/>
                  <a:pt x="334486" y="167243"/>
                </a:cubicBezTo>
                <a:lnTo>
                  <a:pt x="334486" y="167243"/>
                </a:lnTo>
                <a:cubicBezTo>
                  <a:pt x="334486" y="259547"/>
                  <a:pt x="259547" y="334486"/>
                  <a:pt x="167243" y="334486"/>
                </a:cubicBezTo>
                <a:lnTo>
                  <a:pt x="167243" y="334486"/>
                </a:lnTo>
                <a:cubicBezTo>
                  <a:pt x="74939" y="334486"/>
                  <a:pt x="0" y="259547"/>
                  <a:pt x="0" y="167243"/>
                </a:cubicBezTo>
                <a:lnTo>
                  <a:pt x="0" y="167243"/>
                </a:lnTo>
                <a:cubicBezTo>
                  <a:pt x="0" y="74939"/>
                  <a:pt x="74939" y="0"/>
                  <a:pt x="167243" y="0"/>
                </a:cubicBezTo>
                <a:close/>
              </a:path>
            </a:pathLst>
          </a:custGeom>
          <a:solidFill>
            <a:srgbClr val="7A6250"/>
          </a:solidFill>
          <a:ln/>
        </p:spPr>
      </p:sp>
      <p:sp>
        <p:nvSpPr>
          <p:cNvPr id="75" name="Text 73"/>
          <p:cNvSpPr/>
          <p:nvPr/>
        </p:nvSpPr>
        <p:spPr>
          <a:xfrm>
            <a:off x="6467985" y="4130897"/>
            <a:ext cx="200691" cy="234140"/>
          </a:xfrm>
          <a:prstGeom prst="rect">
            <a:avLst/>
          </a:prstGeom>
          <a:noFill/>
          <a:ln/>
        </p:spPr>
        <p:txBody>
          <a:bodyPr wrap="square" lIns="0" tIns="0" rIns="0" bIns="0" rtlCol="0" anchor="ctr"/>
          <a:lstStyle/>
          <a:p>
            <a:pPr>
              <a:lnSpc>
                <a:spcPct val="130000"/>
              </a:lnSpc>
            </a:pPr>
            <a:r>
              <a:rPr lang="en-US" sz="1185" b="1" dirty="0">
                <a:solidFill>
                  <a:srgbClr val="F8F6F2"/>
                </a:solidFill>
                <a:latin typeface="Oranienbaum" pitchFamily="34" charset="0"/>
                <a:ea typeface="Oranienbaum" pitchFamily="34" charset="-122"/>
                <a:cs typeface="Oranienbaum" pitchFamily="34" charset="-120"/>
              </a:rPr>
              <a:t>12</a:t>
            </a:r>
            <a:endParaRPr lang="en-US" sz="1600" dirty="0"/>
          </a:p>
        </p:txBody>
      </p:sp>
      <p:sp>
        <p:nvSpPr>
          <p:cNvPr id="76" name="Text 74"/>
          <p:cNvSpPr/>
          <p:nvPr/>
        </p:nvSpPr>
        <p:spPr>
          <a:xfrm>
            <a:off x="6830823" y="4080724"/>
            <a:ext cx="2307951" cy="234140"/>
          </a:xfrm>
          <a:prstGeom prst="rect">
            <a:avLst/>
          </a:prstGeom>
          <a:noFill/>
          <a:ln/>
        </p:spPr>
        <p:txBody>
          <a:bodyPr wrap="square" lIns="0" tIns="0" rIns="0" bIns="0" rtlCol="0" anchor="ctr"/>
          <a:lstStyle/>
          <a:p>
            <a:pPr>
              <a:lnSpc>
                <a:spcPct val="120000"/>
              </a:lnSpc>
            </a:pPr>
            <a:r>
              <a:rPr lang="en-US" sz="1317" b="1" dirty="0">
                <a:solidFill>
                  <a:srgbClr val="3A4D39"/>
                </a:solidFill>
                <a:latin typeface="Unna" pitchFamily="34" charset="0"/>
                <a:ea typeface="Unna" pitchFamily="34" charset="-122"/>
                <a:cs typeface="Unna" pitchFamily="34" charset="-120"/>
              </a:rPr>
              <a:t>Dispute Resolution</a:t>
            </a:r>
            <a:endParaRPr lang="en-US" sz="1600" dirty="0"/>
          </a:p>
        </p:txBody>
      </p:sp>
      <p:sp>
        <p:nvSpPr>
          <p:cNvPr id="77" name="Text 75"/>
          <p:cNvSpPr/>
          <p:nvPr/>
        </p:nvSpPr>
        <p:spPr>
          <a:xfrm>
            <a:off x="6830823" y="4348313"/>
            <a:ext cx="2291226" cy="200691"/>
          </a:xfrm>
          <a:prstGeom prst="rect">
            <a:avLst/>
          </a:prstGeom>
          <a:noFill/>
          <a:ln/>
        </p:spPr>
        <p:txBody>
          <a:bodyPr wrap="square" lIns="0" tIns="0" rIns="0" bIns="0" rtlCol="0" anchor="ctr"/>
          <a:lstStyle/>
          <a:p>
            <a:pPr>
              <a:lnSpc>
                <a:spcPct val="130000"/>
              </a:lnSpc>
            </a:pPr>
            <a:r>
              <a:rPr lang="en-US" sz="1053" dirty="0">
                <a:solidFill>
                  <a:srgbClr val="2C2C2C"/>
                </a:solidFill>
                <a:latin typeface="Quattrocento Sans" pitchFamily="34" charset="0"/>
                <a:ea typeface="Quattrocento Sans" pitchFamily="34" charset="-122"/>
                <a:cs typeface="Quattrocento Sans" pitchFamily="34" charset="-120"/>
              </a:rPr>
              <a:t>Negotiation, mediation, and arbitration</a:t>
            </a:r>
            <a:endParaRPr lang="en-US" sz="1600" dirty="0"/>
          </a:p>
        </p:txBody>
      </p:sp>
      <p:sp>
        <p:nvSpPr>
          <p:cNvPr id="78" name="Shape 76"/>
          <p:cNvSpPr/>
          <p:nvPr/>
        </p:nvSpPr>
        <p:spPr>
          <a:xfrm>
            <a:off x="6245473" y="4716247"/>
            <a:ext cx="5610996" cy="668971"/>
          </a:xfrm>
          <a:custGeom>
            <a:avLst/>
            <a:gdLst/>
            <a:ahLst/>
            <a:cxnLst/>
            <a:rect l="l" t="t" r="r" b="b"/>
            <a:pathLst>
              <a:path w="5610996" h="668971">
                <a:moveTo>
                  <a:pt x="33449" y="0"/>
                </a:moveTo>
                <a:lnTo>
                  <a:pt x="5544099" y="0"/>
                </a:lnTo>
                <a:cubicBezTo>
                  <a:pt x="5581045" y="0"/>
                  <a:pt x="5610996" y="29951"/>
                  <a:pt x="5610996" y="66897"/>
                </a:cubicBezTo>
                <a:lnTo>
                  <a:pt x="5610996" y="602074"/>
                </a:lnTo>
                <a:cubicBezTo>
                  <a:pt x="5610996" y="639020"/>
                  <a:pt x="5581045" y="668971"/>
                  <a:pt x="5544099" y="668971"/>
                </a:cubicBezTo>
                <a:lnTo>
                  <a:pt x="33449" y="668971"/>
                </a:lnTo>
                <a:cubicBezTo>
                  <a:pt x="14975" y="668971"/>
                  <a:pt x="0" y="653996"/>
                  <a:pt x="0" y="635523"/>
                </a:cubicBezTo>
                <a:lnTo>
                  <a:pt x="0" y="33449"/>
                </a:lnTo>
                <a:cubicBezTo>
                  <a:pt x="0" y="14988"/>
                  <a:pt x="14988" y="0"/>
                  <a:pt x="33449" y="0"/>
                </a:cubicBezTo>
                <a:close/>
              </a:path>
            </a:pathLst>
          </a:custGeom>
          <a:solidFill>
            <a:srgbClr val="FFFFFF"/>
          </a:solidFill>
          <a:ln/>
          <a:effectLst>
            <a:outerShdw sx="100000" sy="100000" kx="0" ky="0" algn="bl" rotWithShape="0" blurRad="25086" dist="8362" dir="5400000">
              <a:srgbClr val="000000">
                <a:alpha val="10196"/>
              </a:srgbClr>
            </a:outerShdw>
          </a:effectLst>
        </p:spPr>
      </p:sp>
      <p:sp>
        <p:nvSpPr>
          <p:cNvPr id="79" name="Shape 77"/>
          <p:cNvSpPr/>
          <p:nvPr/>
        </p:nvSpPr>
        <p:spPr>
          <a:xfrm>
            <a:off x="6245473" y="4716247"/>
            <a:ext cx="33449" cy="668971"/>
          </a:xfrm>
          <a:custGeom>
            <a:avLst/>
            <a:gdLst/>
            <a:ahLst/>
            <a:cxnLst/>
            <a:rect l="l" t="t" r="r" b="b"/>
            <a:pathLst>
              <a:path w="33449" h="668971">
                <a:moveTo>
                  <a:pt x="33449" y="0"/>
                </a:moveTo>
                <a:lnTo>
                  <a:pt x="33449" y="0"/>
                </a:lnTo>
                <a:lnTo>
                  <a:pt x="33449" y="668971"/>
                </a:lnTo>
                <a:lnTo>
                  <a:pt x="33449" y="668971"/>
                </a:lnTo>
                <a:cubicBezTo>
                  <a:pt x="14975" y="668971"/>
                  <a:pt x="0" y="653996"/>
                  <a:pt x="0" y="635523"/>
                </a:cubicBezTo>
                <a:lnTo>
                  <a:pt x="0" y="33449"/>
                </a:lnTo>
                <a:cubicBezTo>
                  <a:pt x="0" y="14988"/>
                  <a:pt x="14988" y="0"/>
                  <a:pt x="33449" y="0"/>
                </a:cubicBezTo>
                <a:close/>
              </a:path>
            </a:pathLst>
          </a:custGeom>
          <a:solidFill>
            <a:srgbClr val="3A4D39"/>
          </a:solidFill>
          <a:ln/>
        </p:spPr>
      </p:sp>
      <p:sp>
        <p:nvSpPr>
          <p:cNvPr id="80" name="Shape 78"/>
          <p:cNvSpPr/>
          <p:nvPr/>
        </p:nvSpPr>
        <p:spPr>
          <a:xfrm>
            <a:off x="6362543" y="4816593"/>
            <a:ext cx="334486" cy="334486"/>
          </a:xfrm>
          <a:custGeom>
            <a:avLst/>
            <a:gdLst/>
            <a:ahLst/>
            <a:cxnLst/>
            <a:rect l="l" t="t" r="r" b="b"/>
            <a:pathLst>
              <a:path w="334486" h="334486">
                <a:moveTo>
                  <a:pt x="167243" y="0"/>
                </a:moveTo>
                <a:lnTo>
                  <a:pt x="167243" y="0"/>
                </a:lnTo>
                <a:cubicBezTo>
                  <a:pt x="259547" y="0"/>
                  <a:pt x="334486" y="74939"/>
                  <a:pt x="334486" y="167243"/>
                </a:cubicBezTo>
                <a:lnTo>
                  <a:pt x="334486" y="167243"/>
                </a:lnTo>
                <a:cubicBezTo>
                  <a:pt x="334486" y="259547"/>
                  <a:pt x="259547" y="334486"/>
                  <a:pt x="167243" y="334486"/>
                </a:cubicBezTo>
                <a:lnTo>
                  <a:pt x="167243" y="334486"/>
                </a:lnTo>
                <a:cubicBezTo>
                  <a:pt x="74939" y="334486"/>
                  <a:pt x="0" y="259547"/>
                  <a:pt x="0" y="167243"/>
                </a:cubicBezTo>
                <a:lnTo>
                  <a:pt x="0" y="167243"/>
                </a:lnTo>
                <a:cubicBezTo>
                  <a:pt x="0" y="74939"/>
                  <a:pt x="74939" y="0"/>
                  <a:pt x="167243" y="0"/>
                </a:cubicBezTo>
                <a:close/>
              </a:path>
            </a:pathLst>
          </a:custGeom>
          <a:solidFill>
            <a:srgbClr val="3A4D39"/>
          </a:solidFill>
          <a:ln/>
        </p:spPr>
      </p:sp>
      <p:sp>
        <p:nvSpPr>
          <p:cNvPr id="81" name="Text 79"/>
          <p:cNvSpPr/>
          <p:nvPr/>
        </p:nvSpPr>
        <p:spPr>
          <a:xfrm>
            <a:off x="6467593" y="4866765"/>
            <a:ext cx="200691" cy="234140"/>
          </a:xfrm>
          <a:prstGeom prst="rect">
            <a:avLst/>
          </a:prstGeom>
          <a:noFill/>
          <a:ln/>
        </p:spPr>
        <p:txBody>
          <a:bodyPr wrap="square" lIns="0" tIns="0" rIns="0" bIns="0" rtlCol="0" anchor="ctr"/>
          <a:lstStyle/>
          <a:p>
            <a:pPr>
              <a:lnSpc>
                <a:spcPct val="130000"/>
              </a:lnSpc>
            </a:pPr>
            <a:r>
              <a:rPr lang="en-US" sz="1185" b="1" dirty="0">
                <a:solidFill>
                  <a:srgbClr val="F8F6F2"/>
                </a:solidFill>
                <a:latin typeface="Oranienbaum" pitchFamily="34" charset="0"/>
                <a:ea typeface="Oranienbaum" pitchFamily="34" charset="-122"/>
                <a:cs typeface="Oranienbaum" pitchFamily="34" charset="-120"/>
              </a:rPr>
              <a:t>13</a:t>
            </a:r>
            <a:endParaRPr lang="en-US" sz="1600" dirty="0"/>
          </a:p>
        </p:txBody>
      </p:sp>
      <p:sp>
        <p:nvSpPr>
          <p:cNvPr id="82" name="Text 80"/>
          <p:cNvSpPr/>
          <p:nvPr/>
        </p:nvSpPr>
        <p:spPr>
          <a:xfrm>
            <a:off x="6830823" y="4816593"/>
            <a:ext cx="2592263" cy="234140"/>
          </a:xfrm>
          <a:prstGeom prst="rect">
            <a:avLst/>
          </a:prstGeom>
          <a:noFill/>
          <a:ln/>
        </p:spPr>
        <p:txBody>
          <a:bodyPr wrap="square" lIns="0" tIns="0" rIns="0" bIns="0" rtlCol="0" anchor="ctr"/>
          <a:lstStyle/>
          <a:p>
            <a:pPr>
              <a:lnSpc>
                <a:spcPct val="120000"/>
              </a:lnSpc>
            </a:pPr>
            <a:r>
              <a:rPr lang="en-US" sz="1317" b="1" dirty="0">
                <a:solidFill>
                  <a:srgbClr val="3A4D39"/>
                </a:solidFill>
                <a:latin typeface="Unna" pitchFamily="34" charset="0"/>
                <a:ea typeface="Unna" pitchFamily="34" charset="-122"/>
                <a:cs typeface="Unna" pitchFamily="34" charset="-120"/>
              </a:rPr>
              <a:t>Term, Termination, and Exit</a:t>
            </a:r>
            <a:endParaRPr lang="en-US" sz="1600" dirty="0"/>
          </a:p>
        </p:txBody>
      </p:sp>
      <p:sp>
        <p:nvSpPr>
          <p:cNvPr id="83" name="Text 81"/>
          <p:cNvSpPr/>
          <p:nvPr/>
        </p:nvSpPr>
        <p:spPr>
          <a:xfrm>
            <a:off x="6830823" y="5084181"/>
            <a:ext cx="2575539" cy="200691"/>
          </a:xfrm>
          <a:prstGeom prst="rect">
            <a:avLst/>
          </a:prstGeom>
          <a:noFill/>
          <a:ln/>
        </p:spPr>
        <p:txBody>
          <a:bodyPr wrap="square" lIns="0" tIns="0" rIns="0" bIns="0" rtlCol="0" anchor="ctr"/>
          <a:lstStyle/>
          <a:p>
            <a:pPr>
              <a:lnSpc>
                <a:spcPct val="130000"/>
              </a:lnSpc>
            </a:pPr>
            <a:r>
              <a:rPr lang="en-US" sz="1053" dirty="0">
                <a:solidFill>
                  <a:srgbClr val="2C2C2C"/>
                </a:solidFill>
                <a:latin typeface="Quattrocento Sans" pitchFamily="34" charset="0"/>
                <a:ea typeface="Quattrocento Sans" pitchFamily="34" charset="-122"/>
                <a:cs typeface="Quattrocento Sans" pitchFamily="34" charset="-120"/>
              </a:rPr>
              <a:t>Duration, exit mechanisms, and procedures</a:t>
            </a:r>
            <a:endParaRPr lang="en-US" sz="1600" dirty="0"/>
          </a:p>
        </p:txBody>
      </p:sp>
      <p:sp>
        <p:nvSpPr>
          <p:cNvPr id="84" name="Shape 82"/>
          <p:cNvSpPr/>
          <p:nvPr/>
        </p:nvSpPr>
        <p:spPr>
          <a:xfrm>
            <a:off x="6245473" y="5452115"/>
            <a:ext cx="5610996" cy="668971"/>
          </a:xfrm>
          <a:custGeom>
            <a:avLst/>
            <a:gdLst/>
            <a:ahLst/>
            <a:cxnLst/>
            <a:rect l="l" t="t" r="r" b="b"/>
            <a:pathLst>
              <a:path w="5610996" h="668971">
                <a:moveTo>
                  <a:pt x="33449" y="0"/>
                </a:moveTo>
                <a:lnTo>
                  <a:pt x="5544099" y="0"/>
                </a:lnTo>
                <a:cubicBezTo>
                  <a:pt x="5581045" y="0"/>
                  <a:pt x="5610996" y="29951"/>
                  <a:pt x="5610996" y="66897"/>
                </a:cubicBezTo>
                <a:lnTo>
                  <a:pt x="5610996" y="602074"/>
                </a:lnTo>
                <a:cubicBezTo>
                  <a:pt x="5610996" y="639020"/>
                  <a:pt x="5581045" y="668971"/>
                  <a:pt x="5544099" y="668971"/>
                </a:cubicBezTo>
                <a:lnTo>
                  <a:pt x="33449" y="668971"/>
                </a:lnTo>
                <a:cubicBezTo>
                  <a:pt x="14975" y="668971"/>
                  <a:pt x="0" y="653996"/>
                  <a:pt x="0" y="635523"/>
                </a:cubicBezTo>
                <a:lnTo>
                  <a:pt x="0" y="33449"/>
                </a:lnTo>
                <a:cubicBezTo>
                  <a:pt x="0" y="14988"/>
                  <a:pt x="14988" y="0"/>
                  <a:pt x="33449" y="0"/>
                </a:cubicBezTo>
                <a:close/>
              </a:path>
            </a:pathLst>
          </a:custGeom>
          <a:solidFill>
            <a:srgbClr val="FFFFFF"/>
          </a:solidFill>
          <a:ln/>
          <a:effectLst>
            <a:outerShdw sx="100000" sy="100000" kx="0" ky="0" algn="bl" rotWithShape="0" blurRad="25086" dist="8362" dir="5400000">
              <a:srgbClr val="000000">
                <a:alpha val="10196"/>
              </a:srgbClr>
            </a:outerShdw>
          </a:effectLst>
        </p:spPr>
      </p:sp>
      <p:sp>
        <p:nvSpPr>
          <p:cNvPr id="85" name="Shape 83"/>
          <p:cNvSpPr/>
          <p:nvPr/>
        </p:nvSpPr>
        <p:spPr>
          <a:xfrm>
            <a:off x="6245473" y="5452115"/>
            <a:ext cx="33449" cy="668971"/>
          </a:xfrm>
          <a:custGeom>
            <a:avLst/>
            <a:gdLst/>
            <a:ahLst/>
            <a:cxnLst/>
            <a:rect l="l" t="t" r="r" b="b"/>
            <a:pathLst>
              <a:path w="33449" h="668971">
                <a:moveTo>
                  <a:pt x="33449" y="0"/>
                </a:moveTo>
                <a:lnTo>
                  <a:pt x="33449" y="0"/>
                </a:lnTo>
                <a:lnTo>
                  <a:pt x="33449" y="668971"/>
                </a:lnTo>
                <a:lnTo>
                  <a:pt x="33449" y="668971"/>
                </a:lnTo>
                <a:cubicBezTo>
                  <a:pt x="14975" y="668971"/>
                  <a:pt x="0" y="653996"/>
                  <a:pt x="0" y="635523"/>
                </a:cubicBezTo>
                <a:lnTo>
                  <a:pt x="0" y="33449"/>
                </a:lnTo>
                <a:cubicBezTo>
                  <a:pt x="0" y="14988"/>
                  <a:pt x="14988" y="0"/>
                  <a:pt x="33449" y="0"/>
                </a:cubicBezTo>
                <a:close/>
              </a:path>
            </a:pathLst>
          </a:custGeom>
          <a:solidFill>
            <a:srgbClr val="7A6250"/>
          </a:solidFill>
          <a:ln/>
        </p:spPr>
      </p:sp>
      <p:sp>
        <p:nvSpPr>
          <p:cNvPr id="86" name="Shape 84"/>
          <p:cNvSpPr/>
          <p:nvPr/>
        </p:nvSpPr>
        <p:spPr>
          <a:xfrm>
            <a:off x="6362543" y="5552461"/>
            <a:ext cx="334486" cy="334486"/>
          </a:xfrm>
          <a:custGeom>
            <a:avLst/>
            <a:gdLst/>
            <a:ahLst/>
            <a:cxnLst/>
            <a:rect l="l" t="t" r="r" b="b"/>
            <a:pathLst>
              <a:path w="334486" h="334486">
                <a:moveTo>
                  <a:pt x="167243" y="0"/>
                </a:moveTo>
                <a:lnTo>
                  <a:pt x="167243" y="0"/>
                </a:lnTo>
                <a:cubicBezTo>
                  <a:pt x="259547" y="0"/>
                  <a:pt x="334486" y="74939"/>
                  <a:pt x="334486" y="167243"/>
                </a:cubicBezTo>
                <a:lnTo>
                  <a:pt x="334486" y="167243"/>
                </a:lnTo>
                <a:cubicBezTo>
                  <a:pt x="334486" y="259547"/>
                  <a:pt x="259547" y="334486"/>
                  <a:pt x="167243" y="334486"/>
                </a:cubicBezTo>
                <a:lnTo>
                  <a:pt x="167243" y="334486"/>
                </a:lnTo>
                <a:cubicBezTo>
                  <a:pt x="74939" y="334486"/>
                  <a:pt x="0" y="259547"/>
                  <a:pt x="0" y="167243"/>
                </a:cubicBezTo>
                <a:lnTo>
                  <a:pt x="0" y="167243"/>
                </a:lnTo>
                <a:cubicBezTo>
                  <a:pt x="0" y="74939"/>
                  <a:pt x="74939" y="0"/>
                  <a:pt x="167243" y="0"/>
                </a:cubicBezTo>
                <a:close/>
              </a:path>
            </a:pathLst>
          </a:custGeom>
          <a:solidFill>
            <a:srgbClr val="7A6250"/>
          </a:solidFill>
          <a:ln/>
        </p:spPr>
      </p:sp>
      <p:sp>
        <p:nvSpPr>
          <p:cNvPr id="87" name="Text 85"/>
          <p:cNvSpPr/>
          <p:nvPr/>
        </p:nvSpPr>
        <p:spPr>
          <a:xfrm>
            <a:off x="6464195" y="5602634"/>
            <a:ext cx="209053" cy="234140"/>
          </a:xfrm>
          <a:prstGeom prst="rect">
            <a:avLst/>
          </a:prstGeom>
          <a:noFill/>
          <a:ln/>
        </p:spPr>
        <p:txBody>
          <a:bodyPr wrap="square" lIns="0" tIns="0" rIns="0" bIns="0" rtlCol="0" anchor="ctr"/>
          <a:lstStyle/>
          <a:p>
            <a:pPr>
              <a:lnSpc>
                <a:spcPct val="130000"/>
              </a:lnSpc>
            </a:pPr>
            <a:r>
              <a:rPr lang="en-US" sz="1185" b="1" dirty="0">
                <a:solidFill>
                  <a:srgbClr val="F8F6F2"/>
                </a:solidFill>
                <a:latin typeface="Oranienbaum" pitchFamily="34" charset="0"/>
                <a:ea typeface="Oranienbaum" pitchFamily="34" charset="-122"/>
                <a:cs typeface="Oranienbaum" pitchFamily="34" charset="-120"/>
              </a:rPr>
              <a:t>14</a:t>
            </a:r>
            <a:endParaRPr lang="en-US" sz="1600" dirty="0"/>
          </a:p>
        </p:txBody>
      </p:sp>
      <p:sp>
        <p:nvSpPr>
          <p:cNvPr id="88" name="Text 86"/>
          <p:cNvSpPr/>
          <p:nvPr/>
        </p:nvSpPr>
        <p:spPr>
          <a:xfrm>
            <a:off x="6830823" y="5552461"/>
            <a:ext cx="2458469" cy="234140"/>
          </a:xfrm>
          <a:prstGeom prst="rect">
            <a:avLst/>
          </a:prstGeom>
          <a:noFill/>
          <a:ln/>
        </p:spPr>
        <p:txBody>
          <a:bodyPr wrap="square" lIns="0" tIns="0" rIns="0" bIns="0" rtlCol="0" anchor="ctr"/>
          <a:lstStyle/>
          <a:p>
            <a:pPr>
              <a:lnSpc>
                <a:spcPct val="120000"/>
              </a:lnSpc>
            </a:pPr>
            <a:r>
              <a:rPr lang="en-US" sz="1317" b="1" dirty="0">
                <a:solidFill>
                  <a:srgbClr val="3A4D39"/>
                </a:solidFill>
                <a:latin typeface="Unna" pitchFamily="34" charset="0"/>
                <a:ea typeface="Unna" pitchFamily="34" charset="-122"/>
                <a:cs typeface="Unna" pitchFamily="34" charset="-120"/>
              </a:rPr>
              <a:t>General Provisions</a:t>
            </a:r>
            <a:endParaRPr lang="en-US" sz="1600" dirty="0"/>
          </a:p>
        </p:txBody>
      </p:sp>
      <p:sp>
        <p:nvSpPr>
          <p:cNvPr id="89" name="Text 87"/>
          <p:cNvSpPr/>
          <p:nvPr/>
        </p:nvSpPr>
        <p:spPr>
          <a:xfrm>
            <a:off x="6830823" y="5820049"/>
            <a:ext cx="2441745" cy="200691"/>
          </a:xfrm>
          <a:prstGeom prst="rect">
            <a:avLst/>
          </a:prstGeom>
          <a:noFill/>
          <a:ln/>
        </p:spPr>
        <p:txBody>
          <a:bodyPr wrap="square" lIns="0" tIns="0" rIns="0" bIns="0" rtlCol="0" anchor="ctr"/>
          <a:lstStyle/>
          <a:p>
            <a:pPr>
              <a:lnSpc>
                <a:spcPct val="130000"/>
              </a:lnSpc>
            </a:pPr>
            <a:r>
              <a:rPr lang="en-US" sz="1053" dirty="0">
                <a:solidFill>
                  <a:srgbClr val="2C2C2C"/>
                </a:solidFill>
                <a:latin typeface="Quattrocento Sans" pitchFamily="34" charset="0"/>
                <a:ea typeface="Quattrocento Sans" pitchFamily="34" charset="-122"/>
                <a:cs typeface="Quattrocento Sans" pitchFamily="34" charset="-120"/>
              </a:rPr>
              <a:t>Standard legal clauses and governing law</a:t>
            </a:r>
            <a:endParaRPr lang="en-US" sz="1600" dirty="0"/>
          </a:p>
        </p:txBody>
      </p:sp>
      <p:sp>
        <p:nvSpPr>
          <p:cNvPr id="90" name="Shape 88"/>
          <p:cNvSpPr/>
          <p:nvPr/>
        </p:nvSpPr>
        <p:spPr>
          <a:xfrm>
            <a:off x="6245473" y="6187984"/>
            <a:ext cx="5610996" cy="668971"/>
          </a:xfrm>
          <a:custGeom>
            <a:avLst/>
            <a:gdLst/>
            <a:ahLst/>
            <a:cxnLst/>
            <a:rect l="l" t="t" r="r" b="b"/>
            <a:pathLst>
              <a:path w="5610996" h="668971">
                <a:moveTo>
                  <a:pt x="33449" y="0"/>
                </a:moveTo>
                <a:lnTo>
                  <a:pt x="5544099" y="0"/>
                </a:lnTo>
                <a:cubicBezTo>
                  <a:pt x="5581045" y="0"/>
                  <a:pt x="5610996" y="29951"/>
                  <a:pt x="5610996" y="66897"/>
                </a:cubicBezTo>
                <a:lnTo>
                  <a:pt x="5610996" y="602074"/>
                </a:lnTo>
                <a:cubicBezTo>
                  <a:pt x="5610996" y="639020"/>
                  <a:pt x="5581045" y="668971"/>
                  <a:pt x="5544099" y="668971"/>
                </a:cubicBezTo>
                <a:lnTo>
                  <a:pt x="33449" y="668971"/>
                </a:lnTo>
                <a:cubicBezTo>
                  <a:pt x="14975" y="668971"/>
                  <a:pt x="0" y="653996"/>
                  <a:pt x="0" y="635523"/>
                </a:cubicBezTo>
                <a:lnTo>
                  <a:pt x="0" y="33449"/>
                </a:lnTo>
                <a:cubicBezTo>
                  <a:pt x="0" y="14988"/>
                  <a:pt x="14988" y="0"/>
                  <a:pt x="33449" y="0"/>
                </a:cubicBezTo>
                <a:close/>
              </a:path>
            </a:pathLst>
          </a:custGeom>
          <a:solidFill>
            <a:srgbClr val="3A4D39"/>
          </a:solidFill>
          <a:ln/>
          <a:effectLst>
            <a:outerShdw sx="100000" sy="100000" kx="0" ky="0" algn="bl" rotWithShape="0" blurRad="25086" dist="8362" dir="5400000">
              <a:srgbClr val="000000">
                <a:alpha val="10196"/>
              </a:srgbClr>
            </a:outerShdw>
          </a:effectLst>
        </p:spPr>
      </p:sp>
      <p:sp>
        <p:nvSpPr>
          <p:cNvPr id="91" name="Shape 89"/>
          <p:cNvSpPr/>
          <p:nvPr/>
        </p:nvSpPr>
        <p:spPr>
          <a:xfrm>
            <a:off x="6245473" y="6187984"/>
            <a:ext cx="33449" cy="668971"/>
          </a:xfrm>
          <a:custGeom>
            <a:avLst/>
            <a:gdLst/>
            <a:ahLst/>
            <a:cxnLst/>
            <a:rect l="l" t="t" r="r" b="b"/>
            <a:pathLst>
              <a:path w="33449" h="668971">
                <a:moveTo>
                  <a:pt x="33449" y="0"/>
                </a:moveTo>
                <a:lnTo>
                  <a:pt x="33449" y="0"/>
                </a:lnTo>
                <a:lnTo>
                  <a:pt x="33449" y="668971"/>
                </a:lnTo>
                <a:lnTo>
                  <a:pt x="33449" y="668971"/>
                </a:lnTo>
                <a:cubicBezTo>
                  <a:pt x="14975" y="668971"/>
                  <a:pt x="0" y="653996"/>
                  <a:pt x="0" y="635523"/>
                </a:cubicBezTo>
                <a:lnTo>
                  <a:pt x="0" y="33449"/>
                </a:lnTo>
                <a:cubicBezTo>
                  <a:pt x="0" y="14988"/>
                  <a:pt x="14988" y="0"/>
                  <a:pt x="33449" y="0"/>
                </a:cubicBezTo>
                <a:close/>
              </a:path>
            </a:pathLst>
          </a:custGeom>
          <a:solidFill>
            <a:srgbClr val="BCA37F"/>
          </a:solidFill>
          <a:ln/>
        </p:spPr>
      </p:sp>
      <p:sp>
        <p:nvSpPr>
          <p:cNvPr id="92" name="Shape 90"/>
          <p:cNvSpPr/>
          <p:nvPr/>
        </p:nvSpPr>
        <p:spPr>
          <a:xfrm>
            <a:off x="6362543" y="6288329"/>
            <a:ext cx="334486" cy="334486"/>
          </a:xfrm>
          <a:custGeom>
            <a:avLst/>
            <a:gdLst/>
            <a:ahLst/>
            <a:cxnLst/>
            <a:rect l="l" t="t" r="r" b="b"/>
            <a:pathLst>
              <a:path w="334486" h="334486">
                <a:moveTo>
                  <a:pt x="167243" y="0"/>
                </a:moveTo>
                <a:lnTo>
                  <a:pt x="167243" y="0"/>
                </a:lnTo>
                <a:cubicBezTo>
                  <a:pt x="259547" y="0"/>
                  <a:pt x="334486" y="74939"/>
                  <a:pt x="334486" y="167243"/>
                </a:cubicBezTo>
                <a:lnTo>
                  <a:pt x="334486" y="167243"/>
                </a:lnTo>
                <a:cubicBezTo>
                  <a:pt x="334486" y="259547"/>
                  <a:pt x="259547" y="334486"/>
                  <a:pt x="167243" y="334486"/>
                </a:cubicBezTo>
                <a:lnTo>
                  <a:pt x="167243" y="334486"/>
                </a:lnTo>
                <a:cubicBezTo>
                  <a:pt x="74939" y="334486"/>
                  <a:pt x="0" y="259547"/>
                  <a:pt x="0" y="167243"/>
                </a:cubicBezTo>
                <a:lnTo>
                  <a:pt x="0" y="167243"/>
                </a:lnTo>
                <a:cubicBezTo>
                  <a:pt x="0" y="74939"/>
                  <a:pt x="74939" y="0"/>
                  <a:pt x="167243" y="0"/>
                </a:cubicBezTo>
                <a:close/>
              </a:path>
            </a:pathLst>
          </a:custGeom>
          <a:solidFill>
            <a:srgbClr val="BCA37F"/>
          </a:solidFill>
          <a:ln/>
        </p:spPr>
      </p:sp>
      <p:sp>
        <p:nvSpPr>
          <p:cNvPr id="93" name="Text 91"/>
          <p:cNvSpPr/>
          <p:nvPr/>
        </p:nvSpPr>
        <p:spPr>
          <a:xfrm>
            <a:off x="6468377" y="6338502"/>
            <a:ext cx="200691" cy="234140"/>
          </a:xfrm>
          <a:prstGeom prst="rect">
            <a:avLst/>
          </a:prstGeom>
          <a:noFill/>
          <a:ln/>
        </p:spPr>
        <p:txBody>
          <a:bodyPr wrap="square" lIns="0" tIns="0" rIns="0" bIns="0" rtlCol="0" anchor="ctr"/>
          <a:lstStyle/>
          <a:p>
            <a:pPr>
              <a:lnSpc>
                <a:spcPct val="130000"/>
              </a:lnSpc>
            </a:pPr>
            <a:r>
              <a:rPr lang="en-US" sz="1185" b="1" dirty="0">
                <a:solidFill>
                  <a:srgbClr val="3A4D39"/>
                </a:solidFill>
                <a:latin typeface="Oranienbaum" pitchFamily="34" charset="0"/>
                <a:ea typeface="Oranienbaum" pitchFamily="34" charset="-122"/>
                <a:cs typeface="Oranienbaum" pitchFamily="34" charset="-120"/>
              </a:rPr>
              <a:t>15</a:t>
            </a:r>
            <a:endParaRPr lang="en-US" sz="1600" dirty="0"/>
          </a:p>
        </p:txBody>
      </p:sp>
      <p:sp>
        <p:nvSpPr>
          <p:cNvPr id="94" name="Text 92"/>
          <p:cNvSpPr/>
          <p:nvPr/>
        </p:nvSpPr>
        <p:spPr>
          <a:xfrm>
            <a:off x="6830823" y="6288329"/>
            <a:ext cx="2391572" cy="234140"/>
          </a:xfrm>
          <a:prstGeom prst="rect">
            <a:avLst/>
          </a:prstGeom>
          <a:noFill/>
          <a:ln/>
        </p:spPr>
        <p:txBody>
          <a:bodyPr wrap="square" lIns="0" tIns="0" rIns="0" bIns="0" rtlCol="0" anchor="ctr"/>
          <a:lstStyle/>
          <a:p>
            <a:pPr>
              <a:lnSpc>
                <a:spcPct val="120000"/>
              </a:lnSpc>
            </a:pPr>
            <a:r>
              <a:rPr lang="en-US" sz="1317" b="1" dirty="0">
                <a:solidFill>
                  <a:srgbClr val="F8F6F2"/>
                </a:solidFill>
                <a:latin typeface="Unna" pitchFamily="34" charset="0"/>
                <a:ea typeface="Unna" pitchFamily="34" charset="-122"/>
                <a:cs typeface="Unna" pitchFamily="34" charset="-120"/>
              </a:rPr>
              <a:t>Signatures and Execution</a:t>
            </a:r>
            <a:endParaRPr lang="en-US" sz="1600" dirty="0"/>
          </a:p>
        </p:txBody>
      </p:sp>
      <p:sp>
        <p:nvSpPr>
          <p:cNvPr id="95" name="Text 93"/>
          <p:cNvSpPr/>
          <p:nvPr/>
        </p:nvSpPr>
        <p:spPr>
          <a:xfrm>
            <a:off x="6830823" y="6555918"/>
            <a:ext cx="2374848" cy="200691"/>
          </a:xfrm>
          <a:prstGeom prst="rect">
            <a:avLst/>
          </a:prstGeom>
          <a:noFill/>
          <a:ln/>
        </p:spPr>
        <p:txBody>
          <a:bodyPr wrap="square" lIns="0" tIns="0" rIns="0" bIns="0" rtlCol="0" anchor="ctr"/>
          <a:lstStyle/>
          <a:p>
            <a:pPr>
              <a:lnSpc>
                <a:spcPct val="130000"/>
              </a:lnSpc>
            </a:pPr>
            <a:r>
              <a:rPr lang="en-US" sz="1053" dirty="0">
                <a:solidFill>
                  <a:srgbClr val="F8F6F2"/>
                </a:solidFill>
                <a:latin typeface="Quattrocento Sans" pitchFamily="34" charset="0"/>
                <a:ea typeface="Quattrocento Sans" pitchFamily="34" charset="-122"/>
                <a:cs typeface="Quattrocento Sans" pitchFamily="34" charset="-120"/>
              </a:rPr>
              <a:t>Binding execution and acknowledgment</a:t>
            </a:r>
            <a:endParaRPr lang="en-US" sz="1600" dirty="0"/>
          </a:p>
        </p:txBody>
      </p:sp>
    </p:spTree>
  </p:cSld>
  <p:clrMapOvr>
    <a:masterClrMapping/>
  </p:clrMapOvr>
  <p:transition>
    <p:fade/>
    <p:spd val="med"/>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6F2"/>
        </a:solidFill>
      </p:bgPr>
    </p:bg>
    <p:spTree>
      <p:nvGrpSpPr>
        <p:cNvPr id="1" name=""/>
        <p:cNvGrpSpPr/>
        <p:nvPr/>
      </p:nvGrpSpPr>
      <p:grpSpPr>
        <a:xfrm>
          <a:off x="0" y="0"/>
          <a:ext cx="0" cy="0"/>
          <a:chOff x="0" y="0"/>
          <a:chExt cx="0" cy="0"/>
        </a:xfrm>
      </p:grpSpPr>
      <p:sp>
        <p:nvSpPr>
          <p:cNvPr id="2" name="Shape 0"/>
          <p:cNvSpPr/>
          <p:nvPr/>
        </p:nvSpPr>
        <p:spPr>
          <a:xfrm>
            <a:off x="372844" y="372844"/>
            <a:ext cx="372844" cy="372844"/>
          </a:xfrm>
          <a:custGeom>
            <a:avLst/>
            <a:gdLst/>
            <a:ahLst/>
            <a:cxnLst/>
            <a:rect l="l" t="t" r="r" b="b"/>
            <a:pathLst>
              <a:path w="372844" h="372844">
                <a:moveTo>
                  <a:pt x="37284" y="0"/>
                </a:moveTo>
                <a:lnTo>
                  <a:pt x="335560" y="0"/>
                </a:lnTo>
                <a:cubicBezTo>
                  <a:pt x="356137" y="0"/>
                  <a:pt x="372844" y="16707"/>
                  <a:pt x="372844" y="37284"/>
                </a:cubicBezTo>
                <a:lnTo>
                  <a:pt x="372844" y="335560"/>
                </a:lnTo>
                <a:cubicBezTo>
                  <a:pt x="372844" y="356137"/>
                  <a:pt x="356137" y="372844"/>
                  <a:pt x="335560" y="372844"/>
                </a:cubicBezTo>
                <a:lnTo>
                  <a:pt x="37284" y="372844"/>
                </a:lnTo>
                <a:cubicBezTo>
                  <a:pt x="16707" y="372844"/>
                  <a:pt x="0" y="356137"/>
                  <a:pt x="0" y="335560"/>
                </a:cubicBezTo>
                <a:lnTo>
                  <a:pt x="0" y="37284"/>
                </a:lnTo>
                <a:cubicBezTo>
                  <a:pt x="0" y="16707"/>
                  <a:pt x="16707" y="0"/>
                  <a:pt x="37284" y="0"/>
                </a:cubicBezTo>
                <a:close/>
              </a:path>
            </a:pathLst>
          </a:custGeom>
          <a:solidFill>
            <a:srgbClr val="3A4D39"/>
          </a:solidFill>
          <a:ln/>
        </p:spPr>
      </p:sp>
      <p:sp>
        <p:nvSpPr>
          <p:cNvPr id="3" name="Text 1"/>
          <p:cNvSpPr/>
          <p:nvPr/>
        </p:nvSpPr>
        <p:spPr>
          <a:xfrm>
            <a:off x="529555" y="428771"/>
            <a:ext cx="149138" cy="260991"/>
          </a:xfrm>
          <a:prstGeom prst="rect">
            <a:avLst/>
          </a:prstGeom>
          <a:noFill/>
          <a:ln/>
        </p:spPr>
        <p:txBody>
          <a:bodyPr wrap="square" lIns="0" tIns="0" rIns="0" bIns="0" rtlCol="0" anchor="ctr"/>
          <a:lstStyle/>
          <a:p>
            <a:pPr>
              <a:lnSpc>
                <a:spcPct val="120000"/>
              </a:lnSpc>
            </a:pPr>
            <a:r>
              <a:rPr lang="en-US" sz="1468" b="1" dirty="0">
                <a:solidFill>
                  <a:srgbClr val="F8F6F2"/>
                </a:solidFill>
                <a:latin typeface="Oranienbaum" pitchFamily="34" charset="0"/>
                <a:ea typeface="Oranienbaum" pitchFamily="34" charset="-122"/>
                <a:cs typeface="Oranienbaum" pitchFamily="34" charset="-120"/>
              </a:rPr>
              <a:t>1</a:t>
            </a:r>
            <a:endParaRPr lang="en-US" sz="1600" dirty="0"/>
          </a:p>
        </p:txBody>
      </p:sp>
      <p:sp>
        <p:nvSpPr>
          <p:cNvPr id="4" name="Text 2"/>
          <p:cNvSpPr/>
          <p:nvPr/>
        </p:nvSpPr>
        <p:spPr>
          <a:xfrm>
            <a:off x="857541" y="372844"/>
            <a:ext cx="3681835" cy="372844"/>
          </a:xfrm>
          <a:prstGeom prst="rect">
            <a:avLst/>
          </a:prstGeom>
          <a:noFill/>
          <a:ln/>
        </p:spPr>
        <p:txBody>
          <a:bodyPr wrap="square" lIns="0" tIns="0" rIns="0" bIns="0" rtlCol="0" anchor="ctr"/>
          <a:lstStyle/>
          <a:p>
            <a:pPr>
              <a:lnSpc>
                <a:spcPct val="90000"/>
              </a:lnSpc>
            </a:pPr>
            <a:r>
              <a:rPr lang="en-US" sz="2642" b="1" dirty="0">
                <a:solidFill>
                  <a:srgbClr val="3A4D39"/>
                </a:solidFill>
                <a:latin typeface="Oranienbaum" pitchFamily="34" charset="0"/>
                <a:ea typeface="Oranienbaum" pitchFamily="34" charset="-122"/>
                <a:cs typeface="Oranienbaum" pitchFamily="34" charset="-120"/>
              </a:rPr>
              <a:t>Background and Recitals</a:t>
            </a:r>
            <a:endParaRPr lang="en-US" sz="1600" dirty="0"/>
          </a:p>
        </p:txBody>
      </p:sp>
      <p:sp>
        <p:nvSpPr>
          <p:cNvPr id="5" name="Shape 3"/>
          <p:cNvSpPr/>
          <p:nvPr/>
        </p:nvSpPr>
        <p:spPr>
          <a:xfrm>
            <a:off x="372844" y="820257"/>
            <a:ext cx="745688" cy="37284"/>
          </a:xfrm>
          <a:custGeom>
            <a:avLst/>
            <a:gdLst/>
            <a:ahLst/>
            <a:cxnLst/>
            <a:rect l="l" t="t" r="r" b="b"/>
            <a:pathLst>
              <a:path w="745688" h="37284">
                <a:moveTo>
                  <a:pt x="0" y="0"/>
                </a:moveTo>
                <a:lnTo>
                  <a:pt x="745688" y="0"/>
                </a:lnTo>
                <a:lnTo>
                  <a:pt x="745688" y="37284"/>
                </a:lnTo>
                <a:lnTo>
                  <a:pt x="0" y="37284"/>
                </a:lnTo>
                <a:lnTo>
                  <a:pt x="0" y="0"/>
                </a:lnTo>
                <a:close/>
              </a:path>
            </a:pathLst>
          </a:custGeom>
          <a:solidFill>
            <a:srgbClr val="BCA37F"/>
          </a:solidFill>
          <a:ln/>
        </p:spPr>
      </p:sp>
      <p:sp>
        <p:nvSpPr>
          <p:cNvPr id="6" name="Shape 4"/>
          <p:cNvSpPr/>
          <p:nvPr/>
        </p:nvSpPr>
        <p:spPr>
          <a:xfrm>
            <a:off x="391486" y="1006679"/>
            <a:ext cx="11427670" cy="1360881"/>
          </a:xfrm>
          <a:custGeom>
            <a:avLst/>
            <a:gdLst/>
            <a:ahLst/>
            <a:cxnLst/>
            <a:rect l="l" t="t" r="r" b="b"/>
            <a:pathLst>
              <a:path w="11427670" h="1360881">
                <a:moveTo>
                  <a:pt x="37284" y="0"/>
                </a:moveTo>
                <a:lnTo>
                  <a:pt x="11353107" y="0"/>
                </a:lnTo>
                <a:cubicBezTo>
                  <a:pt x="11394287" y="0"/>
                  <a:pt x="11427670" y="33383"/>
                  <a:pt x="11427670" y="74563"/>
                </a:cubicBezTo>
                <a:lnTo>
                  <a:pt x="11427670" y="1286318"/>
                </a:lnTo>
                <a:cubicBezTo>
                  <a:pt x="11427670" y="1327498"/>
                  <a:pt x="11394287" y="1360881"/>
                  <a:pt x="11353107" y="1360881"/>
                </a:cubicBezTo>
                <a:lnTo>
                  <a:pt x="37284" y="1360881"/>
                </a:lnTo>
                <a:cubicBezTo>
                  <a:pt x="16693" y="1360881"/>
                  <a:pt x="0" y="1344188"/>
                  <a:pt x="0" y="1323596"/>
                </a:cubicBezTo>
                <a:lnTo>
                  <a:pt x="0" y="37284"/>
                </a:lnTo>
                <a:cubicBezTo>
                  <a:pt x="0" y="16707"/>
                  <a:pt x="16707" y="0"/>
                  <a:pt x="37284" y="0"/>
                </a:cubicBezTo>
                <a:close/>
              </a:path>
            </a:pathLst>
          </a:custGeom>
          <a:solidFill>
            <a:srgbClr val="FFFFFF"/>
          </a:solidFill>
          <a:ln/>
          <a:effectLst>
            <a:outerShdw sx="100000" sy="100000" kx="0" ky="0" algn="bl" rotWithShape="0" blurRad="27963" dist="9321" dir="5400000">
              <a:srgbClr val="000000">
                <a:alpha val="10196"/>
              </a:srgbClr>
            </a:outerShdw>
          </a:effectLst>
        </p:spPr>
      </p:sp>
      <p:sp>
        <p:nvSpPr>
          <p:cNvPr id="7" name="Shape 5"/>
          <p:cNvSpPr/>
          <p:nvPr/>
        </p:nvSpPr>
        <p:spPr>
          <a:xfrm>
            <a:off x="391486" y="1006679"/>
            <a:ext cx="37284" cy="1360881"/>
          </a:xfrm>
          <a:custGeom>
            <a:avLst/>
            <a:gdLst/>
            <a:ahLst/>
            <a:cxnLst/>
            <a:rect l="l" t="t" r="r" b="b"/>
            <a:pathLst>
              <a:path w="37284" h="1360881">
                <a:moveTo>
                  <a:pt x="37284" y="0"/>
                </a:moveTo>
                <a:lnTo>
                  <a:pt x="37284" y="0"/>
                </a:lnTo>
                <a:lnTo>
                  <a:pt x="37284" y="1360881"/>
                </a:lnTo>
                <a:lnTo>
                  <a:pt x="37284" y="1360881"/>
                </a:lnTo>
                <a:cubicBezTo>
                  <a:pt x="16693" y="1360881"/>
                  <a:pt x="0" y="1344188"/>
                  <a:pt x="0" y="1323596"/>
                </a:cubicBezTo>
                <a:lnTo>
                  <a:pt x="0" y="37284"/>
                </a:lnTo>
                <a:cubicBezTo>
                  <a:pt x="0" y="16707"/>
                  <a:pt x="16707" y="0"/>
                  <a:pt x="37284" y="0"/>
                </a:cubicBezTo>
                <a:close/>
              </a:path>
            </a:pathLst>
          </a:custGeom>
          <a:solidFill>
            <a:srgbClr val="3A4D39"/>
          </a:solidFill>
          <a:ln/>
        </p:spPr>
      </p:sp>
      <p:sp>
        <p:nvSpPr>
          <p:cNvPr id="8" name="Shape 6"/>
          <p:cNvSpPr/>
          <p:nvPr/>
        </p:nvSpPr>
        <p:spPr>
          <a:xfrm>
            <a:off x="563927" y="1193101"/>
            <a:ext cx="139817" cy="186422"/>
          </a:xfrm>
          <a:custGeom>
            <a:avLst/>
            <a:gdLst/>
            <a:ahLst/>
            <a:cxnLst/>
            <a:rect l="l" t="t" r="r" b="b"/>
            <a:pathLst>
              <a:path w="139817" h="186422">
                <a:moveTo>
                  <a:pt x="23303" y="0"/>
                </a:moveTo>
                <a:cubicBezTo>
                  <a:pt x="10450" y="0"/>
                  <a:pt x="0" y="10450"/>
                  <a:pt x="0" y="23303"/>
                </a:cubicBezTo>
                <a:lnTo>
                  <a:pt x="0" y="163119"/>
                </a:lnTo>
                <a:cubicBezTo>
                  <a:pt x="0" y="175972"/>
                  <a:pt x="10450" y="186422"/>
                  <a:pt x="23303" y="186422"/>
                </a:cubicBezTo>
                <a:lnTo>
                  <a:pt x="116514" y="186422"/>
                </a:lnTo>
                <a:cubicBezTo>
                  <a:pt x="129367" y="186422"/>
                  <a:pt x="139817" y="175972"/>
                  <a:pt x="139817" y="163119"/>
                </a:cubicBezTo>
                <a:lnTo>
                  <a:pt x="139817" y="23303"/>
                </a:lnTo>
                <a:cubicBezTo>
                  <a:pt x="139817" y="10450"/>
                  <a:pt x="129367" y="0"/>
                  <a:pt x="116514" y="0"/>
                </a:cubicBezTo>
                <a:lnTo>
                  <a:pt x="23303" y="0"/>
                </a:lnTo>
                <a:close/>
                <a:moveTo>
                  <a:pt x="64083" y="128165"/>
                </a:moveTo>
                <a:lnTo>
                  <a:pt x="75734" y="128165"/>
                </a:lnTo>
                <a:cubicBezTo>
                  <a:pt x="82179" y="128165"/>
                  <a:pt x="87385" y="133372"/>
                  <a:pt x="87385" y="139817"/>
                </a:cubicBezTo>
                <a:lnTo>
                  <a:pt x="87385" y="168945"/>
                </a:lnTo>
                <a:lnTo>
                  <a:pt x="52431" y="168945"/>
                </a:lnTo>
                <a:lnTo>
                  <a:pt x="52431" y="139817"/>
                </a:lnTo>
                <a:cubicBezTo>
                  <a:pt x="52431" y="133372"/>
                  <a:pt x="57638" y="128165"/>
                  <a:pt x="64083" y="128165"/>
                </a:cubicBezTo>
                <a:close/>
                <a:moveTo>
                  <a:pt x="34954" y="40780"/>
                </a:moveTo>
                <a:cubicBezTo>
                  <a:pt x="34954" y="37576"/>
                  <a:pt x="37576" y="34954"/>
                  <a:pt x="40780" y="34954"/>
                </a:cubicBezTo>
                <a:lnTo>
                  <a:pt x="52431" y="34954"/>
                </a:lnTo>
                <a:cubicBezTo>
                  <a:pt x="55635" y="34954"/>
                  <a:pt x="58257" y="37576"/>
                  <a:pt x="58257" y="40780"/>
                </a:cubicBezTo>
                <a:lnTo>
                  <a:pt x="58257" y="52431"/>
                </a:lnTo>
                <a:cubicBezTo>
                  <a:pt x="58257" y="55635"/>
                  <a:pt x="55635" y="58257"/>
                  <a:pt x="52431" y="58257"/>
                </a:cubicBezTo>
                <a:lnTo>
                  <a:pt x="40780" y="58257"/>
                </a:lnTo>
                <a:cubicBezTo>
                  <a:pt x="37576" y="58257"/>
                  <a:pt x="34954" y="55635"/>
                  <a:pt x="34954" y="52431"/>
                </a:cubicBezTo>
                <a:lnTo>
                  <a:pt x="34954" y="40780"/>
                </a:lnTo>
                <a:close/>
                <a:moveTo>
                  <a:pt x="87385" y="34954"/>
                </a:moveTo>
                <a:lnTo>
                  <a:pt x="99037" y="34954"/>
                </a:lnTo>
                <a:cubicBezTo>
                  <a:pt x="102241" y="34954"/>
                  <a:pt x="104862" y="37576"/>
                  <a:pt x="104862" y="40780"/>
                </a:cubicBezTo>
                <a:lnTo>
                  <a:pt x="104862" y="52431"/>
                </a:lnTo>
                <a:cubicBezTo>
                  <a:pt x="104862" y="55635"/>
                  <a:pt x="102241" y="58257"/>
                  <a:pt x="99037" y="58257"/>
                </a:cubicBezTo>
                <a:lnTo>
                  <a:pt x="87385" y="58257"/>
                </a:lnTo>
                <a:cubicBezTo>
                  <a:pt x="84181" y="58257"/>
                  <a:pt x="81560" y="55635"/>
                  <a:pt x="81560" y="52431"/>
                </a:cubicBezTo>
                <a:lnTo>
                  <a:pt x="81560" y="40780"/>
                </a:lnTo>
                <a:cubicBezTo>
                  <a:pt x="81560" y="37576"/>
                  <a:pt x="84181" y="34954"/>
                  <a:pt x="87385" y="34954"/>
                </a:cubicBezTo>
                <a:close/>
                <a:moveTo>
                  <a:pt x="34954" y="87385"/>
                </a:moveTo>
                <a:cubicBezTo>
                  <a:pt x="34954" y="84181"/>
                  <a:pt x="37576" y="81560"/>
                  <a:pt x="40780" y="81560"/>
                </a:cubicBezTo>
                <a:lnTo>
                  <a:pt x="52431" y="81560"/>
                </a:lnTo>
                <a:cubicBezTo>
                  <a:pt x="55635" y="81560"/>
                  <a:pt x="58257" y="84181"/>
                  <a:pt x="58257" y="87385"/>
                </a:cubicBezTo>
                <a:lnTo>
                  <a:pt x="58257" y="99037"/>
                </a:lnTo>
                <a:cubicBezTo>
                  <a:pt x="58257" y="102241"/>
                  <a:pt x="55635" y="104862"/>
                  <a:pt x="52431" y="104862"/>
                </a:cubicBezTo>
                <a:lnTo>
                  <a:pt x="40780" y="104862"/>
                </a:lnTo>
                <a:cubicBezTo>
                  <a:pt x="37576" y="104862"/>
                  <a:pt x="34954" y="102241"/>
                  <a:pt x="34954" y="99037"/>
                </a:cubicBezTo>
                <a:lnTo>
                  <a:pt x="34954" y="87385"/>
                </a:lnTo>
                <a:close/>
                <a:moveTo>
                  <a:pt x="87385" y="81560"/>
                </a:moveTo>
                <a:lnTo>
                  <a:pt x="99037" y="81560"/>
                </a:lnTo>
                <a:cubicBezTo>
                  <a:pt x="102241" y="81560"/>
                  <a:pt x="104862" y="84181"/>
                  <a:pt x="104862" y="87385"/>
                </a:cubicBezTo>
                <a:lnTo>
                  <a:pt x="104862" y="99037"/>
                </a:lnTo>
                <a:cubicBezTo>
                  <a:pt x="104862" y="102241"/>
                  <a:pt x="102241" y="104862"/>
                  <a:pt x="99037" y="104862"/>
                </a:cubicBezTo>
                <a:lnTo>
                  <a:pt x="87385" y="104862"/>
                </a:lnTo>
                <a:cubicBezTo>
                  <a:pt x="84181" y="104862"/>
                  <a:pt x="81560" y="102241"/>
                  <a:pt x="81560" y="99037"/>
                </a:cubicBezTo>
                <a:lnTo>
                  <a:pt x="81560" y="87385"/>
                </a:lnTo>
                <a:cubicBezTo>
                  <a:pt x="81560" y="84181"/>
                  <a:pt x="84181" y="81560"/>
                  <a:pt x="87385" y="81560"/>
                </a:cubicBezTo>
                <a:close/>
              </a:path>
            </a:pathLst>
          </a:custGeom>
          <a:solidFill>
            <a:srgbClr val="3A4D39"/>
          </a:solidFill>
          <a:ln/>
        </p:spPr>
      </p:sp>
      <p:sp>
        <p:nvSpPr>
          <p:cNvPr id="9" name="Text 7"/>
          <p:cNvSpPr/>
          <p:nvPr/>
        </p:nvSpPr>
        <p:spPr>
          <a:xfrm>
            <a:off x="816179" y="1155817"/>
            <a:ext cx="10952294" cy="260991"/>
          </a:xfrm>
          <a:prstGeom prst="rect">
            <a:avLst/>
          </a:prstGeom>
          <a:noFill/>
          <a:ln/>
        </p:spPr>
        <p:txBody>
          <a:bodyPr wrap="square" lIns="0" tIns="0" rIns="0" bIns="0" rtlCol="0" anchor="ctr"/>
          <a:lstStyle/>
          <a:p>
            <a:pPr>
              <a:lnSpc>
                <a:spcPct val="120000"/>
              </a:lnSpc>
            </a:pPr>
            <a:r>
              <a:rPr lang="en-US" sz="1468" b="1" dirty="0">
                <a:solidFill>
                  <a:srgbClr val="3A4D39"/>
                </a:solidFill>
                <a:latin typeface="Unna" pitchFamily="34" charset="0"/>
                <a:ea typeface="Unna" pitchFamily="34" charset="-122"/>
                <a:cs typeface="Unna" pitchFamily="34" charset="-120"/>
              </a:rPr>
              <a:t>WHEREAS, Wilshire Farms and Orchards</a:t>
            </a:r>
            <a:endParaRPr lang="en-US" sz="1600" dirty="0"/>
          </a:p>
        </p:txBody>
      </p:sp>
      <p:sp>
        <p:nvSpPr>
          <p:cNvPr id="10" name="Text 8"/>
          <p:cNvSpPr/>
          <p:nvPr/>
        </p:nvSpPr>
        <p:spPr>
          <a:xfrm>
            <a:off x="816179" y="1491376"/>
            <a:ext cx="10933651" cy="727046"/>
          </a:xfrm>
          <a:prstGeom prst="rect">
            <a:avLst/>
          </a:prstGeom>
          <a:noFill/>
          <a:ln/>
        </p:spPr>
        <p:txBody>
          <a:bodyPr wrap="square" lIns="0" tIns="0" rIns="0" bIns="0" rtlCol="0" anchor="ctr"/>
          <a:lstStyle/>
          <a:p>
            <a:pPr>
              <a:lnSpc>
                <a:spcPct val="140000"/>
              </a:lnSpc>
            </a:pPr>
            <a:r>
              <a:rPr lang="en-US" sz="1174" dirty="0">
                <a:solidFill>
                  <a:srgbClr val="2C2C2C"/>
                </a:solidFill>
                <a:latin typeface="Quattrocento Sans" pitchFamily="34" charset="0"/>
                <a:ea typeface="Quattrocento Sans" pitchFamily="34" charset="-122"/>
                <a:cs typeface="Quattrocento Sans" pitchFamily="34" charset="-120"/>
              </a:rPr>
              <a:t>("Operating Partner") is an established agricultural entity engaged in commercial farming operations, possessing the necessary expertise, infrastructure, and operational capabilities to manage greenhouse-based agricultural production, and seeks to expand its operations through strategic partnerships for an 8-month Habanero pepper cultivation project.</a:t>
            </a:r>
            <a:endParaRPr lang="en-US" sz="1600" dirty="0"/>
          </a:p>
        </p:txBody>
      </p:sp>
      <p:sp>
        <p:nvSpPr>
          <p:cNvPr id="11" name="Shape 9"/>
          <p:cNvSpPr/>
          <p:nvPr/>
        </p:nvSpPr>
        <p:spPr>
          <a:xfrm>
            <a:off x="391486" y="2479413"/>
            <a:ext cx="11427670" cy="1118532"/>
          </a:xfrm>
          <a:custGeom>
            <a:avLst/>
            <a:gdLst/>
            <a:ahLst/>
            <a:cxnLst/>
            <a:rect l="l" t="t" r="r" b="b"/>
            <a:pathLst>
              <a:path w="11427670" h="1118532">
                <a:moveTo>
                  <a:pt x="37284" y="0"/>
                </a:moveTo>
                <a:lnTo>
                  <a:pt x="11353097" y="0"/>
                </a:lnTo>
                <a:cubicBezTo>
                  <a:pt x="11394282" y="0"/>
                  <a:pt x="11427670" y="33387"/>
                  <a:pt x="11427670" y="74573"/>
                </a:cubicBezTo>
                <a:lnTo>
                  <a:pt x="11427670" y="1043960"/>
                </a:lnTo>
                <a:cubicBezTo>
                  <a:pt x="11427670" y="1085145"/>
                  <a:pt x="11394282" y="1118532"/>
                  <a:pt x="11353097" y="1118532"/>
                </a:cubicBezTo>
                <a:lnTo>
                  <a:pt x="37284" y="1118532"/>
                </a:lnTo>
                <a:cubicBezTo>
                  <a:pt x="16693" y="1118532"/>
                  <a:pt x="0" y="1101839"/>
                  <a:pt x="0" y="1081248"/>
                </a:cubicBezTo>
                <a:lnTo>
                  <a:pt x="0" y="37284"/>
                </a:lnTo>
                <a:cubicBezTo>
                  <a:pt x="0" y="16707"/>
                  <a:pt x="16707" y="0"/>
                  <a:pt x="37284" y="0"/>
                </a:cubicBezTo>
                <a:close/>
              </a:path>
            </a:pathLst>
          </a:custGeom>
          <a:solidFill>
            <a:srgbClr val="FFFFFF"/>
          </a:solidFill>
          <a:ln/>
          <a:effectLst>
            <a:outerShdw sx="100000" sy="100000" kx="0" ky="0" algn="bl" rotWithShape="0" blurRad="27963" dist="9321" dir="5400000">
              <a:srgbClr val="000000">
                <a:alpha val="10196"/>
              </a:srgbClr>
            </a:outerShdw>
          </a:effectLst>
        </p:spPr>
      </p:sp>
      <p:sp>
        <p:nvSpPr>
          <p:cNvPr id="12" name="Shape 10"/>
          <p:cNvSpPr/>
          <p:nvPr/>
        </p:nvSpPr>
        <p:spPr>
          <a:xfrm>
            <a:off x="391486" y="2479413"/>
            <a:ext cx="37284" cy="1118532"/>
          </a:xfrm>
          <a:custGeom>
            <a:avLst/>
            <a:gdLst/>
            <a:ahLst/>
            <a:cxnLst/>
            <a:rect l="l" t="t" r="r" b="b"/>
            <a:pathLst>
              <a:path w="37284" h="1118532">
                <a:moveTo>
                  <a:pt x="37284" y="0"/>
                </a:moveTo>
                <a:lnTo>
                  <a:pt x="37284" y="0"/>
                </a:lnTo>
                <a:lnTo>
                  <a:pt x="37284" y="1118532"/>
                </a:lnTo>
                <a:lnTo>
                  <a:pt x="37284" y="1118532"/>
                </a:lnTo>
                <a:cubicBezTo>
                  <a:pt x="16693" y="1118532"/>
                  <a:pt x="0" y="1101839"/>
                  <a:pt x="0" y="1081248"/>
                </a:cubicBezTo>
                <a:lnTo>
                  <a:pt x="0" y="37284"/>
                </a:lnTo>
                <a:cubicBezTo>
                  <a:pt x="0" y="16707"/>
                  <a:pt x="16707" y="0"/>
                  <a:pt x="37284" y="0"/>
                </a:cubicBezTo>
                <a:close/>
              </a:path>
            </a:pathLst>
          </a:custGeom>
          <a:solidFill>
            <a:srgbClr val="7A6250"/>
          </a:solidFill>
          <a:ln/>
        </p:spPr>
      </p:sp>
      <p:sp>
        <p:nvSpPr>
          <p:cNvPr id="13" name="Shape 11"/>
          <p:cNvSpPr/>
          <p:nvPr/>
        </p:nvSpPr>
        <p:spPr>
          <a:xfrm>
            <a:off x="528972" y="2665835"/>
            <a:ext cx="209725" cy="186422"/>
          </a:xfrm>
          <a:custGeom>
            <a:avLst/>
            <a:gdLst/>
            <a:ahLst/>
            <a:cxnLst/>
            <a:rect l="l" t="t" r="r" b="b"/>
            <a:pathLst>
              <a:path w="209725" h="186422">
                <a:moveTo>
                  <a:pt x="97908" y="31022"/>
                </a:moveTo>
                <a:lnTo>
                  <a:pt x="55453" y="78210"/>
                </a:lnTo>
                <a:cubicBezTo>
                  <a:pt x="53778" y="80067"/>
                  <a:pt x="53851" y="82943"/>
                  <a:pt x="55635" y="84727"/>
                </a:cubicBezTo>
                <a:cubicBezTo>
                  <a:pt x="66741" y="95833"/>
                  <a:pt x="84764" y="95833"/>
                  <a:pt x="95869" y="84727"/>
                </a:cubicBezTo>
                <a:lnTo>
                  <a:pt x="107448" y="73149"/>
                </a:lnTo>
                <a:cubicBezTo>
                  <a:pt x="108977" y="71620"/>
                  <a:pt x="110907" y="70782"/>
                  <a:pt x="112873" y="70636"/>
                </a:cubicBezTo>
                <a:cubicBezTo>
                  <a:pt x="115349" y="70418"/>
                  <a:pt x="117897" y="71255"/>
                  <a:pt x="119791" y="73149"/>
                </a:cubicBezTo>
                <a:lnTo>
                  <a:pt x="184092" y="136904"/>
                </a:lnTo>
                <a:lnTo>
                  <a:pt x="209725" y="116514"/>
                </a:lnTo>
                <a:lnTo>
                  <a:pt x="209725" y="11651"/>
                </a:lnTo>
                <a:lnTo>
                  <a:pt x="168945" y="34954"/>
                </a:lnTo>
                <a:lnTo>
                  <a:pt x="160279" y="29165"/>
                </a:lnTo>
                <a:cubicBezTo>
                  <a:pt x="154526" y="25342"/>
                  <a:pt x="147790" y="23303"/>
                  <a:pt x="140872" y="23303"/>
                </a:cubicBezTo>
                <a:lnTo>
                  <a:pt x="115239" y="23303"/>
                </a:lnTo>
                <a:cubicBezTo>
                  <a:pt x="114839" y="23303"/>
                  <a:pt x="114402" y="23303"/>
                  <a:pt x="114001" y="23339"/>
                </a:cubicBezTo>
                <a:cubicBezTo>
                  <a:pt x="107848" y="23667"/>
                  <a:pt x="102059" y="26434"/>
                  <a:pt x="97908" y="31022"/>
                </a:cubicBezTo>
                <a:close/>
                <a:moveTo>
                  <a:pt x="42455" y="66522"/>
                </a:moveTo>
                <a:lnTo>
                  <a:pt x="81341" y="23303"/>
                </a:lnTo>
                <a:lnTo>
                  <a:pt x="66923" y="23303"/>
                </a:lnTo>
                <a:cubicBezTo>
                  <a:pt x="57638" y="23303"/>
                  <a:pt x="48754" y="26980"/>
                  <a:pt x="42200" y="33534"/>
                </a:cubicBezTo>
                <a:lnTo>
                  <a:pt x="40780" y="34954"/>
                </a:lnTo>
                <a:lnTo>
                  <a:pt x="0" y="11651"/>
                </a:lnTo>
                <a:lnTo>
                  <a:pt x="0" y="116514"/>
                </a:lnTo>
                <a:lnTo>
                  <a:pt x="56946" y="163957"/>
                </a:lnTo>
                <a:cubicBezTo>
                  <a:pt x="65321" y="170948"/>
                  <a:pt x="75880" y="174771"/>
                  <a:pt x="86766" y="174771"/>
                </a:cubicBezTo>
                <a:lnTo>
                  <a:pt x="92483" y="174771"/>
                </a:lnTo>
                <a:lnTo>
                  <a:pt x="89934" y="172222"/>
                </a:lnTo>
                <a:cubicBezTo>
                  <a:pt x="86511" y="168799"/>
                  <a:pt x="86511" y="163265"/>
                  <a:pt x="89934" y="159879"/>
                </a:cubicBezTo>
                <a:cubicBezTo>
                  <a:pt x="93357" y="156493"/>
                  <a:pt x="98891" y="156456"/>
                  <a:pt x="102277" y="159879"/>
                </a:cubicBezTo>
                <a:lnTo>
                  <a:pt x="117206" y="174807"/>
                </a:lnTo>
                <a:lnTo>
                  <a:pt x="120483" y="174807"/>
                </a:lnTo>
                <a:cubicBezTo>
                  <a:pt x="127437" y="174807"/>
                  <a:pt x="134246" y="173241"/>
                  <a:pt x="140435" y="170329"/>
                </a:cubicBezTo>
                <a:lnTo>
                  <a:pt x="130714" y="160571"/>
                </a:lnTo>
                <a:cubicBezTo>
                  <a:pt x="127291" y="157148"/>
                  <a:pt x="127291" y="151614"/>
                  <a:pt x="130714" y="148227"/>
                </a:cubicBezTo>
                <a:cubicBezTo>
                  <a:pt x="134136" y="144841"/>
                  <a:pt x="139671" y="144805"/>
                  <a:pt x="143057" y="148227"/>
                </a:cubicBezTo>
                <a:lnTo>
                  <a:pt x="154708" y="159879"/>
                </a:lnTo>
                <a:lnTo>
                  <a:pt x="161080" y="153507"/>
                </a:lnTo>
                <a:cubicBezTo>
                  <a:pt x="164321" y="150266"/>
                  <a:pt x="165267" y="145569"/>
                  <a:pt x="163847" y="141455"/>
                </a:cubicBezTo>
                <a:lnTo>
                  <a:pt x="113637" y="91645"/>
                </a:lnTo>
                <a:lnTo>
                  <a:pt x="108212" y="97071"/>
                </a:lnTo>
                <a:cubicBezTo>
                  <a:pt x="90262" y="115021"/>
                  <a:pt x="61206" y="115021"/>
                  <a:pt x="43256" y="97071"/>
                </a:cubicBezTo>
                <a:cubicBezTo>
                  <a:pt x="34881" y="88696"/>
                  <a:pt x="34554" y="75261"/>
                  <a:pt x="42455" y="66486"/>
                </a:cubicBezTo>
                <a:close/>
              </a:path>
            </a:pathLst>
          </a:custGeom>
          <a:solidFill>
            <a:srgbClr val="7A6250"/>
          </a:solidFill>
          <a:ln/>
        </p:spPr>
      </p:sp>
      <p:sp>
        <p:nvSpPr>
          <p:cNvPr id="14" name="Text 12"/>
          <p:cNvSpPr/>
          <p:nvPr/>
        </p:nvSpPr>
        <p:spPr>
          <a:xfrm>
            <a:off x="822442" y="2628550"/>
            <a:ext cx="10942972" cy="260991"/>
          </a:xfrm>
          <a:prstGeom prst="rect">
            <a:avLst/>
          </a:prstGeom>
          <a:noFill/>
          <a:ln/>
        </p:spPr>
        <p:txBody>
          <a:bodyPr wrap="square" lIns="0" tIns="0" rIns="0" bIns="0" rtlCol="0" anchor="ctr"/>
          <a:lstStyle/>
          <a:p>
            <a:pPr>
              <a:lnSpc>
                <a:spcPct val="120000"/>
              </a:lnSpc>
            </a:pPr>
            <a:r>
              <a:rPr lang="en-US" sz="1468" b="1" dirty="0">
                <a:solidFill>
                  <a:srgbClr val="3A4D39"/>
                </a:solidFill>
                <a:latin typeface="Unna" pitchFamily="34" charset="0"/>
                <a:ea typeface="Unna" pitchFamily="34" charset="-122"/>
                <a:cs typeface="Unna" pitchFamily="34" charset="-120"/>
              </a:rPr>
              <a:t>WHEREAS, the Contributing Partners</a:t>
            </a:r>
            <a:endParaRPr lang="en-US" sz="1600" dirty="0"/>
          </a:p>
        </p:txBody>
      </p:sp>
      <p:sp>
        <p:nvSpPr>
          <p:cNvPr id="15" name="Text 13"/>
          <p:cNvSpPr/>
          <p:nvPr/>
        </p:nvSpPr>
        <p:spPr>
          <a:xfrm>
            <a:off x="822442" y="2964110"/>
            <a:ext cx="10924330" cy="484697"/>
          </a:xfrm>
          <a:prstGeom prst="rect">
            <a:avLst/>
          </a:prstGeom>
          <a:noFill/>
          <a:ln/>
        </p:spPr>
        <p:txBody>
          <a:bodyPr wrap="square" lIns="0" tIns="0" rIns="0" bIns="0" rtlCol="0" anchor="ctr"/>
          <a:lstStyle/>
          <a:p>
            <a:pPr>
              <a:lnSpc>
                <a:spcPct val="140000"/>
              </a:lnSpc>
            </a:pPr>
            <a:r>
              <a:rPr lang="en-US" sz="1174" dirty="0">
                <a:solidFill>
                  <a:srgbClr val="2C2C2C"/>
                </a:solidFill>
                <a:latin typeface="Quattrocento Sans" pitchFamily="34" charset="0"/>
                <a:ea typeface="Quattrocento Sans" pitchFamily="34" charset="-122"/>
                <a:cs typeface="Quattrocento Sans" pitchFamily="34" charset="-120"/>
              </a:rPr>
              <a:t>recognize the mutual benefits of entering into a collaborative investment arrangement to fund, operate, and share in the profits of a specialized agricultural venture focused on high-value Habanero pepper production within a controlled greenhouse environment.</a:t>
            </a:r>
            <a:endParaRPr lang="en-US" sz="1600" dirty="0"/>
          </a:p>
        </p:txBody>
      </p:sp>
      <p:sp>
        <p:nvSpPr>
          <p:cNvPr id="16" name="Shape 14"/>
          <p:cNvSpPr/>
          <p:nvPr/>
        </p:nvSpPr>
        <p:spPr>
          <a:xfrm>
            <a:off x="391486" y="3709798"/>
            <a:ext cx="11427670" cy="1118532"/>
          </a:xfrm>
          <a:custGeom>
            <a:avLst/>
            <a:gdLst/>
            <a:ahLst/>
            <a:cxnLst/>
            <a:rect l="l" t="t" r="r" b="b"/>
            <a:pathLst>
              <a:path w="11427670" h="1118532">
                <a:moveTo>
                  <a:pt x="37284" y="0"/>
                </a:moveTo>
                <a:lnTo>
                  <a:pt x="11353097" y="0"/>
                </a:lnTo>
                <a:cubicBezTo>
                  <a:pt x="11394282" y="0"/>
                  <a:pt x="11427670" y="33387"/>
                  <a:pt x="11427670" y="74573"/>
                </a:cubicBezTo>
                <a:lnTo>
                  <a:pt x="11427670" y="1043960"/>
                </a:lnTo>
                <a:cubicBezTo>
                  <a:pt x="11427670" y="1085145"/>
                  <a:pt x="11394282" y="1118532"/>
                  <a:pt x="11353097" y="1118532"/>
                </a:cubicBezTo>
                <a:lnTo>
                  <a:pt x="37284" y="1118532"/>
                </a:lnTo>
                <a:cubicBezTo>
                  <a:pt x="16693" y="1118532"/>
                  <a:pt x="0" y="1101839"/>
                  <a:pt x="0" y="1081248"/>
                </a:cubicBezTo>
                <a:lnTo>
                  <a:pt x="0" y="37284"/>
                </a:lnTo>
                <a:cubicBezTo>
                  <a:pt x="0" y="16707"/>
                  <a:pt x="16707" y="0"/>
                  <a:pt x="37284" y="0"/>
                </a:cubicBezTo>
                <a:close/>
              </a:path>
            </a:pathLst>
          </a:custGeom>
          <a:solidFill>
            <a:srgbClr val="FFFFFF"/>
          </a:solidFill>
          <a:ln/>
          <a:effectLst>
            <a:outerShdw sx="100000" sy="100000" kx="0" ky="0" algn="bl" rotWithShape="0" blurRad="27963" dist="9321" dir="5400000">
              <a:srgbClr val="000000">
                <a:alpha val="10196"/>
              </a:srgbClr>
            </a:outerShdw>
          </a:effectLst>
        </p:spPr>
      </p:sp>
      <p:sp>
        <p:nvSpPr>
          <p:cNvPr id="17" name="Shape 15"/>
          <p:cNvSpPr/>
          <p:nvPr/>
        </p:nvSpPr>
        <p:spPr>
          <a:xfrm>
            <a:off x="391486" y="3709798"/>
            <a:ext cx="37284" cy="1118532"/>
          </a:xfrm>
          <a:custGeom>
            <a:avLst/>
            <a:gdLst/>
            <a:ahLst/>
            <a:cxnLst/>
            <a:rect l="l" t="t" r="r" b="b"/>
            <a:pathLst>
              <a:path w="37284" h="1118532">
                <a:moveTo>
                  <a:pt x="37284" y="0"/>
                </a:moveTo>
                <a:lnTo>
                  <a:pt x="37284" y="0"/>
                </a:lnTo>
                <a:lnTo>
                  <a:pt x="37284" y="1118532"/>
                </a:lnTo>
                <a:lnTo>
                  <a:pt x="37284" y="1118532"/>
                </a:lnTo>
                <a:cubicBezTo>
                  <a:pt x="16693" y="1118532"/>
                  <a:pt x="0" y="1101839"/>
                  <a:pt x="0" y="1081248"/>
                </a:cubicBezTo>
                <a:lnTo>
                  <a:pt x="0" y="37284"/>
                </a:lnTo>
                <a:cubicBezTo>
                  <a:pt x="0" y="16707"/>
                  <a:pt x="16707" y="0"/>
                  <a:pt x="37284" y="0"/>
                </a:cubicBezTo>
                <a:close/>
              </a:path>
            </a:pathLst>
          </a:custGeom>
          <a:solidFill>
            <a:srgbClr val="3A4D39"/>
          </a:solidFill>
          <a:ln/>
        </p:spPr>
      </p:sp>
      <p:sp>
        <p:nvSpPr>
          <p:cNvPr id="18" name="Shape 16"/>
          <p:cNvSpPr/>
          <p:nvPr/>
        </p:nvSpPr>
        <p:spPr>
          <a:xfrm>
            <a:off x="517321" y="3896220"/>
            <a:ext cx="233028" cy="186422"/>
          </a:xfrm>
          <a:custGeom>
            <a:avLst/>
            <a:gdLst/>
            <a:ahLst/>
            <a:cxnLst/>
            <a:rect l="l" t="t" r="r" b="b"/>
            <a:pathLst>
              <a:path w="233028" h="186422">
                <a:moveTo>
                  <a:pt x="116514" y="5826"/>
                </a:moveTo>
                <a:cubicBezTo>
                  <a:pt x="137413" y="5826"/>
                  <a:pt x="154381" y="22793"/>
                  <a:pt x="154381" y="43693"/>
                </a:cubicBezTo>
                <a:cubicBezTo>
                  <a:pt x="154381" y="64592"/>
                  <a:pt x="137413" y="81560"/>
                  <a:pt x="116514" y="81560"/>
                </a:cubicBezTo>
                <a:cubicBezTo>
                  <a:pt x="95614" y="81560"/>
                  <a:pt x="78647" y="64592"/>
                  <a:pt x="78647" y="43693"/>
                </a:cubicBezTo>
                <a:cubicBezTo>
                  <a:pt x="78647" y="22793"/>
                  <a:pt x="95614" y="5826"/>
                  <a:pt x="116514" y="5826"/>
                </a:cubicBezTo>
                <a:close/>
                <a:moveTo>
                  <a:pt x="34954" y="32041"/>
                </a:moveTo>
                <a:cubicBezTo>
                  <a:pt x="49423" y="32041"/>
                  <a:pt x="61170" y="43788"/>
                  <a:pt x="61170" y="58257"/>
                </a:cubicBezTo>
                <a:cubicBezTo>
                  <a:pt x="61170" y="72726"/>
                  <a:pt x="49423" y="84472"/>
                  <a:pt x="34954" y="84472"/>
                </a:cubicBezTo>
                <a:cubicBezTo>
                  <a:pt x="20485" y="84472"/>
                  <a:pt x="8739" y="72726"/>
                  <a:pt x="8739" y="58257"/>
                </a:cubicBezTo>
                <a:cubicBezTo>
                  <a:pt x="8739" y="43788"/>
                  <a:pt x="20485" y="32041"/>
                  <a:pt x="34954" y="32041"/>
                </a:cubicBezTo>
                <a:close/>
                <a:moveTo>
                  <a:pt x="0" y="151468"/>
                </a:moveTo>
                <a:cubicBezTo>
                  <a:pt x="0" y="125726"/>
                  <a:pt x="20863" y="104862"/>
                  <a:pt x="46606" y="104862"/>
                </a:cubicBezTo>
                <a:cubicBezTo>
                  <a:pt x="51266" y="104862"/>
                  <a:pt x="55781" y="105554"/>
                  <a:pt x="60041" y="106829"/>
                </a:cubicBezTo>
                <a:cubicBezTo>
                  <a:pt x="48062" y="120228"/>
                  <a:pt x="40780" y="137923"/>
                  <a:pt x="40780" y="157294"/>
                </a:cubicBezTo>
                <a:lnTo>
                  <a:pt x="40780" y="163119"/>
                </a:lnTo>
                <a:cubicBezTo>
                  <a:pt x="40780" y="167270"/>
                  <a:pt x="41654" y="171202"/>
                  <a:pt x="43219" y="174771"/>
                </a:cubicBezTo>
                <a:lnTo>
                  <a:pt x="11651" y="174771"/>
                </a:lnTo>
                <a:cubicBezTo>
                  <a:pt x="5207" y="174771"/>
                  <a:pt x="0" y="169564"/>
                  <a:pt x="0" y="163119"/>
                </a:cubicBezTo>
                <a:lnTo>
                  <a:pt x="0" y="151468"/>
                </a:lnTo>
                <a:close/>
                <a:moveTo>
                  <a:pt x="189808" y="174771"/>
                </a:moveTo>
                <a:cubicBezTo>
                  <a:pt x="191374" y="171202"/>
                  <a:pt x="192248" y="167270"/>
                  <a:pt x="192248" y="163119"/>
                </a:cubicBezTo>
                <a:lnTo>
                  <a:pt x="192248" y="157294"/>
                </a:lnTo>
                <a:cubicBezTo>
                  <a:pt x="192248" y="137923"/>
                  <a:pt x="184966" y="120228"/>
                  <a:pt x="172987" y="106829"/>
                </a:cubicBezTo>
                <a:cubicBezTo>
                  <a:pt x="177247" y="105554"/>
                  <a:pt x="181761" y="104862"/>
                  <a:pt x="186422" y="104862"/>
                </a:cubicBezTo>
                <a:cubicBezTo>
                  <a:pt x="212164" y="104862"/>
                  <a:pt x="233028" y="125726"/>
                  <a:pt x="233028" y="151468"/>
                </a:cubicBezTo>
                <a:lnTo>
                  <a:pt x="233028" y="163119"/>
                </a:lnTo>
                <a:cubicBezTo>
                  <a:pt x="233028" y="169564"/>
                  <a:pt x="227821" y="174771"/>
                  <a:pt x="221376" y="174771"/>
                </a:cubicBezTo>
                <a:lnTo>
                  <a:pt x="189808" y="174771"/>
                </a:lnTo>
                <a:close/>
                <a:moveTo>
                  <a:pt x="171858" y="58257"/>
                </a:moveTo>
                <a:cubicBezTo>
                  <a:pt x="171858" y="43788"/>
                  <a:pt x="183605" y="32041"/>
                  <a:pt x="198073" y="32041"/>
                </a:cubicBezTo>
                <a:cubicBezTo>
                  <a:pt x="212542" y="32041"/>
                  <a:pt x="224289" y="43788"/>
                  <a:pt x="224289" y="58257"/>
                </a:cubicBezTo>
                <a:cubicBezTo>
                  <a:pt x="224289" y="72726"/>
                  <a:pt x="212542" y="84472"/>
                  <a:pt x="198073" y="84472"/>
                </a:cubicBezTo>
                <a:cubicBezTo>
                  <a:pt x="183605" y="84472"/>
                  <a:pt x="171858" y="72726"/>
                  <a:pt x="171858" y="58257"/>
                </a:cubicBezTo>
                <a:close/>
                <a:moveTo>
                  <a:pt x="58257" y="157294"/>
                </a:moveTo>
                <a:cubicBezTo>
                  <a:pt x="58257" y="125107"/>
                  <a:pt x="84327" y="99037"/>
                  <a:pt x="116514" y="99037"/>
                </a:cubicBezTo>
                <a:cubicBezTo>
                  <a:pt x="148701" y="99037"/>
                  <a:pt x="174771" y="125107"/>
                  <a:pt x="174771" y="157294"/>
                </a:cubicBezTo>
                <a:lnTo>
                  <a:pt x="174771" y="163119"/>
                </a:lnTo>
                <a:cubicBezTo>
                  <a:pt x="174771" y="169564"/>
                  <a:pt x="169564" y="174771"/>
                  <a:pt x="163119" y="174771"/>
                </a:cubicBezTo>
                <a:lnTo>
                  <a:pt x="69908" y="174771"/>
                </a:lnTo>
                <a:cubicBezTo>
                  <a:pt x="63464" y="174771"/>
                  <a:pt x="58257" y="169564"/>
                  <a:pt x="58257" y="163119"/>
                </a:cubicBezTo>
                <a:lnTo>
                  <a:pt x="58257" y="157294"/>
                </a:lnTo>
                <a:close/>
              </a:path>
            </a:pathLst>
          </a:custGeom>
          <a:solidFill>
            <a:srgbClr val="3A4D39"/>
          </a:solidFill>
          <a:ln/>
        </p:spPr>
      </p:sp>
      <p:sp>
        <p:nvSpPr>
          <p:cNvPr id="19" name="Text 17"/>
          <p:cNvSpPr/>
          <p:nvPr/>
        </p:nvSpPr>
        <p:spPr>
          <a:xfrm>
            <a:off x="816179" y="3858936"/>
            <a:ext cx="10952294" cy="260991"/>
          </a:xfrm>
          <a:prstGeom prst="rect">
            <a:avLst/>
          </a:prstGeom>
          <a:noFill/>
          <a:ln/>
        </p:spPr>
        <p:txBody>
          <a:bodyPr wrap="square" lIns="0" tIns="0" rIns="0" bIns="0" rtlCol="0" anchor="ctr"/>
          <a:lstStyle/>
          <a:p>
            <a:pPr>
              <a:lnSpc>
                <a:spcPct val="120000"/>
              </a:lnSpc>
            </a:pPr>
            <a:r>
              <a:rPr lang="en-US" sz="1468" b="1" dirty="0">
                <a:solidFill>
                  <a:srgbClr val="3A4D39"/>
                </a:solidFill>
                <a:latin typeface="Unna" pitchFamily="34" charset="0"/>
                <a:ea typeface="Unna" pitchFamily="34" charset="-122"/>
                <a:cs typeface="Unna" pitchFamily="34" charset="-120"/>
              </a:rPr>
              <a:t>WHEREAS, multiple partner categories</a:t>
            </a:r>
            <a:endParaRPr lang="en-US" sz="1600" dirty="0"/>
          </a:p>
        </p:txBody>
      </p:sp>
      <p:sp>
        <p:nvSpPr>
          <p:cNvPr id="20" name="Text 18"/>
          <p:cNvSpPr/>
          <p:nvPr/>
        </p:nvSpPr>
        <p:spPr>
          <a:xfrm>
            <a:off x="816179" y="4194495"/>
            <a:ext cx="10933651" cy="484697"/>
          </a:xfrm>
          <a:prstGeom prst="rect">
            <a:avLst/>
          </a:prstGeom>
          <a:noFill/>
          <a:ln/>
        </p:spPr>
        <p:txBody>
          <a:bodyPr wrap="square" lIns="0" tIns="0" rIns="0" bIns="0" rtlCol="0" anchor="ctr"/>
          <a:lstStyle/>
          <a:p>
            <a:pPr>
              <a:lnSpc>
                <a:spcPct val="140000"/>
              </a:lnSpc>
            </a:pPr>
            <a:r>
              <a:rPr lang="en-US" sz="1174" dirty="0">
                <a:solidFill>
                  <a:srgbClr val="2C2C2C"/>
                </a:solidFill>
                <a:latin typeface="Quattrocento Sans" pitchFamily="34" charset="0"/>
                <a:ea typeface="Quattrocento Sans" pitchFamily="34" charset="-122"/>
                <a:cs typeface="Quattrocento Sans" pitchFamily="34" charset="-120"/>
              </a:rPr>
              <a:t>have been established to accommodate varying levels of participation: Contributing Partners providing infrastructure and operational assets; Monetary Partners providing capital investment only; and Monitoring Partners providing both capital investment and active oversight responsibilities.</a:t>
            </a:r>
            <a:endParaRPr lang="en-US" sz="1600" dirty="0"/>
          </a:p>
        </p:txBody>
      </p:sp>
      <p:sp>
        <p:nvSpPr>
          <p:cNvPr id="21" name="Shape 19"/>
          <p:cNvSpPr/>
          <p:nvPr/>
        </p:nvSpPr>
        <p:spPr>
          <a:xfrm>
            <a:off x="391486" y="4940183"/>
            <a:ext cx="11427670" cy="1118532"/>
          </a:xfrm>
          <a:custGeom>
            <a:avLst/>
            <a:gdLst/>
            <a:ahLst/>
            <a:cxnLst/>
            <a:rect l="l" t="t" r="r" b="b"/>
            <a:pathLst>
              <a:path w="11427670" h="1118532">
                <a:moveTo>
                  <a:pt x="37284" y="0"/>
                </a:moveTo>
                <a:lnTo>
                  <a:pt x="11353097" y="0"/>
                </a:lnTo>
                <a:cubicBezTo>
                  <a:pt x="11394282" y="0"/>
                  <a:pt x="11427670" y="33387"/>
                  <a:pt x="11427670" y="74573"/>
                </a:cubicBezTo>
                <a:lnTo>
                  <a:pt x="11427670" y="1043960"/>
                </a:lnTo>
                <a:cubicBezTo>
                  <a:pt x="11427670" y="1085145"/>
                  <a:pt x="11394282" y="1118532"/>
                  <a:pt x="11353097" y="1118532"/>
                </a:cubicBezTo>
                <a:lnTo>
                  <a:pt x="37284" y="1118532"/>
                </a:lnTo>
                <a:cubicBezTo>
                  <a:pt x="16693" y="1118532"/>
                  <a:pt x="0" y="1101839"/>
                  <a:pt x="0" y="1081248"/>
                </a:cubicBezTo>
                <a:lnTo>
                  <a:pt x="0" y="37284"/>
                </a:lnTo>
                <a:cubicBezTo>
                  <a:pt x="0" y="16707"/>
                  <a:pt x="16707" y="0"/>
                  <a:pt x="37284" y="0"/>
                </a:cubicBezTo>
                <a:close/>
              </a:path>
            </a:pathLst>
          </a:custGeom>
          <a:solidFill>
            <a:srgbClr val="FFFFFF"/>
          </a:solidFill>
          <a:ln/>
          <a:effectLst>
            <a:outerShdw sx="100000" sy="100000" kx="0" ky="0" algn="bl" rotWithShape="0" blurRad="27963" dist="9321" dir="5400000">
              <a:srgbClr val="000000">
                <a:alpha val="10196"/>
              </a:srgbClr>
            </a:outerShdw>
          </a:effectLst>
        </p:spPr>
      </p:sp>
      <p:sp>
        <p:nvSpPr>
          <p:cNvPr id="22" name="Shape 20"/>
          <p:cNvSpPr/>
          <p:nvPr/>
        </p:nvSpPr>
        <p:spPr>
          <a:xfrm>
            <a:off x="391486" y="4940183"/>
            <a:ext cx="37284" cy="1118532"/>
          </a:xfrm>
          <a:custGeom>
            <a:avLst/>
            <a:gdLst/>
            <a:ahLst/>
            <a:cxnLst/>
            <a:rect l="l" t="t" r="r" b="b"/>
            <a:pathLst>
              <a:path w="37284" h="1118532">
                <a:moveTo>
                  <a:pt x="37284" y="0"/>
                </a:moveTo>
                <a:lnTo>
                  <a:pt x="37284" y="0"/>
                </a:lnTo>
                <a:lnTo>
                  <a:pt x="37284" y="1118532"/>
                </a:lnTo>
                <a:lnTo>
                  <a:pt x="37284" y="1118532"/>
                </a:lnTo>
                <a:cubicBezTo>
                  <a:pt x="16693" y="1118532"/>
                  <a:pt x="0" y="1101839"/>
                  <a:pt x="0" y="1081248"/>
                </a:cubicBezTo>
                <a:lnTo>
                  <a:pt x="0" y="37284"/>
                </a:lnTo>
                <a:cubicBezTo>
                  <a:pt x="0" y="16707"/>
                  <a:pt x="16707" y="0"/>
                  <a:pt x="37284" y="0"/>
                </a:cubicBezTo>
                <a:close/>
              </a:path>
            </a:pathLst>
          </a:custGeom>
          <a:solidFill>
            <a:srgbClr val="7A6250"/>
          </a:solidFill>
          <a:ln/>
        </p:spPr>
      </p:sp>
      <p:sp>
        <p:nvSpPr>
          <p:cNvPr id="23" name="Shape 21"/>
          <p:cNvSpPr/>
          <p:nvPr/>
        </p:nvSpPr>
        <p:spPr>
          <a:xfrm>
            <a:off x="528972" y="5126606"/>
            <a:ext cx="209725" cy="186422"/>
          </a:xfrm>
          <a:custGeom>
            <a:avLst/>
            <a:gdLst/>
            <a:ahLst/>
            <a:cxnLst/>
            <a:rect l="l" t="t" r="r" b="b"/>
            <a:pathLst>
              <a:path w="209725" h="186422">
                <a:moveTo>
                  <a:pt x="61752" y="55854"/>
                </a:moveTo>
                <a:lnTo>
                  <a:pt x="54944" y="49045"/>
                </a:lnTo>
                <a:cubicBezTo>
                  <a:pt x="50392" y="44494"/>
                  <a:pt x="50392" y="37102"/>
                  <a:pt x="54944" y="32551"/>
                </a:cubicBezTo>
                <a:lnTo>
                  <a:pt x="96706" y="-9248"/>
                </a:lnTo>
                <a:cubicBezTo>
                  <a:pt x="101258" y="-13800"/>
                  <a:pt x="108649" y="-13800"/>
                  <a:pt x="113200" y="-9248"/>
                </a:cubicBezTo>
                <a:lnTo>
                  <a:pt x="120009" y="-2403"/>
                </a:lnTo>
                <a:cubicBezTo>
                  <a:pt x="124560" y="2148"/>
                  <a:pt x="124560" y="9540"/>
                  <a:pt x="120009" y="14091"/>
                </a:cubicBezTo>
                <a:lnTo>
                  <a:pt x="78246" y="55854"/>
                </a:lnTo>
                <a:cubicBezTo>
                  <a:pt x="73695" y="60405"/>
                  <a:pt x="66304" y="60405"/>
                  <a:pt x="61752" y="55854"/>
                </a:cubicBezTo>
                <a:close/>
                <a:moveTo>
                  <a:pt x="100493" y="77081"/>
                </a:moveTo>
                <a:lnTo>
                  <a:pt x="89060" y="65648"/>
                </a:lnTo>
                <a:lnTo>
                  <a:pt x="129840" y="24868"/>
                </a:lnTo>
                <a:lnTo>
                  <a:pt x="173314" y="68343"/>
                </a:lnTo>
                <a:lnTo>
                  <a:pt x="132534" y="109122"/>
                </a:lnTo>
                <a:lnTo>
                  <a:pt x="121101" y="97690"/>
                </a:lnTo>
                <a:lnTo>
                  <a:pt x="36629" y="182162"/>
                </a:lnTo>
                <a:cubicBezTo>
                  <a:pt x="30949" y="187842"/>
                  <a:pt x="21737" y="187842"/>
                  <a:pt x="16021" y="182162"/>
                </a:cubicBezTo>
                <a:cubicBezTo>
                  <a:pt x="10304" y="176482"/>
                  <a:pt x="10341" y="167270"/>
                  <a:pt x="16021" y="161554"/>
                </a:cubicBezTo>
                <a:lnTo>
                  <a:pt x="100493" y="77081"/>
                </a:lnTo>
                <a:close/>
                <a:moveTo>
                  <a:pt x="142329" y="136394"/>
                </a:moveTo>
                <a:cubicBezTo>
                  <a:pt x="137778" y="131843"/>
                  <a:pt x="137778" y="124451"/>
                  <a:pt x="142329" y="119900"/>
                </a:cubicBezTo>
                <a:lnTo>
                  <a:pt x="184092" y="78137"/>
                </a:lnTo>
                <a:cubicBezTo>
                  <a:pt x="188643" y="73586"/>
                  <a:pt x="196034" y="73586"/>
                  <a:pt x="200586" y="78137"/>
                </a:cubicBezTo>
                <a:lnTo>
                  <a:pt x="207394" y="84946"/>
                </a:lnTo>
                <a:cubicBezTo>
                  <a:pt x="211946" y="89497"/>
                  <a:pt x="211946" y="96888"/>
                  <a:pt x="207394" y="101440"/>
                </a:cubicBezTo>
                <a:lnTo>
                  <a:pt x="165632" y="143239"/>
                </a:lnTo>
                <a:cubicBezTo>
                  <a:pt x="161080" y="147790"/>
                  <a:pt x="153689" y="147790"/>
                  <a:pt x="149138" y="143239"/>
                </a:cubicBezTo>
                <a:lnTo>
                  <a:pt x="142329" y="136430"/>
                </a:lnTo>
                <a:close/>
              </a:path>
            </a:pathLst>
          </a:custGeom>
          <a:solidFill>
            <a:srgbClr val="7A6250"/>
          </a:solidFill>
          <a:ln/>
        </p:spPr>
      </p:sp>
      <p:sp>
        <p:nvSpPr>
          <p:cNvPr id="24" name="Text 22"/>
          <p:cNvSpPr/>
          <p:nvPr/>
        </p:nvSpPr>
        <p:spPr>
          <a:xfrm>
            <a:off x="816179" y="5089321"/>
            <a:ext cx="10952294" cy="260991"/>
          </a:xfrm>
          <a:prstGeom prst="rect">
            <a:avLst/>
          </a:prstGeom>
          <a:noFill/>
          <a:ln/>
        </p:spPr>
        <p:txBody>
          <a:bodyPr wrap="square" lIns="0" tIns="0" rIns="0" bIns="0" rtlCol="0" anchor="ctr"/>
          <a:lstStyle/>
          <a:p>
            <a:pPr>
              <a:lnSpc>
                <a:spcPct val="120000"/>
              </a:lnSpc>
            </a:pPr>
            <a:r>
              <a:rPr lang="en-US" sz="1468" b="1" dirty="0">
                <a:solidFill>
                  <a:srgbClr val="3A4D39"/>
                </a:solidFill>
                <a:latin typeface="Unna" pitchFamily="34" charset="0"/>
                <a:ea typeface="Unna" pitchFamily="34" charset="-122"/>
                <a:cs typeface="Unna" pitchFamily="34" charset="-120"/>
              </a:rPr>
              <a:t>NOW, THEREFORE, the Partners agree</a:t>
            </a:r>
            <a:endParaRPr lang="en-US" sz="1600" dirty="0"/>
          </a:p>
        </p:txBody>
      </p:sp>
      <p:sp>
        <p:nvSpPr>
          <p:cNvPr id="25" name="Text 23"/>
          <p:cNvSpPr/>
          <p:nvPr/>
        </p:nvSpPr>
        <p:spPr>
          <a:xfrm>
            <a:off x="816179" y="5424881"/>
            <a:ext cx="10933651" cy="484697"/>
          </a:xfrm>
          <a:prstGeom prst="rect">
            <a:avLst/>
          </a:prstGeom>
          <a:noFill/>
          <a:ln/>
        </p:spPr>
        <p:txBody>
          <a:bodyPr wrap="square" lIns="0" tIns="0" rIns="0" bIns="0" rtlCol="0" anchor="ctr"/>
          <a:lstStyle/>
          <a:p>
            <a:pPr>
              <a:lnSpc>
                <a:spcPct val="140000"/>
              </a:lnSpc>
            </a:pPr>
            <a:r>
              <a:rPr lang="en-US" sz="1174" dirty="0">
                <a:solidFill>
                  <a:srgbClr val="2C2C2C"/>
                </a:solidFill>
                <a:latin typeface="Quattrocento Sans" pitchFamily="34" charset="0"/>
                <a:ea typeface="Quattrocento Sans" pitchFamily="34" charset="-122"/>
                <a:cs typeface="Quattrocento Sans" pitchFamily="34" charset="-120"/>
              </a:rPr>
              <a:t>that this Memorandum of Understanding creates legally binding obligations upon execution by all parties, establishing the framework for a joint business venture with shared risks and rewards, governed by the terms and conditions set forth herein for the duration of the 8-month growing season.</a:t>
            </a:r>
            <a:endParaRPr lang="en-US" sz="1600" dirty="0"/>
          </a:p>
        </p:txBody>
      </p:sp>
      <p:sp>
        <p:nvSpPr>
          <p:cNvPr id="26" name="Shape 24"/>
          <p:cNvSpPr/>
          <p:nvPr/>
        </p:nvSpPr>
        <p:spPr>
          <a:xfrm>
            <a:off x="377505" y="6175229"/>
            <a:ext cx="11436991" cy="680440"/>
          </a:xfrm>
          <a:custGeom>
            <a:avLst/>
            <a:gdLst/>
            <a:ahLst/>
            <a:cxnLst/>
            <a:rect l="l" t="t" r="r" b="b"/>
            <a:pathLst>
              <a:path w="11436991" h="680440">
                <a:moveTo>
                  <a:pt x="74569" y="0"/>
                </a:moveTo>
                <a:lnTo>
                  <a:pt x="11362421" y="0"/>
                </a:lnTo>
                <a:cubicBezTo>
                  <a:pt x="11403605" y="0"/>
                  <a:pt x="11436991" y="33386"/>
                  <a:pt x="11436991" y="74569"/>
                </a:cubicBezTo>
                <a:lnTo>
                  <a:pt x="11436991" y="605871"/>
                </a:lnTo>
                <a:cubicBezTo>
                  <a:pt x="11436991" y="647054"/>
                  <a:pt x="11403605" y="680440"/>
                  <a:pt x="11362421" y="680440"/>
                </a:cubicBezTo>
                <a:lnTo>
                  <a:pt x="74569" y="680440"/>
                </a:lnTo>
                <a:cubicBezTo>
                  <a:pt x="33413" y="680440"/>
                  <a:pt x="0" y="647027"/>
                  <a:pt x="0" y="605871"/>
                </a:cubicBezTo>
                <a:lnTo>
                  <a:pt x="0" y="74569"/>
                </a:lnTo>
                <a:cubicBezTo>
                  <a:pt x="0" y="33413"/>
                  <a:pt x="33413" y="0"/>
                  <a:pt x="74569" y="0"/>
                </a:cubicBezTo>
                <a:close/>
              </a:path>
            </a:pathLst>
          </a:custGeom>
          <a:solidFill>
            <a:srgbClr val="BCA37F"/>
          </a:solidFill>
          <a:ln w="12700">
            <a:solidFill>
              <a:srgbClr val="BCA37F"/>
            </a:solidFill>
            <a:prstDash val="solid"/>
          </a:ln>
        </p:spPr>
      </p:sp>
      <p:sp>
        <p:nvSpPr>
          <p:cNvPr id="27" name="Shape 25"/>
          <p:cNvSpPr/>
          <p:nvPr/>
        </p:nvSpPr>
        <p:spPr>
          <a:xfrm>
            <a:off x="475376" y="6422239"/>
            <a:ext cx="186422" cy="186422"/>
          </a:xfrm>
          <a:custGeom>
            <a:avLst/>
            <a:gdLst/>
            <a:ahLst/>
            <a:cxnLst/>
            <a:rect l="l" t="t" r="r" b="b"/>
            <a:pathLst>
              <a:path w="186422" h="186422">
                <a:moveTo>
                  <a:pt x="93211" y="186422"/>
                </a:moveTo>
                <a:cubicBezTo>
                  <a:pt x="144656" y="186422"/>
                  <a:pt x="186422" y="144656"/>
                  <a:pt x="186422" y="93211"/>
                </a:cubicBezTo>
                <a:cubicBezTo>
                  <a:pt x="186422" y="41766"/>
                  <a:pt x="144656" y="0"/>
                  <a:pt x="93211" y="0"/>
                </a:cubicBezTo>
                <a:cubicBezTo>
                  <a:pt x="41766" y="0"/>
                  <a:pt x="0" y="41766"/>
                  <a:pt x="0" y="93211"/>
                </a:cubicBezTo>
                <a:cubicBezTo>
                  <a:pt x="0" y="144656"/>
                  <a:pt x="41766" y="186422"/>
                  <a:pt x="93211" y="186422"/>
                </a:cubicBezTo>
                <a:close/>
                <a:moveTo>
                  <a:pt x="81560" y="58257"/>
                </a:moveTo>
                <a:cubicBezTo>
                  <a:pt x="81560" y="51826"/>
                  <a:pt x="86780" y="46606"/>
                  <a:pt x="93211" y="46606"/>
                </a:cubicBezTo>
                <a:cubicBezTo>
                  <a:pt x="99642" y="46606"/>
                  <a:pt x="104862" y="51826"/>
                  <a:pt x="104862" y="58257"/>
                </a:cubicBezTo>
                <a:cubicBezTo>
                  <a:pt x="104862" y="64687"/>
                  <a:pt x="99642" y="69908"/>
                  <a:pt x="93211" y="69908"/>
                </a:cubicBezTo>
                <a:cubicBezTo>
                  <a:pt x="86780" y="69908"/>
                  <a:pt x="81560" y="64687"/>
                  <a:pt x="81560" y="58257"/>
                </a:cubicBezTo>
                <a:close/>
                <a:moveTo>
                  <a:pt x="78647" y="81560"/>
                </a:moveTo>
                <a:lnTo>
                  <a:pt x="96124" y="81560"/>
                </a:lnTo>
                <a:cubicBezTo>
                  <a:pt x="100966" y="81560"/>
                  <a:pt x="104862" y="85456"/>
                  <a:pt x="104862" y="90298"/>
                </a:cubicBezTo>
                <a:lnTo>
                  <a:pt x="104862" y="122339"/>
                </a:lnTo>
                <a:lnTo>
                  <a:pt x="107775" y="122339"/>
                </a:lnTo>
                <a:cubicBezTo>
                  <a:pt x="112618" y="122339"/>
                  <a:pt x="116514" y="126235"/>
                  <a:pt x="116514" y="131078"/>
                </a:cubicBezTo>
                <a:cubicBezTo>
                  <a:pt x="116514" y="135921"/>
                  <a:pt x="112618" y="139817"/>
                  <a:pt x="107775" y="139817"/>
                </a:cubicBezTo>
                <a:lnTo>
                  <a:pt x="78647" y="139817"/>
                </a:lnTo>
                <a:cubicBezTo>
                  <a:pt x="73804" y="139817"/>
                  <a:pt x="69908" y="135921"/>
                  <a:pt x="69908" y="131078"/>
                </a:cubicBezTo>
                <a:cubicBezTo>
                  <a:pt x="69908" y="126235"/>
                  <a:pt x="73804" y="122339"/>
                  <a:pt x="78647" y="122339"/>
                </a:cubicBezTo>
                <a:lnTo>
                  <a:pt x="87385" y="122339"/>
                </a:lnTo>
                <a:lnTo>
                  <a:pt x="87385" y="99037"/>
                </a:lnTo>
                <a:lnTo>
                  <a:pt x="78647" y="99037"/>
                </a:lnTo>
                <a:cubicBezTo>
                  <a:pt x="73804" y="99037"/>
                  <a:pt x="69908" y="95141"/>
                  <a:pt x="69908" y="90298"/>
                </a:cubicBezTo>
                <a:cubicBezTo>
                  <a:pt x="69908" y="85456"/>
                  <a:pt x="73804" y="81560"/>
                  <a:pt x="78647" y="81560"/>
                </a:cubicBezTo>
                <a:close/>
              </a:path>
            </a:pathLst>
          </a:custGeom>
          <a:solidFill>
            <a:srgbClr val="7A6250"/>
          </a:solidFill>
          <a:ln/>
        </p:spPr>
      </p:sp>
      <p:sp>
        <p:nvSpPr>
          <p:cNvPr id="28" name="Text 26"/>
          <p:cNvSpPr/>
          <p:nvPr/>
        </p:nvSpPr>
        <p:spPr>
          <a:xfrm>
            <a:off x="750931" y="6291743"/>
            <a:ext cx="11026862" cy="447413"/>
          </a:xfrm>
          <a:prstGeom prst="rect">
            <a:avLst/>
          </a:prstGeom>
          <a:noFill/>
          <a:ln/>
        </p:spPr>
        <p:txBody>
          <a:bodyPr wrap="square" lIns="0" tIns="0" rIns="0" bIns="0" rtlCol="0" anchor="ctr"/>
          <a:lstStyle/>
          <a:p>
            <a:pPr>
              <a:lnSpc>
                <a:spcPct val="130000"/>
              </a:lnSpc>
            </a:pPr>
            <a:r>
              <a:rPr lang="en-US" sz="1174" b="1" dirty="0">
                <a:solidFill>
                  <a:srgbClr val="2C2C2C"/>
                </a:solidFill>
                <a:latin typeface="Quattrocento Sans" pitchFamily="34" charset="0"/>
                <a:ea typeface="Quattrocento Sans" pitchFamily="34" charset="-122"/>
                <a:cs typeface="Quattrocento Sans" pitchFamily="34" charset="-120"/>
              </a:rPr>
              <a:t>Intent Statement:</a:t>
            </a:r>
            <a:pPr>
              <a:lnSpc>
                <a:spcPct val="130000"/>
              </a:lnSpc>
            </a:pPr>
            <a:r>
              <a:rPr lang="en-US" sz="1174" dirty="0">
                <a:solidFill>
                  <a:srgbClr val="2C2C2C"/>
                </a:solidFill>
                <a:latin typeface="Quattrocento Sans" pitchFamily="34" charset="0"/>
                <a:ea typeface="Quattrocento Sans" pitchFamily="34" charset="-122"/>
                <a:cs typeface="Quattrocento Sans" pitchFamily="34" charset="-120"/>
              </a:rPr>
              <a:t> This MOU establishes a binding partnership for one complete agricultural cycle, from initial planting through final harvest, sale of produce, distribution of proceeds, and termination of plants, with all partners acknowledging the seasonal nature and inherent risks of agricultural enterprises.</a:t>
            </a:r>
            <a:endParaRPr lang="en-US" sz="1600" dirty="0"/>
          </a:p>
        </p:txBody>
      </p:sp>
    </p:spTree>
  </p:cSld>
  <p:clrMapOvr>
    <a:masterClrMapping/>
  </p:clrMapOvr>
  <p:transition>
    <p:fade/>
    <p:spd val="med"/>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6F2"/>
        </a:solidFill>
      </p:bgPr>
    </p:bg>
    <p:spTree>
      <p:nvGrpSpPr>
        <p:cNvPr id="1" name=""/>
        <p:cNvGrpSpPr/>
        <p:nvPr/>
      </p:nvGrpSpPr>
      <p:grpSpPr>
        <a:xfrm>
          <a:off x="0" y="0"/>
          <a:ext cx="0" cy="0"/>
          <a:chOff x="0" y="0"/>
          <a:chExt cx="0" cy="0"/>
        </a:xfrm>
      </p:grpSpPr>
      <p:sp>
        <p:nvSpPr>
          <p:cNvPr id="2" name="Shape 0"/>
          <p:cNvSpPr/>
          <p:nvPr/>
        </p:nvSpPr>
        <p:spPr>
          <a:xfrm>
            <a:off x="381000" y="381000"/>
            <a:ext cx="381000" cy="381000"/>
          </a:xfrm>
          <a:custGeom>
            <a:avLst/>
            <a:gdLst/>
            <a:ahLst/>
            <a:cxnLst/>
            <a:rect l="l" t="t" r="r" b="b"/>
            <a:pathLst>
              <a:path w="381000" h="381000">
                <a:moveTo>
                  <a:pt x="38100" y="0"/>
                </a:moveTo>
                <a:lnTo>
                  <a:pt x="342900" y="0"/>
                </a:lnTo>
                <a:cubicBezTo>
                  <a:pt x="363928" y="0"/>
                  <a:pt x="381000" y="17072"/>
                  <a:pt x="381000" y="38100"/>
                </a:cubicBezTo>
                <a:lnTo>
                  <a:pt x="381000" y="342900"/>
                </a:lnTo>
                <a:cubicBezTo>
                  <a:pt x="381000" y="363928"/>
                  <a:pt x="363928" y="381000"/>
                  <a:pt x="342900" y="381000"/>
                </a:cubicBezTo>
                <a:lnTo>
                  <a:pt x="38100" y="381000"/>
                </a:lnTo>
                <a:cubicBezTo>
                  <a:pt x="17072" y="381000"/>
                  <a:pt x="0" y="363928"/>
                  <a:pt x="0" y="342900"/>
                </a:cubicBezTo>
                <a:lnTo>
                  <a:pt x="0" y="38100"/>
                </a:lnTo>
                <a:cubicBezTo>
                  <a:pt x="0" y="17072"/>
                  <a:pt x="17072" y="0"/>
                  <a:pt x="38100" y="0"/>
                </a:cubicBezTo>
                <a:close/>
              </a:path>
            </a:pathLst>
          </a:custGeom>
          <a:solidFill>
            <a:srgbClr val="7A6250"/>
          </a:solidFill>
          <a:ln/>
        </p:spPr>
      </p:sp>
      <p:sp>
        <p:nvSpPr>
          <p:cNvPr id="3" name="Text 1"/>
          <p:cNvSpPr/>
          <p:nvPr/>
        </p:nvSpPr>
        <p:spPr>
          <a:xfrm>
            <a:off x="523577" y="438150"/>
            <a:ext cx="190500" cy="266700"/>
          </a:xfrm>
          <a:prstGeom prst="rect">
            <a:avLst/>
          </a:prstGeom>
          <a:noFill/>
          <a:ln/>
        </p:spPr>
        <p:txBody>
          <a:bodyPr wrap="square" lIns="0" tIns="0" rIns="0" bIns="0" rtlCol="0" anchor="ctr"/>
          <a:lstStyle/>
          <a:p>
            <a:pPr>
              <a:lnSpc>
                <a:spcPct val="120000"/>
              </a:lnSpc>
            </a:pPr>
            <a:r>
              <a:rPr lang="en-US" sz="1500" b="1" dirty="0">
                <a:solidFill>
                  <a:srgbClr val="F8F6F2"/>
                </a:solidFill>
                <a:latin typeface="Oranienbaum" pitchFamily="34" charset="0"/>
                <a:ea typeface="Oranienbaum" pitchFamily="34" charset="-122"/>
                <a:cs typeface="Oranienbaum" pitchFamily="34" charset="-120"/>
              </a:rPr>
              <a:t>2</a:t>
            </a:r>
            <a:endParaRPr lang="en-US" sz="1600" dirty="0"/>
          </a:p>
        </p:txBody>
      </p:sp>
      <p:sp>
        <p:nvSpPr>
          <p:cNvPr id="4" name="Text 2"/>
          <p:cNvSpPr/>
          <p:nvPr/>
        </p:nvSpPr>
        <p:spPr>
          <a:xfrm>
            <a:off x="876300" y="381000"/>
            <a:ext cx="4733925" cy="381000"/>
          </a:xfrm>
          <a:prstGeom prst="rect">
            <a:avLst/>
          </a:prstGeom>
          <a:noFill/>
          <a:ln/>
        </p:spPr>
        <p:txBody>
          <a:bodyPr wrap="square" lIns="0" tIns="0" rIns="0" bIns="0" rtlCol="0" anchor="ctr"/>
          <a:lstStyle/>
          <a:p>
            <a:pPr>
              <a:lnSpc>
                <a:spcPct val="90000"/>
              </a:lnSpc>
            </a:pPr>
            <a:r>
              <a:rPr lang="en-US" sz="2700" b="1" dirty="0">
                <a:solidFill>
                  <a:srgbClr val="3A4D39"/>
                </a:solidFill>
                <a:latin typeface="Oranienbaum" pitchFamily="34" charset="0"/>
                <a:ea typeface="Oranienbaum" pitchFamily="34" charset="-122"/>
                <a:cs typeface="Oranienbaum" pitchFamily="34" charset="-120"/>
              </a:rPr>
              <a:t>Definitions and Interpretations</a:t>
            </a:r>
            <a:endParaRPr lang="en-US" sz="1600" dirty="0"/>
          </a:p>
        </p:txBody>
      </p:sp>
      <p:sp>
        <p:nvSpPr>
          <p:cNvPr id="5" name="Shape 3"/>
          <p:cNvSpPr/>
          <p:nvPr/>
        </p:nvSpPr>
        <p:spPr>
          <a:xfrm>
            <a:off x="381000" y="83820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BCA37F"/>
          </a:solidFill>
          <a:ln/>
        </p:spPr>
      </p:sp>
      <p:sp>
        <p:nvSpPr>
          <p:cNvPr id="6" name="Shape 4"/>
          <p:cNvSpPr/>
          <p:nvPr/>
        </p:nvSpPr>
        <p:spPr>
          <a:xfrm>
            <a:off x="400050" y="1028700"/>
            <a:ext cx="5619750" cy="1257300"/>
          </a:xfrm>
          <a:custGeom>
            <a:avLst/>
            <a:gdLst/>
            <a:ahLst/>
            <a:cxnLst/>
            <a:rect l="l" t="t" r="r" b="b"/>
            <a:pathLst>
              <a:path w="5619750" h="1257300">
                <a:moveTo>
                  <a:pt x="38100" y="0"/>
                </a:moveTo>
                <a:lnTo>
                  <a:pt x="5543545" y="0"/>
                </a:lnTo>
                <a:cubicBezTo>
                  <a:pt x="5585632" y="0"/>
                  <a:pt x="5619750" y="34118"/>
                  <a:pt x="5619750" y="76205"/>
                </a:cubicBezTo>
                <a:lnTo>
                  <a:pt x="5619750" y="1181095"/>
                </a:lnTo>
                <a:cubicBezTo>
                  <a:pt x="5619750" y="1223182"/>
                  <a:pt x="5585632" y="1257300"/>
                  <a:pt x="5543545" y="1257300"/>
                </a:cubicBezTo>
                <a:lnTo>
                  <a:pt x="38100" y="1257300"/>
                </a:lnTo>
                <a:cubicBezTo>
                  <a:pt x="17072" y="1257300"/>
                  <a:pt x="0" y="1240228"/>
                  <a:pt x="0" y="1219200"/>
                </a:cubicBezTo>
                <a:lnTo>
                  <a:pt x="0" y="38100"/>
                </a:lnTo>
                <a:cubicBezTo>
                  <a:pt x="0" y="17072"/>
                  <a:pt x="17072" y="0"/>
                  <a:pt x="38100" y="0"/>
                </a:cubicBezTo>
                <a:close/>
              </a:path>
            </a:pathLst>
          </a:custGeom>
          <a:solidFill>
            <a:srgbClr val="FFFFFF"/>
          </a:solidFill>
          <a:ln/>
          <a:effectLst>
            <a:outerShdw sx="100000" sy="100000" kx="0" ky="0" algn="bl" rotWithShape="0" blurRad="28575" dist="9525" dir="5400000">
              <a:srgbClr val="000000">
                <a:alpha val="10196"/>
              </a:srgbClr>
            </a:outerShdw>
          </a:effectLst>
        </p:spPr>
      </p:sp>
      <p:sp>
        <p:nvSpPr>
          <p:cNvPr id="7" name="Shape 5"/>
          <p:cNvSpPr/>
          <p:nvPr/>
        </p:nvSpPr>
        <p:spPr>
          <a:xfrm>
            <a:off x="400050" y="1028700"/>
            <a:ext cx="38100" cy="1257300"/>
          </a:xfrm>
          <a:custGeom>
            <a:avLst/>
            <a:gdLst/>
            <a:ahLst/>
            <a:cxnLst/>
            <a:rect l="l" t="t" r="r" b="b"/>
            <a:pathLst>
              <a:path w="38100" h="1257300">
                <a:moveTo>
                  <a:pt x="38100" y="0"/>
                </a:moveTo>
                <a:lnTo>
                  <a:pt x="38100" y="0"/>
                </a:lnTo>
                <a:lnTo>
                  <a:pt x="38100" y="1257300"/>
                </a:lnTo>
                <a:lnTo>
                  <a:pt x="38100" y="1257300"/>
                </a:lnTo>
                <a:cubicBezTo>
                  <a:pt x="17072" y="1257300"/>
                  <a:pt x="0" y="1240228"/>
                  <a:pt x="0" y="1219200"/>
                </a:cubicBezTo>
                <a:lnTo>
                  <a:pt x="0" y="38100"/>
                </a:lnTo>
                <a:cubicBezTo>
                  <a:pt x="0" y="17072"/>
                  <a:pt x="17072" y="0"/>
                  <a:pt x="38100" y="0"/>
                </a:cubicBezTo>
                <a:close/>
              </a:path>
            </a:pathLst>
          </a:custGeom>
          <a:solidFill>
            <a:srgbClr val="3A4D39"/>
          </a:solidFill>
          <a:ln/>
        </p:spPr>
      </p:sp>
      <p:sp>
        <p:nvSpPr>
          <p:cNvPr id="8" name="Shape 6"/>
          <p:cNvSpPr/>
          <p:nvPr/>
        </p:nvSpPr>
        <p:spPr>
          <a:xfrm>
            <a:off x="546497" y="1190625"/>
            <a:ext cx="192881" cy="171450"/>
          </a:xfrm>
          <a:custGeom>
            <a:avLst/>
            <a:gdLst/>
            <a:ahLst/>
            <a:cxnLst/>
            <a:rect l="l" t="t" r="r" b="b"/>
            <a:pathLst>
              <a:path w="192881" h="171450">
                <a:moveTo>
                  <a:pt x="53578" y="32147"/>
                </a:moveTo>
                <a:lnTo>
                  <a:pt x="53578" y="64294"/>
                </a:lnTo>
                <a:lnTo>
                  <a:pt x="98249" y="64294"/>
                </a:lnTo>
                <a:lnTo>
                  <a:pt x="78961" y="32147"/>
                </a:lnTo>
                <a:lnTo>
                  <a:pt x="53578" y="32147"/>
                </a:lnTo>
                <a:close/>
                <a:moveTo>
                  <a:pt x="32147" y="74675"/>
                </a:moveTo>
                <a:lnTo>
                  <a:pt x="32147" y="21431"/>
                </a:lnTo>
                <a:cubicBezTo>
                  <a:pt x="32147" y="15504"/>
                  <a:pt x="36935" y="10716"/>
                  <a:pt x="42863" y="10716"/>
                </a:cubicBezTo>
                <a:lnTo>
                  <a:pt x="78961" y="10716"/>
                </a:lnTo>
                <a:cubicBezTo>
                  <a:pt x="86495" y="10716"/>
                  <a:pt x="93460" y="14667"/>
                  <a:pt x="97345" y="21130"/>
                </a:cubicBezTo>
                <a:lnTo>
                  <a:pt x="123263" y="64294"/>
                </a:lnTo>
                <a:lnTo>
                  <a:pt x="144694" y="64294"/>
                </a:lnTo>
                <a:lnTo>
                  <a:pt x="144694" y="40184"/>
                </a:lnTo>
                <a:cubicBezTo>
                  <a:pt x="144694" y="35730"/>
                  <a:pt x="148277" y="32147"/>
                  <a:pt x="152731" y="32147"/>
                </a:cubicBezTo>
                <a:cubicBezTo>
                  <a:pt x="157185" y="32147"/>
                  <a:pt x="160768" y="35730"/>
                  <a:pt x="160768" y="40184"/>
                </a:cubicBezTo>
                <a:lnTo>
                  <a:pt x="160768" y="64294"/>
                </a:lnTo>
                <a:lnTo>
                  <a:pt x="176841" y="64294"/>
                </a:lnTo>
                <a:cubicBezTo>
                  <a:pt x="185715" y="64294"/>
                  <a:pt x="192915" y="71493"/>
                  <a:pt x="192915" y="80367"/>
                </a:cubicBezTo>
                <a:lnTo>
                  <a:pt x="192915" y="94264"/>
                </a:lnTo>
                <a:cubicBezTo>
                  <a:pt x="192915" y="99019"/>
                  <a:pt x="190805" y="103573"/>
                  <a:pt x="187122" y="106620"/>
                </a:cubicBezTo>
                <a:lnTo>
                  <a:pt x="175401" y="116398"/>
                </a:lnTo>
                <a:cubicBezTo>
                  <a:pt x="184275" y="121488"/>
                  <a:pt x="190236" y="131032"/>
                  <a:pt x="190236" y="141982"/>
                </a:cubicBezTo>
                <a:cubicBezTo>
                  <a:pt x="190236" y="158256"/>
                  <a:pt x="177042" y="171450"/>
                  <a:pt x="160768" y="171450"/>
                </a:cubicBezTo>
                <a:cubicBezTo>
                  <a:pt x="144494" y="171450"/>
                  <a:pt x="131300" y="158256"/>
                  <a:pt x="131300" y="141982"/>
                </a:cubicBezTo>
                <a:cubicBezTo>
                  <a:pt x="131300" y="137160"/>
                  <a:pt x="132472" y="132606"/>
                  <a:pt x="134515" y="128588"/>
                </a:cubicBezTo>
                <a:lnTo>
                  <a:pt x="100626" y="128588"/>
                </a:lnTo>
                <a:cubicBezTo>
                  <a:pt x="99622" y="133075"/>
                  <a:pt x="97981" y="137294"/>
                  <a:pt x="95804" y="141212"/>
                </a:cubicBezTo>
                <a:cubicBezTo>
                  <a:pt x="98383" y="144360"/>
                  <a:pt x="98215" y="149048"/>
                  <a:pt x="95269" y="151994"/>
                </a:cubicBezTo>
                <a:lnTo>
                  <a:pt x="87701" y="159562"/>
                </a:lnTo>
                <a:cubicBezTo>
                  <a:pt x="84754" y="162509"/>
                  <a:pt x="80099" y="162677"/>
                  <a:pt x="76918" y="160098"/>
                </a:cubicBezTo>
                <a:cubicBezTo>
                  <a:pt x="73804" y="161839"/>
                  <a:pt x="70455" y="163212"/>
                  <a:pt x="66939" y="164217"/>
                </a:cubicBezTo>
                <a:cubicBezTo>
                  <a:pt x="66537" y="168269"/>
                  <a:pt x="63122" y="171450"/>
                  <a:pt x="58936" y="171450"/>
                </a:cubicBezTo>
                <a:lnTo>
                  <a:pt x="48220" y="171450"/>
                </a:lnTo>
                <a:cubicBezTo>
                  <a:pt x="44068" y="171450"/>
                  <a:pt x="40619" y="168269"/>
                  <a:pt x="40217" y="164217"/>
                </a:cubicBezTo>
                <a:cubicBezTo>
                  <a:pt x="36701" y="163212"/>
                  <a:pt x="33386" y="161806"/>
                  <a:pt x="30238" y="160098"/>
                </a:cubicBezTo>
                <a:cubicBezTo>
                  <a:pt x="27090" y="162677"/>
                  <a:pt x="22402" y="162509"/>
                  <a:pt x="19456" y="159562"/>
                </a:cubicBezTo>
                <a:lnTo>
                  <a:pt x="11888" y="151961"/>
                </a:lnTo>
                <a:cubicBezTo>
                  <a:pt x="8941" y="149014"/>
                  <a:pt x="8773" y="144360"/>
                  <a:pt x="11352" y="141178"/>
                </a:cubicBezTo>
                <a:cubicBezTo>
                  <a:pt x="9611" y="138064"/>
                  <a:pt x="8238" y="134715"/>
                  <a:pt x="7233" y="131199"/>
                </a:cubicBezTo>
                <a:cubicBezTo>
                  <a:pt x="3181" y="130798"/>
                  <a:pt x="0" y="127382"/>
                  <a:pt x="0" y="123196"/>
                </a:cubicBezTo>
                <a:lnTo>
                  <a:pt x="0" y="112481"/>
                </a:lnTo>
                <a:cubicBezTo>
                  <a:pt x="0" y="108328"/>
                  <a:pt x="3181" y="104879"/>
                  <a:pt x="7233" y="104477"/>
                </a:cubicBezTo>
                <a:cubicBezTo>
                  <a:pt x="8238" y="100961"/>
                  <a:pt x="9644" y="97646"/>
                  <a:pt x="11352" y="94498"/>
                </a:cubicBezTo>
                <a:cubicBezTo>
                  <a:pt x="8773" y="91351"/>
                  <a:pt x="8941" y="86663"/>
                  <a:pt x="11888" y="83716"/>
                </a:cubicBezTo>
                <a:lnTo>
                  <a:pt x="19456" y="76148"/>
                </a:lnTo>
                <a:cubicBezTo>
                  <a:pt x="22402" y="73201"/>
                  <a:pt x="27057" y="73034"/>
                  <a:pt x="30238" y="75612"/>
                </a:cubicBezTo>
                <a:cubicBezTo>
                  <a:pt x="30874" y="75277"/>
                  <a:pt x="31477" y="74942"/>
                  <a:pt x="32147" y="74608"/>
                </a:cubicBezTo>
                <a:close/>
                <a:moveTo>
                  <a:pt x="53578" y="96441"/>
                </a:moveTo>
                <a:cubicBezTo>
                  <a:pt x="41750" y="96441"/>
                  <a:pt x="32147" y="106044"/>
                  <a:pt x="32147" y="117872"/>
                </a:cubicBezTo>
                <a:cubicBezTo>
                  <a:pt x="32147" y="129700"/>
                  <a:pt x="41750" y="139303"/>
                  <a:pt x="53578" y="139303"/>
                </a:cubicBezTo>
                <a:cubicBezTo>
                  <a:pt x="65406" y="139303"/>
                  <a:pt x="75009" y="129700"/>
                  <a:pt x="75009" y="117872"/>
                </a:cubicBezTo>
                <a:cubicBezTo>
                  <a:pt x="75009" y="106044"/>
                  <a:pt x="65406" y="96441"/>
                  <a:pt x="53578" y="96441"/>
                </a:cubicBezTo>
                <a:close/>
                <a:moveTo>
                  <a:pt x="147340" y="141982"/>
                </a:moveTo>
                <a:cubicBezTo>
                  <a:pt x="147340" y="149375"/>
                  <a:pt x="153342" y="155377"/>
                  <a:pt x="160734" y="155377"/>
                </a:cubicBezTo>
                <a:cubicBezTo>
                  <a:pt x="168127" y="155377"/>
                  <a:pt x="174129" y="149375"/>
                  <a:pt x="174129" y="141982"/>
                </a:cubicBezTo>
                <a:cubicBezTo>
                  <a:pt x="174129" y="134589"/>
                  <a:pt x="168127" y="128588"/>
                  <a:pt x="160734" y="128588"/>
                </a:cubicBezTo>
                <a:cubicBezTo>
                  <a:pt x="153342" y="128588"/>
                  <a:pt x="147340" y="134589"/>
                  <a:pt x="147340" y="141982"/>
                </a:cubicBezTo>
                <a:close/>
              </a:path>
            </a:pathLst>
          </a:custGeom>
          <a:solidFill>
            <a:srgbClr val="3A4D39"/>
          </a:solidFill>
          <a:ln/>
        </p:spPr>
      </p:sp>
      <p:sp>
        <p:nvSpPr>
          <p:cNvPr id="9" name="Text 7"/>
          <p:cNvSpPr/>
          <p:nvPr/>
        </p:nvSpPr>
        <p:spPr>
          <a:xfrm>
            <a:off x="752475" y="1143000"/>
            <a:ext cx="5238750" cy="266700"/>
          </a:xfrm>
          <a:prstGeom prst="rect">
            <a:avLst/>
          </a:prstGeom>
          <a:noFill/>
          <a:ln/>
        </p:spPr>
        <p:txBody>
          <a:bodyPr wrap="square" lIns="0" tIns="0" rIns="0" bIns="0" rtlCol="0" anchor="ctr"/>
          <a:lstStyle/>
          <a:p>
            <a:pPr>
              <a:lnSpc>
                <a:spcPct val="130000"/>
              </a:lnSpc>
            </a:pPr>
            <a:r>
              <a:rPr lang="en-US" sz="1350" b="1" dirty="0">
                <a:solidFill>
                  <a:srgbClr val="3A4D39"/>
                </a:solidFill>
                <a:latin typeface="Unna" pitchFamily="34" charset="0"/>
                <a:ea typeface="Unna" pitchFamily="34" charset="-122"/>
                <a:cs typeface="Unna" pitchFamily="34" charset="-120"/>
              </a:rPr>
              <a:t>Contributing Partner</a:t>
            </a:r>
            <a:endParaRPr lang="en-US" sz="1600" dirty="0"/>
          </a:p>
        </p:txBody>
      </p:sp>
      <p:sp>
        <p:nvSpPr>
          <p:cNvPr id="10" name="Text 8"/>
          <p:cNvSpPr/>
          <p:nvPr/>
        </p:nvSpPr>
        <p:spPr>
          <a:xfrm>
            <a:off x="533400" y="1485900"/>
            <a:ext cx="5448300" cy="685800"/>
          </a:xfrm>
          <a:prstGeom prst="rect">
            <a:avLst/>
          </a:prstGeom>
          <a:noFill/>
          <a:ln/>
        </p:spPr>
        <p:txBody>
          <a:bodyPr wrap="square" lIns="0" tIns="0" rIns="0" bIns="0" rtlCol="0" anchor="ctr"/>
          <a:lstStyle/>
          <a:p>
            <a:pPr>
              <a:lnSpc>
                <a:spcPct val="130000"/>
              </a:lnSpc>
            </a:pPr>
            <a:r>
              <a:rPr lang="en-US" sz="1200" dirty="0">
                <a:solidFill>
                  <a:srgbClr val="2C2C2C"/>
                </a:solidFill>
                <a:latin typeface="Quattrocento Sans" pitchFamily="34" charset="0"/>
                <a:ea typeface="Quattrocento Sans" pitchFamily="34" charset="-122"/>
                <a:cs typeface="Quattrocento Sans" pitchFamily="34" charset="-120"/>
              </a:rPr>
              <a:t>Wilshire Farms and Orchards, providing greenhouse facility, water infrastructure, staff quarters, agricultural expertise, and operational management as in-kind contribution.</a:t>
            </a:r>
            <a:endParaRPr lang="en-US" sz="1600" dirty="0"/>
          </a:p>
        </p:txBody>
      </p:sp>
      <p:sp>
        <p:nvSpPr>
          <p:cNvPr id="11" name="Shape 9"/>
          <p:cNvSpPr/>
          <p:nvPr/>
        </p:nvSpPr>
        <p:spPr>
          <a:xfrm>
            <a:off x="400050" y="2400300"/>
            <a:ext cx="5619750" cy="1028700"/>
          </a:xfrm>
          <a:custGeom>
            <a:avLst/>
            <a:gdLst/>
            <a:ahLst/>
            <a:cxnLst/>
            <a:rect l="l" t="t" r="r" b="b"/>
            <a:pathLst>
              <a:path w="5619750" h="1028700">
                <a:moveTo>
                  <a:pt x="38100" y="0"/>
                </a:moveTo>
                <a:lnTo>
                  <a:pt x="5543554" y="0"/>
                </a:lnTo>
                <a:cubicBezTo>
                  <a:pt x="5585636" y="0"/>
                  <a:pt x="5619750" y="34114"/>
                  <a:pt x="5619750" y="76196"/>
                </a:cubicBezTo>
                <a:lnTo>
                  <a:pt x="5619750" y="952504"/>
                </a:lnTo>
                <a:cubicBezTo>
                  <a:pt x="5619750" y="994586"/>
                  <a:pt x="5585636" y="1028700"/>
                  <a:pt x="5543554" y="1028700"/>
                </a:cubicBezTo>
                <a:lnTo>
                  <a:pt x="38100" y="1028700"/>
                </a:lnTo>
                <a:cubicBezTo>
                  <a:pt x="17072" y="1028700"/>
                  <a:pt x="0" y="1011628"/>
                  <a:pt x="0" y="990600"/>
                </a:cubicBezTo>
                <a:lnTo>
                  <a:pt x="0" y="38100"/>
                </a:lnTo>
                <a:cubicBezTo>
                  <a:pt x="0" y="17072"/>
                  <a:pt x="17072" y="0"/>
                  <a:pt x="38100" y="0"/>
                </a:cubicBezTo>
                <a:close/>
              </a:path>
            </a:pathLst>
          </a:custGeom>
          <a:solidFill>
            <a:srgbClr val="FFFFFF"/>
          </a:solidFill>
          <a:ln/>
          <a:effectLst>
            <a:outerShdw sx="100000" sy="100000" kx="0" ky="0" algn="bl" rotWithShape="0" blurRad="28575" dist="9525" dir="5400000">
              <a:srgbClr val="000000">
                <a:alpha val="10196"/>
              </a:srgbClr>
            </a:outerShdw>
          </a:effectLst>
        </p:spPr>
      </p:sp>
      <p:sp>
        <p:nvSpPr>
          <p:cNvPr id="12" name="Shape 10"/>
          <p:cNvSpPr/>
          <p:nvPr/>
        </p:nvSpPr>
        <p:spPr>
          <a:xfrm>
            <a:off x="400050" y="2400300"/>
            <a:ext cx="38100" cy="1028700"/>
          </a:xfrm>
          <a:custGeom>
            <a:avLst/>
            <a:gdLst/>
            <a:ahLst/>
            <a:cxnLst/>
            <a:rect l="l" t="t" r="r" b="b"/>
            <a:pathLst>
              <a:path w="38100" h="1028700">
                <a:moveTo>
                  <a:pt x="38100" y="0"/>
                </a:moveTo>
                <a:lnTo>
                  <a:pt x="38100" y="0"/>
                </a:lnTo>
                <a:lnTo>
                  <a:pt x="38100" y="1028700"/>
                </a:lnTo>
                <a:lnTo>
                  <a:pt x="38100" y="1028700"/>
                </a:lnTo>
                <a:cubicBezTo>
                  <a:pt x="17072" y="1028700"/>
                  <a:pt x="0" y="1011628"/>
                  <a:pt x="0" y="990600"/>
                </a:cubicBezTo>
                <a:lnTo>
                  <a:pt x="0" y="38100"/>
                </a:lnTo>
                <a:cubicBezTo>
                  <a:pt x="0" y="17072"/>
                  <a:pt x="17072" y="0"/>
                  <a:pt x="38100" y="0"/>
                </a:cubicBezTo>
                <a:close/>
              </a:path>
            </a:pathLst>
          </a:custGeom>
          <a:solidFill>
            <a:srgbClr val="7A6250"/>
          </a:solidFill>
          <a:ln/>
        </p:spPr>
      </p:sp>
      <p:sp>
        <p:nvSpPr>
          <p:cNvPr id="13" name="Shape 11"/>
          <p:cNvSpPr/>
          <p:nvPr/>
        </p:nvSpPr>
        <p:spPr>
          <a:xfrm>
            <a:off x="557213" y="2562225"/>
            <a:ext cx="171450" cy="171450"/>
          </a:xfrm>
          <a:custGeom>
            <a:avLst/>
            <a:gdLst/>
            <a:ahLst/>
            <a:cxnLst/>
            <a:rect l="l" t="t" r="r" b="b"/>
            <a:pathLst>
              <a:path w="171450" h="171450">
                <a:moveTo>
                  <a:pt x="0" y="140509"/>
                </a:moveTo>
                <a:lnTo>
                  <a:pt x="0" y="36668"/>
                </a:lnTo>
                <a:cubicBezTo>
                  <a:pt x="0" y="28899"/>
                  <a:pt x="8070" y="23742"/>
                  <a:pt x="15504" y="25952"/>
                </a:cubicBezTo>
                <a:cubicBezTo>
                  <a:pt x="44872" y="34725"/>
                  <a:pt x="65633" y="27794"/>
                  <a:pt x="86529" y="20828"/>
                </a:cubicBezTo>
                <a:cubicBezTo>
                  <a:pt x="108127" y="13629"/>
                  <a:pt x="129860" y="6396"/>
                  <a:pt x="161304" y="16442"/>
                </a:cubicBezTo>
                <a:cubicBezTo>
                  <a:pt x="167499" y="18417"/>
                  <a:pt x="171450" y="24412"/>
                  <a:pt x="171450" y="30941"/>
                </a:cubicBezTo>
                <a:lnTo>
                  <a:pt x="171450" y="134782"/>
                </a:lnTo>
                <a:cubicBezTo>
                  <a:pt x="171450" y="142551"/>
                  <a:pt x="163380" y="147708"/>
                  <a:pt x="155979" y="145498"/>
                </a:cubicBezTo>
                <a:cubicBezTo>
                  <a:pt x="126612" y="136725"/>
                  <a:pt x="105817" y="143656"/>
                  <a:pt x="84955" y="150622"/>
                </a:cubicBezTo>
                <a:cubicBezTo>
                  <a:pt x="63356" y="157821"/>
                  <a:pt x="41624" y="165054"/>
                  <a:pt x="10180" y="155008"/>
                </a:cubicBezTo>
                <a:cubicBezTo>
                  <a:pt x="3985" y="153033"/>
                  <a:pt x="33" y="147038"/>
                  <a:pt x="33" y="140509"/>
                </a:cubicBezTo>
                <a:close/>
                <a:moveTo>
                  <a:pt x="112514" y="85725"/>
                </a:moveTo>
                <a:cubicBezTo>
                  <a:pt x="112514" y="67977"/>
                  <a:pt x="100526" y="53578"/>
                  <a:pt x="85725" y="53578"/>
                </a:cubicBezTo>
                <a:cubicBezTo>
                  <a:pt x="70924" y="53578"/>
                  <a:pt x="58936" y="67977"/>
                  <a:pt x="58936" y="85725"/>
                </a:cubicBezTo>
                <a:cubicBezTo>
                  <a:pt x="58936" y="103473"/>
                  <a:pt x="70924" y="117872"/>
                  <a:pt x="85725" y="117872"/>
                </a:cubicBezTo>
                <a:cubicBezTo>
                  <a:pt x="100526" y="117872"/>
                  <a:pt x="112514" y="103473"/>
                  <a:pt x="112514" y="85725"/>
                </a:cubicBezTo>
                <a:close/>
                <a:moveTo>
                  <a:pt x="40184" y="138499"/>
                </a:moveTo>
                <a:cubicBezTo>
                  <a:pt x="41657" y="138499"/>
                  <a:pt x="42829" y="137227"/>
                  <a:pt x="42595" y="135787"/>
                </a:cubicBezTo>
                <a:cubicBezTo>
                  <a:pt x="41054" y="126478"/>
                  <a:pt x="33553" y="119211"/>
                  <a:pt x="24110" y="118039"/>
                </a:cubicBezTo>
                <a:cubicBezTo>
                  <a:pt x="22637" y="117872"/>
                  <a:pt x="21431" y="119077"/>
                  <a:pt x="21431" y="120551"/>
                </a:cubicBezTo>
                <a:lnTo>
                  <a:pt x="21431" y="133912"/>
                </a:lnTo>
                <a:cubicBezTo>
                  <a:pt x="21431" y="135117"/>
                  <a:pt x="22235" y="136189"/>
                  <a:pt x="23440" y="136490"/>
                </a:cubicBezTo>
                <a:cubicBezTo>
                  <a:pt x="29434" y="137897"/>
                  <a:pt x="34926" y="138533"/>
                  <a:pt x="40184" y="138533"/>
                </a:cubicBezTo>
                <a:close/>
                <a:moveTo>
                  <a:pt x="146838" y="121388"/>
                </a:moveTo>
                <a:cubicBezTo>
                  <a:pt x="148512" y="121656"/>
                  <a:pt x="150019" y="120383"/>
                  <a:pt x="150019" y="118709"/>
                </a:cubicBezTo>
                <a:lnTo>
                  <a:pt x="150019" y="104444"/>
                </a:lnTo>
                <a:cubicBezTo>
                  <a:pt x="150019" y="102970"/>
                  <a:pt x="148813" y="101731"/>
                  <a:pt x="147340" y="101932"/>
                </a:cubicBezTo>
                <a:cubicBezTo>
                  <a:pt x="138901" y="102970"/>
                  <a:pt x="131970" y="108931"/>
                  <a:pt x="129525" y="116867"/>
                </a:cubicBezTo>
                <a:cubicBezTo>
                  <a:pt x="129056" y="118441"/>
                  <a:pt x="130295" y="119915"/>
                  <a:pt x="131936" y="119948"/>
                </a:cubicBezTo>
                <a:cubicBezTo>
                  <a:pt x="136691" y="120082"/>
                  <a:pt x="141647" y="120517"/>
                  <a:pt x="146804" y="121388"/>
                </a:cubicBezTo>
                <a:close/>
                <a:moveTo>
                  <a:pt x="150019" y="50899"/>
                </a:moveTo>
                <a:lnTo>
                  <a:pt x="150019" y="37538"/>
                </a:lnTo>
                <a:cubicBezTo>
                  <a:pt x="150019" y="36333"/>
                  <a:pt x="149182" y="35261"/>
                  <a:pt x="148010" y="34960"/>
                </a:cubicBezTo>
                <a:cubicBezTo>
                  <a:pt x="142016" y="33553"/>
                  <a:pt x="136524" y="32917"/>
                  <a:pt x="131266" y="32917"/>
                </a:cubicBezTo>
                <a:cubicBezTo>
                  <a:pt x="129793" y="32917"/>
                  <a:pt x="128621" y="34190"/>
                  <a:pt x="128855" y="35629"/>
                </a:cubicBezTo>
                <a:cubicBezTo>
                  <a:pt x="130396" y="44939"/>
                  <a:pt x="137897" y="52205"/>
                  <a:pt x="147340" y="53377"/>
                </a:cubicBezTo>
                <a:cubicBezTo>
                  <a:pt x="148813" y="53545"/>
                  <a:pt x="150019" y="52339"/>
                  <a:pt x="150019" y="50866"/>
                </a:cubicBezTo>
                <a:close/>
                <a:moveTo>
                  <a:pt x="41925" y="54549"/>
                </a:moveTo>
                <a:cubicBezTo>
                  <a:pt x="42394" y="52975"/>
                  <a:pt x="41155" y="51502"/>
                  <a:pt x="39514" y="51468"/>
                </a:cubicBezTo>
                <a:cubicBezTo>
                  <a:pt x="34759" y="51335"/>
                  <a:pt x="29803" y="50899"/>
                  <a:pt x="24646" y="50029"/>
                </a:cubicBezTo>
                <a:cubicBezTo>
                  <a:pt x="22972" y="49761"/>
                  <a:pt x="21465" y="51033"/>
                  <a:pt x="21465" y="52707"/>
                </a:cubicBezTo>
                <a:lnTo>
                  <a:pt x="21431" y="66973"/>
                </a:lnTo>
                <a:cubicBezTo>
                  <a:pt x="21431" y="68446"/>
                  <a:pt x="22637" y="69685"/>
                  <a:pt x="24110" y="69484"/>
                </a:cubicBezTo>
                <a:cubicBezTo>
                  <a:pt x="32549" y="68446"/>
                  <a:pt x="39480" y="62485"/>
                  <a:pt x="41925" y="54549"/>
                </a:cubicBezTo>
                <a:close/>
              </a:path>
            </a:pathLst>
          </a:custGeom>
          <a:solidFill>
            <a:srgbClr val="7A6250"/>
          </a:solidFill>
          <a:ln/>
        </p:spPr>
      </p:sp>
      <p:sp>
        <p:nvSpPr>
          <p:cNvPr id="14" name="Text 12"/>
          <p:cNvSpPr/>
          <p:nvPr/>
        </p:nvSpPr>
        <p:spPr>
          <a:xfrm>
            <a:off x="752475" y="2514600"/>
            <a:ext cx="5238750" cy="266700"/>
          </a:xfrm>
          <a:prstGeom prst="rect">
            <a:avLst/>
          </a:prstGeom>
          <a:noFill/>
          <a:ln/>
        </p:spPr>
        <p:txBody>
          <a:bodyPr wrap="square" lIns="0" tIns="0" rIns="0" bIns="0" rtlCol="0" anchor="ctr"/>
          <a:lstStyle/>
          <a:p>
            <a:pPr>
              <a:lnSpc>
                <a:spcPct val="130000"/>
              </a:lnSpc>
            </a:pPr>
            <a:r>
              <a:rPr lang="en-US" sz="1350" b="1" dirty="0">
                <a:solidFill>
                  <a:srgbClr val="3A4D39"/>
                </a:solidFill>
                <a:latin typeface="Unna" pitchFamily="34" charset="0"/>
                <a:ea typeface="Unna" pitchFamily="34" charset="-122"/>
                <a:cs typeface="Unna" pitchFamily="34" charset="-120"/>
              </a:rPr>
              <a:t>Monetary Partner</a:t>
            </a:r>
            <a:endParaRPr lang="en-US" sz="1600" dirty="0"/>
          </a:p>
        </p:txBody>
      </p:sp>
      <p:sp>
        <p:nvSpPr>
          <p:cNvPr id="15" name="Text 13"/>
          <p:cNvSpPr/>
          <p:nvPr/>
        </p:nvSpPr>
        <p:spPr>
          <a:xfrm>
            <a:off x="533400" y="2857500"/>
            <a:ext cx="5448300" cy="457200"/>
          </a:xfrm>
          <a:prstGeom prst="rect">
            <a:avLst/>
          </a:prstGeom>
          <a:noFill/>
          <a:ln/>
        </p:spPr>
        <p:txBody>
          <a:bodyPr wrap="square" lIns="0" tIns="0" rIns="0" bIns="0" rtlCol="0" anchor="ctr"/>
          <a:lstStyle/>
          <a:p>
            <a:pPr>
              <a:lnSpc>
                <a:spcPct val="130000"/>
              </a:lnSpc>
            </a:pPr>
            <a:r>
              <a:rPr lang="en-US" sz="1200" dirty="0">
                <a:solidFill>
                  <a:srgbClr val="2C2C2C"/>
                </a:solidFill>
                <a:latin typeface="Quattrocento Sans" pitchFamily="34" charset="0"/>
                <a:ea typeface="Quattrocento Sans" pitchFamily="34" charset="-122"/>
                <a:cs typeface="Quattrocento Sans" pitchFamily="34" charset="-120"/>
              </a:rPr>
              <a:t>Capital-only investors providing financial contributions without operational responsibilities, entitled to profit share proportional to investment percentage.</a:t>
            </a:r>
            <a:endParaRPr lang="en-US" sz="1600" dirty="0"/>
          </a:p>
        </p:txBody>
      </p:sp>
      <p:sp>
        <p:nvSpPr>
          <p:cNvPr id="16" name="Shape 14"/>
          <p:cNvSpPr/>
          <p:nvPr/>
        </p:nvSpPr>
        <p:spPr>
          <a:xfrm>
            <a:off x="400050" y="3543300"/>
            <a:ext cx="5619750" cy="1028700"/>
          </a:xfrm>
          <a:custGeom>
            <a:avLst/>
            <a:gdLst/>
            <a:ahLst/>
            <a:cxnLst/>
            <a:rect l="l" t="t" r="r" b="b"/>
            <a:pathLst>
              <a:path w="5619750" h="1028700">
                <a:moveTo>
                  <a:pt x="38100" y="0"/>
                </a:moveTo>
                <a:lnTo>
                  <a:pt x="5543554" y="0"/>
                </a:lnTo>
                <a:cubicBezTo>
                  <a:pt x="5585636" y="0"/>
                  <a:pt x="5619750" y="34114"/>
                  <a:pt x="5619750" y="76196"/>
                </a:cubicBezTo>
                <a:lnTo>
                  <a:pt x="5619750" y="952504"/>
                </a:lnTo>
                <a:cubicBezTo>
                  <a:pt x="5619750" y="994586"/>
                  <a:pt x="5585636" y="1028700"/>
                  <a:pt x="5543554" y="1028700"/>
                </a:cubicBezTo>
                <a:lnTo>
                  <a:pt x="38100" y="1028700"/>
                </a:lnTo>
                <a:cubicBezTo>
                  <a:pt x="17072" y="1028700"/>
                  <a:pt x="0" y="1011628"/>
                  <a:pt x="0" y="990600"/>
                </a:cubicBezTo>
                <a:lnTo>
                  <a:pt x="0" y="38100"/>
                </a:lnTo>
                <a:cubicBezTo>
                  <a:pt x="0" y="17072"/>
                  <a:pt x="17072" y="0"/>
                  <a:pt x="38100" y="0"/>
                </a:cubicBezTo>
                <a:close/>
              </a:path>
            </a:pathLst>
          </a:custGeom>
          <a:solidFill>
            <a:srgbClr val="FFFFFF"/>
          </a:solidFill>
          <a:ln/>
          <a:effectLst>
            <a:outerShdw sx="100000" sy="100000" kx="0" ky="0" algn="bl" rotWithShape="0" blurRad="28575" dist="9525" dir="5400000">
              <a:srgbClr val="000000">
                <a:alpha val="10196"/>
              </a:srgbClr>
            </a:outerShdw>
          </a:effectLst>
        </p:spPr>
      </p:sp>
      <p:sp>
        <p:nvSpPr>
          <p:cNvPr id="17" name="Shape 15"/>
          <p:cNvSpPr/>
          <p:nvPr/>
        </p:nvSpPr>
        <p:spPr>
          <a:xfrm>
            <a:off x="400050" y="3543300"/>
            <a:ext cx="38100" cy="1028700"/>
          </a:xfrm>
          <a:custGeom>
            <a:avLst/>
            <a:gdLst/>
            <a:ahLst/>
            <a:cxnLst/>
            <a:rect l="l" t="t" r="r" b="b"/>
            <a:pathLst>
              <a:path w="38100" h="1028700">
                <a:moveTo>
                  <a:pt x="38100" y="0"/>
                </a:moveTo>
                <a:lnTo>
                  <a:pt x="38100" y="0"/>
                </a:lnTo>
                <a:lnTo>
                  <a:pt x="38100" y="1028700"/>
                </a:lnTo>
                <a:lnTo>
                  <a:pt x="38100" y="1028700"/>
                </a:lnTo>
                <a:cubicBezTo>
                  <a:pt x="17072" y="1028700"/>
                  <a:pt x="0" y="1011628"/>
                  <a:pt x="0" y="990600"/>
                </a:cubicBezTo>
                <a:lnTo>
                  <a:pt x="0" y="38100"/>
                </a:lnTo>
                <a:cubicBezTo>
                  <a:pt x="0" y="17072"/>
                  <a:pt x="17072" y="0"/>
                  <a:pt x="38100" y="0"/>
                </a:cubicBezTo>
                <a:close/>
              </a:path>
            </a:pathLst>
          </a:custGeom>
          <a:solidFill>
            <a:srgbClr val="3A4D39"/>
          </a:solidFill>
          <a:ln/>
        </p:spPr>
      </p:sp>
      <p:sp>
        <p:nvSpPr>
          <p:cNvPr id="18" name="Shape 16"/>
          <p:cNvSpPr/>
          <p:nvPr/>
        </p:nvSpPr>
        <p:spPr>
          <a:xfrm>
            <a:off x="546497" y="3705225"/>
            <a:ext cx="192881" cy="171450"/>
          </a:xfrm>
          <a:custGeom>
            <a:avLst/>
            <a:gdLst/>
            <a:ahLst/>
            <a:cxnLst/>
            <a:rect l="l" t="t" r="r" b="b"/>
            <a:pathLst>
              <a:path w="192881" h="171450">
                <a:moveTo>
                  <a:pt x="96441" y="10716"/>
                </a:moveTo>
                <a:cubicBezTo>
                  <a:pt x="69384" y="10716"/>
                  <a:pt x="47718" y="23039"/>
                  <a:pt x="31946" y="37706"/>
                </a:cubicBezTo>
                <a:cubicBezTo>
                  <a:pt x="16274" y="52272"/>
                  <a:pt x="5793" y="69652"/>
                  <a:pt x="804" y="81606"/>
                </a:cubicBezTo>
                <a:cubicBezTo>
                  <a:pt x="-301" y="84252"/>
                  <a:pt x="-301" y="87198"/>
                  <a:pt x="804" y="89844"/>
                </a:cubicBezTo>
                <a:cubicBezTo>
                  <a:pt x="5793" y="101798"/>
                  <a:pt x="16274" y="119211"/>
                  <a:pt x="31946" y="133744"/>
                </a:cubicBezTo>
                <a:cubicBezTo>
                  <a:pt x="47718" y="148378"/>
                  <a:pt x="69384" y="160734"/>
                  <a:pt x="96441" y="160734"/>
                </a:cubicBezTo>
                <a:cubicBezTo>
                  <a:pt x="123498" y="160734"/>
                  <a:pt x="145163" y="148411"/>
                  <a:pt x="160935" y="133744"/>
                </a:cubicBezTo>
                <a:cubicBezTo>
                  <a:pt x="176607" y="119178"/>
                  <a:pt x="187088" y="101798"/>
                  <a:pt x="192078" y="89844"/>
                </a:cubicBezTo>
                <a:cubicBezTo>
                  <a:pt x="193183" y="87198"/>
                  <a:pt x="193183" y="84252"/>
                  <a:pt x="192078" y="81606"/>
                </a:cubicBezTo>
                <a:cubicBezTo>
                  <a:pt x="187088" y="69652"/>
                  <a:pt x="176607" y="52239"/>
                  <a:pt x="160935" y="37706"/>
                </a:cubicBezTo>
                <a:cubicBezTo>
                  <a:pt x="145163" y="23072"/>
                  <a:pt x="123498" y="10716"/>
                  <a:pt x="96441" y="10716"/>
                </a:cubicBezTo>
                <a:close/>
                <a:moveTo>
                  <a:pt x="48220" y="85725"/>
                </a:moveTo>
                <a:cubicBezTo>
                  <a:pt x="48220" y="59111"/>
                  <a:pt x="69827" y="37505"/>
                  <a:pt x="96441" y="37505"/>
                </a:cubicBezTo>
                <a:cubicBezTo>
                  <a:pt x="123054" y="37505"/>
                  <a:pt x="144661" y="59111"/>
                  <a:pt x="144661" y="85725"/>
                </a:cubicBezTo>
                <a:cubicBezTo>
                  <a:pt x="144661" y="112339"/>
                  <a:pt x="123054" y="133945"/>
                  <a:pt x="96441" y="133945"/>
                </a:cubicBezTo>
                <a:cubicBezTo>
                  <a:pt x="69827" y="133945"/>
                  <a:pt x="48220" y="112339"/>
                  <a:pt x="48220" y="85725"/>
                </a:cubicBezTo>
                <a:close/>
                <a:moveTo>
                  <a:pt x="96441" y="64294"/>
                </a:moveTo>
                <a:cubicBezTo>
                  <a:pt x="96441" y="76114"/>
                  <a:pt x="86830" y="85725"/>
                  <a:pt x="75009" y="85725"/>
                </a:cubicBezTo>
                <a:cubicBezTo>
                  <a:pt x="71158" y="85725"/>
                  <a:pt x="67542" y="84720"/>
                  <a:pt x="64394" y="82912"/>
                </a:cubicBezTo>
                <a:cubicBezTo>
                  <a:pt x="64059" y="86562"/>
                  <a:pt x="64361" y="90313"/>
                  <a:pt x="65365" y="94030"/>
                </a:cubicBezTo>
                <a:cubicBezTo>
                  <a:pt x="69953" y="111175"/>
                  <a:pt x="87600" y="121354"/>
                  <a:pt x="104745" y="116767"/>
                </a:cubicBezTo>
                <a:cubicBezTo>
                  <a:pt x="121890" y="112179"/>
                  <a:pt x="132070" y="94532"/>
                  <a:pt x="127482" y="77387"/>
                </a:cubicBezTo>
                <a:cubicBezTo>
                  <a:pt x="123397" y="62084"/>
                  <a:pt x="108898" y="52339"/>
                  <a:pt x="93628" y="53679"/>
                </a:cubicBezTo>
                <a:cubicBezTo>
                  <a:pt x="95403" y="56793"/>
                  <a:pt x="96441" y="60409"/>
                  <a:pt x="96441" y="64294"/>
                </a:cubicBezTo>
                <a:close/>
              </a:path>
            </a:pathLst>
          </a:custGeom>
          <a:solidFill>
            <a:srgbClr val="3A4D39"/>
          </a:solidFill>
          <a:ln/>
        </p:spPr>
      </p:sp>
      <p:sp>
        <p:nvSpPr>
          <p:cNvPr id="19" name="Text 17"/>
          <p:cNvSpPr/>
          <p:nvPr/>
        </p:nvSpPr>
        <p:spPr>
          <a:xfrm>
            <a:off x="752475" y="3657600"/>
            <a:ext cx="5238750" cy="266700"/>
          </a:xfrm>
          <a:prstGeom prst="rect">
            <a:avLst/>
          </a:prstGeom>
          <a:noFill/>
          <a:ln/>
        </p:spPr>
        <p:txBody>
          <a:bodyPr wrap="square" lIns="0" tIns="0" rIns="0" bIns="0" rtlCol="0" anchor="ctr"/>
          <a:lstStyle/>
          <a:p>
            <a:pPr>
              <a:lnSpc>
                <a:spcPct val="130000"/>
              </a:lnSpc>
            </a:pPr>
            <a:r>
              <a:rPr lang="en-US" sz="1350" b="1" dirty="0">
                <a:solidFill>
                  <a:srgbClr val="3A4D39"/>
                </a:solidFill>
                <a:latin typeface="Unna" pitchFamily="34" charset="0"/>
                <a:ea typeface="Unna" pitchFamily="34" charset="-122"/>
                <a:cs typeface="Unna" pitchFamily="34" charset="-120"/>
              </a:rPr>
              <a:t>Monitoring Partner</a:t>
            </a:r>
            <a:endParaRPr lang="en-US" sz="1600" dirty="0"/>
          </a:p>
        </p:txBody>
      </p:sp>
      <p:sp>
        <p:nvSpPr>
          <p:cNvPr id="20" name="Text 18"/>
          <p:cNvSpPr/>
          <p:nvPr/>
        </p:nvSpPr>
        <p:spPr>
          <a:xfrm>
            <a:off x="533400" y="4000500"/>
            <a:ext cx="5448300" cy="457200"/>
          </a:xfrm>
          <a:prstGeom prst="rect">
            <a:avLst/>
          </a:prstGeom>
          <a:noFill/>
          <a:ln/>
        </p:spPr>
        <p:txBody>
          <a:bodyPr wrap="square" lIns="0" tIns="0" rIns="0" bIns="0" rtlCol="0" anchor="ctr"/>
          <a:lstStyle/>
          <a:p>
            <a:pPr>
              <a:lnSpc>
                <a:spcPct val="130000"/>
              </a:lnSpc>
            </a:pPr>
            <a:r>
              <a:rPr lang="en-US" sz="1200" dirty="0">
                <a:solidFill>
                  <a:srgbClr val="2C2C2C"/>
                </a:solidFill>
                <a:latin typeface="Quattrocento Sans" pitchFamily="34" charset="0"/>
                <a:ea typeface="Quattrocento Sans" pitchFamily="34" charset="-122"/>
                <a:cs typeface="Quattrocento Sans" pitchFamily="34" charset="-120"/>
              </a:rPr>
              <a:t>Capital investors with active oversight responsibilities including mandatory bi-weekly farm visits, staff assessment, and operational compliance monitoring.</a:t>
            </a:r>
            <a:endParaRPr lang="en-US" sz="1600" dirty="0"/>
          </a:p>
        </p:txBody>
      </p:sp>
      <p:sp>
        <p:nvSpPr>
          <p:cNvPr id="21" name="Shape 19"/>
          <p:cNvSpPr/>
          <p:nvPr/>
        </p:nvSpPr>
        <p:spPr>
          <a:xfrm>
            <a:off x="400050" y="4686300"/>
            <a:ext cx="5619750" cy="1028700"/>
          </a:xfrm>
          <a:custGeom>
            <a:avLst/>
            <a:gdLst/>
            <a:ahLst/>
            <a:cxnLst/>
            <a:rect l="l" t="t" r="r" b="b"/>
            <a:pathLst>
              <a:path w="5619750" h="1028700">
                <a:moveTo>
                  <a:pt x="38100" y="0"/>
                </a:moveTo>
                <a:lnTo>
                  <a:pt x="5543554" y="0"/>
                </a:lnTo>
                <a:cubicBezTo>
                  <a:pt x="5585636" y="0"/>
                  <a:pt x="5619750" y="34114"/>
                  <a:pt x="5619750" y="76196"/>
                </a:cubicBezTo>
                <a:lnTo>
                  <a:pt x="5619750" y="952504"/>
                </a:lnTo>
                <a:cubicBezTo>
                  <a:pt x="5619750" y="994586"/>
                  <a:pt x="5585636" y="1028700"/>
                  <a:pt x="5543554" y="1028700"/>
                </a:cubicBezTo>
                <a:lnTo>
                  <a:pt x="38100" y="1028700"/>
                </a:lnTo>
                <a:cubicBezTo>
                  <a:pt x="17072" y="1028700"/>
                  <a:pt x="0" y="1011628"/>
                  <a:pt x="0" y="990600"/>
                </a:cubicBezTo>
                <a:lnTo>
                  <a:pt x="0" y="38100"/>
                </a:lnTo>
                <a:cubicBezTo>
                  <a:pt x="0" y="17072"/>
                  <a:pt x="17072" y="0"/>
                  <a:pt x="38100" y="0"/>
                </a:cubicBezTo>
                <a:close/>
              </a:path>
            </a:pathLst>
          </a:custGeom>
          <a:solidFill>
            <a:srgbClr val="FFFFFF"/>
          </a:solidFill>
          <a:ln/>
          <a:effectLst>
            <a:outerShdw sx="100000" sy="100000" kx="0" ky="0" algn="bl" rotWithShape="0" blurRad="28575" dist="9525" dir="5400000">
              <a:srgbClr val="000000">
                <a:alpha val="10196"/>
              </a:srgbClr>
            </a:outerShdw>
          </a:effectLst>
        </p:spPr>
      </p:sp>
      <p:sp>
        <p:nvSpPr>
          <p:cNvPr id="22" name="Shape 20"/>
          <p:cNvSpPr/>
          <p:nvPr/>
        </p:nvSpPr>
        <p:spPr>
          <a:xfrm>
            <a:off x="400050" y="4686300"/>
            <a:ext cx="38100" cy="1028700"/>
          </a:xfrm>
          <a:custGeom>
            <a:avLst/>
            <a:gdLst/>
            <a:ahLst/>
            <a:cxnLst/>
            <a:rect l="l" t="t" r="r" b="b"/>
            <a:pathLst>
              <a:path w="38100" h="1028700">
                <a:moveTo>
                  <a:pt x="38100" y="0"/>
                </a:moveTo>
                <a:lnTo>
                  <a:pt x="38100" y="0"/>
                </a:lnTo>
                <a:lnTo>
                  <a:pt x="38100" y="1028700"/>
                </a:lnTo>
                <a:lnTo>
                  <a:pt x="38100" y="1028700"/>
                </a:lnTo>
                <a:cubicBezTo>
                  <a:pt x="17072" y="1028700"/>
                  <a:pt x="0" y="1011628"/>
                  <a:pt x="0" y="990600"/>
                </a:cubicBezTo>
                <a:lnTo>
                  <a:pt x="0" y="38100"/>
                </a:lnTo>
                <a:cubicBezTo>
                  <a:pt x="0" y="17072"/>
                  <a:pt x="17072" y="0"/>
                  <a:pt x="38100" y="0"/>
                </a:cubicBezTo>
                <a:close/>
              </a:path>
            </a:pathLst>
          </a:custGeom>
          <a:solidFill>
            <a:srgbClr val="7A6250"/>
          </a:solidFill>
          <a:ln/>
        </p:spPr>
      </p:sp>
      <p:sp>
        <p:nvSpPr>
          <p:cNvPr id="23" name="Shape 21"/>
          <p:cNvSpPr/>
          <p:nvPr/>
        </p:nvSpPr>
        <p:spPr>
          <a:xfrm>
            <a:off x="567928" y="4848225"/>
            <a:ext cx="150019" cy="171450"/>
          </a:xfrm>
          <a:custGeom>
            <a:avLst/>
            <a:gdLst/>
            <a:ahLst/>
            <a:cxnLst/>
            <a:rect l="l" t="t" r="r" b="b"/>
            <a:pathLst>
              <a:path w="150019" h="171450">
                <a:moveTo>
                  <a:pt x="42863" y="0"/>
                </a:moveTo>
                <a:cubicBezTo>
                  <a:pt x="48790" y="0"/>
                  <a:pt x="53578" y="4789"/>
                  <a:pt x="53578" y="10716"/>
                </a:cubicBezTo>
                <a:lnTo>
                  <a:pt x="53578" y="21431"/>
                </a:lnTo>
                <a:lnTo>
                  <a:pt x="96441" y="21431"/>
                </a:lnTo>
                <a:lnTo>
                  <a:pt x="96441" y="10716"/>
                </a:lnTo>
                <a:cubicBezTo>
                  <a:pt x="96441" y="4789"/>
                  <a:pt x="101229" y="0"/>
                  <a:pt x="107156" y="0"/>
                </a:cubicBezTo>
                <a:cubicBezTo>
                  <a:pt x="113083" y="0"/>
                  <a:pt x="117872" y="4789"/>
                  <a:pt x="117872" y="10716"/>
                </a:cubicBezTo>
                <a:lnTo>
                  <a:pt x="117872" y="21431"/>
                </a:lnTo>
                <a:lnTo>
                  <a:pt x="128588" y="21431"/>
                </a:lnTo>
                <a:cubicBezTo>
                  <a:pt x="140408" y="21431"/>
                  <a:pt x="150019" y="31042"/>
                  <a:pt x="150019" y="42863"/>
                </a:cubicBezTo>
                <a:lnTo>
                  <a:pt x="150019" y="139303"/>
                </a:lnTo>
                <a:cubicBezTo>
                  <a:pt x="150019" y="151124"/>
                  <a:pt x="140408" y="160734"/>
                  <a:pt x="128588" y="160734"/>
                </a:cubicBezTo>
                <a:lnTo>
                  <a:pt x="21431" y="160734"/>
                </a:lnTo>
                <a:cubicBezTo>
                  <a:pt x="9611" y="160734"/>
                  <a:pt x="0" y="151124"/>
                  <a:pt x="0" y="139303"/>
                </a:cubicBezTo>
                <a:lnTo>
                  <a:pt x="0" y="42863"/>
                </a:lnTo>
                <a:cubicBezTo>
                  <a:pt x="0" y="31042"/>
                  <a:pt x="9611" y="21431"/>
                  <a:pt x="21431" y="21431"/>
                </a:cubicBezTo>
                <a:lnTo>
                  <a:pt x="32147" y="21431"/>
                </a:lnTo>
                <a:lnTo>
                  <a:pt x="32147" y="10716"/>
                </a:lnTo>
                <a:cubicBezTo>
                  <a:pt x="32147" y="4789"/>
                  <a:pt x="36935" y="0"/>
                  <a:pt x="42863" y="0"/>
                </a:cubicBezTo>
                <a:close/>
                <a:moveTo>
                  <a:pt x="21431" y="80367"/>
                </a:moveTo>
                <a:lnTo>
                  <a:pt x="21431" y="91083"/>
                </a:lnTo>
                <a:cubicBezTo>
                  <a:pt x="21431" y="94030"/>
                  <a:pt x="23842" y="96441"/>
                  <a:pt x="26789" y="96441"/>
                </a:cubicBezTo>
                <a:lnTo>
                  <a:pt x="37505" y="96441"/>
                </a:lnTo>
                <a:cubicBezTo>
                  <a:pt x="40451" y="96441"/>
                  <a:pt x="42863" y="94030"/>
                  <a:pt x="42863" y="91083"/>
                </a:cubicBezTo>
                <a:lnTo>
                  <a:pt x="42863" y="80367"/>
                </a:lnTo>
                <a:cubicBezTo>
                  <a:pt x="42863" y="77420"/>
                  <a:pt x="40451" y="75009"/>
                  <a:pt x="37505" y="75009"/>
                </a:cubicBezTo>
                <a:lnTo>
                  <a:pt x="26789" y="75009"/>
                </a:lnTo>
                <a:cubicBezTo>
                  <a:pt x="23842" y="75009"/>
                  <a:pt x="21431" y="77420"/>
                  <a:pt x="21431" y="80367"/>
                </a:cubicBezTo>
                <a:close/>
                <a:moveTo>
                  <a:pt x="64294" y="80367"/>
                </a:moveTo>
                <a:lnTo>
                  <a:pt x="64294" y="91083"/>
                </a:lnTo>
                <a:cubicBezTo>
                  <a:pt x="64294" y="94030"/>
                  <a:pt x="66705" y="96441"/>
                  <a:pt x="69652" y="96441"/>
                </a:cubicBezTo>
                <a:lnTo>
                  <a:pt x="80367" y="96441"/>
                </a:lnTo>
                <a:cubicBezTo>
                  <a:pt x="83314" y="96441"/>
                  <a:pt x="85725" y="94030"/>
                  <a:pt x="85725" y="91083"/>
                </a:cubicBezTo>
                <a:lnTo>
                  <a:pt x="85725" y="80367"/>
                </a:lnTo>
                <a:cubicBezTo>
                  <a:pt x="85725" y="77420"/>
                  <a:pt x="83314" y="75009"/>
                  <a:pt x="80367" y="75009"/>
                </a:cubicBezTo>
                <a:lnTo>
                  <a:pt x="69652" y="75009"/>
                </a:lnTo>
                <a:cubicBezTo>
                  <a:pt x="66705" y="75009"/>
                  <a:pt x="64294" y="77420"/>
                  <a:pt x="64294" y="80367"/>
                </a:cubicBezTo>
                <a:close/>
                <a:moveTo>
                  <a:pt x="112514" y="75009"/>
                </a:moveTo>
                <a:cubicBezTo>
                  <a:pt x="109567" y="75009"/>
                  <a:pt x="107156" y="77420"/>
                  <a:pt x="107156" y="80367"/>
                </a:cubicBezTo>
                <a:lnTo>
                  <a:pt x="107156" y="91083"/>
                </a:lnTo>
                <a:cubicBezTo>
                  <a:pt x="107156" y="94030"/>
                  <a:pt x="109567" y="96441"/>
                  <a:pt x="112514" y="96441"/>
                </a:cubicBezTo>
                <a:lnTo>
                  <a:pt x="123230" y="96441"/>
                </a:lnTo>
                <a:cubicBezTo>
                  <a:pt x="126176" y="96441"/>
                  <a:pt x="128588" y="94030"/>
                  <a:pt x="128588" y="91083"/>
                </a:cubicBezTo>
                <a:lnTo>
                  <a:pt x="128588" y="80367"/>
                </a:lnTo>
                <a:cubicBezTo>
                  <a:pt x="128588" y="77420"/>
                  <a:pt x="126176" y="75009"/>
                  <a:pt x="123230" y="75009"/>
                </a:cubicBezTo>
                <a:lnTo>
                  <a:pt x="112514" y="75009"/>
                </a:lnTo>
                <a:close/>
                <a:moveTo>
                  <a:pt x="21431" y="123230"/>
                </a:moveTo>
                <a:lnTo>
                  <a:pt x="21431" y="133945"/>
                </a:lnTo>
                <a:cubicBezTo>
                  <a:pt x="21431" y="136892"/>
                  <a:pt x="23842" y="139303"/>
                  <a:pt x="26789" y="139303"/>
                </a:cubicBezTo>
                <a:lnTo>
                  <a:pt x="37505" y="139303"/>
                </a:lnTo>
                <a:cubicBezTo>
                  <a:pt x="40451" y="139303"/>
                  <a:pt x="42863" y="136892"/>
                  <a:pt x="42863" y="133945"/>
                </a:cubicBezTo>
                <a:lnTo>
                  <a:pt x="42863" y="123230"/>
                </a:lnTo>
                <a:cubicBezTo>
                  <a:pt x="42863" y="120283"/>
                  <a:pt x="40451" y="117872"/>
                  <a:pt x="37505" y="117872"/>
                </a:cubicBezTo>
                <a:lnTo>
                  <a:pt x="26789" y="117872"/>
                </a:lnTo>
                <a:cubicBezTo>
                  <a:pt x="23842" y="117872"/>
                  <a:pt x="21431" y="120283"/>
                  <a:pt x="21431" y="123230"/>
                </a:cubicBezTo>
                <a:close/>
                <a:moveTo>
                  <a:pt x="69652" y="117872"/>
                </a:moveTo>
                <a:cubicBezTo>
                  <a:pt x="66705" y="117872"/>
                  <a:pt x="64294" y="120283"/>
                  <a:pt x="64294" y="123230"/>
                </a:cubicBezTo>
                <a:lnTo>
                  <a:pt x="64294" y="133945"/>
                </a:lnTo>
                <a:cubicBezTo>
                  <a:pt x="64294" y="136892"/>
                  <a:pt x="66705" y="139303"/>
                  <a:pt x="69652" y="139303"/>
                </a:cubicBezTo>
                <a:lnTo>
                  <a:pt x="80367" y="139303"/>
                </a:lnTo>
                <a:cubicBezTo>
                  <a:pt x="83314" y="139303"/>
                  <a:pt x="85725" y="136892"/>
                  <a:pt x="85725" y="133945"/>
                </a:cubicBezTo>
                <a:lnTo>
                  <a:pt x="85725" y="123230"/>
                </a:lnTo>
                <a:cubicBezTo>
                  <a:pt x="85725" y="120283"/>
                  <a:pt x="83314" y="117872"/>
                  <a:pt x="80367" y="117872"/>
                </a:cubicBezTo>
                <a:lnTo>
                  <a:pt x="69652" y="117872"/>
                </a:lnTo>
                <a:close/>
                <a:moveTo>
                  <a:pt x="107156" y="123230"/>
                </a:moveTo>
                <a:lnTo>
                  <a:pt x="107156" y="133945"/>
                </a:lnTo>
                <a:cubicBezTo>
                  <a:pt x="107156" y="136892"/>
                  <a:pt x="109567" y="139303"/>
                  <a:pt x="112514" y="139303"/>
                </a:cubicBezTo>
                <a:lnTo>
                  <a:pt x="123230" y="139303"/>
                </a:lnTo>
                <a:cubicBezTo>
                  <a:pt x="126176" y="139303"/>
                  <a:pt x="128588" y="136892"/>
                  <a:pt x="128588" y="133945"/>
                </a:cubicBezTo>
                <a:lnTo>
                  <a:pt x="128588" y="123230"/>
                </a:lnTo>
                <a:cubicBezTo>
                  <a:pt x="128588" y="120283"/>
                  <a:pt x="126176" y="117872"/>
                  <a:pt x="123230" y="117872"/>
                </a:cubicBezTo>
                <a:lnTo>
                  <a:pt x="112514" y="117872"/>
                </a:lnTo>
                <a:cubicBezTo>
                  <a:pt x="109567" y="117872"/>
                  <a:pt x="107156" y="120283"/>
                  <a:pt x="107156" y="123230"/>
                </a:cubicBezTo>
                <a:close/>
              </a:path>
            </a:pathLst>
          </a:custGeom>
          <a:solidFill>
            <a:srgbClr val="7A6250"/>
          </a:solidFill>
          <a:ln/>
        </p:spPr>
      </p:sp>
      <p:sp>
        <p:nvSpPr>
          <p:cNvPr id="24" name="Text 22"/>
          <p:cNvSpPr/>
          <p:nvPr/>
        </p:nvSpPr>
        <p:spPr>
          <a:xfrm>
            <a:off x="752475" y="4800600"/>
            <a:ext cx="5238750" cy="266700"/>
          </a:xfrm>
          <a:prstGeom prst="rect">
            <a:avLst/>
          </a:prstGeom>
          <a:noFill/>
          <a:ln/>
        </p:spPr>
        <p:txBody>
          <a:bodyPr wrap="square" lIns="0" tIns="0" rIns="0" bIns="0" rtlCol="0" anchor="ctr"/>
          <a:lstStyle/>
          <a:p>
            <a:pPr>
              <a:lnSpc>
                <a:spcPct val="130000"/>
              </a:lnSpc>
            </a:pPr>
            <a:r>
              <a:rPr lang="en-US" sz="1350" b="1" dirty="0">
                <a:solidFill>
                  <a:srgbClr val="3A4D39"/>
                </a:solidFill>
                <a:latin typeface="Unna" pitchFamily="34" charset="0"/>
                <a:ea typeface="Unna" pitchFamily="34" charset="-122"/>
                <a:cs typeface="Unna" pitchFamily="34" charset="-120"/>
              </a:rPr>
              <a:t>Investment Period</a:t>
            </a:r>
            <a:endParaRPr lang="en-US" sz="1600" dirty="0"/>
          </a:p>
        </p:txBody>
      </p:sp>
      <p:sp>
        <p:nvSpPr>
          <p:cNvPr id="25" name="Text 23"/>
          <p:cNvSpPr/>
          <p:nvPr/>
        </p:nvSpPr>
        <p:spPr>
          <a:xfrm>
            <a:off x="533400" y="5143500"/>
            <a:ext cx="5448300" cy="457200"/>
          </a:xfrm>
          <a:prstGeom prst="rect">
            <a:avLst/>
          </a:prstGeom>
          <a:noFill/>
          <a:ln/>
        </p:spPr>
        <p:txBody>
          <a:bodyPr wrap="square" lIns="0" tIns="0" rIns="0" bIns="0" rtlCol="0" anchor="ctr"/>
          <a:lstStyle/>
          <a:p>
            <a:pPr>
              <a:lnSpc>
                <a:spcPct val="130000"/>
              </a:lnSpc>
            </a:pPr>
            <a:r>
              <a:rPr lang="en-US" sz="1200" dirty="0">
                <a:solidFill>
                  <a:srgbClr val="2C2C2C"/>
                </a:solidFill>
                <a:latin typeface="Quattrocento Sans" pitchFamily="34" charset="0"/>
                <a:ea typeface="Quattrocento Sans" pitchFamily="34" charset="-122"/>
                <a:cs typeface="Quattrocento Sans" pitchFamily="34" charset="-120"/>
              </a:rPr>
              <a:t>The 8-month growing season commencing from planting date through harvest completion, final distribution, and plant termination.</a:t>
            </a:r>
            <a:endParaRPr lang="en-US" sz="1600" dirty="0"/>
          </a:p>
        </p:txBody>
      </p:sp>
      <p:sp>
        <p:nvSpPr>
          <p:cNvPr id="26" name="Shape 24"/>
          <p:cNvSpPr/>
          <p:nvPr/>
        </p:nvSpPr>
        <p:spPr>
          <a:xfrm>
            <a:off x="6191250" y="1028700"/>
            <a:ext cx="5619750" cy="1028700"/>
          </a:xfrm>
          <a:custGeom>
            <a:avLst/>
            <a:gdLst/>
            <a:ahLst/>
            <a:cxnLst/>
            <a:rect l="l" t="t" r="r" b="b"/>
            <a:pathLst>
              <a:path w="5619750" h="1028700">
                <a:moveTo>
                  <a:pt x="38100" y="0"/>
                </a:moveTo>
                <a:lnTo>
                  <a:pt x="5543554" y="0"/>
                </a:lnTo>
                <a:cubicBezTo>
                  <a:pt x="5585636" y="0"/>
                  <a:pt x="5619750" y="34114"/>
                  <a:pt x="5619750" y="76196"/>
                </a:cubicBezTo>
                <a:lnTo>
                  <a:pt x="5619750" y="952504"/>
                </a:lnTo>
                <a:cubicBezTo>
                  <a:pt x="5619750" y="994586"/>
                  <a:pt x="5585636" y="1028700"/>
                  <a:pt x="5543554" y="1028700"/>
                </a:cubicBezTo>
                <a:lnTo>
                  <a:pt x="38100" y="1028700"/>
                </a:lnTo>
                <a:cubicBezTo>
                  <a:pt x="17072" y="1028700"/>
                  <a:pt x="0" y="1011628"/>
                  <a:pt x="0" y="990600"/>
                </a:cubicBezTo>
                <a:lnTo>
                  <a:pt x="0" y="38100"/>
                </a:lnTo>
                <a:cubicBezTo>
                  <a:pt x="0" y="17072"/>
                  <a:pt x="17072" y="0"/>
                  <a:pt x="38100" y="0"/>
                </a:cubicBezTo>
                <a:close/>
              </a:path>
            </a:pathLst>
          </a:custGeom>
          <a:solidFill>
            <a:srgbClr val="FFFFFF"/>
          </a:solidFill>
          <a:ln/>
          <a:effectLst>
            <a:outerShdw sx="100000" sy="100000" kx="0" ky="0" algn="bl" rotWithShape="0" blurRad="28575" dist="9525" dir="5400000">
              <a:srgbClr val="000000">
                <a:alpha val="10196"/>
              </a:srgbClr>
            </a:outerShdw>
          </a:effectLst>
        </p:spPr>
      </p:sp>
      <p:sp>
        <p:nvSpPr>
          <p:cNvPr id="27" name="Shape 25"/>
          <p:cNvSpPr/>
          <p:nvPr/>
        </p:nvSpPr>
        <p:spPr>
          <a:xfrm>
            <a:off x="6191250" y="1028700"/>
            <a:ext cx="38100" cy="1028700"/>
          </a:xfrm>
          <a:custGeom>
            <a:avLst/>
            <a:gdLst/>
            <a:ahLst/>
            <a:cxnLst/>
            <a:rect l="l" t="t" r="r" b="b"/>
            <a:pathLst>
              <a:path w="38100" h="1028700">
                <a:moveTo>
                  <a:pt x="38100" y="0"/>
                </a:moveTo>
                <a:lnTo>
                  <a:pt x="38100" y="0"/>
                </a:lnTo>
                <a:lnTo>
                  <a:pt x="38100" y="1028700"/>
                </a:lnTo>
                <a:lnTo>
                  <a:pt x="38100" y="1028700"/>
                </a:lnTo>
                <a:cubicBezTo>
                  <a:pt x="17072" y="1028700"/>
                  <a:pt x="0" y="1011628"/>
                  <a:pt x="0" y="990600"/>
                </a:cubicBezTo>
                <a:lnTo>
                  <a:pt x="0" y="38100"/>
                </a:lnTo>
                <a:cubicBezTo>
                  <a:pt x="0" y="17072"/>
                  <a:pt x="17072" y="0"/>
                  <a:pt x="38100" y="0"/>
                </a:cubicBezTo>
                <a:close/>
              </a:path>
            </a:pathLst>
          </a:custGeom>
          <a:solidFill>
            <a:srgbClr val="3A4D39"/>
          </a:solidFill>
          <a:ln/>
        </p:spPr>
      </p:sp>
      <p:sp>
        <p:nvSpPr>
          <p:cNvPr id="28" name="Shape 26"/>
          <p:cNvSpPr/>
          <p:nvPr/>
        </p:nvSpPr>
        <p:spPr>
          <a:xfrm>
            <a:off x="6337697" y="1190625"/>
            <a:ext cx="192881" cy="171450"/>
          </a:xfrm>
          <a:custGeom>
            <a:avLst/>
            <a:gdLst/>
            <a:ahLst/>
            <a:cxnLst/>
            <a:rect l="l" t="t" r="r" b="b"/>
            <a:pathLst>
              <a:path w="192881" h="171450">
                <a:moveTo>
                  <a:pt x="96441" y="-10716"/>
                </a:moveTo>
                <a:cubicBezTo>
                  <a:pt x="114183" y="-10716"/>
                  <a:pt x="128588" y="3689"/>
                  <a:pt x="128588" y="21431"/>
                </a:cubicBezTo>
                <a:cubicBezTo>
                  <a:pt x="128588" y="39174"/>
                  <a:pt x="114183" y="53578"/>
                  <a:pt x="96441" y="53578"/>
                </a:cubicBezTo>
                <a:cubicBezTo>
                  <a:pt x="78698" y="53578"/>
                  <a:pt x="64294" y="39174"/>
                  <a:pt x="64294" y="21431"/>
                </a:cubicBezTo>
                <a:cubicBezTo>
                  <a:pt x="64294" y="3689"/>
                  <a:pt x="78698" y="-10716"/>
                  <a:pt x="96441" y="-10716"/>
                </a:cubicBezTo>
                <a:close/>
                <a:moveTo>
                  <a:pt x="16073" y="101798"/>
                </a:moveTo>
                <a:cubicBezTo>
                  <a:pt x="16073" y="78325"/>
                  <a:pt x="31812" y="57797"/>
                  <a:pt x="55286" y="46579"/>
                </a:cubicBezTo>
                <a:cubicBezTo>
                  <a:pt x="63758" y="60409"/>
                  <a:pt x="79028" y="69652"/>
                  <a:pt x="96441" y="69652"/>
                </a:cubicBezTo>
                <a:cubicBezTo>
                  <a:pt x="115093" y="69652"/>
                  <a:pt x="131300" y="59036"/>
                  <a:pt x="139303" y="43532"/>
                </a:cubicBezTo>
                <a:cubicBezTo>
                  <a:pt x="144594" y="39748"/>
                  <a:pt x="151057" y="37505"/>
                  <a:pt x="158055" y="37505"/>
                </a:cubicBezTo>
                <a:lnTo>
                  <a:pt x="164585" y="37505"/>
                </a:lnTo>
                <a:cubicBezTo>
                  <a:pt x="168068" y="37505"/>
                  <a:pt x="170613" y="40786"/>
                  <a:pt x="169776" y="44168"/>
                </a:cubicBezTo>
                <a:lnTo>
                  <a:pt x="164050" y="67040"/>
                </a:lnTo>
                <a:cubicBezTo>
                  <a:pt x="167365" y="71192"/>
                  <a:pt x="170144" y="75646"/>
                  <a:pt x="172220" y="80367"/>
                </a:cubicBezTo>
                <a:lnTo>
                  <a:pt x="179487" y="80367"/>
                </a:lnTo>
                <a:cubicBezTo>
                  <a:pt x="183940" y="80367"/>
                  <a:pt x="187523" y="83950"/>
                  <a:pt x="187523" y="88404"/>
                </a:cubicBezTo>
                <a:lnTo>
                  <a:pt x="187523" y="125909"/>
                </a:lnTo>
                <a:cubicBezTo>
                  <a:pt x="187523" y="130362"/>
                  <a:pt x="183940" y="133945"/>
                  <a:pt x="179487" y="133945"/>
                </a:cubicBezTo>
                <a:lnTo>
                  <a:pt x="166092" y="133945"/>
                </a:lnTo>
                <a:cubicBezTo>
                  <a:pt x="160567" y="141312"/>
                  <a:pt x="153200" y="147206"/>
                  <a:pt x="144661" y="150923"/>
                </a:cubicBezTo>
                <a:lnTo>
                  <a:pt x="144661" y="160734"/>
                </a:lnTo>
                <a:cubicBezTo>
                  <a:pt x="144661" y="166661"/>
                  <a:pt x="139872" y="171450"/>
                  <a:pt x="133945" y="171450"/>
                </a:cubicBezTo>
                <a:lnTo>
                  <a:pt x="122895" y="171450"/>
                </a:lnTo>
                <a:cubicBezTo>
                  <a:pt x="118106" y="171450"/>
                  <a:pt x="113920" y="168269"/>
                  <a:pt x="112581" y="163681"/>
                </a:cubicBezTo>
                <a:lnTo>
                  <a:pt x="110204" y="155377"/>
                </a:lnTo>
                <a:lnTo>
                  <a:pt x="82644" y="155377"/>
                </a:lnTo>
                <a:lnTo>
                  <a:pt x="80267" y="163681"/>
                </a:lnTo>
                <a:cubicBezTo>
                  <a:pt x="78961" y="168269"/>
                  <a:pt x="74775" y="171450"/>
                  <a:pt x="69986" y="171450"/>
                </a:cubicBezTo>
                <a:lnTo>
                  <a:pt x="58936" y="171450"/>
                </a:lnTo>
                <a:cubicBezTo>
                  <a:pt x="53009" y="171450"/>
                  <a:pt x="48220" y="166661"/>
                  <a:pt x="48220" y="160734"/>
                </a:cubicBezTo>
                <a:lnTo>
                  <a:pt x="48220" y="150923"/>
                </a:lnTo>
                <a:cubicBezTo>
                  <a:pt x="29301" y="142652"/>
                  <a:pt x="16073" y="123765"/>
                  <a:pt x="16073" y="101798"/>
                </a:cubicBezTo>
                <a:close/>
                <a:moveTo>
                  <a:pt x="141982" y="107156"/>
                </a:moveTo>
                <a:cubicBezTo>
                  <a:pt x="146418" y="107156"/>
                  <a:pt x="150019" y="103555"/>
                  <a:pt x="150019" y="99120"/>
                </a:cubicBezTo>
                <a:cubicBezTo>
                  <a:pt x="150019" y="94684"/>
                  <a:pt x="146418" y="91083"/>
                  <a:pt x="141982" y="91083"/>
                </a:cubicBezTo>
                <a:cubicBezTo>
                  <a:pt x="137546" y="91083"/>
                  <a:pt x="133945" y="94684"/>
                  <a:pt x="133945" y="99120"/>
                </a:cubicBezTo>
                <a:cubicBezTo>
                  <a:pt x="133945" y="103555"/>
                  <a:pt x="137546" y="107156"/>
                  <a:pt x="141982" y="107156"/>
                </a:cubicBezTo>
                <a:close/>
              </a:path>
            </a:pathLst>
          </a:custGeom>
          <a:solidFill>
            <a:srgbClr val="3A4D39"/>
          </a:solidFill>
          <a:ln/>
        </p:spPr>
      </p:sp>
      <p:sp>
        <p:nvSpPr>
          <p:cNvPr id="29" name="Text 27"/>
          <p:cNvSpPr/>
          <p:nvPr/>
        </p:nvSpPr>
        <p:spPr>
          <a:xfrm>
            <a:off x="6543675" y="1143000"/>
            <a:ext cx="5238750" cy="266700"/>
          </a:xfrm>
          <a:prstGeom prst="rect">
            <a:avLst/>
          </a:prstGeom>
          <a:noFill/>
          <a:ln/>
        </p:spPr>
        <p:txBody>
          <a:bodyPr wrap="square" lIns="0" tIns="0" rIns="0" bIns="0" rtlCol="0" anchor="ctr"/>
          <a:lstStyle/>
          <a:p>
            <a:pPr>
              <a:lnSpc>
                <a:spcPct val="130000"/>
              </a:lnSpc>
            </a:pPr>
            <a:r>
              <a:rPr lang="en-US" sz="1350" b="1" dirty="0">
                <a:solidFill>
                  <a:srgbClr val="3A4D39"/>
                </a:solidFill>
                <a:latin typeface="Unna" pitchFamily="34" charset="0"/>
                <a:ea typeface="Unna" pitchFamily="34" charset="-122"/>
                <a:cs typeface="Unna" pitchFamily="34" charset="-120"/>
              </a:rPr>
              <a:t>Total Investment Pool</a:t>
            </a:r>
            <a:endParaRPr lang="en-US" sz="1600" dirty="0"/>
          </a:p>
        </p:txBody>
      </p:sp>
      <p:sp>
        <p:nvSpPr>
          <p:cNvPr id="30" name="Text 28"/>
          <p:cNvSpPr/>
          <p:nvPr/>
        </p:nvSpPr>
        <p:spPr>
          <a:xfrm>
            <a:off x="6324600" y="1485900"/>
            <a:ext cx="5448300" cy="457200"/>
          </a:xfrm>
          <a:prstGeom prst="rect">
            <a:avLst/>
          </a:prstGeom>
          <a:noFill/>
          <a:ln/>
        </p:spPr>
        <p:txBody>
          <a:bodyPr wrap="square" lIns="0" tIns="0" rIns="0" bIns="0" rtlCol="0" anchor="ctr"/>
          <a:lstStyle/>
          <a:p>
            <a:pPr>
              <a:lnSpc>
                <a:spcPct val="130000"/>
              </a:lnSpc>
            </a:pPr>
            <a:r>
              <a:rPr lang="en-US" sz="1200" dirty="0">
                <a:solidFill>
                  <a:srgbClr val="2C2C2C"/>
                </a:solidFill>
                <a:latin typeface="Quattrocento Sans" pitchFamily="34" charset="0"/>
                <a:ea typeface="Quattrocento Sans" pitchFamily="34" charset="-122"/>
                <a:cs typeface="Quattrocento Sans" pitchFamily="34" charset="-120"/>
              </a:rPr>
              <a:t>Aggregate of all monetary contributions plus fair market value of in-kind contributions, forming the basis for ownership percentage calculations.</a:t>
            </a:r>
            <a:endParaRPr lang="en-US" sz="1600" dirty="0"/>
          </a:p>
        </p:txBody>
      </p:sp>
      <p:sp>
        <p:nvSpPr>
          <p:cNvPr id="31" name="Shape 29"/>
          <p:cNvSpPr/>
          <p:nvPr/>
        </p:nvSpPr>
        <p:spPr>
          <a:xfrm>
            <a:off x="6191250" y="2171700"/>
            <a:ext cx="5619750" cy="1028700"/>
          </a:xfrm>
          <a:custGeom>
            <a:avLst/>
            <a:gdLst/>
            <a:ahLst/>
            <a:cxnLst/>
            <a:rect l="l" t="t" r="r" b="b"/>
            <a:pathLst>
              <a:path w="5619750" h="1028700">
                <a:moveTo>
                  <a:pt x="38100" y="0"/>
                </a:moveTo>
                <a:lnTo>
                  <a:pt x="5543554" y="0"/>
                </a:lnTo>
                <a:cubicBezTo>
                  <a:pt x="5585636" y="0"/>
                  <a:pt x="5619750" y="34114"/>
                  <a:pt x="5619750" y="76196"/>
                </a:cubicBezTo>
                <a:lnTo>
                  <a:pt x="5619750" y="952504"/>
                </a:lnTo>
                <a:cubicBezTo>
                  <a:pt x="5619750" y="994586"/>
                  <a:pt x="5585636" y="1028700"/>
                  <a:pt x="5543554" y="1028700"/>
                </a:cubicBezTo>
                <a:lnTo>
                  <a:pt x="38100" y="1028700"/>
                </a:lnTo>
                <a:cubicBezTo>
                  <a:pt x="17072" y="1028700"/>
                  <a:pt x="0" y="1011628"/>
                  <a:pt x="0" y="990600"/>
                </a:cubicBezTo>
                <a:lnTo>
                  <a:pt x="0" y="38100"/>
                </a:lnTo>
                <a:cubicBezTo>
                  <a:pt x="0" y="17072"/>
                  <a:pt x="17072" y="0"/>
                  <a:pt x="38100" y="0"/>
                </a:cubicBezTo>
                <a:close/>
              </a:path>
            </a:pathLst>
          </a:custGeom>
          <a:solidFill>
            <a:srgbClr val="FFFFFF"/>
          </a:solidFill>
          <a:ln/>
          <a:effectLst>
            <a:outerShdw sx="100000" sy="100000" kx="0" ky="0" algn="bl" rotWithShape="0" blurRad="28575" dist="9525" dir="5400000">
              <a:srgbClr val="000000">
                <a:alpha val="10196"/>
              </a:srgbClr>
            </a:outerShdw>
          </a:effectLst>
        </p:spPr>
      </p:sp>
      <p:sp>
        <p:nvSpPr>
          <p:cNvPr id="32" name="Shape 30"/>
          <p:cNvSpPr/>
          <p:nvPr/>
        </p:nvSpPr>
        <p:spPr>
          <a:xfrm>
            <a:off x="6191250" y="2171700"/>
            <a:ext cx="38100" cy="1028700"/>
          </a:xfrm>
          <a:custGeom>
            <a:avLst/>
            <a:gdLst/>
            <a:ahLst/>
            <a:cxnLst/>
            <a:rect l="l" t="t" r="r" b="b"/>
            <a:pathLst>
              <a:path w="38100" h="1028700">
                <a:moveTo>
                  <a:pt x="38100" y="0"/>
                </a:moveTo>
                <a:lnTo>
                  <a:pt x="38100" y="0"/>
                </a:lnTo>
                <a:lnTo>
                  <a:pt x="38100" y="1028700"/>
                </a:lnTo>
                <a:lnTo>
                  <a:pt x="38100" y="1028700"/>
                </a:lnTo>
                <a:cubicBezTo>
                  <a:pt x="17072" y="1028700"/>
                  <a:pt x="0" y="1011628"/>
                  <a:pt x="0" y="990600"/>
                </a:cubicBezTo>
                <a:lnTo>
                  <a:pt x="0" y="38100"/>
                </a:lnTo>
                <a:cubicBezTo>
                  <a:pt x="0" y="17072"/>
                  <a:pt x="17072" y="0"/>
                  <a:pt x="38100" y="0"/>
                </a:cubicBezTo>
                <a:close/>
              </a:path>
            </a:pathLst>
          </a:custGeom>
          <a:solidFill>
            <a:srgbClr val="7A6250"/>
          </a:solidFill>
          <a:ln/>
        </p:spPr>
      </p:sp>
      <p:sp>
        <p:nvSpPr>
          <p:cNvPr id="33" name="Shape 31"/>
          <p:cNvSpPr/>
          <p:nvPr/>
        </p:nvSpPr>
        <p:spPr>
          <a:xfrm>
            <a:off x="6348413" y="2333625"/>
            <a:ext cx="171450" cy="171450"/>
          </a:xfrm>
          <a:custGeom>
            <a:avLst/>
            <a:gdLst/>
            <a:ahLst/>
            <a:cxnLst/>
            <a:rect l="l" t="t" r="r" b="b"/>
            <a:pathLst>
              <a:path w="171450" h="171450">
                <a:moveTo>
                  <a:pt x="42863" y="32147"/>
                </a:moveTo>
                <a:lnTo>
                  <a:pt x="42863" y="26789"/>
                </a:lnTo>
                <a:cubicBezTo>
                  <a:pt x="42863" y="11988"/>
                  <a:pt x="71661" y="0"/>
                  <a:pt x="107156" y="0"/>
                </a:cubicBezTo>
                <a:cubicBezTo>
                  <a:pt x="142652" y="0"/>
                  <a:pt x="171450" y="11988"/>
                  <a:pt x="171450" y="26789"/>
                </a:cubicBezTo>
                <a:lnTo>
                  <a:pt x="171450" y="32147"/>
                </a:lnTo>
                <a:cubicBezTo>
                  <a:pt x="171450" y="42394"/>
                  <a:pt x="157620" y="51301"/>
                  <a:pt x="137294" y="55822"/>
                </a:cubicBezTo>
                <a:cubicBezTo>
                  <a:pt x="136490" y="54884"/>
                  <a:pt x="135653" y="53980"/>
                  <a:pt x="134816" y="53143"/>
                </a:cubicBezTo>
                <a:cubicBezTo>
                  <a:pt x="129626" y="48019"/>
                  <a:pt x="122928" y="44135"/>
                  <a:pt x="115930" y="41255"/>
                </a:cubicBezTo>
                <a:cubicBezTo>
                  <a:pt x="101899" y="35395"/>
                  <a:pt x="83615" y="32180"/>
                  <a:pt x="64294" y="32180"/>
                </a:cubicBezTo>
                <a:cubicBezTo>
                  <a:pt x="56960" y="32180"/>
                  <a:pt x="49794" y="32649"/>
                  <a:pt x="42929" y="33553"/>
                </a:cubicBezTo>
                <a:cubicBezTo>
                  <a:pt x="42863" y="33118"/>
                  <a:pt x="42863" y="32649"/>
                  <a:pt x="42863" y="32180"/>
                </a:cubicBezTo>
                <a:close/>
                <a:moveTo>
                  <a:pt x="144661" y="118207"/>
                </a:moveTo>
                <a:lnTo>
                  <a:pt x="144661" y="102736"/>
                </a:lnTo>
                <a:cubicBezTo>
                  <a:pt x="149717" y="101430"/>
                  <a:pt x="154472" y="99890"/>
                  <a:pt x="158792" y="98081"/>
                </a:cubicBezTo>
                <a:cubicBezTo>
                  <a:pt x="163212" y="96240"/>
                  <a:pt x="167532" y="93996"/>
                  <a:pt x="171450" y="91284"/>
                </a:cubicBezTo>
                <a:lnTo>
                  <a:pt x="171450" y="96441"/>
                </a:lnTo>
                <a:cubicBezTo>
                  <a:pt x="171450" y="105415"/>
                  <a:pt x="160902" y="113351"/>
                  <a:pt x="144661" y="118207"/>
                </a:cubicBezTo>
                <a:close/>
                <a:moveTo>
                  <a:pt x="144661" y="86060"/>
                </a:moveTo>
                <a:lnTo>
                  <a:pt x="144661" y="75009"/>
                </a:lnTo>
                <a:cubicBezTo>
                  <a:pt x="144661" y="73502"/>
                  <a:pt x="144527" y="72063"/>
                  <a:pt x="144326" y="70656"/>
                </a:cubicBezTo>
                <a:cubicBezTo>
                  <a:pt x="149516" y="69350"/>
                  <a:pt x="154372" y="67776"/>
                  <a:pt x="158792" y="65901"/>
                </a:cubicBezTo>
                <a:cubicBezTo>
                  <a:pt x="163212" y="64026"/>
                  <a:pt x="167532" y="61816"/>
                  <a:pt x="171450" y="59103"/>
                </a:cubicBezTo>
                <a:lnTo>
                  <a:pt x="171450" y="64260"/>
                </a:lnTo>
                <a:cubicBezTo>
                  <a:pt x="171450" y="73235"/>
                  <a:pt x="160902" y="81171"/>
                  <a:pt x="144661" y="86026"/>
                </a:cubicBezTo>
                <a:close/>
                <a:moveTo>
                  <a:pt x="0" y="80367"/>
                </a:moveTo>
                <a:lnTo>
                  <a:pt x="0" y="75009"/>
                </a:lnTo>
                <a:cubicBezTo>
                  <a:pt x="0" y="60208"/>
                  <a:pt x="28798" y="48220"/>
                  <a:pt x="64294" y="48220"/>
                </a:cubicBezTo>
                <a:cubicBezTo>
                  <a:pt x="99789" y="48220"/>
                  <a:pt x="128588" y="60208"/>
                  <a:pt x="128588" y="75009"/>
                </a:cubicBezTo>
                <a:lnTo>
                  <a:pt x="128588" y="80367"/>
                </a:lnTo>
                <a:cubicBezTo>
                  <a:pt x="128588" y="95168"/>
                  <a:pt x="99789" y="107156"/>
                  <a:pt x="64294" y="107156"/>
                </a:cubicBezTo>
                <a:cubicBezTo>
                  <a:pt x="28798" y="107156"/>
                  <a:pt x="0" y="95168"/>
                  <a:pt x="0" y="80367"/>
                </a:cubicBezTo>
                <a:close/>
                <a:moveTo>
                  <a:pt x="128588" y="112514"/>
                </a:moveTo>
                <a:cubicBezTo>
                  <a:pt x="128588" y="127315"/>
                  <a:pt x="99789" y="139303"/>
                  <a:pt x="64294" y="139303"/>
                </a:cubicBezTo>
                <a:cubicBezTo>
                  <a:pt x="28798" y="139303"/>
                  <a:pt x="0" y="127315"/>
                  <a:pt x="0" y="112514"/>
                </a:cubicBezTo>
                <a:lnTo>
                  <a:pt x="0" y="107357"/>
                </a:lnTo>
                <a:cubicBezTo>
                  <a:pt x="3884" y="110070"/>
                  <a:pt x="8204" y="112280"/>
                  <a:pt x="12658" y="114155"/>
                </a:cubicBezTo>
                <a:cubicBezTo>
                  <a:pt x="26689" y="120015"/>
                  <a:pt x="44972" y="123230"/>
                  <a:pt x="64294" y="123230"/>
                </a:cubicBezTo>
                <a:cubicBezTo>
                  <a:pt x="83615" y="123230"/>
                  <a:pt x="101899" y="119982"/>
                  <a:pt x="115930" y="114155"/>
                </a:cubicBezTo>
                <a:cubicBezTo>
                  <a:pt x="120350" y="112313"/>
                  <a:pt x="124670" y="110070"/>
                  <a:pt x="128588" y="107357"/>
                </a:cubicBezTo>
                <a:lnTo>
                  <a:pt x="128588" y="112514"/>
                </a:lnTo>
                <a:close/>
                <a:moveTo>
                  <a:pt x="128588" y="139504"/>
                </a:moveTo>
                <a:lnTo>
                  <a:pt x="128588" y="144661"/>
                </a:lnTo>
                <a:cubicBezTo>
                  <a:pt x="128588" y="159462"/>
                  <a:pt x="99789" y="171450"/>
                  <a:pt x="64294" y="171450"/>
                </a:cubicBezTo>
                <a:cubicBezTo>
                  <a:pt x="28798" y="171450"/>
                  <a:pt x="0" y="159462"/>
                  <a:pt x="0" y="144661"/>
                </a:cubicBezTo>
                <a:lnTo>
                  <a:pt x="0" y="139504"/>
                </a:lnTo>
                <a:cubicBezTo>
                  <a:pt x="3884" y="142216"/>
                  <a:pt x="8204" y="144427"/>
                  <a:pt x="12658" y="146302"/>
                </a:cubicBezTo>
                <a:cubicBezTo>
                  <a:pt x="26689" y="152162"/>
                  <a:pt x="44972" y="155377"/>
                  <a:pt x="64294" y="155377"/>
                </a:cubicBezTo>
                <a:cubicBezTo>
                  <a:pt x="83615" y="155377"/>
                  <a:pt x="101899" y="152128"/>
                  <a:pt x="115930" y="146302"/>
                </a:cubicBezTo>
                <a:cubicBezTo>
                  <a:pt x="120350" y="144460"/>
                  <a:pt x="124670" y="142216"/>
                  <a:pt x="128588" y="139504"/>
                </a:cubicBezTo>
                <a:close/>
              </a:path>
            </a:pathLst>
          </a:custGeom>
          <a:solidFill>
            <a:srgbClr val="7A6250"/>
          </a:solidFill>
          <a:ln/>
        </p:spPr>
      </p:sp>
      <p:sp>
        <p:nvSpPr>
          <p:cNvPr id="34" name="Text 32"/>
          <p:cNvSpPr/>
          <p:nvPr/>
        </p:nvSpPr>
        <p:spPr>
          <a:xfrm>
            <a:off x="6543675" y="2286000"/>
            <a:ext cx="5238750" cy="266700"/>
          </a:xfrm>
          <a:prstGeom prst="rect">
            <a:avLst/>
          </a:prstGeom>
          <a:noFill/>
          <a:ln/>
        </p:spPr>
        <p:txBody>
          <a:bodyPr wrap="square" lIns="0" tIns="0" rIns="0" bIns="0" rtlCol="0" anchor="ctr"/>
          <a:lstStyle/>
          <a:p>
            <a:pPr>
              <a:lnSpc>
                <a:spcPct val="130000"/>
              </a:lnSpc>
            </a:pPr>
            <a:r>
              <a:rPr lang="en-US" sz="1350" b="1" dirty="0">
                <a:solidFill>
                  <a:srgbClr val="3A4D39"/>
                </a:solidFill>
                <a:latin typeface="Unna" pitchFamily="34" charset="0"/>
                <a:ea typeface="Unna" pitchFamily="34" charset="-122"/>
                <a:cs typeface="Unna" pitchFamily="34" charset="-120"/>
              </a:rPr>
              <a:t>Net Proceeds</a:t>
            </a:r>
            <a:endParaRPr lang="en-US" sz="1600" dirty="0"/>
          </a:p>
        </p:txBody>
      </p:sp>
      <p:sp>
        <p:nvSpPr>
          <p:cNvPr id="35" name="Text 33"/>
          <p:cNvSpPr/>
          <p:nvPr/>
        </p:nvSpPr>
        <p:spPr>
          <a:xfrm>
            <a:off x="6324600" y="2628900"/>
            <a:ext cx="5448300" cy="457200"/>
          </a:xfrm>
          <a:prstGeom prst="rect">
            <a:avLst/>
          </a:prstGeom>
          <a:noFill/>
          <a:ln/>
        </p:spPr>
        <p:txBody>
          <a:bodyPr wrap="square" lIns="0" tIns="0" rIns="0" bIns="0" rtlCol="0" anchor="ctr"/>
          <a:lstStyle/>
          <a:p>
            <a:pPr>
              <a:lnSpc>
                <a:spcPct val="130000"/>
              </a:lnSpc>
            </a:pPr>
            <a:r>
              <a:rPr lang="en-US" sz="1200" dirty="0">
                <a:solidFill>
                  <a:srgbClr val="2C2C2C"/>
                </a:solidFill>
                <a:latin typeface="Quattrocento Sans" pitchFamily="34" charset="0"/>
                <a:ea typeface="Quattrocento Sans" pitchFamily="34" charset="-122"/>
                <a:cs typeface="Quattrocento Sans" pitchFamily="34" charset="-120"/>
              </a:rPr>
              <a:t>Revenue generated from produce sales less approved operational expenses, available for distribution to partners according to ownership percentages.</a:t>
            </a:r>
            <a:endParaRPr lang="en-US" sz="1600" dirty="0"/>
          </a:p>
        </p:txBody>
      </p:sp>
      <p:sp>
        <p:nvSpPr>
          <p:cNvPr id="36" name="Shape 34"/>
          <p:cNvSpPr/>
          <p:nvPr/>
        </p:nvSpPr>
        <p:spPr>
          <a:xfrm>
            <a:off x="6191250" y="3314700"/>
            <a:ext cx="5619750" cy="1257300"/>
          </a:xfrm>
          <a:custGeom>
            <a:avLst/>
            <a:gdLst/>
            <a:ahLst/>
            <a:cxnLst/>
            <a:rect l="l" t="t" r="r" b="b"/>
            <a:pathLst>
              <a:path w="5619750" h="1257300">
                <a:moveTo>
                  <a:pt x="38100" y="0"/>
                </a:moveTo>
                <a:lnTo>
                  <a:pt x="5543545" y="0"/>
                </a:lnTo>
                <a:cubicBezTo>
                  <a:pt x="5585632" y="0"/>
                  <a:pt x="5619750" y="34118"/>
                  <a:pt x="5619750" y="76205"/>
                </a:cubicBezTo>
                <a:lnTo>
                  <a:pt x="5619750" y="1181095"/>
                </a:lnTo>
                <a:cubicBezTo>
                  <a:pt x="5619750" y="1223182"/>
                  <a:pt x="5585632" y="1257300"/>
                  <a:pt x="5543545" y="1257300"/>
                </a:cubicBezTo>
                <a:lnTo>
                  <a:pt x="38100" y="1257300"/>
                </a:lnTo>
                <a:cubicBezTo>
                  <a:pt x="17072" y="1257300"/>
                  <a:pt x="0" y="1240228"/>
                  <a:pt x="0" y="1219200"/>
                </a:cubicBezTo>
                <a:lnTo>
                  <a:pt x="0" y="38100"/>
                </a:lnTo>
                <a:cubicBezTo>
                  <a:pt x="0" y="17072"/>
                  <a:pt x="17072" y="0"/>
                  <a:pt x="38100" y="0"/>
                </a:cubicBezTo>
                <a:close/>
              </a:path>
            </a:pathLst>
          </a:custGeom>
          <a:solidFill>
            <a:srgbClr val="FFFFFF"/>
          </a:solidFill>
          <a:ln/>
          <a:effectLst>
            <a:outerShdw sx="100000" sy="100000" kx="0" ky="0" algn="bl" rotWithShape="0" blurRad="28575" dist="9525" dir="5400000">
              <a:srgbClr val="000000">
                <a:alpha val="10196"/>
              </a:srgbClr>
            </a:outerShdw>
          </a:effectLst>
        </p:spPr>
      </p:sp>
      <p:sp>
        <p:nvSpPr>
          <p:cNvPr id="37" name="Shape 35"/>
          <p:cNvSpPr/>
          <p:nvPr/>
        </p:nvSpPr>
        <p:spPr>
          <a:xfrm>
            <a:off x="6191250" y="3314700"/>
            <a:ext cx="38100" cy="1257300"/>
          </a:xfrm>
          <a:custGeom>
            <a:avLst/>
            <a:gdLst/>
            <a:ahLst/>
            <a:cxnLst/>
            <a:rect l="l" t="t" r="r" b="b"/>
            <a:pathLst>
              <a:path w="38100" h="1257300">
                <a:moveTo>
                  <a:pt x="38100" y="0"/>
                </a:moveTo>
                <a:lnTo>
                  <a:pt x="38100" y="0"/>
                </a:lnTo>
                <a:lnTo>
                  <a:pt x="38100" y="1257300"/>
                </a:lnTo>
                <a:lnTo>
                  <a:pt x="38100" y="1257300"/>
                </a:lnTo>
                <a:cubicBezTo>
                  <a:pt x="17072" y="1257300"/>
                  <a:pt x="0" y="1240228"/>
                  <a:pt x="0" y="1219200"/>
                </a:cubicBezTo>
                <a:lnTo>
                  <a:pt x="0" y="38100"/>
                </a:lnTo>
                <a:cubicBezTo>
                  <a:pt x="0" y="17072"/>
                  <a:pt x="17072" y="0"/>
                  <a:pt x="38100" y="0"/>
                </a:cubicBezTo>
                <a:close/>
              </a:path>
            </a:pathLst>
          </a:custGeom>
          <a:solidFill>
            <a:srgbClr val="3A4D39"/>
          </a:solidFill>
          <a:ln/>
        </p:spPr>
      </p:sp>
      <p:sp>
        <p:nvSpPr>
          <p:cNvPr id="38" name="Shape 36"/>
          <p:cNvSpPr/>
          <p:nvPr/>
        </p:nvSpPr>
        <p:spPr>
          <a:xfrm>
            <a:off x="6337697" y="3476625"/>
            <a:ext cx="192881" cy="171450"/>
          </a:xfrm>
          <a:custGeom>
            <a:avLst/>
            <a:gdLst/>
            <a:ahLst/>
            <a:cxnLst/>
            <a:rect l="l" t="t" r="r" b="b"/>
            <a:pathLst>
              <a:path w="192881" h="171450">
                <a:moveTo>
                  <a:pt x="0" y="47584"/>
                </a:moveTo>
                <a:lnTo>
                  <a:pt x="0" y="160734"/>
                </a:lnTo>
                <a:cubicBezTo>
                  <a:pt x="0" y="166661"/>
                  <a:pt x="4789" y="171450"/>
                  <a:pt x="10716" y="171450"/>
                </a:cubicBezTo>
                <a:cubicBezTo>
                  <a:pt x="16643" y="171450"/>
                  <a:pt x="21431" y="166661"/>
                  <a:pt x="21431" y="160734"/>
                </a:cubicBezTo>
                <a:lnTo>
                  <a:pt x="21431" y="80367"/>
                </a:lnTo>
                <a:cubicBezTo>
                  <a:pt x="21431" y="74440"/>
                  <a:pt x="26220" y="69652"/>
                  <a:pt x="32147" y="69652"/>
                </a:cubicBezTo>
                <a:lnTo>
                  <a:pt x="160734" y="69652"/>
                </a:lnTo>
                <a:cubicBezTo>
                  <a:pt x="166661" y="69652"/>
                  <a:pt x="171450" y="74440"/>
                  <a:pt x="171450" y="80367"/>
                </a:cubicBezTo>
                <a:lnTo>
                  <a:pt x="171450" y="160734"/>
                </a:lnTo>
                <a:cubicBezTo>
                  <a:pt x="171450" y="166661"/>
                  <a:pt x="176239" y="171450"/>
                  <a:pt x="182166" y="171450"/>
                </a:cubicBezTo>
                <a:cubicBezTo>
                  <a:pt x="188093" y="171450"/>
                  <a:pt x="192881" y="166661"/>
                  <a:pt x="192881" y="160734"/>
                </a:cubicBezTo>
                <a:lnTo>
                  <a:pt x="192881" y="47584"/>
                </a:lnTo>
                <a:cubicBezTo>
                  <a:pt x="192881" y="38375"/>
                  <a:pt x="186988" y="30171"/>
                  <a:pt x="178214" y="27258"/>
                </a:cubicBezTo>
                <a:lnTo>
                  <a:pt x="101531" y="1708"/>
                </a:lnTo>
                <a:cubicBezTo>
                  <a:pt x="98215" y="603"/>
                  <a:pt x="94666" y="603"/>
                  <a:pt x="91351" y="1708"/>
                </a:cubicBezTo>
                <a:lnTo>
                  <a:pt x="14667" y="27258"/>
                </a:lnTo>
                <a:cubicBezTo>
                  <a:pt x="5894" y="30171"/>
                  <a:pt x="0" y="38375"/>
                  <a:pt x="0" y="47584"/>
                </a:cubicBezTo>
                <a:close/>
                <a:moveTo>
                  <a:pt x="155377" y="85725"/>
                </a:moveTo>
                <a:lnTo>
                  <a:pt x="37505" y="85725"/>
                </a:lnTo>
                <a:lnTo>
                  <a:pt x="37505" y="107156"/>
                </a:lnTo>
                <a:lnTo>
                  <a:pt x="155377" y="107156"/>
                </a:lnTo>
                <a:lnTo>
                  <a:pt x="155377" y="85725"/>
                </a:lnTo>
                <a:close/>
                <a:moveTo>
                  <a:pt x="37505" y="139303"/>
                </a:moveTo>
                <a:lnTo>
                  <a:pt x="155377" y="139303"/>
                </a:lnTo>
                <a:lnTo>
                  <a:pt x="155377" y="117872"/>
                </a:lnTo>
                <a:lnTo>
                  <a:pt x="37505" y="117872"/>
                </a:lnTo>
                <a:lnTo>
                  <a:pt x="37505" y="139303"/>
                </a:lnTo>
                <a:close/>
                <a:moveTo>
                  <a:pt x="155377" y="150019"/>
                </a:moveTo>
                <a:lnTo>
                  <a:pt x="37505" y="150019"/>
                </a:lnTo>
                <a:lnTo>
                  <a:pt x="37505" y="171450"/>
                </a:lnTo>
                <a:lnTo>
                  <a:pt x="155377" y="171450"/>
                </a:lnTo>
                <a:lnTo>
                  <a:pt x="155377" y="150019"/>
                </a:lnTo>
                <a:close/>
              </a:path>
            </a:pathLst>
          </a:custGeom>
          <a:solidFill>
            <a:srgbClr val="3A4D39"/>
          </a:solidFill>
          <a:ln/>
        </p:spPr>
      </p:sp>
      <p:sp>
        <p:nvSpPr>
          <p:cNvPr id="39" name="Text 37"/>
          <p:cNvSpPr/>
          <p:nvPr/>
        </p:nvSpPr>
        <p:spPr>
          <a:xfrm>
            <a:off x="6543675" y="3429000"/>
            <a:ext cx="5238750" cy="266700"/>
          </a:xfrm>
          <a:prstGeom prst="rect">
            <a:avLst/>
          </a:prstGeom>
          <a:noFill/>
          <a:ln/>
        </p:spPr>
        <p:txBody>
          <a:bodyPr wrap="square" lIns="0" tIns="0" rIns="0" bIns="0" rtlCol="0" anchor="ctr"/>
          <a:lstStyle/>
          <a:p>
            <a:pPr>
              <a:lnSpc>
                <a:spcPct val="130000"/>
              </a:lnSpc>
            </a:pPr>
            <a:r>
              <a:rPr lang="en-US" sz="1350" b="1" dirty="0">
                <a:solidFill>
                  <a:srgbClr val="3A4D39"/>
                </a:solidFill>
                <a:latin typeface="Unna" pitchFamily="34" charset="0"/>
                <a:ea typeface="Unna" pitchFamily="34" charset="-122"/>
                <a:cs typeface="Unna" pitchFamily="34" charset="-120"/>
              </a:rPr>
              <a:t>Greenhouse Facility</a:t>
            </a:r>
            <a:endParaRPr lang="en-US" sz="1600" dirty="0"/>
          </a:p>
        </p:txBody>
      </p:sp>
      <p:sp>
        <p:nvSpPr>
          <p:cNvPr id="40" name="Text 38"/>
          <p:cNvSpPr/>
          <p:nvPr/>
        </p:nvSpPr>
        <p:spPr>
          <a:xfrm>
            <a:off x="6324600" y="3771900"/>
            <a:ext cx="5448300" cy="685800"/>
          </a:xfrm>
          <a:prstGeom prst="rect">
            <a:avLst/>
          </a:prstGeom>
          <a:noFill/>
          <a:ln/>
        </p:spPr>
        <p:txBody>
          <a:bodyPr wrap="square" lIns="0" tIns="0" rIns="0" bIns="0" rtlCol="0" anchor="ctr"/>
          <a:lstStyle/>
          <a:p>
            <a:pPr>
              <a:lnSpc>
                <a:spcPct val="130000"/>
              </a:lnSpc>
            </a:pPr>
            <a:r>
              <a:rPr lang="en-US" sz="1200" dirty="0">
                <a:solidFill>
                  <a:srgbClr val="2C2C2C"/>
                </a:solidFill>
                <a:latin typeface="Quattrocento Sans" pitchFamily="34" charset="0"/>
                <a:ea typeface="Quattrocento Sans" pitchFamily="34" charset="-122"/>
                <a:cs typeface="Quattrocento Sans" pitchFamily="34" charset="-120"/>
              </a:rPr>
              <a:t>Controlled-environment agricultural infrastructure including growing structures, climate control systems, irrigation, and supporting equipment provided by Wilshire Farms.</a:t>
            </a:r>
            <a:endParaRPr lang="en-US" sz="1600" dirty="0"/>
          </a:p>
        </p:txBody>
      </p:sp>
      <p:sp>
        <p:nvSpPr>
          <p:cNvPr id="41" name="Shape 39"/>
          <p:cNvSpPr/>
          <p:nvPr/>
        </p:nvSpPr>
        <p:spPr>
          <a:xfrm>
            <a:off x="6191250" y="4686300"/>
            <a:ext cx="5619750" cy="1028700"/>
          </a:xfrm>
          <a:custGeom>
            <a:avLst/>
            <a:gdLst/>
            <a:ahLst/>
            <a:cxnLst/>
            <a:rect l="l" t="t" r="r" b="b"/>
            <a:pathLst>
              <a:path w="5619750" h="1028700">
                <a:moveTo>
                  <a:pt x="38100" y="0"/>
                </a:moveTo>
                <a:lnTo>
                  <a:pt x="5543554" y="0"/>
                </a:lnTo>
                <a:cubicBezTo>
                  <a:pt x="5585636" y="0"/>
                  <a:pt x="5619750" y="34114"/>
                  <a:pt x="5619750" y="76196"/>
                </a:cubicBezTo>
                <a:lnTo>
                  <a:pt x="5619750" y="952504"/>
                </a:lnTo>
                <a:cubicBezTo>
                  <a:pt x="5619750" y="994586"/>
                  <a:pt x="5585636" y="1028700"/>
                  <a:pt x="5543554" y="1028700"/>
                </a:cubicBezTo>
                <a:lnTo>
                  <a:pt x="38100" y="1028700"/>
                </a:lnTo>
                <a:cubicBezTo>
                  <a:pt x="17072" y="1028700"/>
                  <a:pt x="0" y="1011628"/>
                  <a:pt x="0" y="990600"/>
                </a:cubicBezTo>
                <a:lnTo>
                  <a:pt x="0" y="38100"/>
                </a:lnTo>
                <a:cubicBezTo>
                  <a:pt x="0" y="17072"/>
                  <a:pt x="17072" y="0"/>
                  <a:pt x="38100" y="0"/>
                </a:cubicBezTo>
                <a:close/>
              </a:path>
            </a:pathLst>
          </a:custGeom>
          <a:solidFill>
            <a:srgbClr val="FFFFFF"/>
          </a:solidFill>
          <a:ln/>
          <a:effectLst>
            <a:outerShdw sx="100000" sy="100000" kx="0" ky="0" algn="bl" rotWithShape="0" blurRad="28575" dist="9525" dir="5400000">
              <a:srgbClr val="000000">
                <a:alpha val="10196"/>
              </a:srgbClr>
            </a:outerShdw>
          </a:effectLst>
        </p:spPr>
      </p:sp>
      <p:sp>
        <p:nvSpPr>
          <p:cNvPr id="42" name="Shape 40"/>
          <p:cNvSpPr/>
          <p:nvPr/>
        </p:nvSpPr>
        <p:spPr>
          <a:xfrm>
            <a:off x="6191250" y="4686300"/>
            <a:ext cx="38100" cy="1028700"/>
          </a:xfrm>
          <a:custGeom>
            <a:avLst/>
            <a:gdLst/>
            <a:ahLst/>
            <a:cxnLst/>
            <a:rect l="l" t="t" r="r" b="b"/>
            <a:pathLst>
              <a:path w="38100" h="1028700">
                <a:moveTo>
                  <a:pt x="38100" y="0"/>
                </a:moveTo>
                <a:lnTo>
                  <a:pt x="38100" y="0"/>
                </a:lnTo>
                <a:lnTo>
                  <a:pt x="38100" y="1028700"/>
                </a:lnTo>
                <a:lnTo>
                  <a:pt x="38100" y="1028700"/>
                </a:lnTo>
                <a:cubicBezTo>
                  <a:pt x="17072" y="1028700"/>
                  <a:pt x="0" y="1011628"/>
                  <a:pt x="0" y="990600"/>
                </a:cubicBezTo>
                <a:lnTo>
                  <a:pt x="0" y="38100"/>
                </a:lnTo>
                <a:cubicBezTo>
                  <a:pt x="0" y="17072"/>
                  <a:pt x="17072" y="0"/>
                  <a:pt x="38100" y="0"/>
                </a:cubicBezTo>
                <a:close/>
              </a:path>
            </a:pathLst>
          </a:custGeom>
          <a:solidFill>
            <a:srgbClr val="7A6250"/>
          </a:solidFill>
          <a:ln/>
        </p:spPr>
      </p:sp>
      <p:sp>
        <p:nvSpPr>
          <p:cNvPr id="43" name="Shape 41"/>
          <p:cNvSpPr/>
          <p:nvPr/>
        </p:nvSpPr>
        <p:spPr>
          <a:xfrm>
            <a:off x="6369844" y="4848225"/>
            <a:ext cx="128588" cy="171450"/>
          </a:xfrm>
          <a:custGeom>
            <a:avLst/>
            <a:gdLst/>
            <a:ahLst/>
            <a:cxnLst/>
            <a:rect l="l" t="t" r="r" b="b"/>
            <a:pathLst>
              <a:path w="128588" h="171450">
                <a:moveTo>
                  <a:pt x="4688" y="737"/>
                </a:moveTo>
                <a:cubicBezTo>
                  <a:pt x="7534" y="-569"/>
                  <a:pt x="10883" y="-100"/>
                  <a:pt x="13261" y="1942"/>
                </a:cubicBezTo>
                <a:lnTo>
                  <a:pt x="26789" y="13528"/>
                </a:lnTo>
                <a:lnTo>
                  <a:pt x="40318" y="1942"/>
                </a:lnTo>
                <a:cubicBezTo>
                  <a:pt x="43331" y="-636"/>
                  <a:pt x="47785" y="-636"/>
                  <a:pt x="50765" y="1942"/>
                </a:cubicBezTo>
                <a:lnTo>
                  <a:pt x="64294" y="13528"/>
                </a:lnTo>
                <a:lnTo>
                  <a:pt x="77822" y="1942"/>
                </a:lnTo>
                <a:cubicBezTo>
                  <a:pt x="80836" y="-636"/>
                  <a:pt x="85256" y="-636"/>
                  <a:pt x="88270" y="1942"/>
                </a:cubicBezTo>
                <a:lnTo>
                  <a:pt x="101798" y="13528"/>
                </a:lnTo>
                <a:lnTo>
                  <a:pt x="115327" y="1942"/>
                </a:lnTo>
                <a:cubicBezTo>
                  <a:pt x="117704" y="-100"/>
                  <a:pt x="121053" y="-569"/>
                  <a:pt x="123899" y="737"/>
                </a:cubicBezTo>
                <a:cubicBezTo>
                  <a:pt x="126746" y="2043"/>
                  <a:pt x="128588" y="4889"/>
                  <a:pt x="128588" y="8037"/>
                </a:cubicBezTo>
                <a:lnTo>
                  <a:pt x="128588" y="163413"/>
                </a:lnTo>
                <a:cubicBezTo>
                  <a:pt x="128588" y="166561"/>
                  <a:pt x="126746" y="169407"/>
                  <a:pt x="123899" y="170713"/>
                </a:cubicBezTo>
                <a:cubicBezTo>
                  <a:pt x="121053" y="172019"/>
                  <a:pt x="117704" y="171550"/>
                  <a:pt x="115327" y="169508"/>
                </a:cubicBezTo>
                <a:lnTo>
                  <a:pt x="101798" y="157922"/>
                </a:lnTo>
                <a:lnTo>
                  <a:pt x="88270" y="169508"/>
                </a:lnTo>
                <a:cubicBezTo>
                  <a:pt x="85256" y="172086"/>
                  <a:pt x="80836" y="172086"/>
                  <a:pt x="77822" y="169508"/>
                </a:cubicBezTo>
                <a:lnTo>
                  <a:pt x="64294" y="157922"/>
                </a:lnTo>
                <a:lnTo>
                  <a:pt x="50765" y="169508"/>
                </a:lnTo>
                <a:cubicBezTo>
                  <a:pt x="47752" y="172086"/>
                  <a:pt x="43298" y="172086"/>
                  <a:pt x="40318" y="169508"/>
                </a:cubicBezTo>
                <a:lnTo>
                  <a:pt x="26789" y="157922"/>
                </a:lnTo>
                <a:lnTo>
                  <a:pt x="13261" y="169508"/>
                </a:lnTo>
                <a:cubicBezTo>
                  <a:pt x="10883" y="171550"/>
                  <a:pt x="7534" y="172019"/>
                  <a:pt x="4688" y="170713"/>
                </a:cubicBezTo>
                <a:cubicBezTo>
                  <a:pt x="1842" y="169407"/>
                  <a:pt x="0" y="166561"/>
                  <a:pt x="0" y="163413"/>
                </a:cubicBezTo>
                <a:lnTo>
                  <a:pt x="0" y="8037"/>
                </a:lnTo>
                <a:cubicBezTo>
                  <a:pt x="0" y="4889"/>
                  <a:pt x="1842" y="2043"/>
                  <a:pt x="4688" y="737"/>
                </a:cubicBezTo>
                <a:close/>
                <a:moveTo>
                  <a:pt x="34826" y="45541"/>
                </a:moveTo>
                <a:cubicBezTo>
                  <a:pt x="30372" y="45541"/>
                  <a:pt x="26789" y="49124"/>
                  <a:pt x="26789" y="53578"/>
                </a:cubicBezTo>
                <a:cubicBezTo>
                  <a:pt x="26789" y="58032"/>
                  <a:pt x="30372" y="61615"/>
                  <a:pt x="34826" y="61615"/>
                </a:cubicBezTo>
                <a:lnTo>
                  <a:pt x="93762" y="61615"/>
                </a:lnTo>
                <a:cubicBezTo>
                  <a:pt x="98215" y="61615"/>
                  <a:pt x="101798" y="58032"/>
                  <a:pt x="101798" y="53578"/>
                </a:cubicBezTo>
                <a:cubicBezTo>
                  <a:pt x="101798" y="49124"/>
                  <a:pt x="98215" y="45541"/>
                  <a:pt x="93762" y="45541"/>
                </a:cubicBezTo>
                <a:lnTo>
                  <a:pt x="34826" y="45541"/>
                </a:lnTo>
                <a:close/>
                <a:moveTo>
                  <a:pt x="26789" y="117872"/>
                </a:moveTo>
                <a:cubicBezTo>
                  <a:pt x="26789" y="122326"/>
                  <a:pt x="30372" y="125909"/>
                  <a:pt x="34826" y="125909"/>
                </a:cubicBezTo>
                <a:lnTo>
                  <a:pt x="93762" y="125909"/>
                </a:lnTo>
                <a:cubicBezTo>
                  <a:pt x="98215" y="125909"/>
                  <a:pt x="101798" y="122326"/>
                  <a:pt x="101798" y="117872"/>
                </a:cubicBezTo>
                <a:cubicBezTo>
                  <a:pt x="101798" y="113418"/>
                  <a:pt x="98215" y="109835"/>
                  <a:pt x="93762" y="109835"/>
                </a:cubicBezTo>
                <a:lnTo>
                  <a:pt x="34826" y="109835"/>
                </a:lnTo>
                <a:cubicBezTo>
                  <a:pt x="30372" y="109835"/>
                  <a:pt x="26789" y="113418"/>
                  <a:pt x="26789" y="117872"/>
                </a:cubicBezTo>
                <a:close/>
                <a:moveTo>
                  <a:pt x="34826" y="77688"/>
                </a:moveTo>
                <a:cubicBezTo>
                  <a:pt x="30372" y="77688"/>
                  <a:pt x="26789" y="81271"/>
                  <a:pt x="26789" y="85725"/>
                </a:cubicBezTo>
                <a:cubicBezTo>
                  <a:pt x="26789" y="90179"/>
                  <a:pt x="30372" y="93762"/>
                  <a:pt x="34826" y="93762"/>
                </a:cubicBezTo>
                <a:lnTo>
                  <a:pt x="93762" y="93762"/>
                </a:lnTo>
                <a:cubicBezTo>
                  <a:pt x="98215" y="93762"/>
                  <a:pt x="101798" y="90179"/>
                  <a:pt x="101798" y="85725"/>
                </a:cubicBezTo>
                <a:cubicBezTo>
                  <a:pt x="101798" y="81271"/>
                  <a:pt x="98215" y="77688"/>
                  <a:pt x="93762" y="77688"/>
                </a:cubicBezTo>
                <a:lnTo>
                  <a:pt x="34826" y="77688"/>
                </a:lnTo>
                <a:close/>
              </a:path>
            </a:pathLst>
          </a:custGeom>
          <a:solidFill>
            <a:srgbClr val="7A6250"/>
          </a:solidFill>
          <a:ln/>
        </p:spPr>
      </p:sp>
      <p:sp>
        <p:nvSpPr>
          <p:cNvPr id="44" name="Text 42"/>
          <p:cNvSpPr/>
          <p:nvPr/>
        </p:nvSpPr>
        <p:spPr>
          <a:xfrm>
            <a:off x="6543675" y="4800600"/>
            <a:ext cx="5238750" cy="266700"/>
          </a:xfrm>
          <a:prstGeom prst="rect">
            <a:avLst/>
          </a:prstGeom>
          <a:noFill/>
          <a:ln/>
        </p:spPr>
        <p:txBody>
          <a:bodyPr wrap="square" lIns="0" tIns="0" rIns="0" bIns="0" rtlCol="0" anchor="ctr"/>
          <a:lstStyle/>
          <a:p>
            <a:pPr>
              <a:lnSpc>
                <a:spcPct val="130000"/>
              </a:lnSpc>
            </a:pPr>
            <a:r>
              <a:rPr lang="en-US" sz="1350" b="1" dirty="0">
                <a:solidFill>
                  <a:srgbClr val="3A4D39"/>
                </a:solidFill>
                <a:latin typeface="Unna" pitchFamily="34" charset="0"/>
                <a:ea typeface="Unna" pitchFamily="34" charset="-122"/>
                <a:cs typeface="Unna" pitchFamily="34" charset="-120"/>
              </a:rPr>
              <a:t>Operational Expenses</a:t>
            </a:r>
            <a:endParaRPr lang="en-US" sz="1600" dirty="0"/>
          </a:p>
        </p:txBody>
      </p:sp>
      <p:sp>
        <p:nvSpPr>
          <p:cNvPr id="45" name="Text 43"/>
          <p:cNvSpPr/>
          <p:nvPr/>
        </p:nvSpPr>
        <p:spPr>
          <a:xfrm>
            <a:off x="6324600" y="5143500"/>
            <a:ext cx="5448300" cy="457200"/>
          </a:xfrm>
          <a:prstGeom prst="rect">
            <a:avLst/>
          </a:prstGeom>
          <a:noFill/>
          <a:ln/>
        </p:spPr>
        <p:txBody>
          <a:bodyPr wrap="square" lIns="0" tIns="0" rIns="0" bIns="0" rtlCol="0" anchor="ctr"/>
          <a:lstStyle/>
          <a:p>
            <a:pPr>
              <a:lnSpc>
                <a:spcPct val="130000"/>
              </a:lnSpc>
            </a:pPr>
            <a:r>
              <a:rPr lang="en-US" sz="1200" dirty="0">
                <a:solidFill>
                  <a:srgbClr val="2C2C2C"/>
                </a:solidFill>
                <a:latin typeface="Quattrocento Sans" pitchFamily="34" charset="0"/>
                <a:ea typeface="Quattrocento Sans" pitchFamily="34" charset="-122"/>
                <a:cs typeface="Quattrocento Sans" pitchFamily="34" charset="-120"/>
              </a:rPr>
              <a:t>All costs associated with the growing season including staff salaries, plant feed, pesticides, herbicides, greenhouse materials, and monitoring partner transport.</a:t>
            </a:r>
            <a:endParaRPr lang="en-US" sz="1600" dirty="0"/>
          </a:p>
        </p:txBody>
      </p:sp>
      <p:sp>
        <p:nvSpPr>
          <p:cNvPr id="46" name="Shape 44"/>
          <p:cNvSpPr/>
          <p:nvPr/>
        </p:nvSpPr>
        <p:spPr>
          <a:xfrm>
            <a:off x="381000" y="5829300"/>
            <a:ext cx="11430000" cy="990600"/>
          </a:xfrm>
          <a:custGeom>
            <a:avLst/>
            <a:gdLst/>
            <a:ahLst/>
            <a:cxnLst/>
            <a:rect l="l" t="t" r="r" b="b"/>
            <a:pathLst>
              <a:path w="11430000" h="990600">
                <a:moveTo>
                  <a:pt x="76197" y="0"/>
                </a:moveTo>
                <a:lnTo>
                  <a:pt x="11353803" y="0"/>
                </a:lnTo>
                <a:cubicBezTo>
                  <a:pt x="11395885" y="0"/>
                  <a:pt x="11430000" y="34115"/>
                  <a:pt x="11430000" y="76197"/>
                </a:cubicBezTo>
                <a:lnTo>
                  <a:pt x="11430000" y="914403"/>
                </a:lnTo>
                <a:cubicBezTo>
                  <a:pt x="11430000" y="956485"/>
                  <a:pt x="11395885" y="990600"/>
                  <a:pt x="11353803" y="990600"/>
                </a:cubicBezTo>
                <a:lnTo>
                  <a:pt x="76197" y="990600"/>
                </a:lnTo>
                <a:cubicBezTo>
                  <a:pt x="34115" y="990600"/>
                  <a:pt x="0" y="956485"/>
                  <a:pt x="0" y="914403"/>
                </a:cubicBezTo>
                <a:lnTo>
                  <a:pt x="0" y="76197"/>
                </a:lnTo>
                <a:cubicBezTo>
                  <a:pt x="0" y="34143"/>
                  <a:pt x="34143" y="0"/>
                  <a:pt x="76197" y="0"/>
                </a:cubicBezTo>
                <a:close/>
              </a:path>
            </a:pathLst>
          </a:custGeom>
          <a:solidFill>
            <a:srgbClr val="3A4D39"/>
          </a:solidFill>
          <a:ln/>
        </p:spPr>
      </p:sp>
      <p:sp>
        <p:nvSpPr>
          <p:cNvPr id="47" name="Shape 45"/>
          <p:cNvSpPr/>
          <p:nvPr/>
        </p:nvSpPr>
        <p:spPr>
          <a:xfrm>
            <a:off x="500063" y="5981700"/>
            <a:ext cx="142875" cy="190500"/>
          </a:xfrm>
          <a:custGeom>
            <a:avLst/>
            <a:gdLst/>
            <a:ahLst/>
            <a:cxnLst/>
            <a:rect l="l" t="t" r="r" b="b"/>
            <a:pathLst>
              <a:path w="142875" h="190500">
                <a:moveTo>
                  <a:pt x="108979" y="142875"/>
                </a:moveTo>
                <a:cubicBezTo>
                  <a:pt x="111696" y="134578"/>
                  <a:pt x="117128" y="127062"/>
                  <a:pt x="123267" y="120588"/>
                </a:cubicBezTo>
                <a:cubicBezTo>
                  <a:pt x="135434" y="107789"/>
                  <a:pt x="142875" y="90488"/>
                  <a:pt x="142875" y="71438"/>
                </a:cubicBezTo>
                <a:cubicBezTo>
                  <a:pt x="142875" y="31998"/>
                  <a:pt x="110877" y="0"/>
                  <a:pt x="71437" y="0"/>
                </a:cubicBezTo>
                <a:cubicBezTo>
                  <a:pt x="31998" y="0"/>
                  <a:pt x="0" y="31998"/>
                  <a:pt x="0" y="71438"/>
                </a:cubicBezTo>
                <a:cubicBezTo>
                  <a:pt x="0" y="90488"/>
                  <a:pt x="7441" y="107789"/>
                  <a:pt x="19608" y="120588"/>
                </a:cubicBezTo>
                <a:cubicBezTo>
                  <a:pt x="25747" y="127062"/>
                  <a:pt x="31217" y="134578"/>
                  <a:pt x="33896" y="142875"/>
                </a:cubicBezTo>
                <a:lnTo>
                  <a:pt x="108942" y="142875"/>
                </a:lnTo>
                <a:close/>
                <a:moveTo>
                  <a:pt x="107156" y="160734"/>
                </a:moveTo>
                <a:lnTo>
                  <a:pt x="35719" y="160734"/>
                </a:lnTo>
                <a:lnTo>
                  <a:pt x="35719" y="166688"/>
                </a:lnTo>
                <a:cubicBezTo>
                  <a:pt x="35719" y="183133"/>
                  <a:pt x="49039" y="196453"/>
                  <a:pt x="65484" y="196453"/>
                </a:cubicBezTo>
                <a:lnTo>
                  <a:pt x="77391" y="196453"/>
                </a:lnTo>
                <a:cubicBezTo>
                  <a:pt x="93836" y="196453"/>
                  <a:pt x="107156" y="183133"/>
                  <a:pt x="107156" y="166688"/>
                </a:cubicBezTo>
                <a:lnTo>
                  <a:pt x="107156" y="160734"/>
                </a:lnTo>
                <a:close/>
                <a:moveTo>
                  <a:pt x="68461" y="41672"/>
                </a:moveTo>
                <a:cubicBezTo>
                  <a:pt x="53653" y="41672"/>
                  <a:pt x="41672" y="53653"/>
                  <a:pt x="41672" y="68461"/>
                </a:cubicBezTo>
                <a:cubicBezTo>
                  <a:pt x="41672" y="73409"/>
                  <a:pt x="37691" y="77391"/>
                  <a:pt x="32742" y="77391"/>
                </a:cubicBezTo>
                <a:cubicBezTo>
                  <a:pt x="27794" y="77391"/>
                  <a:pt x="23812" y="73409"/>
                  <a:pt x="23812" y="68461"/>
                </a:cubicBezTo>
                <a:cubicBezTo>
                  <a:pt x="23812" y="43793"/>
                  <a:pt x="43793" y="23812"/>
                  <a:pt x="68461" y="23812"/>
                </a:cubicBezTo>
                <a:cubicBezTo>
                  <a:pt x="73409" y="23812"/>
                  <a:pt x="77391" y="27794"/>
                  <a:pt x="77391" y="32742"/>
                </a:cubicBezTo>
                <a:cubicBezTo>
                  <a:pt x="77391" y="37691"/>
                  <a:pt x="73409" y="41672"/>
                  <a:pt x="68461" y="41672"/>
                </a:cubicBezTo>
                <a:close/>
              </a:path>
            </a:pathLst>
          </a:custGeom>
          <a:solidFill>
            <a:srgbClr val="BCA37F"/>
          </a:solidFill>
          <a:ln/>
        </p:spPr>
      </p:sp>
      <p:sp>
        <p:nvSpPr>
          <p:cNvPr id="48" name="Text 46"/>
          <p:cNvSpPr/>
          <p:nvPr/>
        </p:nvSpPr>
        <p:spPr>
          <a:xfrm>
            <a:off x="757833" y="5943600"/>
            <a:ext cx="11020425" cy="266700"/>
          </a:xfrm>
          <a:prstGeom prst="rect">
            <a:avLst/>
          </a:prstGeom>
          <a:noFill/>
          <a:ln/>
        </p:spPr>
        <p:txBody>
          <a:bodyPr wrap="square" lIns="0" tIns="0" rIns="0" bIns="0" rtlCol="0" anchor="ctr"/>
          <a:lstStyle/>
          <a:p>
            <a:pPr>
              <a:lnSpc>
                <a:spcPct val="130000"/>
              </a:lnSpc>
            </a:pPr>
            <a:r>
              <a:rPr lang="en-US" sz="1350" b="1" dirty="0">
                <a:solidFill>
                  <a:srgbClr val="F8F6F2"/>
                </a:solidFill>
                <a:latin typeface="Unna" pitchFamily="34" charset="0"/>
                <a:ea typeface="Unna" pitchFamily="34" charset="-122"/>
                <a:cs typeface="Unna" pitchFamily="34" charset="-120"/>
              </a:rPr>
              <a:t>Additional Defined Terms</a:t>
            </a:r>
            <a:endParaRPr lang="en-US" sz="1600" dirty="0"/>
          </a:p>
        </p:txBody>
      </p:sp>
      <p:sp>
        <p:nvSpPr>
          <p:cNvPr id="49" name="Text 47"/>
          <p:cNvSpPr/>
          <p:nvPr/>
        </p:nvSpPr>
        <p:spPr>
          <a:xfrm>
            <a:off x="757833" y="6248400"/>
            <a:ext cx="11010900" cy="457200"/>
          </a:xfrm>
          <a:prstGeom prst="rect">
            <a:avLst/>
          </a:prstGeom>
          <a:noFill/>
          <a:ln/>
        </p:spPr>
        <p:txBody>
          <a:bodyPr wrap="square" lIns="0" tIns="0" rIns="0" bIns="0" rtlCol="0" anchor="ctr"/>
          <a:lstStyle/>
          <a:p>
            <a:pPr>
              <a:lnSpc>
                <a:spcPct val="130000"/>
              </a:lnSpc>
            </a:pPr>
            <a:r>
              <a:rPr lang="en-US" sz="1200" b="1" dirty="0">
                <a:solidFill>
                  <a:srgbClr val="F8F6F2"/>
                </a:solidFill>
                <a:latin typeface="Quattrocento Sans" pitchFamily="34" charset="0"/>
                <a:ea typeface="Quattrocento Sans" pitchFamily="34" charset="-122"/>
                <a:cs typeface="Quattrocento Sans" pitchFamily="34" charset="-120"/>
              </a:rPr>
              <a:t>Harvest Period:</a:t>
            </a:r>
            <a:pPr>
              <a:lnSpc>
                <a:spcPct val="130000"/>
              </a:lnSpc>
            </a:pPr>
            <a:r>
              <a:rPr lang="en-US" sz="1200" dirty="0">
                <a:solidFill>
                  <a:srgbClr val="F8F6F2"/>
                </a:solidFill>
                <a:latin typeface="Quattrocento Sans" pitchFamily="34" charset="0"/>
                <a:ea typeface="Quattrocento Sans" pitchFamily="34" charset="-122"/>
                <a:cs typeface="Quattrocento Sans" pitchFamily="34" charset="-120"/>
              </a:rPr>
              <a:t> Timeframe for crop collection and sale | </a:t>
            </a:r>
            <a:pPr>
              <a:lnSpc>
                <a:spcPct val="130000"/>
              </a:lnSpc>
            </a:pPr>
            <a:r>
              <a:rPr lang="en-US" sz="1200" b="1" dirty="0">
                <a:solidFill>
                  <a:srgbClr val="F8F6F2"/>
                </a:solidFill>
                <a:latin typeface="Quattrocento Sans" pitchFamily="34" charset="0"/>
                <a:ea typeface="Quattrocento Sans" pitchFamily="34" charset="-122"/>
                <a:cs typeface="Quattrocento Sans" pitchFamily="34" charset="-120"/>
              </a:rPr>
              <a:t>Partner Representative:</a:t>
            </a:r>
            <a:pPr>
              <a:lnSpc>
                <a:spcPct val="130000"/>
              </a:lnSpc>
            </a:pPr>
            <a:r>
              <a:rPr lang="en-US" sz="1200" dirty="0">
                <a:solidFill>
                  <a:srgbClr val="F8F6F2"/>
                </a:solidFill>
                <a:latin typeface="Quattrocento Sans" pitchFamily="34" charset="0"/>
                <a:ea typeface="Quattrocento Sans" pitchFamily="34" charset="-122"/>
                <a:cs typeface="Quattrocento Sans" pitchFamily="34" charset="-120"/>
              </a:rPr>
              <a:t> Authorized signatory with binding authority | </a:t>
            </a:r>
            <a:pPr>
              <a:lnSpc>
                <a:spcPct val="130000"/>
              </a:lnSpc>
            </a:pPr>
            <a:r>
              <a:rPr lang="en-US" sz="1200" b="1" dirty="0">
                <a:solidFill>
                  <a:srgbClr val="F8F6F2"/>
                </a:solidFill>
                <a:latin typeface="Quattrocento Sans" pitchFamily="34" charset="0"/>
                <a:ea typeface="Quattrocento Sans" pitchFamily="34" charset="-122"/>
                <a:cs typeface="Quattrocento Sans" pitchFamily="34" charset="-120"/>
              </a:rPr>
              <a:t>Ownership Percentage:</a:t>
            </a:r>
            <a:pPr>
              <a:lnSpc>
                <a:spcPct val="130000"/>
              </a:lnSpc>
            </a:pPr>
            <a:r>
              <a:rPr lang="en-US" sz="1200" dirty="0">
                <a:solidFill>
                  <a:srgbClr val="F8F6F2"/>
                </a:solidFill>
                <a:latin typeface="Quattrocento Sans" pitchFamily="34" charset="0"/>
                <a:ea typeface="Quattrocento Sans" pitchFamily="34" charset="-122"/>
                <a:cs typeface="Quattrocento Sans" pitchFamily="34" charset="-120"/>
              </a:rPr>
              <a:t> Partner's contribution divided by Total Investment Pool | </a:t>
            </a:r>
            <a:pPr>
              <a:lnSpc>
                <a:spcPct val="130000"/>
              </a:lnSpc>
            </a:pPr>
            <a:r>
              <a:rPr lang="en-US" sz="1200" b="1" dirty="0">
                <a:solidFill>
                  <a:srgbClr val="F8F6F2"/>
                </a:solidFill>
                <a:latin typeface="Quattrocento Sans" pitchFamily="34" charset="0"/>
                <a:ea typeface="Quattrocento Sans" pitchFamily="34" charset="-122"/>
                <a:cs typeface="Quattrocento Sans" pitchFamily="34" charset="-120"/>
              </a:rPr>
              <a:t>Force Majeure:</a:t>
            </a:r>
            <a:pPr>
              <a:lnSpc>
                <a:spcPct val="130000"/>
              </a:lnSpc>
            </a:pPr>
            <a:r>
              <a:rPr lang="en-US" sz="1200" dirty="0">
                <a:solidFill>
                  <a:srgbClr val="F8F6F2"/>
                </a:solidFill>
                <a:latin typeface="Quattrocento Sans" pitchFamily="34" charset="0"/>
                <a:ea typeface="Quattrocento Sans" pitchFamily="34" charset="-122"/>
                <a:cs typeface="Quattrocento Sans" pitchFamily="34" charset="-120"/>
              </a:rPr>
              <a:t> Uncontrollable events beyond partners' reasonable control</a:t>
            </a:r>
            <a:endParaRPr lang="en-US" sz="1600" dirty="0"/>
          </a:p>
        </p:txBody>
      </p:sp>
    </p:spTree>
  </p:cSld>
  <p:clrMapOvr>
    <a:masterClrMapping/>
  </p:clrMapOvr>
  <p:transition>
    <p:fade/>
    <p:spd val="med"/>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6F2"/>
        </a:solidFill>
      </p:bgPr>
    </p:bg>
    <p:spTree>
      <p:nvGrpSpPr>
        <p:cNvPr id="1" name=""/>
        <p:cNvGrpSpPr/>
        <p:nvPr/>
      </p:nvGrpSpPr>
      <p:grpSpPr>
        <a:xfrm>
          <a:off x="0" y="0"/>
          <a:ext cx="0" cy="0"/>
          <a:chOff x="0" y="0"/>
          <a:chExt cx="0" cy="0"/>
        </a:xfrm>
      </p:grpSpPr>
      <p:sp>
        <p:nvSpPr>
          <p:cNvPr id="2" name="Shape 0"/>
          <p:cNvSpPr/>
          <p:nvPr/>
        </p:nvSpPr>
        <p:spPr>
          <a:xfrm>
            <a:off x="333799" y="333799"/>
            <a:ext cx="333799" cy="333799"/>
          </a:xfrm>
          <a:custGeom>
            <a:avLst/>
            <a:gdLst/>
            <a:ahLst/>
            <a:cxnLst/>
            <a:rect l="l" t="t" r="r" b="b"/>
            <a:pathLst>
              <a:path w="333799" h="333799">
                <a:moveTo>
                  <a:pt x="33380" y="0"/>
                </a:moveTo>
                <a:lnTo>
                  <a:pt x="300419" y="0"/>
                </a:lnTo>
                <a:cubicBezTo>
                  <a:pt x="318842" y="0"/>
                  <a:pt x="333799" y="14957"/>
                  <a:pt x="333799" y="33380"/>
                </a:cubicBezTo>
                <a:lnTo>
                  <a:pt x="333799" y="300419"/>
                </a:lnTo>
                <a:cubicBezTo>
                  <a:pt x="333799" y="318842"/>
                  <a:pt x="318842" y="333799"/>
                  <a:pt x="300419" y="333799"/>
                </a:cubicBezTo>
                <a:lnTo>
                  <a:pt x="33380" y="333799"/>
                </a:lnTo>
                <a:cubicBezTo>
                  <a:pt x="14957" y="333799"/>
                  <a:pt x="0" y="318842"/>
                  <a:pt x="0" y="300419"/>
                </a:cubicBezTo>
                <a:lnTo>
                  <a:pt x="0" y="33380"/>
                </a:lnTo>
                <a:cubicBezTo>
                  <a:pt x="0" y="14957"/>
                  <a:pt x="14957" y="0"/>
                  <a:pt x="33380" y="0"/>
                </a:cubicBezTo>
                <a:close/>
              </a:path>
            </a:pathLst>
          </a:custGeom>
          <a:solidFill>
            <a:srgbClr val="3A4D39"/>
          </a:solidFill>
          <a:ln/>
        </p:spPr>
      </p:sp>
      <p:sp>
        <p:nvSpPr>
          <p:cNvPr id="3" name="Text 1"/>
          <p:cNvSpPr/>
          <p:nvPr/>
        </p:nvSpPr>
        <p:spPr>
          <a:xfrm>
            <a:off x="458321" y="383869"/>
            <a:ext cx="166899" cy="233659"/>
          </a:xfrm>
          <a:prstGeom prst="rect">
            <a:avLst/>
          </a:prstGeom>
          <a:noFill/>
          <a:ln/>
        </p:spPr>
        <p:txBody>
          <a:bodyPr wrap="square" lIns="0" tIns="0" rIns="0" bIns="0" rtlCol="0" anchor="ctr"/>
          <a:lstStyle/>
          <a:p>
            <a:pPr>
              <a:lnSpc>
                <a:spcPct val="120000"/>
              </a:lnSpc>
            </a:pPr>
            <a:r>
              <a:rPr lang="en-US" sz="1314" b="1" dirty="0">
                <a:solidFill>
                  <a:srgbClr val="F8F6F2"/>
                </a:solidFill>
                <a:latin typeface="Oranienbaum" pitchFamily="34" charset="0"/>
                <a:ea typeface="Oranienbaum" pitchFamily="34" charset="-122"/>
                <a:cs typeface="Oranienbaum" pitchFamily="34" charset="-120"/>
              </a:rPr>
              <a:t>3</a:t>
            </a:r>
            <a:endParaRPr lang="en-US" sz="1600" dirty="0"/>
          </a:p>
        </p:txBody>
      </p:sp>
      <p:sp>
        <p:nvSpPr>
          <p:cNvPr id="4" name="Text 2"/>
          <p:cNvSpPr/>
          <p:nvPr/>
        </p:nvSpPr>
        <p:spPr>
          <a:xfrm>
            <a:off x="767737" y="333799"/>
            <a:ext cx="4331039" cy="333799"/>
          </a:xfrm>
          <a:prstGeom prst="rect">
            <a:avLst/>
          </a:prstGeom>
          <a:noFill/>
          <a:ln/>
        </p:spPr>
        <p:txBody>
          <a:bodyPr wrap="square" lIns="0" tIns="0" rIns="0" bIns="0" rtlCol="0" anchor="ctr"/>
          <a:lstStyle/>
          <a:p>
            <a:pPr>
              <a:lnSpc>
                <a:spcPct val="90000"/>
              </a:lnSpc>
            </a:pPr>
            <a:r>
              <a:rPr lang="en-US" sz="2366" b="1" dirty="0">
                <a:solidFill>
                  <a:srgbClr val="3A4D39"/>
                </a:solidFill>
                <a:latin typeface="Oranienbaum" pitchFamily="34" charset="0"/>
                <a:ea typeface="Oranienbaum" pitchFamily="34" charset="-122"/>
                <a:cs typeface="Oranienbaum" pitchFamily="34" charset="-120"/>
              </a:rPr>
              <a:t>Purpose and Scope of Agreement</a:t>
            </a:r>
            <a:endParaRPr lang="en-US" sz="1600" dirty="0"/>
          </a:p>
        </p:txBody>
      </p:sp>
      <p:sp>
        <p:nvSpPr>
          <p:cNvPr id="5" name="Shape 3"/>
          <p:cNvSpPr/>
          <p:nvPr/>
        </p:nvSpPr>
        <p:spPr>
          <a:xfrm>
            <a:off x="333799" y="734357"/>
            <a:ext cx="667598" cy="33380"/>
          </a:xfrm>
          <a:custGeom>
            <a:avLst/>
            <a:gdLst/>
            <a:ahLst/>
            <a:cxnLst/>
            <a:rect l="l" t="t" r="r" b="b"/>
            <a:pathLst>
              <a:path w="667598" h="33380">
                <a:moveTo>
                  <a:pt x="0" y="0"/>
                </a:moveTo>
                <a:lnTo>
                  <a:pt x="667598" y="0"/>
                </a:lnTo>
                <a:lnTo>
                  <a:pt x="667598" y="33380"/>
                </a:lnTo>
                <a:lnTo>
                  <a:pt x="0" y="33380"/>
                </a:lnTo>
                <a:lnTo>
                  <a:pt x="0" y="0"/>
                </a:lnTo>
                <a:close/>
              </a:path>
            </a:pathLst>
          </a:custGeom>
          <a:solidFill>
            <a:srgbClr val="BCA37F"/>
          </a:solidFill>
          <a:ln/>
        </p:spPr>
      </p:sp>
      <p:sp>
        <p:nvSpPr>
          <p:cNvPr id="6" name="Shape 4"/>
          <p:cNvSpPr/>
          <p:nvPr/>
        </p:nvSpPr>
        <p:spPr>
          <a:xfrm>
            <a:off x="333799" y="917947"/>
            <a:ext cx="5699614" cy="2586940"/>
          </a:xfrm>
          <a:custGeom>
            <a:avLst/>
            <a:gdLst/>
            <a:ahLst/>
            <a:cxnLst/>
            <a:rect l="l" t="t" r="r" b="b"/>
            <a:pathLst>
              <a:path w="5699614" h="2586940">
                <a:moveTo>
                  <a:pt x="33380" y="0"/>
                </a:moveTo>
                <a:lnTo>
                  <a:pt x="5666234" y="0"/>
                </a:lnTo>
                <a:cubicBezTo>
                  <a:pt x="5684669" y="0"/>
                  <a:pt x="5699614" y="14945"/>
                  <a:pt x="5699614" y="33380"/>
                </a:cubicBezTo>
                <a:lnTo>
                  <a:pt x="5699614" y="2520172"/>
                </a:lnTo>
                <a:cubicBezTo>
                  <a:pt x="5699614" y="2557047"/>
                  <a:pt x="5669720" y="2586940"/>
                  <a:pt x="5632845" y="2586940"/>
                </a:cubicBezTo>
                <a:lnTo>
                  <a:pt x="66769" y="2586940"/>
                </a:lnTo>
                <a:cubicBezTo>
                  <a:pt x="29893" y="2586940"/>
                  <a:pt x="0" y="2557047"/>
                  <a:pt x="0" y="2520172"/>
                </a:cubicBezTo>
                <a:lnTo>
                  <a:pt x="0" y="33380"/>
                </a:lnTo>
                <a:cubicBezTo>
                  <a:pt x="0" y="14957"/>
                  <a:pt x="14957" y="0"/>
                  <a:pt x="33380" y="0"/>
                </a:cubicBezTo>
                <a:close/>
              </a:path>
            </a:pathLst>
          </a:custGeom>
          <a:solidFill>
            <a:srgbClr val="FFFFFF"/>
          </a:solidFill>
          <a:ln/>
          <a:effectLst>
            <a:outerShdw sx="100000" sy="100000" kx="0" ky="0" algn="bl" rotWithShape="0" blurRad="25035" dist="8345" dir="5400000">
              <a:srgbClr val="000000">
                <a:alpha val="10196"/>
              </a:srgbClr>
            </a:outerShdw>
          </a:effectLst>
        </p:spPr>
      </p:sp>
      <p:sp>
        <p:nvSpPr>
          <p:cNvPr id="7" name="Shape 5"/>
          <p:cNvSpPr/>
          <p:nvPr/>
        </p:nvSpPr>
        <p:spPr>
          <a:xfrm>
            <a:off x="333799" y="917947"/>
            <a:ext cx="5699614" cy="33380"/>
          </a:xfrm>
          <a:custGeom>
            <a:avLst/>
            <a:gdLst/>
            <a:ahLst/>
            <a:cxnLst/>
            <a:rect l="l" t="t" r="r" b="b"/>
            <a:pathLst>
              <a:path w="5699614" h="33380">
                <a:moveTo>
                  <a:pt x="33380" y="0"/>
                </a:moveTo>
                <a:lnTo>
                  <a:pt x="5666234" y="0"/>
                </a:lnTo>
                <a:cubicBezTo>
                  <a:pt x="5684669" y="0"/>
                  <a:pt x="5699614" y="14945"/>
                  <a:pt x="5699614" y="33380"/>
                </a:cubicBezTo>
                <a:lnTo>
                  <a:pt x="5699614" y="33380"/>
                </a:lnTo>
                <a:lnTo>
                  <a:pt x="0" y="33380"/>
                </a:lnTo>
                <a:lnTo>
                  <a:pt x="0" y="33380"/>
                </a:lnTo>
                <a:cubicBezTo>
                  <a:pt x="0" y="14957"/>
                  <a:pt x="14957" y="0"/>
                  <a:pt x="33380" y="0"/>
                </a:cubicBezTo>
                <a:close/>
              </a:path>
            </a:pathLst>
          </a:custGeom>
          <a:solidFill>
            <a:srgbClr val="3A4D39"/>
          </a:solidFill>
          <a:ln/>
        </p:spPr>
      </p:sp>
      <p:sp>
        <p:nvSpPr>
          <p:cNvPr id="8" name="Shape 6"/>
          <p:cNvSpPr/>
          <p:nvPr/>
        </p:nvSpPr>
        <p:spPr>
          <a:xfrm>
            <a:off x="467318" y="1068156"/>
            <a:ext cx="400559" cy="400559"/>
          </a:xfrm>
          <a:custGeom>
            <a:avLst/>
            <a:gdLst/>
            <a:ahLst/>
            <a:cxnLst/>
            <a:rect l="l" t="t" r="r" b="b"/>
            <a:pathLst>
              <a:path w="400559" h="400559">
                <a:moveTo>
                  <a:pt x="200279" y="0"/>
                </a:moveTo>
                <a:lnTo>
                  <a:pt x="200279" y="0"/>
                </a:lnTo>
                <a:cubicBezTo>
                  <a:pt x="310816" y="0"/>
                  <a:pt x="400559" y="89742"/>
                  <a:pt x="400559" y="200279"/>
                </a:cubicBezTo>
                <a:lnTo>
                  <a:pt x="400559" y="200279"/>
                </a:lnTo>
                <a:cubicBezTo>
                  <a:pt x="400559" y="310816"/>
                  <a:pt x="310816" y="400559"/>
                  <a:pt x="200279" y="400559"/>
                </a:cubicBezTo>
                <a:lnTo>
                  <a:pt x="200279" y="400559"/>
                </a:lnTo>
                <a:cubicBezTo>
                  <a:pt x="89742" y="400559"/>
                  <a:pt x="0" y="310816"/>
                  <a:pt x="0" y="200279"/>
                </a:cubicBezTo>
                <a:lnTo>
                  <a:pt x="0" y="200279"/>
                </a:lnTo>
                <a:cubicBezTo>
                  <a:pt x="0" y="89742"/>
                  <a:pt x="89742" y="0"/>
                  <a:pt x="200279" y="0"/>
                </a:cubicBezTo>
                <a:close/>
              </a:path>
            </a:pathLst>
          </a:custGeom>
          <a:solidFill>
            <a:srgbClr val="3A4D39"/>
          </a:solidFill>
          <a:ln/>
        </p:spPr>
      </p:sp>
      <p:sp>
        <p:nvSpPr>
          <p:cNvPr id="9" name="Shape 7"/>
          <p:cNvSpPr/>
          <p:nvPr/>
        </p:nvSpPr>
        <p:spPr>
          <a:xfrm>
            <a:off x="584148" y="1184986"/>
            <a:ext cx="166899" cy="166899"/>
          </a:xfrm>
          <a:custGeom>
            <a:avLst/>
            <a:gdLst/>
            <a:ahLst/>
            <a:cxnLst/>
            <a:rect l="l" t="t" r="r" b="b"/>
            <a:pathLst>
              <a:path w="166899" h="166899">
                <a:moveTo>
                  <a:pt x="146037" y="83450"/>
                </a:moveTo>
                <a:cubicBezTo>
                  <a:pt x="146037" y="48907"/>
                  <a:pt x="117993" y="20862"/>
                  <a:pt x="83450" y="20862"/>
                </a:cubicBezTo>
                <a:cubicBezTo>
                  <a:pt x="48907" y="20862"/>
                  <a:pt x="20862" y="48907"/>
                  <a:pt x="20862" y="83450"/>
                </a:cubicBezTo>
                <a:cubicBezTo>
                  <a:pt x="20862" y="117993"/>
                  <a:pt x="48907" y="146037"/>
                  <a:pt x="83450" y="146037"/>
                </a:cubicBezTo>
                <a:cubicBezTo>
                  <a:pt x="117993" y="146037"/>
                  <a:pt x="146037" y="117993"/>
                  <a:pt x="146037" y="83450"/>
                </a:cubicBezTo>
                <a:close/>
                <a:moveTo>
                  <a:pt x="0" y="83450"/>
                </a:moveTo>
                <a:cubicBezTo>
                  <a:pt x="0" y="37393"/>
                  <a:pt x="37393" y="0"/>
                  <a:pt x="83450" y="0"/>
                </a:cubicBezTo>
                <a:cubicBezTo>
                  <a:pt x="129507" y="0"/>
                  <a:pt x="166899" y="37393"/>
                  <a:pt x="166899" y="83450"/>
                </a:cubicBezTo>
                <a:cubicBezTo>
                  <a:pt x="166899" y="129507"/>
                  <a:pt x="129507" y="166899"/>
                  <a:pt x="83450" y="166899"/>
                </a:cubicBezTo>
                <a:cubicBezTo>
                  <a:pt x="37393" y="166899"/>
                  <a:pt x="0" y="129507"/>
                  <a:pt x="0" y="83450"/>
                </a:cubicBezTo>
                <a:close/>
                <a:moveTo>
                  <a:pt x="83450" y="109528"/>
                </a:moveTo>
                <a:cubicBezTo>
                  <a:pt x="97843" y="109528"/>
                  <a:pt x="109528" y="97843"/>
                  <a:pt x="109528" y="83450"/>
                </a:cubicBezTo>
                <a:cubicBezTo>
                  <a:pt x="109528" y="69057"/>
                  <a:pt x="97843" y="57372"/>
                  <a:pt x="83450" y="57372"/>
                </a:cubicBezTo>
                <a:cubicBezTo>
                  <a:pt x="69057" y="57372"/>
                  <a:pt x="57372" y="69057"/>
                  <a:pt x="57372" y="83450"/>
                </a:cubicBezTo>
                <a:cubicBezTo>
                  <a:pt x="57372" y="97843"/>
                  <a:pt x="69057" y="109528"/>
                  <a:pt x="83450" y="109528"/>
                </a:cubicBezTo>
                <a:close/>
                <a:moveTo>
                  <a:pt x="83450" y="36509"/>
                </a:moveTo>
                <a:cubicBezTo>
                  <a:pt x="109357" y="36509"/>
                  <a:pt x="130390" y="57543"/>
                  <a:pt x="130390" y="83450"/>
                </a:cubicBezTo>
                <a:cubicBezTo>
                  <a:pt x="130390" y="109357"/>
                  <a:pt x="109357" y="130390"/>
                  <a:pt x="83450" y="130390"/>
                </a:cubicBezTo>
                <a:cubicBezTo>
                  <a:pt x="57543" y="130390"/>
                  <a:pt x="36509" y="109357"/>
                  <a:pt x="36509" y="83450"/>
                </a:cubicBezTo>
                <a:cubicBezTo>
                  <a:pt x="36509" y="57543"/>
                  <a:pt x="57543" y="36509"/>
                  <a:pt x="83450" y="36509"/>
                </a:cubicBezTo>
                <a:close/>
                <a:moveTo>
                  <a:pt x="73018" y="83450"/>
                </a:moveTo>
                <a:cubicBezTo>
                  <a:pt x="73018" y="77693"/>
                  <a:pt x="77693" y="73018"/>
                  <a:pt x="83450" y="73018"/>
                </a:cubicBezTo>
                <a:cubicBezTo>
                  <a:pt x="89207" y="73018"/>
                  <a:pt x="93881" y="77693"/>
                  <a:pt x="93881" y="83450"/>
                </a:cubicBezTo>
                <a:cubicBezTo>
                  <a:pt x="93881" y="89207"/>
                  <a:pt x="89207" y="93881"/>
                  <a:pt x="83450" y="93881"/>
                </a:cubicBezTo>
                <a:cubicBezTo>
                  <a:pt x="77693" y="93881"/>
                  <a:pt x="73018" y="89207"/>
                  <a:pt x="73018" y="83450"/>
                </a:cubicBezTo>
                <a:close/>
              </a:path>
            </a:pathLst>
          </a:custGeom>
          <a:solidFill>
            <a:srgbClr val="F8F6F2"/>
          </a:solidFill>
          <a:ln/>
        </p:spPr>
      </p:sp>
      <p:sp>
        <p:nvSpPr>
          <p:cNvPr id="10" name="Text 8"/>
          <p:cNvSpPr/>
          <p:nvPr/>
        </p:nvSpPr>
        <p:spPr>
          <a:xfrm>
            <a:off x="968016" y="1139088"/>
            <a:ext cx="1735754" cy="258694"/>
          </a:xfrm>
          <a:prstGeom prst="rect">
            <a:avLst/>
          </a:prstGeom>
          <a:noFill/>
          <a:ln/>
        </p:spPr>
        <p:txBody>
          <a:bodyPr wrap="square" lIns="0" tIns="0" rIns="0" bIns="0" rtlCol="0" anchor="ctr"/>
          <a:lstStyle/>
          <a:p>
            <a:pPr>
              <a:lnSpc>
                <a:spcPct val="110000"/>
              </a:lnSpc>
            </a:pPr>
            <a:r>
              <a:rPr lang="en-US" sz="1577" b="1" dirty="0">
                <a:solidFill>
                  <a:srgbClr val="3A4D39"/>
                </a:solidFill>
                <a:latin typeface="Unna" pitchFamily="34" charset="0"/>
                <a:ea typeface="Unna" pitchFamily="34" charset="-122"/>
                <a:cs typeface="Unna" pitchFamily="34" charset="-120"/>
              </a:rPr>
              <a:t>Primary Objectives</a:t>
            </a:r>
            <a:endParaRPr lang="en-US" sz="1600" dirty="0"/>
          </a:p>
        </p:txBody>
      </p:sp>
      <p:sp>
        <p:nvSpPr>
          <p:cNvPr id="11" name="Shape 9"/>
          <p:cNvSpPr/>
          <p:nvPr/>
        </p:nvSpPr>
        <p:spPr>
          <a:xfrm>
            <a:off x="475663" y="1602234"/>
            <a:ext cx="133520" cy="133520"/>
          </a:xfrm>
          <a:custGeom>
            <a:avLst/>
            <a:gdLst/>
            <a:ahLst/>
            <a:cxnLst/>
            <a:rect l="l" t="t" r="r" b="b"/>
            <a:pathLst>
              <a:path w="133520" h="133520">
                <a:moveTo>
                  <a:pt x="66760" y="133520"/>
                </a:moveTo>
                <a:cubicBezTo>
                  <a:pt x="103605" y="133520"/>
                  <a:pt x="133520" y="103605"/>
                  <a:pt x="133520" y="66760"/>
                </a:cubicBezTo>
                <a:cubicBezTo>
                  <a:pt x="133520" y="29914"/>
                  <a:pt x="103605" y="0"/>
                  <a:pt x="66760" y="0"/>
                </a:cubicBezTo>
                <a:cubicBezTo>
                  <a:pt x="29914" y="0"/>
                  <a:pt x="0" y="29914"/>
                  <a:pt x="0" y="66760"/>
                </a:cubicBezTo>
                <a:cubicBezTo>
                  <a:pt x="0" y="103605"/>
                  <a:pt x="29914" y="133520"/>
                  <a:pt x="66760" y="133520"/>
                </a:cubicBezTo>
                <a:close/>
                <a:moveTo>
                  <a:pt x="88770" y="55468"/>
                </a:moveTo>
                <a:lnTo>
                  <a:pt x="67907" y="88848"/>
                </a:lnTo>
                <a:cubicBezTo>
                  <a:pt x="66812" y="90595"/>
                  <a:pt x="64934" y="91690"/>
                  <a:pt x="62874" y="91795"/>
                </a:cubicBezTo>
                <a:cubicBezTo>
                  <a:pt x="60814" y="91899"/>
                  <a:pt x="58832" y="90960"/>
                  <a:pt x="57606" y="89291"/>
                </a:cubicBezTo>
                <a:lnTo>
                  <a:pt x="45089" y="72601"/>
                </a:lnTo>
                <a:cubicBezTo>
                  <a:pt x="43003" y="69837"/>
                  <a:pt x="43576" y="65925"/>
                  <a:pt x="46341" y="63839"/>
                </a:cubicBezTo>
                <a:cubicBezTo>
                  <a:pt x="49105" y="61753"/>
                  <a:pt x="53017" y="62326"/>
                  <a:pt x="55103" y="65091"/>
                </a:cubicBezTo>
                <a:lnTo>
                  <a:pt x="62144" y="74479"/>
                </a:lnTo>
                <a:lnTo>
                  <a:pt x="78156" y="48844"/>
                </a:lnTo>
                <a:cubicBezTo>
                  <a:pt x="79981" y="45923"/>
                  <a:pt x="83841" y="45011"/>
                  <a:pt x="86788" y="46862"/>
                </a:cubicBezTo>
                <a:cubicBezTo>
                  <a:pt x="89734" y="48714"/>
                  <a:pt x="90621" y="52547"/>
                  <a:pt x="88770" y="55494"/>
                </a:cubicBezTo>
                <a:close/>
              </a:path>
            </a:pathLst>
          </a:custGeom>
          <a:solidFill>
            <a:srgbClr val="3A4D39"/>
          </a:solidFill>
          <a:ln/>
        </p:spPr>
      </p:sp>
      <p:sp>
        <p:nvSpPr>
          <p:cNvPr id="12" name="Text 10"/>
          <p:cNvSpPr/>
          <p:nvPr/>
        </p:nvSpPr>
        <p:spPr>
          <a:xfrm>
            <a:off x="684548" y="1568854"/>
            <a:ext cx="5282366" cy="400559"/>
          </a:xfrm>
          <a:prstGeom prst="rect">
            <a:avLst/>
          </a:prstGeom>
          <a:noFill/>
          <a:ln/>
        </p:spPr>
        <p:txBody>
          <a:bodyPr wrap="square" lIns="0" tIns="0" rIns="0" bIns="0" rtlCol="0" anchor="ctr"/>
          <a:lstStyle/>
          <a:p>
            <a:pPr>
              <a:lnSpc>
                <a:spcPct val="130000"/>
              </a:lnSpc>
            </a:pPr>
            <a:r>
              <a:rPr lang="en-US" sz="1051" dirty="0">
                <a:solidFill>
                  <a:srgbClr val="2C2C2C"/>
                </a:solidFill>
                <a:latin typeface="Quattrocento Sans" pitchFamily="34" charset="0"/>
                <a:ea typeface="Quattrocento Sans" pitchFamily="34" charset="-122"/>
                <a:cs typeface="Quattrocento Sans" pitchFamily="34" charset="-120"/>
              </a:rPr>
              <a:t>Establish collaborative framework for funding and operating specialized Habanero pepper cultivation</a:t>
            </a:r>
            <a:endParaRPr lang="en-US" sz="1600" dirty="0"/>
          </a:p>
        </p:txBody>
      </p:sp>
      <p:sp>
        <p:nvSpPr>
          <p:cNvPr id="13" name="Shape 11"/>
          <p:cNvSpPr/>
          <p:nvPr/>
        </p:nvSpPr>
        <p:spPr>
          <a:xfrm>
            <a:off x="479836" y="2069552"/>
            <a:ext cx="133520" cy="133520"/>
          </a:xfrm>
          <a:custGeom>
            <a:avLst/>
            <a:gdLst/>
            <a:ahLst/>
            <a:cxnLst/>
            <a:rect l="l" t="t" r="r" b="b"/>
            <a:pathLst>
              <a:path w="133520" h="133520">
                <a:moveTo>
                  <a:pt x="66760" y="133520"/>
                </a:moveTo>
                <a:cubicBezTo>
                  <a:pt x="103605" y="133520"/>
                  <a:pt x="133520" y="103605"/>
                  <a:pt x="133520" y="66760"/>
                </a:cubicBezTo>
                <a:cubicBezTo>
                  <a:pt x="133520" y="29914"/>
                  <a:pt x="103605" y="0"/>
                  <a:pt x="66760" y="0"/>
                </a:cubicBezTo>
                <a:cubicBezTo>
                  <a:pt x="29914" y="0"/>
                  <a:pt x="0" y="29914"/>
                  <a:pt x="0" y="66760"/>
                </a:cubicBezTo>
                <a:cubicBezTo>
                  <a:pt x="0" y="103605"/>
                  <a:pt x="29914" y="133520"/>
                  <a:pt x="66760" y="133520"/>
                </a:cubicBezTo>
                <a:close/>
                <a:moveTo>
                  <a:pt x="88770" y="55468"/>
                </a:moveTo>
                <a:lnTo>
                  <a:pt x="67907" y="88848"/>
                </a:lnTo>
                <a:cubicBezTo>
                  <a:pt x="66812" y="90595"/>
                  <a:pt x="64934" y="91690"/>
                  <a:pt x="62874" y="91795"/>
                </a:cubicBezTo>
                <a:cubicBezTo>
                  <a:pt x="60814" y="91899"/>
                  <a:pt x="58832" y="90960"/>
                  <a:pt x="57606" y="89291"/>
                </a:cubicBezTo>
                <a:lnTo>
                  <a:pt x="45089" y="72601"/>
                </a:lnTo>
                <a:cubicBezTo>
                  <a:pt x="43003" y="69837"/>
                  <a:pt x="43576" y="65925"/>
                  <a:pt x="46341" y="63839"/>
                </a:cubicBezTo>
                <a:cubicBezTo>
                  <a:pt x="49105" y="61753"/>
                  <a:pt x="53017" y="62326"/>
                  <a:pt x="55103" y="65091"/>
                </a:cubicBezTo>
                <a:lnTo>
                  <a:pt x="62144" y="74479"/>
                </a:lnTo>
                <a:lnTo>
                  <a:pt x="78156" y="48844"/>
                </a:lnTo>
                <a:cubicBezTo>
                  <a:pt x="79981" y="45923"/>
                  <a:pt x="83841" y="45011"/>
                  <a:pt x="86788" y="46862"/>
                </a:cubicBezTo>
                <a:cubicBezTo>
                  <a:pt x="89734" y="48714"/>
                  <a:pt x="90621" y="52547"/>
                  <a:pt x="88770" y="55494"/>
                </a:cubicBezTo>
                <a:close/>
              </a:path>
            </a:pathLst>
          </a:custGeom>
          <a:solidFill>
            <a:srgbClr val="3A4D39"/>
          </a:solidFill>
          <a:ln/>
        </p:spPr>
      </p:sp>
      <p:sp>
        <p:nvSpPr>
          <p:cNvPr id="14" name="Text 12"/>
          <p:cNvSpPr/>
          <p:nvPr/>
        </p:nvSpPr>
        <p:spPr>
          <a:xfrm>
            <a:off x="688982" y="2036172"/>
            <a:ext cx="5274021" cy="400559"/>
          </a:xfrm>
          <a:prstGeom prst="rect">
            <a:avLst/>
          </a:prstGeom>
          <a:noFill/>
          <a:ln/>
        </p:spPr>
        <p:txBody>
          <a:bodyPr wrap="square" lIns="0" tIns="0" rIns="0" bIns="0" rtlCol="0" anchor="ctr"/>
          <a:lstStyle/>
          <a:p>
            <a:pPr>
              <a:lnSpc>
                <a:spcPct val="130000"/>
              </a:lnSpc>
            </a:pPr>
            <a:r>
              <a:rPr lang="en-US" sz="1051" dirty="0">
                <a:solidFill>
                  <a:srgbClr val="2C2C2C"/>
                </a:solidFill>
                <a:latin typeface="Quattrocento Sans" pitchFamily="34" charset="0"/>
                <a:ea typeface="Quattrocento Sans" pitchFamily="34" charset="-122"/>
                <a:cs typeface="Quattrocento Sans" pitchFamily="34" charset="-120"/>
              </a:rPr>
              <a:t>Leverage Wilshire Farms' agricultural expertise and infrastructure with external capital investment</a:t>
            </a:r>
            <a:endParaRPr lang="en-US" sz="1600" dirty="0"/>
          </a:p>
        </p:txBody>
      </p:sp>
      <p:sp>
        <p:nvSpPr>
          <p:cNvPr id="15" name="Shape 13"/>
          <p:cNvSpPr/>
          <p:nvPr/>
        </p:nvSpPr>
        <p:spPr>
          <a:xfrm>
            <a:off x="479836" y="2536871"/>
            <a:ext cx="133520" cy="133520"/>
          </a:xfrm>
          <a:custGeom>
            <a:avLst/>
            <a:gdLst/>
            <a:ahLst/>
            <a:cxnLst/>
            <a:rect l="l" t="t" r="r" b="b"/>
            <a:pathLst>
              <a:path w="133520" h="133520">
                <a:moveTo>
                  <a:pt x="66760" y="133520"/>
                </a:moveTo>
                <a:cubicBezTo>
                  <a:pt x="103605" y="133520"/>
                  <a:pt x="133520" y="103605"/>
                  <a:pt x="133520" y="66760"/>
                </a:cubicBezTo>
                <a:cubicBezTo>
                  <a:pt x="133520" y="29914"/>
                  <a:pt x="103605" y="0"/>
                  <a:pt x="66760" y="0"/>
                </a:cubicBezTo>
                <a:cubicBezTo>
                  <a:pt x="29914" y="0"/>
                  <a:pt x="0" y="29914"/>
                  <a:pt x="0" y="66760"/>
                </a:cubicBezTo>
                <a:cubicBezTo>
                  <a:pt x="0" y="103605"/>
                  <a:pt x="29914" y="133520"/>
                  <a:pt x="66760" y="133520"/>
                </a:cubicBezTo>
                <a:close/>
                <a:moveTo>
                  <a:pt x="88770" y="55468"/>
                </a:moveTo>
                <a:lnTo>
                  <a:pt x="67907" y="88848"/>
                </a:lnTo>
                <a:cubicBezTo>
                  <a:pt x="66812" y="90595"/>
                  <a:pt x="64934" y="91690"/>
                  <a:pt x="62874" y="91795"/>
                </a:cubicBezTo>
                <a:cubicBezTo>
                  <a:pt x="60814" y="91899"/>
                  <a:pt x="58832" y="90960"/>
                  <a:pt x="57606" y="89291"/>
                </a:cubicBezTo>
                <a:lnTo>
                  <a:pt x="45089" y="72601"/>
                </a:lnTo>
                <a:cubicBezTo>
                  <a:pt x="43003" y="69837"/>
                  <a:pt x="43576" y="65925"/>
                  <a:pt x="46341" y="63839"/>
                </a:cubicBezTo>
                <a:cubicBezTo>
                  <a:pt x="49105" y="61753"/>
                  <a:pt x="53017" y="62326"/>
                  <a:pt x="55103" y="65091"/>
                </a:cubicBezTo>
                <a:lnTo>
                  <a:pt x="62144" y="74479"/>
                </a:lnTo>
                <a:lnTo>
                  <a:pt x="78156" y="48844"/>
                </a:lnTo>
                <a:cubicBezTo>
                  <a:pt x="79981" y="45923"/>
                  <a:pt x="83841" y="45011"/>
                  <a:pt x="86788" y="46862"/>
                </a:cubicBezTo>
                <a:cubicBezTo>
                  <a:pt x="89734" y="48714"/>
                  <a:pt x="90621" y="52547"/>
                  <a:pt x="88770" y="55494"/>
                </a:cubicBezTo>
                <a:close/>
              </a:path>
            </a:pathLst>
          </a:custGeom>
          <a:solidFill>
            <a:srgbClr val="3A4D39"/>
          </a:solidFill>
          <a:ln/>
        </p:spPr>
      </p:sp>
      <p:sp>
        <p:nvSpPr>
          <p:cNvPr id="16" name="Text 14"/>
          <p:cNvSpPr/>
          <p:nvPr/>
        </p:nvSpPr>
        <p:spPr>
          <a:xfrm>
            <a:off x="695631" y="2503491"/>
            <a:ext cx="5265676" cy="400559"/>
          </a:xfrm>
          <a:prstGeom prst="rect">
            <a:avLst/>
          </a:prstGeom>
          <a:noFill/>
          <a:ln/>
        </p:spPr>
        <p:txBody>
          <a:bodyPr wrap="square" lIns="0" tIns="0" rIns="0" bIns="0" rtlCol="0" anchor="ctr"/>
          <a:lstStyle/>
          <a:p>
            <a:pPr>
              <a:lnSpc>
                <a:spcPct val="130000"/>
              </a:lnSpc>
            </a:pPr>
            <a:r>
              <a:rPr lang="en-US" sz="1051" dirty="0">
                <a:solidFill>
                  <a:srgbClr val="2C2C2C"/>
                </a:solidFill>
                <a:latin typeface="Quattrocento Sans" pitchFamily="34" charset="0"/>
                <a:ea typeface="Quattrocento Sans" pitchFamily="34" charset="-122"/>
                <a:cs typeface="Quattrocento Sans" pitchFamily="34" charset="-120"/>
              </a:rPr>
              <a:t>Create transparent profit-sharing mechanism based on proportional investment contributions</a:t>
            </a:r>
            <a:endParaRPr lang="en-US" sz="1600" dirty="0"/>
          </a:p>
        </p:txBody>
      </p:sp>
      <p:sp>
        <p:nvSpPr>
          <p:cNvPr id="17" name="Shape 15"/>
          <p:cNvSpPr/>
          <p:nvPr/>
        </p:nvSpPr>
        <p:spPr>
          <a:xfrm>
            <a:off x="484008" y="3004189"/>
            <a:ext cx="133520" cy="133520"/>
          </a:xfrm>
          <a:custGeom>
            <a:avLst/>
            <a:gdLst/>
            <a:ahLst/>
            <a:cxnLst/>
            <a:rect l="l" t="t" r="r" b="b"/>
            <a:pathLst>
              <a:path w="133520" h="133520">
                <a:moveTo>
                  <a:pt x="66760" y="133520"/>
                </a:moveTo>
                <a:cubicBezTo>
                  <a:pt x="103605" y="133520"/>
                  <a:pt x="133520" y="103605"/>
                  <a:pt x="133520" y="66760"/>
                </a:cubicBezTo>
                <a:cubicBezTo>
                  <a:pt x="133520" y="29914"/>
                  <a:pt x="103605" y="0"/>
                  <a:pt x="66760" y="0"/>
                </a:cubicBezTo>
                <a:cubicBezTo>
                  <a:pt x="29914" y="0"/>
                  <a:pt x="0" y="29914"/>
                  <a:pt x="0" y="66760"/>
                </a:cubicBezTo>
                <a:cubicBezTo>
                  <a:pt x="0" y="103605"/>
                  <a:pt x="29914" y="133520"/>
                  <a:pt x="66760" y="133520"/>
                </a:cubicBezTo>
                <a:close/>
                <a:moveTo>
                  <a:pt x="88770" y="55468"/>
                </a:moveTo>
                <a:lnTo>
                  <a:pt x="67907" y="88848"/>
                </a:lnTo>
                <a:cubicBezTo>
                  <a:pt x="66812" y="90595"/>
                  <a:pt x="64934" y="91690"/>
                  <a:pt x="62874" y="91795"/>
                </a:cubicBezTo>
                <a:cubicBezTo>
                  <a:pt x="60814" y="91899"/>
                  <a:pt x="58832" y="90960"/>
                  <a:pt x="57606" y="89291"/>
                </a:cubicBezTo>
                <a:lnTo>
                  <a:pt x="45089" y="72601"/>
                </a:lnTo>
                <a:cubicBezTo>
                  <a:pt x="43003" y="69837"/>
                  <a:pt x="43576" y="65925"/>
                  <a:pt x="46341" y="63839"/>
                </a:cubicBezTo>
                <a:cubicBezTo>
                  <a:pt x="49105" y="61753"/>
                  <a:pt x="53017" y="62326"/>
                  <a:pt x="55103" y="65091"/>
                </a:cubicBezTo>
                <a:lnTo>
                  <a:pt x="62144" y="74479"/>
                </a:lnTo>
                <a:lnTo>
                  <a:pt x="78156" y="48844"/>
                </a:lnTo>
                <a:cubicBezTo>
                  <a:pt x="79981" y="45923"/>
                  <a:pt x="83841" y="45011"/>
                  <a:pt x="86788" y="46862"/>
                </a:cubicBezTo>
                <a:cubicBezTo>
                  <a:pt x="89734" y="48714"/>
                  <a:pt x="90621" y="52547"/>
                  <a:pt x="88770" y="55494"/>
                </a:cubicBezTo>
                <a:close/>
              </a:path>
            </a:pathLst>
          </a:custGeom>
          <a:solidFill>
            <a:srgbClr val="3A4D39"/>
          </a:solidFill>
          <a:ln/>
        </p:spPr>
      </p:sp>
      <p:sp>
        <p:nvSpPr>
          <p:cNvPr id="18" name="Text 16"/>
          <p:cNvSpPr/>
          <p:nvPr/>
        </p:nvSpPr>
        <p:spPr>
          <a:xfrm>
            <a:off x="697457" y="2970809"/>
            <a:ext cx="5265676" cy="400559"/>
          </a:xfrm>
          <a:prstGeom prst="rect">
            <a:avLst/>
          </a:prstGeom>
          <a:noFill/>
          <a:ln/>
        </p:spPr>
        <p:txBody>
          <a:bodyPr wrap="square" lIns="0" tIns="0" rIns="0" bIns="0" rtlCol="0" anchor="ctr"/>
          <a:lstStyle/>
          <a:p>
            <a:pPr>
              <a:lnSpc>
                <a:spcPct val="130000"/>
              </a:lnSpc>
            </a:pPr>
            <a:r>
              <a:rPr lang="en-US" sz="1051" dirty="0">
                <a:solidFill>
                  <a:srgbClr val="2C2C2C"/>
                </a:solidFill>
                <a:latin typeface="Quattrocento Sans" pitchFamily="34" charset="0"/>
                <a:ea typeface="Quattrocento Sans" pitchFamily="34" charset="-122"/>
                <a:cs typeface="Quattrocento Sans" pitchFamily="34" charset="-120"/>
              </a:rPr>
              <a:t>Implement active oversight through Monitoring Partners to ensure operational accountability</a:t>
            </a:r>
            <a:endParaRPr lang="en-US" sz="1600" dirty="0"/>
          </a:p>
        </p:txBody>
      </p:sp>
      <p:sp>
        <p:nvSpPr>
          <p:cNvPr id="19" name="Shape 17"/>
          <p:cNvSpPr/>
          <p:nvPr/>
        </p:nvSpPr>
        <p:spPr>
          <a:xfrm>
            <a:off x="6164064" y="917947"/>
            <a:ext cx="5699614" cy="2586940"/>
          </a:xfrm>
          <a:custGeom>
            <a:avLst/>
            <a:gdLst/>
            <a:ahLst/>
            <a:cxnLst/>
            <a:rect l="l" t="t" r="r" b="b"/>
            <a:pathLst>
              <a:path w="5699614" h="2586940">
                <a:moveTo>
                  <a:pt x="33380" y="0"/>
                </a:moveTo>
                <a:lnTo>
                  <a:pt x="5666234" y="0"/>
                </a:lnTo>
                <a:cubicBezTo>
                  <a:pt x="5684669" y="0"/>
                  <a:pt x="5699614" y="14945"/>
                  <a:pt x="5699614" y="33380"/>
                </a:cubicBezTo>
                <a:lnTo>
                  <a:pt x="5699614" y="2520172"/>
                </a:lnTo>
                <a:cubicBezTo>
                  <a:pt x="5699614" y="2557047"/>
                  <a:pt x="5669720" y="2586940"/>
                  <a:pt x="5632845" y="2586940"/>
                </a:cubicBezTo>
                <a:lnTo>
                  <a:pt x="66769" y="2586940"/>
                </a:lnTo>
                <a:cubicBezTo>
                  <a:pt x="29893" y="2586940"/>
                  <a:pt x="0" y="2557047"/>
                  <a:pt x="0" y="2520172"/>
                </a:cubicBezTo>
                <a:lnTo>
                  <a:pt x="0" y="33380"/>
                </a:lnTo>
                <a:cubicBezTo>
                  <a:pt x="0" y="14957"/>
                  <a:pt x="14957" y="0"/>
                  <a:pt x="33380" y="0"/>
                </a:cubicBezTo>
                <a:close/>
              </a:path>
            </a:pathLst>
          </a:custGeom>
          <a:solidFill>
            <a:srgbClr val="FFFFFF"/>
          </a:solidFill>
          <a:ln/>
          <a:effectLst>
            <a:outerShdw sx="100000" sy="100000" kx="0" ky="0" algn="bl" rotWithShape="0" blurRad="25035" dist="8345" dir="5400000">
              <a:srgbClr val="000000">
                <a:alpha val="10196"/>
              </a:srgbClr>
            </a:outerShdw>
          </a:effectLst>
        </p:spPr>
      </p:sp>
      <p:sp>
        <p:nvSpPr>
          <p:cNvPr id="20" name="Shape 18"/>
          <p:cNvSpPr/>
          <p:nvPr/>
        </p:nvSpPr>
        <p:spPr>
          <a:xfrm>
            <a:off x="6164064" y="917947"/>
            <a:ext cx="5699614" cy="33380"/>
          </a:xfrm>
          <a:custGeom>
            <a:avLst/>
            <a:gdLst/>
            <a:ahLst/>
            <a:cxnLst/>
            <a:rect l="l" t="t" r="r" b="b"/>
            <a:pathLst>
              <a:path w="5699614" h="33380">
                <a:moveTo>
                  <a:pt x="33380" y="0"/>
                </a:moveTo>
                <a:lnTo>
                  <a:pt x="5666234" y="0"/>
                </a:lnTo>
                <a:cubicBezTo>
                  <a:pt x="5684669" y="0"/>
                  <a:pt x="5699614" y="14945"/>
                  <a:pt x="5699614" y="33380"/>
                </a:cubicBezTo>
                <a:lnTo>
                  <a:pt x="5699614" y="33380"/>
                </a:lnTo>
                <a:lnTo>
                  <a:pt x="0" y="33380"/>
                </a:lnTo>
                <a:lnTo>
                  <a:pt x="0" y="33380"/>
                </a:lnTo>
                <a:cubicBezTo>
                  <a:pt x="0" y="14957"/>
                  <a:pt x="14957" y="0"/>
                  <a:pt x="33380" y="0"/>
                </a:cubicBezTo>
                <a:close/>
              </a:path>
            </a:pathLst>
          </a:custGeom>
          <a:solidFill>
            <a:srgbClr val="7A6250"/>
          </a:solidFill>
          <a:ln/>
        </p:spPr>
      </p:sp>
      <p:sp>
        <p:nvSpPr>
          <p:cNvPr id="21" name="Shape 19"/>
          <p:cNvSpPr/>
          <p:nvPr/>
        </p:nvSpPr>
        <p:spPr>
          <a:xfrm>
            <a:off x="6297583" y="1068156"/>
            <a:ext cx="400559" cy="400559"/>
          </a:xfrm>
          <a:custGeom>
            <a:avLst/>
            <a:gdLst/>
            <a:ahLst/>
            <a:cxnLst/>
            <a:rect l="l" t="t" r="r" b="b"/>
            <a:pathLst>
              <a:path w="400559" h="400559">
                <a:moveTo>
                  <a:pt x="200279" y="0"/>
                </a:moveTo>
                <a:lnTo>
                  <a:pt x="200279" y="0"/>
                </a:lnTo>
                <a:cubicBezTo>
                  <a:pt x="310816" y="0"/>
                  <a:pt x="400559" y="89742"/>
                  <a:pt x="400559" y="200279"/>
                </a:cubicBezTo>
                <a:lnTo>
                  <a:pt x="400559" y="200279"/>
                </a:lnTo>
                <a:cubicBezTo>
                  <a:pt x="400559" y="310816"/>
                  <a:pt x="310816" y="400559"/>
                  <a:pt x="200279" y="400559"/>
                </a:cubicBezTo>
                <a:lnTo>
                  <a:pt x="200279" y="400559"/>
                </a:lnTo>
                <a:cubicBezTo>
                  <a:pt x="89742" y="400559"/>
                  <a:pt x="0" y="310816"/>
                  <a:pt x="0" y="200279"/>
                </a:cubicBezTo>
                <a:lnTo>
                  <a:pt x="0" y="200279"/>
                </a:lnTo>
                <a:cubicBezTo>
                  <a:pt x="0" y="89742"/>
                  <a:pt x="89742" y="0"/>
                  <a:pt x="200279" y="0"/>
                </a:cubicBezTo>
                <a:close/>
              </a:path>
            </a:pathLst>
          </a:custGeom>
          <a:solidFill>
            <a:srgbClr val="7A6250"/>
          </a:solidFill>
          <a:ln/>
        </p:spPr>
      </p:sp>
      <p:sp>
        <p:nvSpPr>
          <p:cNvPr id="22" name="Shape 20"/>
          <p:cNvSpPr/>
          <p:nvPr/>
        </p:nvSpPr>
        <p:spPr>
          <a:xfrm>
            <a:off x="6393550" y="1184986"/>
            <a:ext cx="208624" cy="166899"/>
          </a:xfrm>
          <a:custGeom>
            <a:avLst/>
            <a:gdLst/>
            <a:ahLst/>
            <a:cxnLst/>
            <a:rect l="l" t="t" r="r" b="b"/>
            <a:pathLst>
              <a:path w="208624" h="166899">
                <a:moveTo>
                  <a:pt x="187762" y="15647"/>
                </a:moveTo>
                <a:cubicBezTo>
                  <a:pt x="187762" y="12028"/>
                  <a:pt x="185904" y="8671"/>
                  <a:pt x="182807" y="6780"/>
                </a:cubicBezTo>
                <a:cubicBezTo>
                  <a:pt x="179710" y="4890"/>
                  <a:pt x="175896" y="4694"/>
                  <a:pt x="172669" y="6324"/>
                </a:cubicBezTo>
                <a:lnTo>
                  <a:pt x="134791" y="25263"/>
                </a:lnTo>
                <a:lnTo>
                  <a:pt x="76311" y="5737"/>
                </a:lnTo>
                <a:cubicBezTo>
                  <a:pt x="73670" y="4857"/>
                  <a:pt x="70834" y="5053"/>
                  <a:pt x="68357" y="6291"/>
                </a:cubicBezTo>
                <a:lnTo>
                  <a:pt x="26632" y="27154"/>
                </a:lnTo>
                <a:cubicBezTo>
                  <a:pt x="23079" y="28947"/>
                  <a:pt x="20862" y="32565"/>
                  <a:pt x="20862" y="36509"/>
                </a:cubicBezTo>
                <a:lnTo>
                  <a:pt x="20862" y="151253"/>
                </a:lnTo>
                <a:cubicBezTo>
                  <a:pt x="20862" y="154871"/>
                  <a:pt x="22720" y="158228"/>
                  <a:pt x="25817" y="160119"/>
                </a:cubicBezTo>
                <a:cubicBezTo>
                  <a:pt x="28914" y="162010"/>
                  <a:pt x="32728" y="162205"/>
                  <a:pt x="35955" y="160575"/>
                </a:cubicBezTo>
                <a:lnTo>
                  <a:pt x="73801" y="141636"/>
                </a:lnTo>
                <a:lnTo>
                  <a:pt x="130292" y="160478"/>
                </a:lnTo>
                <a:cubicBezTo>
                  <a:pt x="128891" y="158391"/>
                  <a:pt x="127522" y="156207"/>
                  <a:pt x="126185" y="153991"/>
                </a:cubicBezTo>
                <a:cubicBezTo>
                  <a:pt x="122599" y="148025"/>
                  <a:pt x="119046" y="141180"/>
                  <a:pt x="116406" y="133845"/>
                </a:cubicBezTo>
                <a:lnTo>
                  <a:pt x="83417" y="122860"/>
                </a:lnTo>
                <a:lnTo>
                  <a:pt x="83417" y="30120"/>
                </a:lnTo>
                <a:lnTo>
                  <a:pt x="125142" y="44039"/>
                </a:lnTo>
                <a:lnTo>
                  <a:pt x="125142" y="76409"/>
                </a:lnTo>
                <a:cubicBezTo>
                  <a:pt x="135247" y="64739"/>
                  <a:pt x="150242" y="57372"/>
                  <a:pt x="166867" y="57372"/>
                </a:cubicBezTo>
                <a:cubicBezTo>
                  <a:pt x="174234" y="57372"/>
                  <a:pt x="181275" y="58806"/>
                  <a:pt x="187729" y="61446"/>
                </a:cubicBezTo>
                <a:lnTo>
                  <a:pt x="187762" y="15647"/>
                </a:lnTo>
                <a:close/>
                <a:moveTo>
                  <a:pt x="166899" y="73018"/>
                </a:moveTo>
                <a:cubicBezTo>
                  <a:pt x="145287" y="73018"/>
                  <a:pt x="127782" y="90230"/>
                  <a:pt x="127782" y="111451"/>
                </a:cubicBezTo>
                <a:cubicBezTo>
                  <a:pt x="127782" y="133911"/>
                  <a:pt x="148677" y="160478"/>
                  <a:pt x="159924" y="173158"/>
                </a:cubicBezTo>
                <a:cubicBezTo>
                  <a:pt x="163705" y="177396"/>
                  <a:pt x="170127" y="177396"/>
                  <a:pt x="173908" y="173158"/>
                </a:cubicBezTo>
                <a:cubicBezTo>
                  <a:pt x="185154" y="160478"/>
                  <a:pt x="206049" y="133911"/>
                  <a:pt x="206049" y="111451"/>
                </a:cubicBezTo>
                <a:cubicBezTo>
                  <a:pt x="206049" y="90230"/>
                  <a:pt x="188544" y="73018"/>
                  <a:pt x="166932" y="73018"/>
                </a:cubicBezTo>
                <a:close/>
                <a:moveTo>
                  <a:pt x="153860" y="112136"/>
                </a:moveTo>
                <a:cubicBezTo>
                  <a:pt x="153860" y="104939"/>
                  <a:pt x="159703" y="99097"/>
                  <a:pt x="166899" y="99097"/>
                </a:cubicBezTo>
                <a:cubicBezTo>
                  <a:pt x="174096" y="99097"/>
                  <a:pt x="179938" y="104939"/>
                  <a:pt x="179938" y="112136"/>
                </a:cubicBezTo>
                <a:cubicBezTo>
                  <a:pt x="179938" y="119332"/>
                  <a:pt x="174096" y="125175"/>
                  <a:pt x="166899" y="125175"/>
                </a:cubicBezTo>
                <a:cubicBezTo>
                  <a:pt x="159703" y="125175"/>
                  <a:pt x="153860" y="119332"/>
                  <a:pt x="153860" y="112136"/>
                </a:cubicBezTo>
                <a:close/>
              </a:path>
            </a:pathLst>
          </a:custGeom>
          <a:solidFill>
            <a:srgbClr val="F8F6F2"/>
          </a:solidFill>
          <a:ln/>
        </p:spPr>
      </p:sp>
      <p:sp>
        <p:nvSpPr>
          <p:cNvPr id="23" name="Text 21"/>
          <p:cNvSpPr/>
          <p:nvPr/>
        </p:nvSpPr>
        <p:spPr>
          <a:xfrm>
            <a:off x="6798281" y="1139088"/>
            <a:ext cx="1677339" cy="258694"/>
          </a:xfrm>
          <a:prstGeom prst="rect">
            <a:avLst/>
          </a:prstGeom>
          <a:noFill/>
          <a:ln/>
        </p:spPr>
        <p:txBody>
          <a:bodyPr wrap="square" lIns="0" tIns="0" rIns="0" bIns="0" rtlCol="0" anchor="ctr"/>
          <a:lstStyle/>
          <a:p>
            <a:pPr>
              <a:lnSpc>
                <a:spcPct val="110000"/>
              </a:lnSpc>
            </a:pPr>
            <a:r>
              <a:rPr lang="en-US" sz="1577" b="1" dirty="0">
                <a:solidFill>
                  <a:srgbClr val="3A4D39"/>
                </a:solidFill>
                <a:latin typeface="Unna" pitchFamily="34" charset="0"/>
                <a:ea typeface="Unna" pitchFamily="34" charset="-122"/>
                <a:cs typeface="Unna" pitchFamily="34" charset="-120"/>
              </a:rPr>
              <a:t>Agricultural Scope</a:t>
            </a:r>
            <a:endParaRPr lang="en-US" sz="1600" dirty="0"/>
          </a:p>
        </p:txBody>
      </p:sp>
      <p:sp>
        <p:nvSpPr>
          <p:cNvPr id="24" name="Shape 22"/>
          <p:cNvSpPr/>
          <p:nvPr/>
        </p:nvSpPr>
        <p:spPr>
          <a:xfrm>
            <a:off x="6314273" y="1602234"/>
            <a:ext cx="133520" cy="133520"/>
          </a:xfrm>
          <a:custGeom>
            <a:avLst/>
            <a:gdLst/>
            <a:ahLst/>
            <a:cxnLst/>
            <a:rect l="l" t="t" r="r" b="b"/>
            <a:pathLst>
              <a:path w="133520" h="133520">
                <a:moveTo>
                  <a:pt x="133520" y="8345"/>
                </a:moveTo>
                <a:cubicBezTo>
                  <a:pt x="133520" y="36535"/>
                  <a:pt x="113544" y="60058"/>
                  <a:pt x="86996" y="65560"/>
                </a:cubicBezTo>
                <a:cubicBezTo>
                  <a:pt x="84936" y="50409"/>
                  <a:pt x="78130" y="36770"/>
                  <a:pt x="68090" y="26208"/>
                </a:cubicBezTo>
                <a:cubicBezTo>
                  <a:pt x="78547" y="10431"/>
                  <a:pt x="96463" y="0"/>
                  <a:pt x="116830" y="0"/>
                </a:cubicBezTo>
                <a:lnTo>
                  <a:pt x="125175" y="0"/>
                </a:lnTo>
                <a:cubicBezTo>
                  <a:pt x="129790" y="0"/>
                  <a:pt x="133520" y="3729"/>
                  <a:pt x="133520" y="8345"/>
                </a:cubicBezTo>
                <a:close/>
                <a:moveTo>
                  <a:pt x="0" y="25035"/>
                </a:moveTo>
                <a:cubicBezTo>
                  <a:pt x="0" y="20419"/>
                  <a:pt x="3729" y="16690"/>
                  <a:pt x="8345" y="16690"/>
                </a:cubicBezTo>
                <a:lnTo>
                  <a:pt x="16690" y="16690"/>
                </a:lnTo>
                <a:cubicBezTo>
                  <a:pt x="48948" y="16690"/>
                  <a:pt x="75105" y="42846"/>
                  <a:pt x="75105" y="75105"/>
                </a:cubicBezTo>
                <a:lnTo>
                  <a:pt x="75105" y="125175"/>
                </a:lnTo>
                <a:cubicBezTo>
                  <a:pt x="75105" y="129790"/>
                  <a:pt x="71376" y="133520"/>
                  <a:pt x="66760" y="133520"/>
                </a:cubicBezTo>
                <a:cubicBezTo>
                  <a:pt x="62144" y="133520"/>
                  <a:pt x="58415" y="129790"/>
                  <a:pt x="58415" y="125175"/>
                </a:cubicBezTo>
                <a:lnTo>
                  <a:pt x="58415" y="83450"/>
                </a:lnTo>
                <a:cubicBezTo>
                  <a:pt x="26156" y="83450"/>
                  <a:pt x="0" y="57293"/>
                  <a:pt x="0" y="25035"/>
                </a:cubicBezTo>
                <a:close/>
              </a:path>
            </a:pathLst>
          </a:custGeom>
          <a:solidFill>
            <a:srgbClr val="7A6250"/>
          </a:solidFill>
          <a:ln/>
        </p:spPr>
      </p:sp>
      <p:sp>
        <p:nvSpPr>
          <p:cNvPr id="25" name="Text 23"/>
          <p:cNvSpPr/>
          <p:nvPr/>
        </p:nvSpPr>
        <p:spPr>
          <a:xfrm>
            <a:off x="6531242" y="1568854"/>
            <a:ext cx="4414489" cy="200279"/>
          </a:xfrm>
          <a:prstGeom prst="rect">
            <a:avLst/>
          </a:prstGeom>
          <a:noFill/>
          <a:ln/>
        </p:spPr>
        <p:txBody>
          <a:bodyPr wrap="square" lIns="0" tIns="0" rIns="0" bIns="0" rtlCol="0" anchor="ctr"/>
          <a:lstStyle/>
          <a:p>
            <a:pPr>
              <a:lnSpc>
                <a:spcPct val="130000"/>
              </a:lnSpc>
            </a:pPr>
            <a:r>
              <a:rPr lang="en-US" sz="1051" dirty="0">
                <a:solidFill>
                  <a:srgbClr val="2C2C2C"/>
                </a:solidFill>
                <a:latin typeface="Quattrocento Sans" pitchFamily="34" charset="0"/>
                <a:ea typeface="Quattrocento Sans" pitchFamily="34" charset="-122"/>
                <a:cs typeface="Quattrocento Sans" pitchFamily="34" charset="-120"/>
              </a:rPr>
              <a:t>Greenhouse-based Habanero pepper production in controlled environment</a:t>
            </a:r>
            <a:endParaRPr lang="en-US" sz="1600" dirty="0"/>
          </a:p>
        </p:txBody>
      </p:sp>
      <p:sp>
        <p:nvSpPr>
          <p:cNvPr id="26" name="Shape 24"/>
          <p:cNvSpPr/>
          <p:nvPr/>
        </p:nvSpPr>
        <p:spPr>
          <a:xfrm>
            <a:off x="6314273" y="1869273"/>
            <a:ext cx="133520" cy="133520"/>
          </a:xfrm>
          <a:custGeom>
            <a:avLst/>
            <a:gdLst/>
            <a:ahLst/>
            <a:cxnLst/>
            <a:rect l="l" t="t" r="r" b="b"/>
            <a:pathLst>
              <a:path w="133520" h="133520">
                <a:moveTo>
                  <a:pt x="133520" y="8345"/>
                </a:moveTo>
                <a:cubicBezTo>
                  <a:pt x="133520" y="36535"/>
                  <a:pt x="113544" y="60058"/>
                  <a:pt x="86996" y="65560"/>
                </a:cubicBezTo>
                <a:cubicBezTo>
                  <a:pt x="84936" y="50409"/>
                  <a:pt x="78130" y="36770"/>
                  <a:pt x="68090" y="26208"/>
                </a:cubicBezTo>
                <a:cubicBezTo>
                  <a:pt x="78547" y="10431"/>
                  <a:pt x="96463" y="0"/>
                  <a:pt x="116830" y="0"/>
                </a:cubicBezTo>
                <a:lnTo>
                  <a:pt x="125175" y="0"/>
                </a:lnTo>
                <a:cubicBezTo>
                  <a:pt x="129790" y="0"/>
                  <a:pt x="133520" y="3729"/>
                  <a:pt x="133520" y="8345"/>
                </a:cubicBezTo>
                <a:close/>
                <a:moveTo>
                  <a:pt x="0" y="25035"/>
                </a:moveTo>
                <a:cubicBezTo>
                  <a:pt x="0" y="20419"/>
                  <a:pt x="3729" y="16690"/>
                  <a:pt x="8345" y="16690"/>
                </a:cubicBezTo>
                <a:lnTo>
                  <a:pt x="16690" y="16690"/>
                </a:lnTo>
                <a:cubicBezTo>
                  <a:pt x="48948" y="16690"/>
                  <a:pt x="75105" y="42846"/>
                  <a:pt x="75105" y="75105"/>
                </a:cubicBezTo>
                <a:lnTo>
                  <a:pt x="75105" y="125175"/>
                </a:lnTo>
                <a:cubicBezTo>
                  <a:pt x="75105" y="129790"/>
                  <a:pt x="71376" y="133520"/>
                  <a:pt x="66760" y="133520"/>
                </a:cubicBezTo>
                <a:cubicBezTo>
                  <a:pt x="62144" y="133520"/>
                  <a:pt x="58415" y="129790"/>
                  <a:pt x="58415" y="125175"/>
                </a:cubicBezTo>
                <a:lnTo>
                  <a:pt x="58415" y="83450"/>
                </a:lnTo>
                <a:cubicBezTo>
                  <a:pt x="26156" y="83450"/>
                  <a:pt x="0" y="57293"/>
                  <a:pt x="0" y="25035"/>
                </a:cubicBezTo>
                <a:close/>
              </a:path>
            </a:pathLst>
          </a:custGeom>
          <a:solidFill>
            <a:srgbClr val="7A6250"/>
          </a:solidFill>
          <a:ln/>
        </p:spPr>
      </p:sp>
      <p:sp>
        <p:nvSpPr>
          <p:cNvPr id="27" name="Text 25"/>
          <p:cNvSpPr/>
          <p:nvPr/>
        </p:nvSpPr>
        <p:spPr>
          <a:xfrm>
            <a:off x="6531242" y="1835893"/>
            <a:ext cx="4623113" cy="200279"/>
          </a:xfrm>
          <a:prstGeom prst="rect">
            <a:avLst/>
          </a:prstGeom>
          <a:noFill/>
          <a:ln/>
        </p:spPr>
        <p:txBody>
          <a:bodyPr wrap="square" lIns="0" tIns="0" rIns="0" bIns="0" rtlCol="0" anchor="ctr"/>
          <a:lstStyle/>
          <a:p>
            <a:pPr>
              <a:lnSpc>
                <a:spcPct val="130000"/>
              </a:lnSpc>
            </a:pPr>
            <a:r>
              <a:rPr lang="en-US" sz="1051" dirty="0">
                <a:solidFill>
                  <a:srgbClr val="2C2C2C"/>
                </a:solidFill>
                <a:latin typeface="Quattrocento Sans" pitchFamily="34" charset="0"/>
                <a:ea typeface="Quattrocento Sans" pitchFamily="34" charset="-122"/>
                <a:cs typeface="Quattrocento Sans" pitchFamily="34" charset="-120"/>
              </a:rPr>
              <a:t>Complete growing cycle from seedling establishment through plant termination</a:t>
            </a:r>
            <a:endParaRPr lang="en-US" sz="1600" dirty="0"/>
          </a:p>
        </p:txBody>
      </p:sp>
      <p:sp>
        <p:nvSpPr>
          <p:cNvPr id="28" name="Shape 26"/>
          <p:cNvSpPr/>
          <p:nvPr/>
        </p:nvSpPr>
        <p:spPr>
          <a:xfrm>
            <a:off x="6314273" y="2136312"/>
            <a:ext cx="133520" cy="133520"/>
          </a:xfrm>
          <a:custGeom>
            <a:avLst/>
            <a:gdLst/>
            <a:ahLst/>
            <a:cxnLst/>
            <a:rect l="l" t="t" r="r" b="b"/>
            <a:pathLst>
              <a:path w="133520" h="133520">
                <a:moveTo>
                  <a:pt x="133520" y="8345"/>
                </a:moveTo>
                <a:cubicBezTo>
                  <a:pt x="133520" y="36535"/>
                  <a:pt x="113544" y="60058"/>
                  <a:pt x="86996" y="65560"/>
                </a:cubicBezTo>
                <a:cubicBezTo>
                  <a:pt x="84936" y="50409"/>
                  <a:pt x="78130" y="36770"/>
                  <a:pt x="68090" y="26208"/>
                </a:cubicBezTo>
                <a:cubicBezTo>
                  <a:pt x="78547" y="10431"/>
                  <a:pt x="96463" y="0"/>
                  <a:pt x="116830" y="0"/>
                </a:cubicBezTo>
                <a:lnTo>
                  <a:pt x="125175" y="0"/>
                </a:lnTo>
                <a:cubicBezTo>
                  <a:pt x="129790" y="0"/>
                  <a:pt x="133520" y="3729"/>
                  <a:pt x="133520" y="8345"/>
                </a:cubicBezTo>
                <a:close/>
                <a:moveTo>
                  <a:pt x="0" y="25035"/>
                </a:moveTo>
                <a:cubicBezTo>
                  <a:pt x="0" y="20419"/>
                  <a:pt x="3729" y="16690"/>
                  <a:pt x="8345" y="16690"/>
                </a:cubicBezTo>
                <a:lnTo>
                  <a:pt x="16690" y="16690"/>
                </a:lnTo>
                <a:cubicBezTo>
                  <a:pt x="48948" y="16690"/>
                  <a:pt x="75105" y="42846"/>
                  <a:pt x="75105" y="75105"/>
                </a:cubicBezTo>
                <a:lnTo>
                  <a:pt x="75105" y="125175"/>
                </a:lnTo>
                <a:cubicBezTo>
                  <a:pt x="75105" y="129790"/>
                  <a:pt x="71376" y="133520"/>
                  <a:pt x="66760" y="133520"/>
                </a:cubicBezTo>
                <a:cubicBezTo>
                  <a:pt x="62144" y="133520"/>
                  <a:pt x="58415" y="129790"/>
                  <a:pt x="58415" y="125175"/>
                </a:cubicBezTo>
                <a:lnTo>
                  <a:pt x="58415" y="83450"/>
                </a:lnTo>
                <a:cubicBezTo>
                  <a:pt x="26156" y="83450"/>
                  <a:pt x="0" y="57293"/>
                  <a:pt x="0" y="25035"/>
                </a:cubicBezTo>
                <a:close/>
              </a:path>
            </a:pathLst>
          </a:custGeom>
          <a:solidFill>
            <a:srgbClr val="7A6250"/>
          </a:solidFill>
          <a:ln/>
        </p:spPr>
      </p:sp>
      <p:sp>
        <p:nvSpPr>
          <p:cNvPr id="29" name="Text 27"/>
          <p:cNvSpPr/>
          <p:nvPr/>
        </p:nvSpPr>
        <p:spPr>
          <a:xfrm>
            <a:off x="6531242" y="2102932"/>
            <a:ext cx="4823392" cy="200279"/>
          </a:xfrm>
          <a:prstGeom prst="rect">
            <a:avLst/>
          </a:prstGeom>
          <a:noFill/>
          <a:ln/>
        </p:spPr>
        <p:txBody>
          <a:bodyPr wrap="square" lIns="0" tIns="0" rIns="0" bIns="0" rtlCol="0" anchor="ctr"/>
          <a:lstStyle/>
          <a:p>
            <a:pPr>
              <a:lnSpc>
                <a:spcPct val="130000"/>
              </a:lnSpc>
            </a:pPr>
            <a:r>
              <a:rPr lang="en-US" sz="1051" dirty="0">
                <a:solidFill>
                  <a:srgbClr val="2C2C2C"/>
                </a:solidFill>
                <a:latin typeface="Quattrocento Sans" pitchFamily="34" charset="0"/>
                <a:ea typeface="Quattrocento Sans" pitchFamily="34" charset="-122"/>
                <a:cs typeface="Quattrocento Sans" pitchFamily="34" charset="-120"/>
              </a:rPr>
              <a:t>Application of modern agricultural practices including integrated pest management</a:t>
            </a:r>
            <a:endParaRPr lang="en-US" sz="1600" dirty="0"/>
          </a:p>
        </p:txBody>
      </p:sp>
      <p:sp>
        <p:nvSpPr>
          <p:cNvPr id="30" name="Shape 28"/>
          <p:cNvSpPr/>
          <p:nvPr/>
        </p:nvSpPr>
        <p:spPr>
          <a:xfrm>
            <a:off x="6314273" y="2403351"/>
            <a:ext cx="133520" cy="133520"/>
          </a:xfrm>
          <a:custGeom>
            <a:avLst/>
            <a:gdLst/>
            <a:ahLst/>
            <a:cxnLst/>
            <a:rect l="l" t="t" r="r" b="b"/>
            <a:pathLst>
              <a:path w="133520" h="133520">
                <a:moveTo>
                  <a:pt x="133520" y="8345"/>
                </a:moveTo>
                <a:cubicBezTo>
                  <a:pt x="133520" y="36535"/>
                  <a:pt x="113544" y="60058"/>
                  <a:pt x="86996" y="65560"/>
                </a:cubicBezTo>
                <a:cubicBezTo>
                  <a:pt x="84936" y="50409"/>
                  <a:pt x="78130" y="36770"/>
                  <a:pt x="68090" y="26208"/>
                </a:cubicBezTo>
                <a:cubicBezTo>
                  <a:pt x="78547" y="10431"/>
                  <a:pt x="96463" y="0"/>
                  <a:pt x="116830" y="0"/>
                </a:cubicBezTo>
                <a:lnTo>
                  <a:pt x="125175" y="0"/>
                </a:lnTo>
                <a:cubicBezTo>
                  <a:pt x="129790" y="0"/>
                  <a:pt x="133520" y="3729"/>
                  <a:pt x="133520" y="8345"/>
                </a:cubicBezTo>
                <a:close/>
                <a:moveTo>
                  <a:pt x="0" y="25035"/>
                </a:moveTo>
                <a:cubicBezTo>
                  <a:pt x="0" y="20419"/>
                  <a:pt x="3729" y="16690"/>
                  <a:pt x="8345" y="16690"/>
                </a:cubicBezTo>
                <a:lnTo>
                  <a:pt x="16690" y="16690"/>
                </a:lnTo>
                <a:cubicBezTo>
                  <a:pt x="48948" y="16690"/>
                  <a:pt x="75105" y="42846"/>
                  <a:pt x="75105" y="75105"/>
                </a:cubicBezTo>
                <a:lnTo>
                  <a:pt x="75105" y="125175"/>
                </a:lnTo>
                <a:cubicBezTo>
                  <a:pt x="75105" y="129790"/>
                  <a:pt x="71376" y="133520"/>
                  <a:pt x="66760" y="133520"/>
                </a:cubicBezTo>
                <a:cubicBezTo>
                  <a:pt x="62144" y="133520"/>
                  <a:pt x="58415" y="129790"/>
                  <a:pt x="58415" y="125175"/>
                </a:cubicBezTo>
                <a:lnTo>
                  <a:pt x="58415" y="83450"/>
                </a:lnTo>
                <a:cubicBezTo>
                  <a:pt x="26156" y="83450"/>
                  <a:pt x="0" y="57293"/>
                  <a:pt x="0" y="25035"/>
                </a:cubicBezTo>
                <a:close/>
              </a:path>
            </a:pathLst>
          </a:custGeom>
          <a:solidFill>
            <a:srgbClr val="7A6250"/>
          </a:solidFill>
          <a:ln/>
        </p:spPr>
      </p:sp>
      <p:sp>
        <p:nvSpPr>
          <p:cNvPr id="31" name="Text 29"/>
          <p:cNvSpPr/>
          <p:nvPr/>
        </p:nvSpPr>
        <p:spPr>
          <a:xfrm>
            <a:off x="6531242" y="2369971"/>
            <a:ext cx="4356074" cy="200279"/>
          </a:xfrm>
          <a:prstGeom prst="rect">
            <a:avLst/>
          </a:prstGeom>
          <a:noFill/>
          <a:ln/>
        </p:spPr>
        <p:txBody>
          <a:bodyPr wrap="square" lIns="0" tIns="0" rIns="0" bIns="0" rtlCol="0" anchor="ctr"/>
          <a:lstStyle/>
          <a:p>
            <a:pPr>
              <a:lnSpc>
                <a:spcPct val="130000"/>
              </a:lnSpc>
            </a:pPr>
            <a:r>
              <a:rPr lang="en-US" sz="1051" dirty="0">
                <a:solidFill>
                  <a:srgbClr val="2C2C2C"/>
                </a:solidFill>
                <a:latin typeface="Quattrocento Sans" pitchFamily="34" charset="0"/>
                <a:ea typeface="Quattrocento Sans" pitchFamily="34" charset="-122"/>
                <a:cs typeface="Quattrocento Sans" pitchFamily="34" charset="-120"/>
              </a:rPr>
              <a:t>Quality control and food safety compliance throughout production process</a:t>
            </a:r>
            <a:endParaRPr lang="en-US" sz="1600" dirty="0"/>
          </a:p>
        </p:txBody>
      </p:sp>
      <p:sp>
        <p:nvSpPr>
          <p:cNvPr id="32" name="Shape 30"/>
          <p:cNvSpPr/>
          <p:nvPr/>
        </p:nvSpPr>
        <p:spPr>
          <a:xfrm>
            <a:off x="350489" y="3605027"/>
            <a:ext cx="11507713" cy="2069552"/>
          </a:xfrm>
          <a:custGeom>
            <a:avLst/>
            <a:gdLst/>
            <a:ahLst/>
            <a:cxnLst/>
            <a:rect l="l" t="t" r="r" b="b"/>
            <a:pathLst>
              <a:path w="11507713" h="2069552">
                <a:moveTo>
                  <a:pt x="33380" y="0"/>
                </a:moveTo>
                <a:lnTo>
                  <a:pt x="11440949" y="0"/>
                </a:lnTo>
                <a:cubicBezTo>
                  <a:pt x="11477821" y="0"/>
                  <a:pt x="11507713" y="29891"/>
                  <a:pt x="11507713" y="66764"/>
                </a:cubicBezTo>
                <a:lnTo>
                  <a:pt x="11507713" y="2002789"/>
                </a:lnTo>
                <a:cubicBezTo>
                  <a:pt x="11507713" y="2039661"/>
                  <a:pt x="11477821" y="2069552"/>
                  <a:pt x="11440949" y="2069552"/>
                </a:cubicBezTo>
                <a:lnTo>
                  <a:pt x="33380" y="2069552"/>
                </a:lnTo>
                <a:cubicBezTo>
                  <a:pt x="14945" y="2069552"/>
                  <a:pt x="0" y="2054608"/>
                  <a:pt x="0" y="2036172"/>
                </a:cubicBezTo>
                <a:lnTo>
                  <a:pt x="0" y="33380"/>
                </a:lnTo>
                <a:cubicBezTo>
                  <a:pt x="0" y="14957"/>
                  <a:pt x="14957" y="0"/>
                  <a:pt x="33380" y="0"/>
                </a:cubicBezTo>
                <a:close/>
              </a:path>
            </a:pathLst>
          </a:custGeom>
          <a:solidFill>
            <a:srgbClr val="FFFFFF"/>
          </a:solidFill>
          <a:ln/>
          <a:effectLst>
            <a:outerShdw sx="100000" sy="100000" kx="0" ky="0" algn="bl" rotWithShape="0" blurRad="25035" dist="8345" dir="5400000">
              <a:srgbClr val="000000">
                <a:alpha val="10196"/>
              </a:srgbClr>
            </a:outerShdw>
          </a:effectLst>
        </p:spPr>
      </p:sp>
      <p:sp>
        <p:nvSpPr>
          <p:cNvPr id="33" name="Shape 31"/>
          <p:cNvSpPr/>
          <p:nvPr/>
        </p:nvSpPr>
        <p:spPr>
          <a:xfrm>
            <a:off x="350489" y="3605027"/>
            <a:ext cx="33380" cy="2069552"/>
          </a:xfrm>
          <a:custGeom>
            <a:avLst/>
            <a:gdLst/>
            <a:ahLst/>
            <a:cxnLst/>
            <a:rect l="l" t="t" r="r" b="b"/>
            <a:pathLst>
              <a:path w="33380" h="2069552">
                <a:moveTo>
                  <a:pt x="33380" y="0"/>
                </a:moveTo>
                <a:lnTo>
                  <a:pt x="33380" y="0"/>
                </a:lnTo>
                <a:lnTo>
                  <a:pt x="33380" y="2069552"/>
                </a:lnTo>
                <a:lnTo>
                  <a:pt x="33380" y="2069552"/>
                </a:lnTo>
                <a:cubicBezTo>
                  <a:pt x="14945" y="2069552"/>
                  <a:pt x="0" y="2054608"/>
                  <a:pt x="0" y="2036172"/>
                </a:cubicBezTo>
                <a:lnTo>
                  <a:pt x="0" y="33380"/>
                </a:lnTo>
                <a:cubicBezTo>
                  <a:pt x="0" y="14957"/>
                  <a:pt x="14957" y="0"/>
                  <a:pt x="33380" y="0"/>
                </a:cubicBezTo>
                <a:close/>
              </a:path>
            </a:pathLst>
          </a:custGeom>
          <a:solidFill>
            <a:srgbClr val="3A4D39"/>
          </a:solidFill>
          <a:ln/>
        </p:spPr>
      </p:sp>
      <p:sp>
        <p:nvSpPr>
          <p:cNvPr id="34" name="Shape 32"/>
          <p:cNvSpPr/>
          <p:nvPr/>
        </p:nvSpPr>
        <p:spPr>
          <a:xfrm>
            <a:off x="521561" y="3771926"/>
            <a:ext cx="166899" cy="166899"/>
          </a:xfrm>
          <a:custGeom>
            <a:avLst/>
            <a:gdLst/>
            <a:ahLst/>
            <a:cxnLst/>
            <a:rect l="l" t="t" r="r" b="b"/>
            <a:pathLst>
              <a:path w="166899" h="166899">
                <a:moveTo>
                  <a:pt x="75789" y="1695"/>
                </a:moveTo>
                <a:cubicBezTo>
                  <a:pt x="80646" y="-554"/>
                  <a:pt x="86253" y="-554"/>
                  <a:pt x="91110" y="1695"/>
                </a:cubicBezTo>
                <a:lnTo>
                  <a:pt x="162368" y="34619"/>
                </a:lnTo>
                <a:cubicBezTo>
                  <a:pt x="165139" y="35890"/>
                  <a:pt x="166899" y="38661"/>
                  <a:pt x="166899" y="41725"/>
                </a:cubicBezTo>
                <a:cubicBezTo>
                  <a:pt x="166899" y="44789"/>
                  <a:pt x="165139" y="47560"/>
                  <a:pt x="162368" y="48831"/>
                </a:cubicBezTo>
                <a:lnTo>
                  <a:pt x="91110" y="81755"/>
                </a:lnTo>
                <a:cubicBezTo>
                  <a:pt x="86253" y="84004"/>
                  <a:pt x="80646" y="84004"/>
                  <a:pt x="75789" y="81755"/>
                </a:cubicBezTo>
                <a:lnTo>
                  <a:pt x="4531" y="48831"/>
                </a:lnTo>
                <a:cubicBezTo>
                  <a:pt x="1760" y="47527"/>
                  <a:pt x="0" y="44756"/>
                  <a:pt x="0" y="41725"/>
                </a:cubicBezTo>
                <a:cubicBezTo>
                  <a:pt x="0" y="38693"/>
                  <a:pt x="1760" y="35890"/>
                  <a:pt x="4531" y="34619"/>
                </a:cubicBezTo>
                <a:lnTo>
                  <a:pt x="75789" y="1695"/>
                </a:lnTo>
                <a:close/>
                <a:moveTo>
                  <a:pt x="15679" y="71193"/>
                </a:moveTo>
                <a:lnTo>
                  <a:pt x="69237" y="95935"/>
                </a:lnTo>
                <a:cubicBezTo>
                  <a:pt x="78267" y="100107"/>
                  <a:pt x="88665" y="100107"/>
                  <a:pt x="97695" y="95935"/>
                </a:cubicBezTo>
                <a:lnTo>
                  <a:pt x="151253" y="71193"/>
                </a:lnTo>
                <a:lnTo>
                  <a:pt x="162368" y="76343"/>
                </a:lnTo>
                <a:cubicBezTo>
                  <a:pt x="165139" y="77615"/>
                  <a:pt x="166899" y="80386"/>
                  <a:pt x="166899" y="83450"/>
                </a:cubicBezTo>
                <a:cubicBezTo>
                  <a:pt x="166899" y="86514"/>
                  <a:pt x="165139" y="89285"/>
                  <a:pt x="162368" y="90556"/>
                </a:cubicBezTo>
                <a:lnTo>
                  <a:pt x="91110" y="123479"/>
                </a:lnTo>
                <a:cubicBezTo>
                  <a:pt x="86253" y="125729"/>
                  <a:pt x="80646" y="125729"/>
                  <a:pt x="75789" y="123479"/>
                </a:cubicBezTo>
                <a:lnTo>
                  <a:pt x="4531" y="90556"/>
                </a:lnTo>
                <a:cubicBezTo>
                  <a:pt x="1760" y="89252"/>
                  <a:pt x="0" y="86481"/>
                  <a:pt x="0" y="83450"/>
                </a:cubicBezTo>
                <a:cubicBezTo>
                  <a:pt x="0" y="80418"/>
                  <a:pt x="1760" y="77615"/>
                  <a:pt x="4531" y="76343"/>
                </a:cubicBezTo>
                <a:lnTo>
                  <a:pt x="15647" y="71193"/>
                </a:lnTo>
                <a:close/>
                <a:moveTo>
                  <a:pt x="4531" y="118068"/>
                </a:moveTo>
                <a:lnTo>
                  <a:pt x="15647" y="112918"/>
                </a:lnTo>
                <a:lnTo>
                  <a:pt x="69205" y="137659"/>
                </a:lnTo>
                <a:cubicBezTo>
                  <a:pt x="78234" y="141832"/>
                  <a:pt x="88633" y="141832"/>
                  <a:pt x="97662" y="137659"/>
                </a:cubicBezTo>
                <a:lnTo>
                  <a:pt x="151220" y="112918"/>
                </a:lnTo>
                <a:lnTo>
                  <a:pt x="162336" y="118068"/>
                </a:lnTo>
                <a:cubicBezTo>
                  <a:pt x="165107" y="119340"/>
                  <a:pt x="166867" y="122110"/>
                  <a:pt x="166867" y="125175"/>
                </a:cubicBezTo>
                <a:cubicBezTo>
                  <a:pt x="166867" y="128239"/>
                  <a:pt x="165107" y="131009"/>
                  <a:pt x="162336" y="132281"/>
                </a:cubicBezTo>
                <a:lnTo>
                  <a:pt x="91078" y="165204"/>
                </a:lnTo>
                <a:cubicBezTo>
                  <a:pt x="86220" y="167454"/>
                  <a:pt x="80614" y="167454"/>
                  <a:pt x="75757" y="165204"/>
                </a:cubicBezTo>
                <a:lnTo>
                  <a:pt x="4531" y="132281"/>
                </a:lnTo>
                <a:cubicBezTo>
                  <a:pt x="1760" y="130977"/>
                  <a:pt x="0" y="128206"/>
                  <a:pt x="0" y="125175"/>
                </a:cubicBezTo>
                <a:cubicBezTo>
                  <a:pt x="0" y="122143"/>
                  <a:pt x="1760" y="119340"/>
                  <a:pt x="4531" y="118068"/>
                </a:cubicBezTo>
                <a:close/>
              </a:path>
            </a:pathLst>
          </a:custGeom>
          <a:solidFill>
            <a:srgbClr val="3A4D39"/>
          </a:solidFill>
          <a:ln/>
        </p:spPr>
      </p:sp>
      <p:sp>
        <p:nvSpPr>
          <p:cNvPr id="35" name="Text 33"/>
          <p:cNvSpPr/>
          <p:nvPr/>
        </p:nvSpPr>
        <p:spPr>
          <a:xfrm>
            <a:off x="709322" y="3738546"/>
            <a:ext cx="11098809" cy="233659"/>
          </a:xfrm>
          <a:prstGeom prst="rect">
            <a:avLst/>
          </a:prstGeom>
          <a:noFill/>
          <a:ln/>
        </p:spPr>
        <p:txBody>
          <a:bodyPr wrap="square" lIns="0" tIns="0" rIns="0" bIns="0" rtlCol="0" anchor="ctr"/>
          <a:lstStyle/>
          <a:p>
            <a:pPr>
              <a:lnSpc>
                <a:spcPct val="120000"/>
              </a:lnSpc>
            </a:pPr>
            <a:r>
              <a:rPr lang="en-US" sz="1314" b="1" dirty="0">
                <a:solidFill>
                  <a:srgbClr val="3A4D39"/>
                </a:solidFill>
                <a:latin typeface="Unna" pitchFamily="34" charset="0"/>
                <a:ea typeface="Unna" pitchFamily="34" charset="-122"/>
                <a:cs typeface="Unna" pitchFamily="34" charset="-120"/>
              </a:rPr>
              <a:t>Agreement Boundaries</a:t>
            </a:r>
            <a:endParaRPr lang="en-US" sz="1600" dirty="0"/>
          </a:p>
        </p:txBody>
      </p:sp>
      <p:sp>
        <p:nvSpPr>
          <p:cNvPr id="36" name="Shape 34"/>
          <p:cNvSpPr/>
          <p:nvPr/>
        </p:nvSpPr>
        <p:spPr>
          <a:xfrm>
            <a:off x="500698" y="4072345"/>
            <a:ext cx="3655097" cy="1468715"/>
          </a:xfrm>
          <a:custGeom>
            <a:avLst/>
            <a:gdLst/>
            <a:ahLst/>
            <a:cxnLst/>
            <a:rect l="l" t="t" r="r" b="b"/>
            <a:pathLst>
              <a:path w="3655097" h="1468715">
                <a:moveTo>
                  <a:pt x="66753" y="0"/>
                </a:moveTo>
                <a:lnTo>
                  <a:pt x="3588343" y="0"/>
                </a:lnTo>
                <a:cubicBezTo>
                  <a:pt x="3625210" y="0"/>
                  <a:pt x="3655097" y="29886"/>
                  <a:pt x="3655097" y="66753"/>
                </a:cubicBezTo>
                <a:lnTo>
                  <a:pt x="3655097" y="1401962"/>
                </a:lnTo>
                <a:cubicBezTo>
                  <a:pt x="3655097" y="1438828"/>
                  <a:pt x="3625210" y="1468715"/>
                  <a:pt x="3588343" y="1468715"/>
                </a:cubicBezTo>
                <a:lnTo>
                  <a:pt x="66753" y="1468715"/>
                </a:lnTo>
                <a:cubicBezTo>
                  <a:pt x="29886" y="1468715"/>
                  <a:pt x="0" y="1438828"/>
                  <a:pt x="0" y="1401962"/>
                </a:cubicBezTo>
                <a:lnTo>
                  <a:pt x="0" y="66753"/>
                </a:lnTo>
                <a:cubicBezTo>
                  <a:pt x="0" y="29911"/>
                  <a:pt x="29911" y="0"/>
                  <a:pt x="66753" y="0"/>
                </a:cubicBezTo>
                <a:close/>
              </a:path>
            </a:pathLst>
          </a:custGeom>
          <a:solidFill>
            <a:srgbClr val="F8F6F2"/>
          </a:solidFill>
          <a:ln/>
        </p:spPr>
      </p:sp>
      <p:sp>
        <p:nvSpPr>
          <p:cNvPr id="37" name="Shape 35"/>
          <p:cNvSpPr/>
          <p:nvPr/>
        </p:nvSpPr>
        <p:spPr>
          <a:xfrm>
            <a:off x="2060164" y="4172485"/>
            <a:ext cx="534078" cy="534078"/>
          </a:xfrm>
          <a:custGeom>
            <a:avLst/>
            <a:gdLst/>
            <a:ahLst/>
            <a:cxnLst/>
            <a:rect l="l" t="t" r="r" b="b"/>
            <a:pathLst>
              <a:path w="534078" h="534078">
                <a:moveTo>
                  <a:pt x="267039" y="0"/>
                </a:moveTo>
                <a:lnTo>
                  <a:pt x="267039" y="0"/>
                </a:lnTo>
                <a:cubicBezTo>
                  <a:pt x="414422" y="0"/>
                  <a:pt x="534078" y="119656"/>
                  <a:pt x="534078" y="267039"/>
                </a:cubicBezTo>
                <a:lnTo>
                  <a:pt x="534078" y="267039"/>
                </a:lnTo>
                <a:cubicBezTo>
                  <a:pt x="534078" y="414422"/>
                  <a:pt x="414422" y="534078"/>
                  <a:pt x="267039" y="534078"/>
                </a:cubicBezTo>
                <a:lnTo>
                  <a:pt x="267039" y="534078"/>
                </a:lnTo>
                <a:cubicBezTo>
                  <a:pt x="119656" y="534078"/>
                  <a:pt x="0" y="414422"/>
                  <a:pt x="0" y="267039"/>
                </a:cubicBezTo>
                <a:lnTo>
                  <a:pt x="0" y="267039"/>
                </a:lnTo>
                <a:cubicBezTo>
                  <a:pt x="0" y="119656"/>
                  <a:pt x="119656" y="0"/>
                  <a:pt x="267039" y="0"/>
                </a:cubicBezTo>
                <a:close/>
              </a:path>
            </a:pathLst>
          </a:custGeom>
          <a:solidFill>
            <a:srgbClr val="3A4D39"/>
          </a:solidFill>
          <a:ln/>
        </p:spPr>
      </p:sp>
      <p:sp>
        <p:nvSpPr>
          <p:cNvPr id="38" name="Shape 36"/>
          <p:cNvSpPr/>
          <p:nvPr/>
        </p:nvSpPr>
        <p:spPr>
          <a:xfrm>
            <a:off x="2252099" y="4339384"/>
            <a:ext cx="150209" cy="200279"/>
          </a:xfrm>
          <a:custGeom>
            <a:avLst/>
            <a:gdLst/>
            <a:ahLst/>
            <a:cxnLst/>
            <a:rect l="l" t="t" r="r" b="b"/>
            <a:pathLst>
              <a:path w="150209" h="200279">
                <a:moveTo>
                  <a:pt x="12517" y="0"/>
                </a:moveTo>
                <a:cubicBezTo>
                  <a:pt x="5594" y="0"/>
                  <a:pt x="0" y="5594"/>
                  <a:pt x="0" y="12517"/>
                </a:cubicBezTo>
                <a:cubicBezTo>
                  <a:pt x="0" y="19441"/>
                  <a:pt x="5594" y="25035"/>
                  <a:pt x="12517" y="25035"/>
                </a:cubicBezTo>
                <a:lnTo>
                  <a:pt x="12517" y="29338"/>
                </a:lnTo>
                <a:cubicBezTo>
                  <a:pt x="12517" y="45923"/>
                  <a:pt x="19128" y="61844"/>
                  <a:pt x="30863" y="73579"/>
                </a:cubicBezTo>
                <a:lnTo>
                  <a:pt x="57424" y="100140"/>
                </a:lnTo>
                <a:lnTo>
                  <a:pt x="30863" y="126700"/>
                </a:lnTo>
                <a:cubicBezTo>
                  <a:pt x="19128" y="138435"/>
                  <a:pt x="12517" y="154356"/>
                  <a:pt x="12517" y="170941"/>
                </a:cubicBezTo>
                <a:lnTo>
                  <a:pt x="12517" y="175244"/>
                </a:lnTo>
                <a:cubicBezTo>
                  <a:pt x="5594" y="175244"/>
                  <a:pt x="0" y="180838"/>
                  <a:pt x="0" y="187762"/>
                </a:cubicBezTo>
                <a:cubicBezTo>
                  <a:pt x="0" y="194686"/>
                  <a:pt x="5594" y="200279"/>
                  <a:pt x="12517" y="200279"/>
                </a:cubicBezTo>
                <a:lnTo>
                  <a:pt x="137692" y="200279"/>
                </a:lnTo>
                <a:cubicBezTo>
                  <a:pt x="144616" y="200279"/>
                  <a:pt x="150209" y="194686"/>
                  <a:pt x="150209" y="187762"/>
                </a:cubicBezTo>
                <a:cubicBezTo>
                  <a:pt x="150209" y="180838"/>
                  <a:pt x="144616" y="175244"/>
                  <a:pt x="137692" y="175244"/>
                </a:cubicBezTo>
                <a:lnTo>
                  <a:pt x="137692" y="170941"/>
                </a:lnTo>
                <a:cubicBezTo>
                  <a:pt x="137692" y="154356"/>
                  <a:pt x="131081" y="138435"/>
                  <a:pt x="119346" y="126700"/>
                </a:cubicBezTo>
                <a:lnTo>
                  <a:pt x="92786" y="100140"/>
                </a:lnTo>
                <a:lnTo>
                  <a:pt x="119346" y="73579"/>
                </a:lnTo>
                <a:cubicBezTo>
                  <a:pt x="131081" y="61844"/>
                  <a:pt x="137692" y="45923"/>
                  <a:pt x="137692" y="29338"/>
                </a:cubicBezTo>
                <a:lnTo>
                  <a:pt x="137692" y="25035"/>
                </a:lnTo>
                <a:cubicBezTo>
                  <a:pt x="144616" y="25035"/>
                  <a:pt x="150209" y="19441"/>
                  <a:pt x="150209" y="12517"/>
                </a:cubicBezTo>
                <a:cubicBezTo>
                  <a:pt x="150209" y="5594"/>
                  <a:pt x="144616" y="0"/>
                  <a:pt x="137692" y="0"/>
                </a:cubicBezTo>
                <a:lnTo>
                  <a:pt x="12517" y="0"/>
                </a:lnTo>
                <a:close/>
                <a:moveTo>
                  <a:pt x="112657" y="170941"/>
                </a:moveTo>
                <a:lnTo>
                  <a:pt x="112657" y="175244"/>
                </a:lnTo>
                <a:lnTo>
                  <a:pt x="37552" y="175244"/>
                </a:lnTo>
                <a:lnTo>
                  <a:pt x="37552" y="170941"/>
                </a:lnTo>
                <a:cubicBezTo>
                  <a:pt x="37552" y="160967"/>
                  <a:pt x="41503" y="151422"/>
                  <a:pt x="48544" y="144381"/>
                </a:cubicBezTo>
                <a:lnTo>
                  <a:pt x="75105" y="117821"/>
                </a:lnTo>
                <a:lnTo>
                  <a:pt x="101665" y="144381"/>
                </a:lnTo>
                <a:cubicBezTo>
                  <a:pt x="108706" y="151422"/>
                  <a:pt x="112657" y="160967"/>
                  <a:pt x="112657" y="170941"/>
                </a:cubicBezTo>
                <a:close/>
              </a:path>
            </a:pathLst>
          </a:custGeom>
          <a:solidFill>
            <a:srgbClr val="F8F6F2"/>
          </a:solidFill>
          <a:ln/>
        </p:spPr>
      </p:sp>
      <p:sp>
        <p:nvSpPr>
          <p:cNvPr id="39" name="Text 37"/>
          <p:cNvSpPr/>
          <p:nvPr/>
        </p:nvSpPr>
        <p:spPr>
          <a:xfrm>
            <a:off x="563285" y="4773322"/>
            <a:ext cx="3529922" cy="233659"/>
          </a:xfrm>
          <a:prstGeom prst="rect">
            <a:avLst/>
          </a:prstGeom>
          <a:noFill/>
          <a:ln/>
        </p:spPr>
        <p:txBody>
          <a:bodyPr wrap="square" lIns="0" tIns="0" rIns="0" bIns="0" rtlCol="0" anchor="ctr"/>
          <a:lstStyle/>
          <a:p>
            <a:pPr algn="ctr">
              <a:lnSpc>
                <a:spcPct val="130000"/>
              </a:lnSpc>
            </a:pPr>
            <a:r>
              <a:rPr lang="en-US" sz="1183" b="1" dirty="0">
                <a:solidFill>
                  <a:srgbClr val="3A4D39"/>
                </a:solidFill>
                <a:latin typeface="Unna" pitchFamily="34" charset="0"/>
                <a:ea typeface="Unna" pitchFamily="34" charset="-122"/>
                <a:cs typeface="Unna" pitchFamily="34" charset="-120"/>
              </a:rPr>
              <a:t>Temporal Scope</a:t>
            </a:r>
            <a:endParaRPr lang="en-US" sz="1600" dirty="0"/>
          </a:p>
        </p:txBody>
      </p:sp>
      <p:sp>
        <p:nvSpPr>
          <p:cNvPr id="40" name="Text 38"/>
          <p:cNvSpPr/>
          <p:nvPr/>
        </p:nvSpPr>
        <p:spPr>
          <a:xfrm>
            <a:off x="567458" y="5040361"/>
            <a:ext cx="3521577" cy="400559"/>
          </a:xfrm>
          <a:prstGeom prst="rect">
            <a:avLst/>
          </a:prstGeom>
          <a:noFill/>
          <a:ln/>
        </p:spPr>
        <p:txBody>
          <a:bodyPr wrap="square" lIns="0" tIns="0" rIns="0" bIns="0" rtlCol="0" anchor="ctr"/>
          <a:lstStyle/>
          <a:p>
            <a:pPr algn="ctr">
              <a:lnSpc>
                <a:spcPct val="130000"/>
              </a:lnSpc>
            </a:pPr>
            <a:r>
              <a:rPr lang="en-US" sz="1051" dirty="0">
                <a:solidFill>
                  <a:srgbClr val="2C2C2C"/>
                </a:solidFill>
                <a:latin typeface="Quattrocento Sans" pitchFamily="34" charset="0"/>
                <a:ea typeface="Quattrocento Sans" pitchFamily="34" charset="-122"/>
                <a:cs typeface="Quattrocento Sans" pitchFamily="34" charset="-120"/>
              </a:rPr>
              <a:t>One complete 8-month growing season from planting to plant termination</a:t>
            </a:r>
            <a:endParaRPr lang="en-US" sz="1600" dirty="0"/>
          </a:p>
        </p:txBody>
      </p:sp>
      <p:sp>
        <p:nvSpPr>
          <p:cNvPr id="41" name="Shape 39"/>
          <p:cNvSpPr/>
          <p:nvPr/>
        </p:nvSpPr>
        <p:spPr>
          <a:xfrm>
            <a:off x="4287358" y="4072345"/>
            <a:ext cx="3655097" cy="1468715"/>
          </a:xfrm>
          <a:custGeom>
            <a:avLst/>
            <a:gdLst/>
            <a:ahLst/>
            <a:cxnLst/>
            <a:rect l="l" t="t" r="r" b="b"/>
            <a:pathLst>
              <a:path w="3655097" h="1468715">
                <a:moveTo>
                  <a:pt x="66753" y="0"/>
                </a:moveTo>
                <a:lnTo>
                  <a:pt x="3588343" y="0"/>
                </a:lnTo>
                <a:cubicBezTo>
                  <a:pt x="3625210" y="0"/>
                  <a:pt x="3655097" y="29886"/>
                  <a:pt x="3655097" y="66753"/>
                </a:cubicBezTo>
                <a:lnTo>
                  <a:pt x="3655097" y="1401962"/>
                </a:lnTo>
                <a:cubicBezTo>
                  <a:pt x="3655097" y="1438828"/>
                  <a:pt x="3625210" y="1468715"/>
                  <a:pt x="3588343" y="1468715"/>
                </a:cubicBezTo>
                <a:lnTo>
                  <a:pt x="66753" y="1468715"/>
                </a:lnTo>
                <a:cubicBezTo>
                  <a:pt x="29886" y="1468715"/>
                  <a:pt x="0" y="1438828"/>
                  <a:pt x="0" y="1401962"/>
                </a:cubicBezTo>
                <a:lnTo>
                  <a:pt x="0" y="66753"/>
                </a:lnTo>
                <a:cubicBezTo>
                  <a:pt x="0" y="29911"/>
                  <a:pt x="29911" y="0"/>
                  <a:pt x="66753" y="0"/>
                </a:cubicBezTo>
                <a:close/>
              </a:path>
            </a:pathLst>
          </a:custGeom>
          <a:solidFill>
            <a:srgbClr val="F8F6F2"/>
          </a:solidFill>
          <a:ln/>
        </p:spPr>
      </p:sp>
      <p:sp>
        <p:nvSpPr>
          <p:cNvPr id="42" name="Shape 40"/>
          <p:cNvSpPr/>
          <p:nvPr/>
        </p:nvSpPr>
        <p:spPr>
          <a:xfrm>
            <a:off x="5846955" y="4172485"/>
            <a:ext cx="534078" cy="534078"/>
          </a:xfrm>
          <a:custGeom>
            <a:avLst/>
            <a:gdLst/>
            <a:ahLst/>
            <a:cxnLst/>
            <a:rect l="l" t="t" r="r" b="b"/>
            <a:pathLst>
              <a:path w="534078" h="534078">
                <a:moveTo>
                  <a:pt x="267039" y="0"/>
                </a:moveTo>
                <a:lnTo>
                  <a:pt x="267039" y="0"/>
                </a:lnTo>
                <a:cubicBezTo>
                  <a:pt x="414422" y="0"/>
                  <a:pt x="534078" y="119656"/>
                  <a:pt x="534078" y="267039"/>
                </a:cubicBezTo>
                <a:lnTo>
                  <a:pt x="534078" y="267039"/>
                </a:lnTo>
                <a:cubicBezTo>
                  <a:pt x="534078" y="414422"/>
                  <a:pt x="414422" y="534078"/>
                  <a:pt x="267039" y="534078"/>
                </a:cubicBezTo>
                <a:lnTo>
                  <a:pt x="267039" y="534078"/>
                </a:lnTo>
                <a:cubicBezTo>
                  <a:pt x="119656" y="534078"/>
                  <a:pt x="0" y="414422"/>
                  <a:pt x="0" y="267039"/>
                </a:cubicBezTo>
                <a:lnTo>
                  <a:pt x="0" y="267039"/>
                </a:lnTo>
                <a:cubicBezTo>
                  <a:pt x="0" y="119656"/>
                  <a:pt x="119656" y="0"/>
                  <a:pt x="267039" y="0"/>
                </a:cubicBezTo>
                <a:close/>
              </a:path>
            </a:pathLst>
          </a:custGeom>
          <a:solidFill>
            <a:srgbClr val="7A6250"/>
          </a:solidFill>
          <a:ln/>
        </p:spPr>
      </p:sp>
      <p:sp>
        <p:nvSpPr>
          <p:cNvPr id="43" name="Shape 41"/>
          <p:cNvSpPr/>
          <p:nvPr/>
        </p:nvSpPr>
        <p:spPr>
          <a:xfrm>
            <a:off x="6026372" y="4339384"/>
            <a:ext cx="175244" cy="200279"/>
          </a:xfrm>
          <a:custGeom>
            <a:avLst/>
            <a:gdLst/>
            <a:ahLst/>
            <a:cxnLst/>
            <a:rect l="l" t="t" r="r" b="b"/>
            <a:pathLst>
              <a:path w="175244" h="200279">
                <a:moveTo>
                  <a:pt x="75105" y="50070"/>
                </a:moveTo>
                <a:cubicBezTo>
                  <a:pt x="75105" y="29344"/>
                  <a:pt x="58278" y="12517"/>
                  <a:pt x="37552" y="12517"/>
                </a:cubicBezTo>
                <a:cubicBezTo>
                  <a:pt x="16827" y="12517"/>
                  <a:pt x="0" y="29344"/>
                  <a:pt x="0" y="50070"/>
                </a:cubicBezTo>
                <a:cubicBezTo>
                  <a:pt x="0" y="70796"/>
                  <a:pt x="16827" y="87622"/>
                  <a:pt x="37552" y="87622"/>
                </a:cubicBezTo>
                <a:cubicBezTo>
                  <a:pt x="58278" y="87622"/>
                  <a:pt x="75105" y="70796"/>
                  <a:pt x="75105" y="50070"/>
                </a:cubicBezTo>
                <a:close/>
                <a:moveTo>
                  <a:pt x="175244" y="150209"/>
                </a:moveTo>
                <a:cubicBezTo>
                  <a:pt x="175244" y="129484"/>
                  <a:pt x="158418" y="112657"/>
                  <a:pt x="137692" y="112657"/>
                </a:cubicBezTo>
                <a:cubicBezTo>
                  <a:pt x="116966" y="112657"/>
                  <a:pt x="100140" y="129484"/>
                  <a:pt x="100140" y="150209"/>
                </a:cubicBezTo>
                <a:cubicBezTo>
                  <a:pt x="100140" y="170935"/>
                  <a:pt x="116966" y="187762"/>
                  <a:pt x="137692" y="187762"/>
                </a:cubicBezTo>
                <a:cubicBezTo>
                  <a:pt x="158418" y="187762"/>
                  <a:pt x="175244" y="170935"/>
                  <a:pt x="175244" y="150209"/>
                </a:cubicBezTo>
                <a:close/>
                <a:moveTo>
                  <a:pt x="171567" y="33875"/>
                </a:moveTo>
                <a:cubicBezTo>
                  <a:pt x="176457" y="28986"/>
                  <a:pt x="176457" y="21045"/>
                  <a:pt x="171567" y="16155"/>
                </a:cubicBezTo>
                <a:cubicBezTo>
                  <a:pt x="166678" y="11266"/>
                  <a:pt x="158737" y="11266"/>
                  <a:pt x="153847" y="16155"/>
                </a:cubicBezTo>
                <a:lnTo>
                  <a:pt x="3638" y="166365"/>
                </a:lnTo>
                <a:cubicBezTo>
                  <a:pt x="-1252" y="171254"/>
                  <a:pt x="-1252" y="179195"/>
                  <a:pt x="3638" y="184085"/>
                </a:cubicBezTo>
                <a:cubicBezTo>
                  <a:pt x="8528" y="188974"/>
                  <a:pt x="16468" y="188974"/>
                  <a:pt x="21358" y="184085"/>
                </a:cubicBezTo>
                <a:lnTo>
                  <a:pt x="171567" y="33875"/>
                </a:lnTo>
                <a:close/>
              </a:path>
            </a:pathLst>
          </a:custGeom>
          <a:solidFill>
            <a:srgbClr val="F8F6F2"/>
          </a:solidFill>
          <a:ln/>
        </p:spPr>
      </p:sp>
      <p:sp>
        <p:nvSpPr>
          <p:cNvPr id="44" name="Text 42"/>
          <p:cNvSpPr/>
          <p:nvPr/>
        </p:nvSpPr>
        <p:spPr>
          <a:xfrm>
            <a:off x="4349946" y="4773322"/>
            <a:ext cx="3529922" cy="233659"/>
          </a:xfrm>
          <a:prstGeom prst="rect">
            <a:avLst/>
          </a:prstGeom>
          <a:noFill/>
          <a:ln/>
        </p:spPr>
        <p:txBody>
          <a:bodyPr wrap="square" lIns="0" tIns="0" rIns="0" bIns="0" rtlCol="0" anchor="ctr"/>
          <a:lstStyle/>
          <a:p>
            <a:pPr algn="ctr">
              <a:lnSpc>
                <a:spcPct val="130000"/>
              </a:lnSpc>
            </a:pPr>
            <a:r>
              <a:rPr lang="en-US" sz="1183" b="1" dirty="0">
                <a:solidFill>
                  <a:srgbClr val="3A4D39"/>
                </a:solidFill>
                <a:latin typeface="Unna" pitchFamily="34" charset="0"/>
                <a:ea typeface="Unna" pitchFamily="34" charset="-122"/>
                <a:cs typeface="Unna" pitchFamily="34" charset="-120"/>
              </a:rPr>
              <a:t>Profit Sharing</a:t>
            </a:r>
            <a:endParaRPr lang="en-US" sz="1600" dirty="0"/>
          </a:p>
        </p:txBody>
      </p:sp>
      <p:sp>
        <p:nvSpPr>
          <p:cNvPr id="45" name="Text 43"/>
          <p:cNvSpPr/>
          <p:nvPr/>
        </p:nvSpPr>
        <p:spPr>
          <a:xfrm>
            <a:off x="4354118" y="5040361"/>
            <a:ext cx="3521577" cy="400559"/>
          </a:xfrm>
          <a:prstGeom prst="rect">
            <a:avLst/>
          </a:prstGeom>
          <a:noFill/>
          <a:ln/>
        </p:spPr>
        <p:txBody>
          <a:bodyPr wrap="square" lIns="0" tIns="0" rIns="0" bIns="0" rtlCol="0" anchor="ctr"/>
          <a:lstStyle/>
          <a:p>
            <a:pPr algn="ctr">
              <a:lnSpc>
                <a:spcPct val="130000"/>
              </a:lnSpc>
            </a:pPr>
            <a:r>
              <a:rPr lang="en-US" sz="1051" dirty="0">
                <a:solidFill>
                  <a:srgbClr val="2C2C2C"/>
                </a:solidFill>
                <a:latin typeface="Quattrocento Sans" pitchFamily="34" charset="0"/>
                <a:ea typeface="Quattrocento Sans" pitchFamily="34" charset="-122"/>
                <a:cs typeface="Quattrocento Sans" pitchFamily="34" charset="-120"/>
              </a:rPr>
              <a:t>All partners share profits proportional to their investment percentage</a:t>
            </a:r>
            <a:endParaRPr lang="en-US" sz="1600" dirty="0"/>
          </a:p>
        </p:txBody>
      </p:sp>
      <p:sp>
        <p:nvSpPr>
          <p:cNvPr id="46" name="Shape 44"/>
          <p:cNvSpPr/>
          <p:nvPr/>
        </p:nvSpPr>
        <p:spPr>
          <a:xfrm>
            <a:off x="8074149" y="4072345"/>
            <a:ext cx="3655097" cy="1468715"/>
          </a:xfrm>
          <a:custGeom>
            <a:avLst/>
            <a:gdLst/>
            <a:ahLst/>
            <a:cxnLst/>
            <a:rect l="l" t="t" r="r" b="b"/>
            <a:pathLst>
              <a:path w="3655097" h="1468715">
                <a:moveTo>
                  <a:pt x="66753" y="0"/>
                </a:moveTo>
                <a:lnTo>
                  <a:pt x="3588343" y="0"/>
                </a:lnTo>
                <a:cubicBezTo>
                  <a:pt x="3625210" y="0"/>
                  <a:pt x="3655097" y="29886"/>
                  <a:pt x="3655097" y="66753"/>
                </a:cubicBezTo>
                <a:lnTo>
                  <a:pt x="3655097" y="1401962"/>
                </a:lnTo>
                <a:cubicBezTo>
                  <a:pt x="3655097" y="1438828"/>
                  <a:pt x="3625210" y="1468715"/>
                  <a:pt x="3588343" y="1468715"/>
                </a:cubicBezTo>
                <a:lnTo>
                  <a:pt x="66753" y="1468715"/>
                </a:lnTo>
                <a:cubicBezTo>
                  <a:pt x="29886" y="1468715"/>
                  <a:pt x="0" y="1438828"/>
                  <a:pt x="0" y="1401962"/>
                </a:cubicBezTo>
                <a:lnTo>
                  <a:pt x="0" y="66753"/>
                </a:lnTo>
                <a:cubicBezTo>
                  <a:pt x="0" y="29911"/>
                  <a:pt x="29911" y="0"/>
                  <a:pt x="66753" y="0"/>
                </a:cubicBezTo>
                <a:close/>
              </a:path>
            </a:pathLst>
          </a:custGeom>
          <a:solidFill>
            <a:srgbClr val="F8F6F2"/>
          </a:solidFill>
          <a:ln/>
        </p:spPr>
      </p:sp>
      <p:sp>
        <p:nvSpPr>
          <p:cNvPr id="47" name="Shape 45"/>
          <p:cNvSpPr/>
          <p:nvPr/>
        </p:nvSpPr>
        <p:spPr>
          <a:xfrm>
            <a:off x="9633745" y="4172485"/>
            <a:ext cx="534078" cy="534078"/>
          </a:xfrm>
          <a:custGeom>
            <a:avLst/>
            <a:gdLst/>
            <a:ahLst/>
            <a:cxnLst/>
            <a:rect l="l" t="t" r="r" b="b"/>
            <a:pathLst>
              <a:path w="534078" h="534078">
                <a:moveTo>
                  <a:pt x="267039" y="0"/>
                </a:moveTo>
                <a:lnTo>
                  <a:pt x="267039" y="0"/>
                </a:lnTo>
                <a:cubicBezTo>
                  <a:pt x="414422" y="0"/>
                  <a:pt x="534078" y="119656"/>
                  <a:pt x="534078" y="267039"/>
                </a:cubicBezTo>
                <a:lnTo>
                  <a:pt x="534078" y="267039"/>
                </a:lnTo>
                <a:cubicBezTo>
                  <a:pt x="534078" y="414422"/>
                  <a:pt x="414422" y="534078"/>
                  <a:pt x="267039" y="534078"/>
                </a:cubicBezTo>
                <a:lnTo>
                  <a:pt x="267039" y="534078"/>
                </a:lnTo>
                <a:cubicBezTo>
                  <a:pt x="119656" y="534078"/>
                  <a:pt x="0" y="414422"/>
                  <a:pt x="0" y="267039"/>
                </a:cubicBezTo>
                <a:lnTo>
                  <a:pt x="0" y="267039"/>
                </a:lnTo>
                <a:cubicBezTo>
                  <a:pt x="0" y="119656"/>
                  <a:pt x="119656" y="0"/>
                  <a:pt x="267039" y="0"/>
                </a:cubicBezTo>
                <a:close/>
              </a:path>
            </a:pathLst>
          </a:custGeom>
          <a:solidFill>
            <a:srgbClr val="3A4D39"/>
          </a:solidFill>
          <a:ln/>
        </p:spPr>
      </p:sp>
      <p:sp>
        <p:nvSpPr>
          <p:cNvPr id="48" name="Shape 46"/>
          <p:cNvSpPr/>
          <p:nvPr/>
        </p:nvSpPr>
        <p:spPr>
          <a:xfrm>
            <a:off x="9775610" y="4339384"/>
            <a:ext cx="250349" cy="200279"/>
          </a:xfrm>
          <a:custGeom>
            <a:avLst/>
            <a:gdLst/>
            <a:ahLst/>
            <a:cxnLst/>
            <a:rect l="l" t="t" r="r" b="b"/>
            <a:pathLst>
              <a:path w="250349" h="200279">
                <a:moveTo>
                  <a:pt x="150209" y="12517"/>
                </a:moveTo>
                <a:lnTo>
                  <a:pt x="200279" y="12517"/>
                </a:lnTo>
                <a:cubicBezTo>
                  <a:pt x="207203" y="12517"/>
                  <a:pt x="212797" y="18111"/>
                  <a:pt x="212797" y="25035"/>
                </a:cubicBezTo>
                <a:cubicBezTo>
                  <a:pt x="212797" y="31959"/>
                  <a:pt x="207203" y="37552"/>
                  <a:pt x="200279" y="37552"/>
                </a:cubicBezTo>
                <a:lnTo>
                  <a:pt x="155842" y="37552"/>
                </a:lnTo>
                <a:cubicBezTo>
                  <a:pt x="153808" y="47645"/>
                  <a:pt x="146884" y="55976"/>
                  <a:pt x="137692" y="59966"/>
                </a:cubicBezTo>
                <a:lnTo>
                  <a:pt x="137692" y="175244"/>
                </a:lnTo>
                <a:lnTo>
                  <a:pt x="200279" y="175244"/>
                </a:lnTo>
                <a:cubicBezTo>
                  <a:pt x="207203" y="175244"/>
                  <a:pt x="212797" y="180838"/>
                  <a:pt x="212797" y="187762"/>
                </a:cubicBezTo>
                <a:cubicBezTo>
                  <a:pt x="212797" y="194686"/>
                  <a:pt x="207203" y="200279"/>
                  <a:pt x="200279" y="200279"/>
                </a:cubicBezTo>
                <a:lnTo>
                  <a:pt x="50070" y="200279"/>
                </a:lnTo>
                <a:cubicBezTo>
                  <a:pt x="43146" y="200279"/>
                  <a:pt x="37552" y="194686"/>
                  <a:pt x="37552" y="187762"/>
                </a:cubicBezTo>
                <a:cubicBezTo>
                  <a:pt x="37552" y="180838"/>
                  <a:pt x="43146" y="175244"/>
                  <a:pt x="50070" y="175244"/>
                </a:cubicBezTo>
                <a:lnTo>
                  <a:pt x="112657" y="175244"/>
                </a:lnTo>
                <a:lnTo>
                  <a:pt x="112657" y="59966"/>
                </a:lnTo>
                <a:cubicBezTo>
                  <a:pt x="103465" y="55937"/>
                  <a:pt x="96541" y="47605"/>
                  <a:pt x="94507" y="37552"/>
                </a:cubicBezTo>
                <a:lnTo>
                  <a:pt x="50070" y="37552"/>
                </a:lnTo>
                <a:cubicBezTo>
                  <a:pt x="43146" y="37552"/>
                  <a:pt x="37552" y="31959"/>
                  <a:pt x="37552" y="25035"/>
                </a:cubicBezTo>
                <a:cubicBezTo>
                  <a:pt x="37552" y="18111"/>
                  <a:pt x="43146" y="12517"/>
                  <a:pt x="50070" y="12517"/>
                </a:cubicBezTo>
                <a:lnTo>
                  <a:pt x="100140" y="12517"/>
                </a:lnTo>
                <a:cubicBezTo>
                  <a:pt x="105851" y="4929"/>
                  <a:pt x="114926" y="0"/>
                  <a:pt x="125175" y="0"/>
                </a:cubicBezTo>
                <a:cubicBezTo>
                  <a:pt x="135423" y="0"/>
                  <a:pt x="144498" y="4929"/>
                  <a:pt x="150209" y="12517"/>
                </a:cubicBezTo>
                <a:close/>
                <a:moveTo>
                  <a:pt x="171959" y="125175"/>
                </a:moveTo>
                <a:lnTo>
                  <a:pt x="228600" y="125175"/>
                </a:lnTo>
                <a:lnTo>
                  <a:pt x="200279" y="76591"/>
                </a:lnTo>
                <a:lnTo>
                  <a:pt x="171959" y="125175"/>
                </a:lnTo>
                <a:close/>
                <a:moveTo>
                  <a:pt x="200279" y="162727"/>
                </a:moveTo>
                <a:cubicBezTo>
                  <a:pt x="175675" y="162727"/>
                  <a:pt x="155216" y="149427"/>
                  <a:pt x="150992" y="131864"/>
                </a:cubicBezTo>
                <a:cubicBezTo>
                  <a:pt x="149975" y="127561"/>
                  <a:pt x="151383" y="123140"/>
                  <a:pt x="153613" y="119307"/>
                </a:cubicBezTo>
                <a:lnTo>
                  <a:pt x="190852" y="55468"/>
                </a:lnTo>
                <a:cubicBezTo>
                  <a:pt x="192808" y="52104"/>
                  <a:pt x="196407" y="50070"/>
                  <a:pt x="200279" y="50070"/>
                </a:cubicBezTo>
                <a:cubicBezTo>
                  <a:pt x="204152" y="50070"/>
                  <a:pt x="207751" y="52143"/>
                  <a:pt x="209706" y="55468"/>
                </a:cubicBezTo>
                <a:lnTo>
                  <a:pt x="246946" y="119307"/>
                </a:lnTo>
                <a:cubicBezTo>
                  <a:pt x="249176" y="123140"/>
                  <a:pt x="250584" y="127561"/>
                  <a:pt x="249567" y="131864"/>
                </a:cubicBezTo>
                <a:cubicBezTo>
                  <a:pt x="245342" y="149388"/>
                  <a:pt x="224884" y="162727"/>
                  <a:pt x="200279" y="162727"/>
                </a:cubicBezTo>
                <a:close/>
                <a:moveTo>
                  <a:pt x="49600" y="76591"/>
                </a:moveTo>
                <a:lnTo>
                  <a:pt x="21280" y="125175"/>
                </a:lnTo>
                <a:lnTo>
                  <a:pt x="77960" y="125175"/>
                </a:lnTo>
                <a:lnTo>
                  <a:pt x="49600" y="76591"/>
                </a:lnTo>
                <a:close/>
                <a:moveTo>
                  <a:pt x="352" y="131864"/>
                </a:moveTo>
                <a:cubicBezTo>
                  <a:pt x="-665" y="127561"/>
                  <a:pt x="743" y="123140"/>
                  <a:pt x="2973" y="119307"/>
                </a:cubicBezTo>
                <a:lnTo>
                  <a:pt x="40212" y="55468"/>
                </a:lnTo>
                <a:cubicBezTo>
                  <a:pt x="42168" y="52104"/>
                  <a:pt x="45767" y="50070"/>
                  <a:pt x="49640" y="50070"/>
                </a:cubicBezTo>
                <a:cubicBezTo>
                  <a:pt x="53512" y="50070"/>
                  <a:pt x="57111" y="52143"/>
                  <a:pt x="59067" y="55468"/>
                </a:cubicBezTo>
                <a:lnTo>
                  <a:pt x="96306" y="119307"/>
                </a:lnTo>
                <a:cubicBezTo>
                  <a:pt x="98536" y="123140"/>
                  <a:pt x="99944" y="127561"/>
                  <a:pt x="98927" y="131864"/>
                </a:cubicBezTo>
                <a:cubicBezTo>
                  <a:pt x="94702" y="149388"/>
                  <a:pt x="74244" y="162727"/>
                  <a:pt x="49640" y="162727"/>
                </a:cubicBezTo>
                <a:cubicBezTo>
                  <a:pt x="25035" y="162727"/>
                  <a:pt x="4577" y="149427"/>
                  <a:pt x="352" y="131864"/>
                </a:cubicBezTo>
                <a:close/>
              </a:path>
            </a:pathLst>
          </a:custGeom>
          <a:solidFill>
            <a:srgbClr val="F8F6F2"/>
          </a:solidFill>
          <a:ln/>
        </p:spPr>
      </p:sp>
      <p:sp>
        <p:nvSpPr>
          <p:cNvPr id="49" name="Text 47"/>
          <p:cNvSpPr/>
          <p:nvPr/>
        </p:nvSpPr>
        <p:spPr>
          <a:xfrm>
            <a:off x="8136736" y="4773322"/>
            <a:ext cx="3529922" cy="233659"/>
          </a:xfrm>
          <a:prstGeom prst="rect">
            <a:avLst/>
          </a:prstGeom>
          <a:noFill/>
          <a:ln/>
        </p:spPr>
        <p:txBody>
          <a:bodyPr wrap="square" lIns="0" tIns="0" rIns="0" bIns="0" rtlCol="0" anchor="ctr"/>
          <a:lstStyle/>
          <a:p>
            <a:pPr algn="ctr">
              <a:lnSpc>
                <a:spcPct val="130000"/>
              </a:lnSpc>
            </a:pPr>
            <a:r>
              <a:rPr lang="en-US" sz="1183" b="1" dirty="0">
                <a:solidFill>
                  <a:srgbClr val="3A4D39"/>
                </a:solidFill>
                <a:latin typeface="Unna" pitchFamily="34" charset="0"/>
                <a:ea typeface="Unna" pitchFamily="34" charset="-122"/>
                <a:cs typeface="Unna" pitchFamily="34" charset="-120"/>
              </a:rPr>
              <a:t>Binding Nature</a:t>
            </a:r>
            <a:endParaRPr lang="en-US" sz="1600" dirty="0"/>
          </a:p>
        </p:txBody>
      </p:sp>
      <p:sp>
        <p:nvSpPr>
          <p:cNvPr id="50" name="Text 48"/>
          <p:cNvSpPr/>
          <p:nvPr/>
        </p:nvSpPr>
        <p:spPr>
          <a:xfrm>
            <a:off x="8140909" y="5040361"/>
            <a:ext cx="3521577" cy="400559"/>
          </a:xfrm>
          <a:prstGeom prst="rect">
            <a:avLst/>
          </a:prstGeom>
          <a:noFill/>
          <a:ln/>
        </p:spPr>
        <p:txBody>
          <a:bodyPr wrap="square" lIns="0" tIns="0" rIns="0" bIns="0" rtlCol="0" anchor="ctr"/>
          <a:lstStyle/>
          <a:p>
            <a:pPr algn="ctr">
              <a:lnSpc>
                <a:spcPct val="130000"/>
              </a:lnSpc>
            </a:pPr>
            <a:r>
              <a:rPr lang="en-US" sz="1051" dirty="0">
                <a:solidFill>
                  <a:srgbClr val="2C2C2C"/>
                </a:solidFill>
                <a:latin typeface="Quattrocento Sans" pitchFamily="34" charset="0"/>
                <a:ea typeface="Quattrocento Sans" pitchFamily="34" charset="-122"/>
                <a:cs typeface="Quattrocento Sans" pitchFamily="34" charset="-120"/>
              </a:rPr>
              <a:t>Legally enforceable agreement under applicable jurisdiction's laws</a:t>
            </a:r>
            <a:endParaRPr lang="en-US" sz="1600" dirty="0"/>
          </a:p>
        </p:txBody>
      </p:sp>
      <p:sp>
        <p:nvSpPr>
          <p:cNvPr id="51" name="Shape 49"/>
          <p:cNvSpPr/>
          <p:nvPr/>
        </p:nvSpPr>
        <p:spPr>
          <a:xfrm>
            <a:off x="337971" y="5778891"/>
            <a:ext cx="11516057" cy="876222"/>
          </a:xfrm>
          <a:custGeom>
            <a:avLst/>
            <a:gdLst/>
            <a:ahLst/>
            <a:cxnLst/>
            <a:rect l="l" t="t" r="r" b="b"/>
            <a:pathLst>
              <a:path w="11516057" h="876222">
                <a:moveTo>
                  <a:pt x="66759" y="0"/>
                </a:moveTo>
                <a:lnTo>
                  <a:pt x="11449298" y="0"/>
                </a:lnTo>
                <a:cubicBezTo>
                  <a:pt x="11486168" y="0"/>
                  <a:pt x="11516057" y="29889"/>
                  <a:pt x="11516057" y="66759"/>
                </a:cubicBezTo>
                <a:lnTo>
                  <a:pt x="11516057" y="809462"/>
                </a:lnTo>
                <a:cubicBezTo>
                  <a:pt x="11516057" y="846333"/>
                  <a:pt x="11486168" y="876222"/>
                  <a:pt x="11449298" y="876222"/>
                </a:cubicBezTo>
                <a:lnTo>
                  <a:pt x="66759" y="876222"/>
                </a:lnTo>
                <a:cubicBezTo>
                  <a:pt x="29914" y="876222"/>
                  <a:pt x="0" y="846308"/>
                  <a:pt x="0" y="809462"/>
                </a:cubicBezTo>
                <a:lnTo>
                  <a:pt x="0" y="66759"/>
                </a:lnTo>
                <a:cubicBezTo>
                  <a:pt x="0" y="29914"/>
                  <a:pt x="29914" y="0"/>
                  <a:pt x="66759" y="0"/>
                </a:cubicBezTo>
                <a:close/>
              </a:path>
            </a:pathLst>
          </a:custGeom>
          <a:solidFill>
            <a:srgbClr val="BCA37F"/>
          </a:solidFill>
          <a:ln w="12700">
            <a:solidFill>
              <a:srgbClr val="BCA37F"/>
            </a:solidFill>
            <a:prstDash val="solid"/>
          </a:ln>
        </p:spPr>
      </p:sp>
      <p:sp>
        <p:nvSpPr>
          <p:cNvPr id="52" name="Shape 50"/>
          <p:cNvSpPr/>
          <p:nvPr/>
        </p:nvSpPr>
        <p:spPr>
          <a:xfrm>
            <a:off x="425593" y="5916583"/>
            <a:ext cx="166899" cy="166899"/>
          </a:xfrm>
          <a:custGeom>
            <a:avLst/>
            <a:gdLst/>
            <a:ahLst/>
            <a:cxnLst/>
            <a:rect l="l" t="t" r="r" b="b"/>
            <a:pathLst>
              <a:path w="166899" h="166899">
                <a:moveTo>
                  <a:pt x="83450" y="0"/>
                </a:moveTo>
                <a:cubicBezTo>
                  <a:pt x="88242" y="0"/>
                  <a:pt x="92642" y="2640"/>
                  <a:pt x="94924" y="6845"/>
                </a:cubicBezTo>
                <a:lnTo>
                  <a:pt x="165335" y="137236"/>
                </a:lnTo>
                <a:cubicBezTo>
                  <a:pt x="167519" y="141278"/>
                  <a:pt x="167421" y="146167"/>
                  <a:pt x="165074" y="150112"/>
                </a:cubicBezTo>
                <a:cubicBezTo>
                  <a:pt x="162727" y="154056"/>
                  <a:pt x="158457" y="156468"/>
                  <a:pt x="153860" y="156468"/>
                </a:cubicBezTo>
                <a:lnTo>
                  <a:pt x="13039" y="156468"/>
                </a:lnTo>
                <a:cubicBezTo>
                  <a:pt x="8443" y="156468"/>
                  <a:pt x="4205" y="154056"/>
                  <a:pt x="1825" y="150112"/>
                </a:cubicBezTo>
                <a:cubicBezTo>
                  <a:pt x="-554" y="146167"/>
                  <a:pt x="-619" y="141278"/>
                  <a:pt x="1565" y="137236"/>
                </a:cubicBezTo>
                <a:lnTo>
                  <a:pt x="71975" y="6845"/>
                </a:lnTo>
                <a:cubicBezTo>
                  <a:pt x="74257" y="2640"/>
                  <a:pt x="78658" y="0"/>
                  <a:pt x="83450" y="0"/>
                </a:cubicBezTo>
                <a:close/>
                <a:moveTo>
                  <a:pt x="83450" y="54764"/>
                </a:moveTo>
                <a:cubicBezTo>
                  <a:pt x="79114" y="54764"/>
                  <a:pt x="75626" y="58252"/>
                  <a:pt x="75626" y="62587"/>
                </a:cubicBezTo>
                <a:lnTo>
                  <a:pt x="75626" y="99097"/>
                </a:lnTo>
                <a:cubicBezTo>
                  <a:pt x="75626" y="103432"/>
                  <a:pt x="79114" y="106920"/>
                  <a:pt x="83450" y="106920"/>
                </a:cubicBezTo>
                <a:cubicBezTo>
                  <a:pt x="87785" y="106920"/>
                  <a:pt x="91273" y="103432"/>
                  <a:pt x="91273" y="99097"/>
                </a:cubicBezTo>
                <a:lnTo>
                  <a:pt x="91273" y="62587"/>
                </a:lnTo>
                <a:cubicBezTo>
                  <a:pt x="91273" y="58252"/>
                  <a:pt x="87785" y="54764"/>
                  <a:pt x="83450" y="54764"/>
                </a:cubicBezTo>
                <a:close/>
                <a:moveTo>
                  <a:pt x="92153" y="125175"/>
                </a:moveTo>
                <a:cubicBezTo>
                  <a:pt x="92351" y="121944"/>
                  <a:pt x="90740" y="118870"/>
                  <a:pt x="87971" y="117195"/>
                </a:cubicBezTo>
                <a:cubicBezTo>
                  <a:pt x="85201" y="115520"/>
                  <a:pt x="81731" y="115520"/>
                  <a:pt x="78961" y="117195"/>
                </a:cubicBezTo>
                <a:cubicBezTo>
                  <a:pt x="76192" y="118870"/>
                  <a:pt x="74581" y="121944"/>
                  <a:pt x="74779" y="125175"/>
                </a:cubicBezTo>
                <a:cubicBezTo>
                  <a:pt x="74581" y="128405"/>
                  <a:pt x="76192" y="131479"/>
                  <a:pt x="78961" y="133154"/>
                </a:cubicBezTo>
                <a:cubicBezTo>
                  <a:pt x="81731" y="134829"/>
                  <a:pt x="85201" y="134829"/>
                  <a:pt x="87971" y="133154"/>
                </a:cubicBezTo>
                <a:cubicBezTo>
                  <a:pt x="90740" y="131479"/>
                  <a:pt x="92351" y="128405"/>
                  <a:pt x="92153" y="125175"/>
                </a:cubicBezTo>
                <a:close/>
              </a:path>
            </a:pathLst>
          </a:custGeom>
          <a:solidFill>
            <a:srgbClr val="7A6250"/>
          </a:solidFill>
          <a:ln/>
        </p:spPr>
      </p:sp>
      <p:sp>
        <p:nvSpPr>
          <p:cNvPr id="53" name="Text 51"/>
          <p:cNvSpPr/>
          <p:nvPr/>
        </p:nvSpPr>
        <p:spPr>
          <a:xfrm>
            <a:off x="672292" y="5883203"/>
            <a:ext cx="11157224" cy="233659"/>
          </a:xfrm>
          <a:prstGeom prst="rect">
            <a:avLst/>
          </a:prstGeom>
          <a:noFill/>
          <a:ln/>
        </p:spPr>
        <p:txBody>
          <a:bodyPr wrap="square" lIns="0" tIns="0" rIns="0" bIns="0" rtlCol="0" anchor="ctr"/>
          <a:lstStyle/>
          <a:p>
            <a:pPr>
              <a:lnSpc>
                <a:spcPct val="130000"/>
              </a:lnSpc>
            </a:pPr>
            <a:r>
              <a:rPr lang="en-US" sz="1183" b="1" dirty="0">
                <a:solidFill>
                  <a:srgbClr val="3A4D39"/>
                </a:solidFill>
                <a:latin typeface="Unna" pitchFamily="34" charset="0"/>
                <a:ea typeface="Unna" pitchFamily="34" charset="-122"/>
                <a:cs typeface="Unna" pitchFamily="34" charset="-120"/>
              </a:rPr>
              <a:t>Joint Venture Acknowledgment</a:t>
            </a:r>
            <a:endParaRPr lang="en-US" sz="1600" dirty="0"/>
          </a:p>
        </p:txBody>
      </p:sp>
      <p:sp>
        <p:nvSpPr>
          <p:cNvPr id="54" name="Text 52"/>
          <p:cNvSpPr/>
          <p:nvPr/>
        </p:nvSpPr>
        <p:spPr>
          <a:xfrm>
            <a:off x="672292" y="6150242"/>
            <a:ext cx="11148879" cy="400559"/>
          </a:xfrm>
          <a:prstGeom prst="rect">
            <a:avLst/>
          </a:prstGeom>
          <a:noFill/>
          <a:ln/>
        </p:spPr>
        <p:txBody>
          <a:bodyPr wrap="square" lIns="0" tIns="0" rIns="0" bIns="0" rtlCol="0" anchor="ctr"/>
          <a:lstStyle/>
          <a:p>
            <a:pPr>
              <a:lnSpc>
                <a:spcPct val="130000"/>
              </a:lnSpc>
            </a:pPr>
            <a:r>
              <a:rPr lang="en-US" sz="1051" dirty="0">
                <a:solidFill>
                  <a:srgbClr val="2C2C2C"/>
                </a:solidFill>
                <a:latin typeface="Quattrocento Sans" pitchFamily="34" charset="0"/>
                <a:ea typeface="Quattrocento Sans" pitchFamily="34" charset="-122"/>
                <a:cs typeface="Quattrocento Sans" pitchFamily="34" charset="-120"/>
              </a:rPr>
              <a:t>All partners acknowledge they are entering into a joint business venture with shared risks and rewards. Agricultural enterprises are inherently subject to risks including weather, pests, diseases, and market fluctuations. Partners agree to share both profits and losses according to their ownership percentages as defined in this agreement.</a:t>
            </a:r>
            <a:endParaRPr lang="en-US" sz="1600" dirty="0"/>
          </a:p>
        </p:txBody>
      </p:sp>
    </p:spTree>
  </p:cSld>
  <p:clrMapOvr>
    <a:masterClrMapping/>
  </p:clrMapOvr>
  <p:transition>
    <p:fade/>
    <p:spd val="med"/>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6F2"/>
        </a:solidFill>
      </p:bgPr>
    </p:bg>
    <p:spTree>
      <p:nvGrpSpPr>
        <p:cNvPr id="1" name=""/>
        <p:cNvGrpSpPr/>
        <p:nvPr/>
      </p:nvGrpSpPr>
      <p:grpSpPr>
        <a:xfrm>
          <a:off x="0" y="0"/>
          <a:ext cx="0" cy="0"/>
          <a:chOff x="0" y="0"/>
          <a:chExt cx="0" cy="0"/>
        </a:xfrm>
      </p:grpSpPr>
      <p:sp>
        <p:nvSpPr>
          <p:cNvPr id="2" name="Shape 0"/>
          <p:cNvSpPr/>
          <p:nvPr/>
        </p:nvSpPr>
        <p:spPr>
          <a:xfrm>
            <a:off x="375138" y="375138"/>
            <a:ext cx="375138" cy="375138"/>
          </a:xfrm>
          <a:custGeom>
            <a:avLst/>
            <a:gdLst/>
            <a:ahLst/>
            <a:cxnLst/>
            <a:rect l="l" t="t" r="r" b="b"/>
            <a:pathLst>
              <a:path w="375138" h="375138">
                <a:moveTo>
                  <a:pt x="37514" y="0"/>
                </a:moveTo>
                <a:lnTo>
                  <a:pt x="337625" y="0"/>
                </a:lnTo>
                <a:cubicBezTo>
                  <a:pt x="358343" y="0"/>
                  <a:pt x="375138" y="16796"/>
                  <a:pt x="375138" y="37514"/>
                </a:cubicBezTo>
                <a:lnTo>
                  <a:pt x="375138" y="337625"/>
                </a:lnTo>
                <a:cubicBezTo>
                  <a:pt x="375138" y="358343"/>
                  <a:pt x="358343" y="375138"/>
                  <a:pt x="337625" y="375138"/>
                </a:cubicBezTo>
                <a:lnTo>
                  <a:pt x="37514" y="375138"/>
                </a:lnTo>
                <a:cubicBezTo>
                  <a:pt x="16796" y="375138"/>
                  <a:pt x="0" y="358343"/>
                  <a:pt x="0" y="337625"/>
                </a:cubicBezTo>
                <a:lnTo>
                  <a:pt x="0" y="37514"/>
                </a:lnTo>
                <a:cubicBezTo>
                  <a:pt x="0" y="16809"/>
                  <a:pt x="16809" y="0"/>
                  <a:pt x="37514" y="0"/>
                </a:cubicBezTo>
                <a:close/>
              </a:path>
            </a:pathLst>
          </a:custGeom>
          <a:solidFill>
            <a:srgbClr val="7A6250"/>
          </a:solidFill>
          <a:ln/>
        </p:spPr>
      </p:sp>
      <p:sp>
        <p:nvSpPr>
          <p:cNvPr id="3" name="Text 1"/>
          <p:cNvSpPr/>
          <p:nvPr/>
        </p:nvSpPr>
        <p:spPr>
          <a:xfrm>
            <a:off x="510833" y="431409"/>
            <a:ext cx="196948" cy="262597"/>
          </a:xfrm>
          <a:prstGeom prst="rect">
            <a:avLst/>
          </a:prstGeom>
          <a:noFill/>
          <a:ln/>
        </p:spPr>
        <p:txBody>
          <a:bodyPr wrap="square" lIns="0" tIns="0" rIns="0" bIns="0" rtlCol="0" anchor="ctr"/>
          <a:lstStyle/>
          <a:p>
            <a:pPr>
              <a:lnSpc>
                <a:spcPct val="120000"/>
              </a:lnSpc>
            </a:pPr>
            <a:r>
              <a:rPr lang="en-US" sz="1477" b="1" dirty="0">
                <a:solidFill>
                  <a:srgbClr val="F8F6F2"/>
                </a:solidFill>
                <a:latin typeface="Oranienbaum" pitchFamily="34" charset="0"/>
                <a:ea typeface="Oranienbaum" pitchFamily="34" charset="-122"/>
                <a:cs typeface="Oranienbaum" pitchFamily="34" charset="-120"/>
              </a:rPr>
              <a:t>4</a:t>
            </a:r>
            <a:endParaRPr lang="en-US" sz="1600" dirty="0"/>
          </a:p>
        </p:txBody>
      </p:sp>
      <p:sp>
        <p:nvSpPr>
          <p:cNvPr id="4" name="Text 2"/>
          <p:cNvSpPr/>
          <p:nvPr/>
        </p:nvSpPr>
        <p:spPr>
          <a:xfrm>
            <a:off x="862818" y="375138"/>
            <a:ext cx="4314092" cy="375138"/>
          </a:xfrm>
          <a:prstGeom prst="rect">
            <a:avLst/>
          </a:prstGeom>
          <a:noFill/>
          <a:ln/>
        </p:spPr>
        <p:txBody>
          <a:bodyPr wrap="square" lIns="0" tIns="0" rIns="0" bIns="0" rtlCol="0" anchor="ctr"/>
          <a:lstStyle/>
          <a:p>
            <a:pPr>
              <a:lnSpc>
                <a:spcPct val="90000"/>
              </a:lnSpc>
            </a:pPr>
            <a:r>
              <a:rPr lang="en-US" sz="2658" b="1" dirty="0">
                <a:solidFill>
                  <a:srgbClr val="3A4D39"/>
                </a:solidFill>
                <a:latin typeface="Oranienbaum" pitchFamily="34" charset="0"/>
                <a:ea typeface="Oranienbaum" pitchFamily="34" charset="-122"/>
                <a:cs typeface="Oranienbaum" pitchFamily="34" charset="-120"/>
              </a:rPr>
              <a:t>Partner Categories and Roles</a:t>
            </a:r>
            <a:endParaRPr lang="en-US" sz="1600" dirty="0"/>
          </a:p>
        </p:txBody>
      </p:sp>
      <p:sp>
        <p:nvSpPr>
          <p:cNvPr id="5" name="Shape 3"/>
          <p:cNvSpPr/>
          <p:nvPr/>
        </p:nvSpPr>
        <p:spPr>
          <a:xfrm>
            <a:off x="375138" y="825305"/>
            <a:ext cx="750277" cy="37514"/>
          </a:xfrm>
          <a:custGeom>
            <a:avLst/>
            <a:gdLst/>
            <a:ahLst/>
            <a:cxnLst/>
            <a:rect l="l" t="t" r="r" b="b"/>
            <a:pathLst>
              <a:path w="750277" h="37514">
                <a:moveTo>
                  <a:pt x="0" y="0"/>
                </a:moveTo>
                <a:lnTo>
                  <a:pt x="750277" y="0"/>
                </a:lnTo>
                <a:lnTo>
                  <a:pt x="750277" y="37514"/>
                </a:lnTo>
                <a:lnTo>
                  <a:pt x="0" y="37514"/>
                </a:lnTo>
                <a:lnTo>
                  <a:pt x="0" y="0"/>
                </a:lnTo>
                <a:close/>
              </a:path>
            </a:pathLst>
          </a:custGeom>
          <a:solidFill>
            <a:srgbClr val="BCA37F"/>
          </a:solidFill>
          <a:ln/>
        </p:spPr>
      </p:sp>
      <p:sp>
        <p:nvSpPr>
          <p:cNvPr id="6" name="Shape 4"/>
          <p:cNvSpPr/>
          <p:nvPr/>
        </p:nvSpPr>
        <p:spPr>
          <a:xfrm>
            <a:off x="375138" y="1012874"/>
            <a:ext cx="11441723" cy="2278966"/>
          </a:xfrm>
          <a:custGeom>
            <a:avLst/>
            <a:gdLst/>
            <a:ahLst/>
            <a:cxnLst/>
            <a:rect l="l" t="t" r="r" b="b"/>
            <a:pathLst>
              <a:path w="11441723" h="2278966">
                <a:moveTo>
                  <a:pt x="75024" y="0"/>
                </a:moveTo>
                <a:lnTo>
                  <a:pt x="11366700" y="0"/>
                </a:lnTo>
                <a:cubicBezTo>
                  <a:pt x="11408134" y="0"/>
                  <a:pt x="11441723" y="33589"/>
                  <a:pt x="11441723" y="75024"/>
                </a:cubicBezTo>
                <a:lnTo>
                  <a:pt x="11441723" y="2203943"/>
                </a:lnTo>
                <a:cubicBezTo>
                  <a:pt x="11441723" y="2245377"/>
                  <a:pt x="11408134" y="2278966"/>
                  <a:pt x="11366700" y="2278966"/>
                </a:cubicBezTo>
                <a:lnTo>
                  <a:pt x="75024" y="2278966"/>
                </a:lnTo>
                <a:cubicBezTo>
                  <a:pt x="33617" y="2278966"/>
                  <a:pt x="0" y="2245349"/>
                  <a:pt x="0" y="2203943"/>
                </a:cubicBezTo>
                <a:lnTo>
                  <a:pt x="0" y="75024"/>
                </a:lnTo>
                <a:cubicBezTo>
                  <a:pt x="0" y="33617"/>
                  <a:pt x="33617" y="0"/>
                  <a:pt x="75024" y="0"/>
                </a:cubicBezTo>
                <a:close/>
              </a:path>
            </a:pathLst>
          </a:custGeom>
          <a:solidFill>
            <a:srgbClr val="3A4D39"/>
          </a:solidFill>
          <a:ln/>
          <a:effectLst>
            <a:outerShdw sx="100000" sy="100000" kx="0" ky="0" algn="bl" rotWithShape="0" blurRad="56271" dist="37514" dir="5400000">
              <a:srgbClr val="000000">
                <a:alpha val="10196"/>
              </a:srgbClr>
            </a:outerShdw>
          </a:effectLst>
        </p:spPr>
      </p:sp>
      <p:sp>
        <p:nvSpPr>
          <p:cNvPr id="7" name="Shape 5"/>
          <p:cNvSpPr/>
          <p:nvPr/>
        </p:nvSpPr>
        <p:spPr>
          <a:xfrm>
            <a:off x="525194" y="1195754"/>
            <a:ext cx="450166" cy="450166"/>
          </a:xfrm>
          <a:custGeom>
            <a:avLst/>
            <a:gdLst/>
            <a:ahLst/>
            <a:cxnLst/>
            <a:rect l="l" t="t" r="r" b="b"/>
            <a:pathLst>
              <a:path w="450166" h="450166">
                <a:moveTo>
                  <a:pt x="225083" y="0"/>
                </a:moveTo>
                <a:lnTo>
                  <a:pt x="225083" y="0"/>
                </a:lnTo>
                <a:cubicBezTo>
                  <a:pt x="349393" y="0"/>
                  <a:pt x="450166" y="100773"/>
                  <a:pt x="450166" y="225083"/>
                </a:cubicBezTo>
                <a:lnTo>
                  <a:pt x="450166" y="225083"/>
                </a:lnTo>
                <a:cubicBezTo>
                  <a:pt x="450166" y="349393"/>
                  <a:pt x="349393" y="450166"/>
                  <a:pt x="225083" y="450166"/>
                </a:cubicBezTo>
                <a:lnTo>
                  <a:pt x="225083" y="450166"/>
                </a:lnTo>
                <a:cubicBezTo>
                  <a:pt x="100773" y="450166"/>
                  <a:pt x="0" y="349393"/>
                  <a:pt x="0" y="225083"/>
                </a:cubicBezTo>
                <a:lnTo>
                  <a:pt x="0" y="225083"/>
                </a:lnTo>
                <a:cubicBezTo>
                  <a:pt x="0" y="100773"/>
                  <a:pt x="100773" y="0"/>
                  <a:pt x="225083" y="0"/>
                </a:cubicBezTo>
                <a:close/>
              </a:path>
            </a:pathLst>
          </a:custGeom>
          <a:solidFill>
            <a:srgbClr val="BCA37F"/>
          </a:solidFill>
          <a:ln/>
        </p:spPr>
      </p:sp>
      <p:sp>
        <p:nvSpPr>
          <p:cNvPr id="8" name="Shape 6"/>
          <p:cNvSpPr/>
          <p:nvPr/>
        </p:nvSpPr>
        <p:spPr>
          <a:xfrm>
            <a:off x="644769" y="1327052"/>
            <a:ext cx="211015" cy="187569"/>
          </a:xfrm>
          <a:custGeom>
            <a:avLst/>
            <a:gdLst/>
            <a:ahLst/>
            <a:cxnLst/>
            <a:rect l="l" t="t" r="r" b="b"/>
            <a:pathLst>
              <a:path w="211015" h="187569">
                <a:moveTo>
                  <a:pt x="0" y="52058"/>
                </a:moveTo>
                <a:lnTo>
                  <a:pt x="0" y="175846"/>
                </a:lnTo>
                <a:cubicBezTo>
                  <a:pt x="0" y="182330"/>
                  <a:pt x="5239" y="187569"/>
                  <a:pt x="11723" y="187569"/>
                </a:cubicBezTo>
                <a:cubicBezTo>
                  <a:pt x="18207" y="187569"/>
                  <a:pt x="23446" y="182330"/>
                  <a:pt x="23446" y="175846"/>
                </a:cubicBezTo>
                <a:lnTo>
                  <a:pt x="23446" y="87923"/>
                </a:lnTo>
                <a:cubicBezTo>
                  <a:pt x="23446" y="81439"/>
                  <a:pt x="28685" y="76200"/>
                  <a:pt x="35169" y="76200"/>
                </a:cubicBezTo>
                <a:lnTo>
                  <a:pt x="175846" y="76200"/>
                </a:lnTo>
                <a:cubicBezTo>
                  <a:pt x="182330" y="76200"/>
                  <a:pt x="187569" y="81439"/>
                  <a:pt x="187569" y="87923"/>
                </a:cubicBezTo>
                <a:lnTo>
                  <a:pt x="187569" y="175846"/>
                </a:lnTo>
                <a:cubicBezTo>
                  <a:pt x="187569" y="182330"/>
                  <a:pt x="192808" y="187569"/>
                  <a:pt x="199292" y="187569"/>
                </a:cubicBezTo>
                <a:cubicBezTo>
                  <a:pt x="205777" y="187569"/>
                  <a:pt x="211015" y="182330"/>
                  <a:pt x="211015" y="175846"/>
                </a:cubicBezTo>
                <a:lnTo>
                  <a:pt x="211015" y="52058"/>
                </a:lnTo>
                <a:cubicBezTo>
                  <a:pt x="211015" y="41983"/>
                  <a:pt x="204568" y="33008"/>
                  <a:pt x="194969" y="29821"/>
                </a:cubicBezTo>
                <a:lnTo>
                  <a:pt x="111076" y="1868"/>
                </a:lnTo>
                <a:cubicBezTo>
                  <a:pt x="107449" y="659"/>
                  <a:pt x="103566" y="659"/>
                  <a:pt x="99939" y="1868"/>
                </a:cubicBezTo>
                <a:lnTo>
                  <a:pt x="16046" y="29821"/>
                </a:lnTo>
                <a:cubicBezTo>
                  <a:pt x="6448" y="33008"/>
                  <a:pt x="0" y="41983"/>
                  <a:pt x="0" y="52058"/>
                </a:cubicBezTo>
                <a:close/>
                <a:moveTo>
                  <a:pt x="169985" y="93785"/>
                </a:moveTo>
                <a:lnTo>
                  <a:pt x="41031" y="93785"/>
                </a:lnTo>
                <a:lnTo>
                  <a:pt x="41031" y="117231"/>
                </a:lnTo>
                <a:lnTo>
                  <a:pt x="169985" y="117231"/>
                </a:lnTo>
                <a:lnTo>
                  <a:pt x="169985" y="93785"/>
                </a:lnTo>
                <a:close/>
                <a:moveTo>
                  <a:pt x="41031" y="152400"/>
                </a:moveTo>
                <a:lnTo>
                  <a:pt x="169985" y="152400"/>
                </a:lnTo>
                <a:lnTo>
                  <a:pt x="169985" y="128954"/>
                </a:lnTo>
                <a:lnTo>
                  <a:pt x="41031" y="128954"/>
                </a:lnTo>
                <a:lnTo>
                  <a:pt x="41031" y="152400"/>
                </a:lnTo>
                <a:close/>
                <a:moveTo>
                  <a:pt x="169985" y="164123"/>
                </a:moveTo>
                <a:lnTo>
                  <a:pt x="41031" y="164123"/>
                </a:lnTo>
                <a:lnTo>
                  <a:pt x="41031" y="187569"/>
                </a:lnTo>
                <a:lnTo>
                  <a:pt x="169985" y="187569"/>
                </a:lnTo>
                <a:lnTo>
                  <a:pt x="169985" y="164123"/>
                </a:lnTo>
                <a:close/>
              </a:path>
            </a:pathLst>
          </a:custGeom>
          <a:solidFill>
            <a:srgbClr val="3A4D39"/>
          </a:solidFill>
          <a:ln/>
        </p:spPr>
      </p:sp>
      <p:sp>
        <p:nvSpPr>
          <p:cNvPr id="9" name="Text 7"/>
          <p:cNvSpPr/>
          <p:nvPr/>
        </p:nvSpPr>
        <p:spPr>
          <a:xfrm>
            <a:off x="1087902" y="1162929"/>
            <a:ext cx="4970585" cy="290732"/>
          </a:xfrm>
          <a:prstGeom prst="rect">
            <a:avLst/>
          </a:prstGeom>
          <a:noFill/>
          <a:ln/>
        </p:spPr>
        <p:txBody>
          <a:bodyPr wrap="square" lIns="0" tIns="0" rIns="0" bIns="0" rtlCol="0" anchor="ctr"/>
          <a:lstStyle/>
          <a:p>
            <a:pPr>
              <a:lnSpc>
                <a:spcPct val="110000"/>
              </a:lnSpc>
            </a:pPr>
            <a:r>
              <a:rPr lang="en-US" sz="1772" b="1" dirty="0">
                <a:solidFill>
                  <a:srgbClr val="F8F6F2"/>
                </a:solidFill>
                <a:latin typeface="Unna" pitchFamily="34" charset="0"/>
                <a:ea typeface="Unna" pitchFamily="34" charset="-122"/>
                <a:cs typeface="Unna" pitchFamily="34" charset="-120"/>
              </a:rPr>
              <a:t>Category A: Wilshire Farms (Contributing Partner)</a:t>
            </a:r>
            <a:endParaRPr lang="en-US" sz="1600" dirty="0"/>
          </a:p>
        </p:txBody>
      </p:sp>
      <p:sp>
        <p:nvSpPr>
          <p:cNvPr id="10" name="Text 8"/>
          <p:cNvSpPr/>
          <p:nvPr/>
        </p:nvSpPr>
        <p:spPr>
          <a:xfrm>
            <a:off x="1087902" y="1453662"/>
            <a:ext cx="4933071" cy="225083"/>
          </a:xfrm>
          <a:prstGeom prst="rect">
            <a:avLst/>
          </a:prstGeom>
          <a:noFill/>
          <a:ln/>
        </p:spPr>
        <p:txBody>
          <a:bodyPr wrap="square" lIns="0" tIns="0" rIns="0" bIns="0" rtlCol="0" anchor="ctr"/>
          <a:lstStyle/>
          <a:p>
            <a:pPr>
              <a:lnSpc>
                <a:spcPct val="130000"/>
              </a:lnSpc>
            </a:pPr>
            <a:r>
              <a:rPr lang="en-US" sz="1182" dirty="0">
                <a:solidFill>
                  <a:srgbClr val="BCA37F"/>
                </a:solidFill>
                <a:latin typeface="Quattrocento Sans" pitchFamily="34" charset="0"/>
                <a:ea typeface="Quattrocento Sans" pitchFamily="34" charset="-122"/>
                <a:cs typeface="Quattrocento Sans" pitchFamily="34" charset="-120"/>
              </a:rPr>
              <a:t>Operating Partner &amp; Managing Entity</a:t>
            </a:r>
            <a:endParaRPr lang="en-US" sz="1600" dirty="0"/>
          </a:p>
        </p:txBody>
      </p:sp>
      <p:sp>
        <p:nvSpPr>
          <p:cNvPr id="11" name="Text 9"/>
          <p:cNvSpPr/>
          <p:nvPr/>
        </p:nvSpPr>
        <p:spPr>
          <a:xfrm>
            <a:off x="525194" y="1791286"/>
            <a:ext cx="5580185" cy="262597"/>
          </a:xfrm>
          <a:prstGeom prst="rect">
            <a:avLst/>
          </a:prstGeom>
          <a:noFill/>
          <a:ln/>
        </p:spPr>
        <p:txBody>
          <a:bodyPr wrap="square" lIns="0" tIns="0" rIns="0" bIns="0" rtlCol="0" anchor="ctr"/>
          <a:lstStyle/>
          <a:p>
            <a:pPr>
              <a:lnSpc>
                <a:spcPct val="130000"/>
              </a:lnSpc>
            </a:pPr>
            <a:r>
              <a:rPr lang="en-US" sz="1329" b="1" dirty="0">
                <a:solidFill>
                  <a:srgbClr val="BCA37F"/>
                </a:solidFill>
                <a:latin typeface="Unna" pitchFamily="34" charset="0"/>
                <a:ea typeface="Unna" pitchFamily="34" charset="-122"/>
                <a:cs typeface="Unna" pitchFamily="34" charset="-120"/>
              </a:rPr>
              <a:t>Contributions &amp; Assets</a:t>
            </a:r>
            <a:endParaRPr lang="en-US" sz="1600" dirty="0"/>
          </a:p>
        </p:txBody>
      </p:sp>
      <p:sp>
        <p:nvSpPr>
          <p:cNvPr id="12" name="Shape 10"/>
          <p:cNvSpPr/>
          <p:nvPr/>
        </p:nvSpPr>
        <p:spPr>
          <a:xfrm>
            <a:off x="543951" y="2166425"/>
            <a:ext cx="150055" cy="150055"/>
          </a:xfrm>
          <a:custGeom>
            <a:avLst/>
            <a:gdLst/>
            <a:ahLst/>
            <a:cxnLst/>
            <a:rect l="l" t="t" r="r" b="b"/>
            <a:pathLst>
              <a:path w="150055" h="150055">
                <a:moveTo>
                  <a:pt x="81417" y="2520"/>
                </a:moveTo>
                <a:cubicBezTo>
                  <a:pt x="77812" y="-821"/>
                  <a:pt x="72243" y="-821"/>
                  <a:pt x="68668" y="2520"/>
                </a:cubicBezTo>
                <a:lnTo>
                  <a:pt x="3019" y="63480"/>
                </a:lnTo>
                <a:cubicBezTo>
                  <a:pt x="205" y="66118"/>
                  <a:pt x="-733" y="70192"/>
                  <a:pt x="674" y="73767"/>
                </a:cubicBezTo>
                <a:cubicBezTo>
                  <a:pt x="2081" y="77343"/>
                  <a:pt x="5510" y="79717"/>
                  <a:pt x="9378" y="79717"/>
                </a:cubicBezTo>
                <a:lnTo>
                  <a:pt x="14068" y="79717"/>
                </a:lnTo>
                <a:lnTo>
                  <a:pt x="14068" y="131298"/>
                </a:lnTo>
                <a:cubicBezTo>
                  <a:pt x="14068" y="141644"/>
                  <a:pt x="22479" y="150055"/>
                  <a:pt x="32825" y="150055"/>
                </a:cubicBezTo>
                <a:lnTo>
                  <a:pt x="117231" y="150055"/>
                </a:lnTo>
                <a:cubicBezTo>
                  <a:pt x="127576" y="150055"/>
                  <a:pt x="135988" y="141644"/>
                  <a:pt x="135988" y="131298"/>
                </a:cubicBezTo>
                <a:lnTo>
                  <a:pt x="135988" y="79717"/>
                </a:lnTo>
                <a:lnTo>
                  <a:pt x="140677" y="79717"/>
                </a:lnTo>
                <a:cubicBezTo>
                  <a:pt x="144546" y="79717"/>
                  <a:pt x="148004" y="77343"/>
                  <a:pt x="149411" y="73767"/>
                </a:cubicBezTo>
                <a:cubicBezTo>
                  <a:pt x="150817" y="70192"/>
                  <a:pt x="149880" y="66089"/>
                  <a:pt x="147066" y="63480"/>
                </a:cubicBezTo>
                <a:lnTo>
                  <a:pt x="81417" y="2520"/>
                </a:lnTo>
                <a:close/>
                <a:moveTo>
                  <a:pt x="70338" y="93785"/>
                </a:moveTo>
                <a:lnTo>
                  <a:pt x="79717" y="93785"/>
                </a:lnTo>
                <a:cubicBezTo>
                  <a:pt x="87483" y="93785"/>
                  <a:pt x="93785" y="100086"/>
                  <a:pt x="93785" y="107852"/>
                </a:cubicBezTo>
                <a:lnTo>
                  <a:pt x="93785" y="135988"/>
                </a:lnTo>
                <a:lnTo>
                  <a:pt x="56271" y="135988"/>
                </a:lnTo>
                <a:lnTo>
                  <a:pt x="56271" y="107852"/>
                </a:lnTo>
                <a:cubicBezTo>
                  <a:pt x="56271" y="100086"/>
                  <a:pt x="62572" y="93785"/>
                  <a:pt x="70338" y="93785"/>
                </a:cubicBezTo>
                <a:close/>
              </a:path>
            </a:pathLst>
          </a:custGeom>
          <a:solidFill>
            <a:srgbClr val="BCA37F"/>
          </a:solidFill>
          <a:ln/>
        </p:spPr>
      </p:sp>
      <p:sp>
        <p:nvSpPr>
          <p:cNvPr id="13" name="Text 11"/>
          <p:cNvSpPr/>
          <p:nvPr/>
        </p:nvSpPr>
        <p:spPr>
          <a:xfrm>
            <a:off x="787791" y="2128911"/>
            <a:ext cx="3207434" cy="225083"/>
          </a:xfrm>
          <a:prstGeom prst="rect">
            <a:avLst/>
          </a:prstGeom>
          <a:noFill/>
          <a:ln/>
        </p:spPr>
        <p:txBody>
          <a:bodyPr wrap="square" lIns="0" tIns="0" rIns="0" bIns="0" rtlCol="0" anchor="ctr"/>
          <a:lstStyle/>
          <a:p>
            <a:pPr>
              <a:lnSpc>
                <a:spcPct val="130000"/>
              </a:lnSpc>
            </a:pPr>
            <a:r>
              <a:rPr lang="en-US" sz="1182" dirty="0">
                <a:solidFill>
                  <a:srgbClr val="F8F6F2"/>
                </a:solidFill>
                <a:latin typeface="Quattrocento Sans" pitchFamily="34" charset="0"/>
                <a:ea typeface="Quattrocento Sans" pitchFamily="34" charset="-122"/>
                <a:cs typeface="Quattrocento Sans" pitchFamily="34" charset="-120"/>
              </a:rPr>
              <a:t>Greenhouse facility with climate control systems</a:t>
            </a:r>
            <a:endParaRPr lang="en-US" sz="1600" dirty="0"/>
          </a:p>
        </p:txBody>
      </p:sp>
      <p:sp>
        <p:nvSpPr>
          <p:cNvPr id="14" name="Shape 12"/>
          <p:cNvSpPr/>
          <p:nvPr/>
        </p:nvSpPr>
        <p:spPr>
          <a:xfrm>
            <a:off x="562708" y="2429022"/>
            <a:ext cx="112542" cy="150055"/>
          </a:xfrm>
          <a:custGeom>
            <a:avLst/>
            <a:gdLst/>
            <a:ahLst/>
            <a:cxnLst/>
            <a:rect l="l" t="t" r="r" b="b"/>
            <a:pathLst>
              <a:path w="112542" h="150055">
                <a:moveTo>
                  <a:pt x="56271" y="150055"/>
                </a:moveTo>
                <a:cubicBezTo>
                  <a:pt x="25205" y="150055"/>
                  <a:pt x="0" y="124851"/>
                  <a:pt x="0" y="93785"/>
                </a:cubicBezTo>
                <a:cubicBezTo>
                  <a:pt x="0" y="67056"/>
                  <a:pt x="38159" y="13452"/>
                  <a:pt x="48827" y="-1026"/>
                </a:cubicBezTo>
                <a:cubicBezTo>
                  <a:pt x="50556" y="-3370"/>
                  <a:pt x="53281" y="-4689"/>
                  <a:pt x="56212" y="-4689"/>
                </a:cubicBezTo>
                <a:lnTo>
                  <a:pt x="56329" y="-4689"/>
                </a:lnTo>
                <a:cubicBezTo>
                  <a:pt x="59260" y="-4689"/>
                  <a:pt x="61986" y="-3370"/>
                  <a:pt x="63715" y="-1026"/>
                </a:cubicBezTo>
                <a:cubicBezTo>
                  <a:pt x="74383" y="13452"/>
                  <a:pt x="112542" y="67056"/>
                  <a:pt x="112542" y="93785"/>
                </a:cubicBezTo>
                <a:cubicBezTo>
                  <a:pt x="112542" y="124851"/>
                  <a:pt x="87337" y="150055"/>
                  <a:pt x="56271" y="150055"/>
                </a:cubicBezTo>
                <a:close/>
                <a:moveTo>
                  <a:pt x="32825" y="91440"/>
                </a:moveTo>
                <a:cubicBezTo>
                  <a:pt x="32825" y="87542"/>
                  <a:pt x="29689" y="84406"/>
                  <a:pt x="25791" y="84406"/>
                </a:cubicBezTo>
                <a:cubicBezTo>
                  <a:pt x="21893" y="84406"/>
                  <a:pt x="18757" y="87542"/>
                  <a:pt x="18757" y="91440"/>
                </a:cubicBezTo>
                <a:cubicBezTo>
                  <a:pt x="18757" y="113450"/>
                  <a:pt x="36605" y="131298"/>
                  <a:pt x="58615" y="131298"/>
                </a:cubicBezTo>
                <a:cubicBezTo>
                  <a:pt x="62513" y="131298"/>
                  <a:pt x="65649" y="128163"/>
                  <a:pt x="65649" y="124265"/>
                </a:cubicBezTo>
                <a:cubicBezTo>
                  <a:pt x="65649" y="120367"/>
                  <a:pt x="62513" y="117231"/>
                  <a:pt x="58615" y="117231"/>
                </a:cubicBezTo>
                <a:cubicBezTo>
                  <a:pt x="44372" y="117231"/>
                  <a:pt x="32825" y="105684"/>
                  <a:pt x="32825" y="91440"/>
                </a:cubicBezTo>
                <a:close/>
              </a:path>
            </a:pathLst>
          </a:custGeom>
          <a:solidFill>
            <a:srgbClr val="BCA37F"/>
          </a:solidFill>
          <a:ln/>
        </p:spPr>
      </p:sp>
      <p:sp>
        <p:nvSpPr>
          <p:cNvPr id="15" name="Text 13"/>
          <p:cNvSpPr/>
          <p:nvPr/>
        </p:nvSpPr>
        <p:spPr>
          <a:xfrm>
            <a:off x="787791" y="2391508"/>
            <a:ext cx="2841674" cy="225083"/>
          </a:xfrm>
          <a:prstGeom prst="rect">
            <a:avLst/>
          </a:prstGeom>
          <a:noFill/>
          <a:ln/>
        </p:spPr>
        <p:txBody>
          <a:bodyPr wrap="square" lIns="0" tIns="0" rIns="0" bIns="0" rtlCol="0" anchor="ctr"/>
          <a:lstStyle/>
          <a:p>
            <a:pPr>
              <a:lnSpc>
                <a:spcPct val="130000"/>
              </a:lnSpc>
            </a:pPr>
            <a:r>
              <a:rPr lang="en-US" sz="1182" dirty="0">
                <a:solidFill>
                  <a:srgbClr val="F8F6F2"/>
                </a:solidFill>
                <a:latin typeface="Quattrocento Sans" pitchFamily="34" charset="0"/>
                <a:ea typeface="Quattrocento Sans" pitchFamily="34" charset="-122"/>
                <a:cs typeface="Quattrocento Sans" pitchFamily="34" charset="-120"/>
              </a:rPr>
              <a:t>Water infrastructure and irrigation systems</a:t>
            </a:r>
            <a:endParaRPr lang="en-US" sz="1600" dirty="0"/>
          </a:p>
        </p:txBody>
      </p:sp>
      <p:sp>
        <p:nvSpPr>
          <p:cNvPr id="16" name="Shape 14"/>
          <p:cNvSpPr/>
          <p:nvPr/>
        </p:nvSpPr>
        <p:spPr>
          <a:xfrm>
            <a:off x="534572" y="2691618"/>
            <a:ext cx="168812" cy="150055"/>
          </a:xfrm>
          <a:custGeom>
            <a:avLst/>
            <a:gdLst/>
            <a:ahLst/>
            <a:cxnLst/>
            <a:rect l="l" t="t" r="r" b="b"/>
            <a:pathLst>
              <a:path w="168812" h="150055">
                <a:moveTo>
                  <a:pt x="9378" y="9378"/>
                </a:moveTo>
                <a:cubicBezTo>
                  <a:pt x="14566" y="9378"/>
                  <a:pt x="18757" y="13569"/>
                  <a:pt x="18757" y="18757"/>
                </a:cubicBezTo>
                <a:lnTo>
                  <a:pt x="18757" y="84406"/>
                </a:lnTo>
                <a:lnTo>
                  <a:pt x="84406" y="84406"/>
                </a:lnTo>
                <a:lnTo>
                  <a:pt x="84406" y="46892"/>
                </a:lnTo>
                <a:cubicBezTo>
                  <a:pt x="84406" y="41705"/>
                  <a:pt x="88597" y="37514"/>
                  <a:pt x="93785" y="37514"/>
                </a:cubicBezTo>
                <a:lnTo>
                  <a:pt x="140677" y="37514"/>
                </a:lnTo>
                <a:cubicBezTo>
                  <a:pt x="156210" y="37514"/>
                  <a:pt x="168812" y="50116"/>
                  <a:pt x="168812" y="65649"/>
                </a:cubicBezTo>
                <a:lnTo>
                  <a:pt x="168812" y="131298"/>
                </a:lnTo>
                <a:cubicBezTo>
                  <a:pt x="168812" y="136486"/>
                  <a:pt x="164621" y="140677"/>
                  <a:pt x="159434" y="140677"/>
                </a:cubicBezTo>
                <a:cubicBezTo>
                  <a:pt x="154246" y="140677"/>
                  <a:pt x="150055" y="136486"/>
                  <a:pt x="150055" y="131298"/>
                </a:cubicBezTo>
                <a:lnTo>
                  <a:pt x="150055" y="112542"/>
                </a:lnTo>
                <a:lnTo>
                  <a:pt x="18757" y="112542"/>
                </a:lnTo>
                <a:lnTo>
                  <a:pt x="18757" y="131298"/>
                </a:lnTo>
                <a:cubicBezTo>
                  <a:pt x="18757" y="136486"/>
                  <a:pt x="14566" y="140677"/>
                  <a:pt x="9378" y="140677"/>
                </a:cubicBezTo>
                <a:cubicBezTo>
                  <a:pt x="4191" y="140677"/>
                  <a:pt x="0" y="136486"/>
                  <a:pt x="0" y="131298"/>
                </a:cubicBezTo>
                <a:lnTo>
                  <a:pt x="0" y="18757"/>
                </a:lnTo>
                <a:cubicBezTo>
                  <a:pt x="0" y="13569"/>
                  <a:pt x="4191" y="9378"/>
                  <a:pt x="9378" y="9378"/>
                </a:cubicBezTo>
                <a:close/>
                <a:moveTo>
                  <a:pt x="32825" y="56271"/>
                </a:moveTo>
                <a:cubicBezTo>
                  <a:pt x="32825" y="45919"/>
                  <a:pt x="41229" y="37514"/>
                  <a:pt x="51582" y="37514"/>
                </a:cubicBezTo>
                <a:cubicBezTo>
                  <a:pt x="61934" y="37514"/>
                  <a:pt x="70338" y="45919"/>
                  <a:pt x="70338" y="56271"/>
                </a:cubicBezTo>
                <a:cubicBezTo>
                  <a:pt x="70338" y="66623"/>
                  <a:pt x="61934" y="75028"/>
                  <a:pt x="51582" y="75028"/>
                </a:cubicBezTo>
                <a:cubicBezTo>
                  <a:pt x="41229" y="75028"/>
                  <a:pt x="32825" y="66623"/>
                  <a:pt x="32825" y="56271"/>
                </a:cubicBezTo>
                <a:close/>
              </a:path>
            </a:pathLst>
          </a:custGeom>
          <a:solidFill>
            <a:srgbClr val="BCA37F"/>
          </a:solidFill>
          <a:ln/>
        </p:spPr>
      </p:sp>
      <p:sp>
        <p:nvSpPr>
          <p:cNvPr id="17" name="Text 15"/>
          <p:cNvSpPr/>
          <p:nvPr/>
        </p:nvSpPr>
        <p:spPr>
          <a:xfrm>
            <a:off x="787791" y="2654105"/>
            <a:ext cx="2869809" cy="225083"/>
          </a:xfrm>
          <a:prstGeom prst="rect">
            <a:avLst/>
          </a:prstGeom>
          <a:noFill/>
          <a:ln/>
        </p:spPr>
        <p:txBody>
          <a:bodyPr wrap="square" lIns="0" tIns="0" rIns="0" bIns="0" rtlCol="0" anchor="ctr"/>
          <a:lstStyle/>
          <a:p>
            <a:pPr>
              <a:lnSpc>
                <a:spcPct val="130000"/>
              </a:lnSpc>
            </a:pPr>
            <a:r>
              <a:rPr lang="en-US" sz="1182" dirty="0">
                <a:solidFill>
                  <a:srgbClr val="F8F6F2"/>
                </a:solidFill>
                <a:latin typeface="Quattrocento Sans" pitchFamily="34" charset="0"/>
                <a:ea typeface="Quattrocento Sans" pitchFamily="34" charset="-122"/>
                <a:cs typeface="Quattrocento Sans" pitchFamily="34" charset="-120"/>
              </a:rPr>
              <a:t>Staff quarters and accommodation facilities</a:t>
            </a:r>
            <a:endParaRPr lang="en-US" sz="1600" dirty="0"/>
          </a:p>
        </p:txBody>
      </p:sp>
      <p:sp>
        <p:nvSpPr>
          <p:cNvPr id="18" name="Shape 16"/>
          <p:cNvSpPr/>
          <p:nvPr/>
        </p:nvSpPr>
        <p:spPr>
          <a:xfrm>
            <a:off x="534572" y="2954215"/>
            <a:ext cx="168812" cy="150055"/>
          </a:xfrm>
          <a:custGeom>
            <a:avLst/>
            <a:gdLst/>
            <a:ahLst/>
            <a:cxnLst/>
            <a:rect l="l" t="t" r="r" b="b"/>
            <a:pathLst>
              <a:path w="168812" h="150055">
                <a:moveTo>
                  <a:pt x="14068" y="57384"/>
                </a:moveTo>
                <a:lnTo>
                  <a:pt x="75379" y="82618"/>
                </a:lnTo>
                <a:cubicBezTo>
                  <a:pt x="78252" y="83791"/>
                  <a:pt x="81300" y="84406"/>
                  <a:pt x="84406" y="84406"/>
                </a:cubicBezTo>
                <a:cubicBezTo>
                  <a:pt x="87513" y="84406"/>
                  <a:pt x="90561" y="83791"/>
                  <a:pt x="93433" y="82618"/>
                </a:cubicBezTo>
                <a:lnTo>
                  <a:pt x="164475" y="53369"/>
                </a:lnTo>
                <a:cubicBezTo>
                  <a:pt x="167112" y="52285"/>
                  <a:pt x="168812" y="49735"/>
                  <a:pt x="168812" y="46892"/>
                </a:cubicBezTo>
                <a:cubicBezTo>
                  <a:pt x="168812" y="44049"/>
                  <a:pt x="167112" y="41500"/>
                  <a:pt x="164475" y="40415"/>
                </a:cubicBezTo>
                <a:lnTo>
                  <a:pt x="93433" y="11166"/>
                </a:lnTo>
                <a:cubicBezTo>
                  <a:pt x="90561" y="9994"/>
                  <a:pt x="87513" y="9378"/>
                  <a:pt x="84406" y="9378"/>
                </a:cubicBezTo>
                <a:cubicBezTo>
                  <a:pt x="81300" y="9378"/>
                  <a:pt x="78252" y="9994"/>
                  <a:pt x="75379" y="11166"/>
                </a:cubicBezTo>
                <a:lnTo>
                  <a:pt x="4338" y="40415"/>
                </a:lnTo>
                <a:cubicBezTo>
                  <a:pt x="1700" y="41500"/>
                  <a:pt x="0" y="44049"/>
                  <a:pt x="0" y="46892"/>
                </a:cubicBezTo>
                <a:lnTo>
                  <a:pt x="0" y="133643"/>
                </a:lnTo>
                <a:cubicBezTo>
                  <a:pt x="0" y="137541"/>
                  <a:pt x="3136" y="140677"/>
                  <a:pt x="7034" y="140677"/>
                </a:cubicBezTo>
                <a:cubicBezTo>
                  <a:pt x="10932" y="140677"/>
                  <a:pt x="14068" y="137541"/>
                  <a:pt x="14068" y="133643"/>
                </a:cubicBezTo>
                <a:lnTo>
                  <a:pt x="14068" y="57384"/>
                </a:lnTo>
                <a:close/>
                <a:moveTo>
                  <a:pt x="28135" y="78398"/>
                </a:moveTo>
                <a:lnTo>
                  <a:pt x="28135" y="112542"/>
                </a:lnTo>
                <a:cubicBezTo>
                  <a:pt x="28135" y="128075"/>
                  <a:pt x="53340" y="140677"/>
                  <a:pt x="84406" y="140677"/>
                </a:cubicBezTo>
                <a:cubicBezTo>
                  <a:pt x="115472" y="140677"/>
                  <a:pt x="140677" y="128075"/>
                  <a:pt x="140677" y="112542"/>
                </a:cubicBezTo>
                <a:lnTo>
                  <a:pt x="140677" y="78369"/>
                </a:lnTo>
                <a:lnTo>
                  <a:pt x="98796" y="95631"/>
                </a:lnTo>
                <a:cubicBezTo>
                  <a:pt x="94224" y="97507"/>
                  <a:pt x="89359" y="98474"/>
                  <a:pt x="84406" y="98474"/>
                </a:cubicBezTo>
                <a:cubicBezTo>
                  <a:pt x="79453" y="98474"/>
                  <a:pt x="74588" y="97507"/>
                  <a:pt x="70016" y="95631"/>
                </a:cubicBezTo>
                <a:lnTo>
                  <a:pt x="28135" y="78369"/>
                </a:lnTo>
                <a:close/>
              </a:path>
            </a:pathLst>
          </a:custGeom>
          <a:solidFill>
            <a:srgbClr val="BCA37F"/>
          </a:solidFill>
          <a:ln/>
        </p:spPr>
      </p:sp>
      <p:sp>
        <p:nvSpPr>
          <p:cNvPr id="19" name="Text 17"/>
          <p:cNvSpPr/>
          <p:nvPr/>
        </p:nvSpPr>
        <p:spPr>
          <a:xfrm>
            <a:off x="787791" y="2916702"/>
            <a:ext cx="3104271" cy="225083"/>
          </a:xfrm>
          <a:prstGeom prst="rect">
            <a:avLst/>
          </a:prstGeom>
          <a:noFill/>
          <a:ln/>
        </p:spPr>
        <p:txBody>
          <a:bodyPr wrap="square" lIns="0" tIns="0" rIns="0" bIns="0" rtlCol="0" anchor="ctr"/>
          <a:lstStyle/>
          <a:p>
            <a:pPr>
              <a:lnSpc>
                <a:spcPct val="130000"/>
              </a:lnSpc>
            </a:pPr>
            <a:r>
              <a:rPr lang="en-US" sz="1182" dirty="0">
                <a:solidFill>
                  <a:srgbClr val="F8F6F2"/>
                </a:solidFill>
                <a:latin typeface="Quattrocento Sans" pitchFamily="34" charset="0"/>
                <a:ea typeface="Quattrocento Sans" pitchFamily="34" charset="-122"/>
                <a:cs typeface="Quattrocento Sans" pitchFamily="34" charset="-120"/>
              </a:rPr>
              <a:t>Agricultural expertise and technical knowledge</a:t>
            </a:r>
            <a:endParaRPr lang="en-US" sz="1600" dirty="0"/>
          </a:p>
        </p:txBody>
      </p:sp>
      <p:sp>
        <p:nvSpPr>
          <p:cNvPr id="20" name="Text 18"/>
          <p:cNvSpPr/>
          <p:nvPr/>
        </p:nvSpPr>
        <p:spPr>
          <a:xfrm>
            <a:off x="6168830" y="1791286"/>
            <a:ext cx="5580185" cy="262597"/>
          </a:xfrm>
          <a:prstGeom prst="rect">
            <a:avLst/>
          </a:prstGeom>
          <a:noFill/>
          <a:ln/>
        </p:spPr>
        <p:txBody>
          <a:bodyPr wrap="square" lIns="0" tIns="0" rIns="0" bIns="0" rtlCol="0" anchor="ctr"/>
          <a:lstStyle/>
          <a:p>
            <a:pPr>
              <a:lnSpc>
                <a:spcPct val="130000"/>
              </a:lnSpc>
            </a:pPr>
            <a:r>
              <a:rPr lang="en-US" sz="1329" b="1" dirty="0">
                <a:solidFill>
                  <a:srgbClr val="BCA37F"/>
                </a:solidFill>
                <a:latin typeface="Unna" pitchFamily="34" charset="0"/>
                <a:ea typeface="Unna" pitchFamily="34" charset="-122"/>
                <a:cs typeface="Unna" pitchFamily="34" charset="-120"/>
              </a:rPr>
              <a:t>Responsibilities</a:t>
            </a:r>
            <a:endParaRPr lang="en-US" sz="1600" dirty="0"/>
          </a:p>
        </p:txBody>
      </p:sp>
      <p:sp>
        <p:nvSpPr>
          <p:cNvPr id="21" name="Shape 19"/>
          <p:cNvSpPr/>
          <p:nvPr/>
        </p:nvSpPr>
        <p:spPr>
          <a:xfrm>
            <a:off x="6187587" y="2166425"/>
            <a:ext cx="150055" cy="150055"/>
          </a:xfrm>
          <a:custGeom>
            <a:avLst/>
            <a:gdLst/>
            <a:ahLst/>
            <a:cxnLst/>
            <a:rect l="l" t="t" r="r" b="b"/>
            <a:pathLst>
              <a:path w="150055" h="150055">
                <a:moveTo>
                  <a:pt x="39214" y="10639"/>
                </a:moveTo>
                <a:cubicBezTo>
                  <a:pt x="42408" y="12866"/>
                  <a:pt x="43170" y="17262"/>
                  <a:pt x="40943" y="20427"/>
                </a:cubicBezTo>
                <a:lnTo>
                  <a:pt x="24531" y="43874"/>
                </a:lnTo>
                <a:cubicBezTo>
                  <a:pt x="23329" y="45573"/>
                  <a:pt x="21453" y="46658"/>
                  <a:pt x="19372" y="46834"/>
                </a:cubicBezTo>
                <a:cubicBezTo>
                  <a:pt x="17292" y="47010"/>
                  <a:pt x="15240" y="46306"/>
                  <a:pt x="13775" y="44841"/>
                </a:cubicBezTo>
                <a:lnTo>
                  <a:pt x="2052" y="33118"/>
                </a:lnTo>
                <a:cubicBezTo>
                  <a:pt x="-674" y="30363"/>
                  <a:pt x="-674" y="25908"/>
                  <a:pt x="2052" y="23153"/>
                </a:cubicBezTo>
                <a:cubicBezTo>
                  <a:pt x="4777" y="20398"/>
                  <a:pt x="9261" y="20427"/>
                  <a:pt x="12016" y="23153"/>
                </a:cubicBezTo>
                <a:lnTo>
                  <a:pt x="17819" y="28956"/>
                </a:lnTo>
                <a:lnTo>
                  <a:pt x="29425" y="12368"/>
                </a:lnTo>
                <a:cubicBezTo>
                  <a:pt x="31652" y="9173"/>
                  <a:pt x="36048" y="8411"/>
                  <a:pt x="39214" y="10639"/>
                </a:cubicBezTo>
                <a:close/>
                <a:moveTo>
                  <a:pt x="39214" y="57531"/>
                </a:moveTo>
                <a:cubicBezTo>
                  <a:pt x="42408" y="59758"/>
                  <a:pt x="43170" y="64155"/>
                  <a:pt x="40943" y="67320"/>
                </a:cubicBezTo>
                <a:lnTo>
                  <a:pt x="24531" y="90766"/>
                </a:lnTo>
                <a:cubicBezTo>
                  <a:pt x="23329" y="92466"/>
                  <a:pt x="21453" y="93550"/>
                  <a:pt x="19372" y="93726"/>
                </a:cubicBezTo>
                <a:cubicBezTo>
                  <a:pt x="17292" y="93902"/>
                  <a:pt x="15240" y="93198"/>
                  <a:pt x="13775" y="91733"/>
                </a:cubicBezTo>
                <a:lnTo>
                  <a:pt x="2052" y="80010"/>
                </a:lnTo>
                <a:cubicBezTo>
                  <a:pt x="-703" y="77255"/>
                  <a:pt x="-703" y="72800"/>
                  <a:pt x="2052" y="70075"/>
                </a:cubicBezTo>
                <a:cubicBezTo>
                  <a:pt x="4806" y="67349"/>
                  <a:pt x="9261" y="67320"/>
                  <a:pt x="11987" y="70075"/>
                </a:cubicBezTo>
                <a:lnTo>
                  <a:pt x="17790" y="75878"/>
                </a:lnTo>
                <a:lnTo>
                  <a:pt x="29396" y="59289"/>
                </a:lnTo>
                <a:cubicBezTo>
                  <a:pt x="31623" y="56095"/>
                  <a:pt x="36019" y="55333"/>
                  <a:pt x="39184" y="57560"/>
                </a:cubicBezTo>
                <a:close/>
                <a:moveTo>
                  <a:pt x="65649" y="28135"/>
                </a:moveTo>
                <a:cubicBezTo>
                  <a:pt x="65649" y="22948"/>
                  <a:pt x="69840" y="18757"/>
                  <a:pt x="75028" y="18757"/>
                </a:cubicBezTo>
                <a:lnTo>
                  <a:pt x="140677" y="18757"/>
                </a:lnTo>
                <a:cubicBezTo>
                  <a:pt x="145864" y="18757"/>
                  <a:pt x="150055" y="22948"/>
                  <a:pt x="150055" y="28135"/>
                </a:cubicBezTo>
                <a:cubicBezTo>
                  <a:pt x="150055" y="33323"/>
                  <a:pt x="145864" y="37514"/>
                  <a:pt x="140677" y="37514"/>
                </a:cubicBezTo>
                <a:lnTo>
                  <a:pt x="75028" y="37514"/>
                </a:lnTo>
                <a:cubicBezTo>
                  <a:pt x="69840" y="37514"/>
                  <a:pt x="65649" y="33323"/>
                  <a:pt x="65649" y="28135"/>
                </a:cubicBezTo>
                <a:close/>
                <a:moveTo>
                  <a:pt x="65649" y="75028"/>
                </a:moveTo>
                <a:cubicBezTo>
                  <a:pt x="65649" y="69840"/>
                  <a:pt x="69840" y="65649"/>
                  <a:pt x="75028" y="65649"/>
                </a:cubicBezTo>
                <a:lnTo>
                  <a:pt x="140677" y="65649"/>
                </a:lnTo>
                <a:cubicBezTo>
                  <a:pt x="145864" y="65649"/>
                  <a:pt x="150055" y="69840"/>
                  <a:pt x="150055" y="75028"/>
                </a:cubicBezTo>
                <a:cubicBezTo>
                  <a:pt x="150055" y="80215"/>
                  <a:pt x="145864" y="84406"/>
                  <a:pt x="140677" y="84406"/>
                </a:cubicBezTo>
                <a:lnTo>
                  <a:pt x="75028" y="84406"/>
                </a:lnTo>
                <a:cubicBezTo>
                  <a:pt x="69840" y="84406"/>
                  <a:pt x="65649" y="80215"/>
                  <a:pt x="65649" y="75028"/>
                </a:cubicBezTo>
                <a:close/>
                <a:moveTo>
                  <a:pt x="46892" y="121920"/>
                </a:moveTo>
                <a:cubicBezTo>
                  <a:pt x="46892" y="116733"/>
                  <a:pt x="51083" y="112542"/>
                  <a:pt x="56271" y="112542"/>
                </a:cubicBezTo>
                <a:lnTo>
                  <a:pt x="140677" y="112542"/>
                </a:lnTo>
                <a:cubicBezTo>
                  <a:pt x="145864" y="112542"/>
                  <a:pt x="150055" y="116733"/>
                  <a:pt x="150055" y="121920"/>
                </a:cubicBezTo>
                <a:cubicBezTo>
                  <a:pt x="150055" y="127107"/>
                  <a:pt x="145864" y="131298"/>
                  <a:pt x="140677" y="131298"/>
                </a:cubicBezTo>
                <a:lnTo>
                  <a:pt x="56271" y="131298"/>
                </a:lnTo>
                <a:cubicBezTo>
                  <a:pt x="51083" y="131298"/>
                  <a:pt x="46892" y="127107"/>
                  <a:pt x="46892" y="121920"/>
                </a:cubicBezTo>
                <a:close/>
                <a:moveTo>
                  <a:pt x="18757" y="110197"/>
                </a:moveTo>
                <a:cubicBezTo>
                  <a:pt x="25227" y="110197"/>
                  <a:pt x="30480" y="115450"/>
                  <a:pt x="30480" y="121920"/>
                </a:cubicBezTo>
                <a:cubicBezTo>
                  <a:pt x="30480" y="128390"/>
                  <a:pt x="25227" y="133643"/>
                  <a:pt x="18757" y="133643"/>
                </a:cubicBezTo>
                <a:cubicBezTo>
                  <a:pt x="12287" y="133643"/>
                  <a:pt x="7034" y="128390"/>
                  <a:pt x="7034" y="121920"/>
                </a:cubicBezTo>
                <a:cubicBezTo>
                  <a:pt x="7034" y="115450"/>
                  <a:pt x="12287" y="110197"/>
                  <a:pt x="18757" y="110197"/>
                </a:cubicBezTo>
                <a:close/>
              </a:path>
            </a:pathLst>
          </a:custGeom>
          <a:solidFill>
            <a:srgbClr val="BCA37F"/>
          </a:solidFill>
          <a:ln/>
        </p:spPr>
      </p:sp>
      <p:sp>
        <p:nvSpPr>
          <p:cNvPr id="22" name="Text 20"/>
          <p:cNvSpPr/>
          <p:nvPr/>
        </p:nvSpPr>
        <p:spPr>
          <a:xfrm>
            <a:off x="6431427" y="2128911"/>
            <a:ext cx="3113649" cy="225083"/>
          </a:xfrm>
          <a:prstGeom prst="rect">
            <a:avLst/>
          </a:prstGeom>
          <a:noFill/>
          <a:ln/>
        </p:spPr>
        <p:txBody>
          <a:bodyPr wrap="square" lIns="0" tIns="0" rIns="0" bIns="0" rtlCol="0" anchor="ctr"/>
          <a:lstStyle/>
          <a:p>
            <a:pPr>
              <a:lnSpc>
                <a:spcPct val="130000"/>
              </a:lnSpc>
            </a:pPr>
            <a:r>
              <a:rPr lang="en-US" sz="1182" dirty="0">
                <a:solidFill>
                  <a:srgbClr val="F8F6F2"/>
                </a:solidFill>
                <a:latin typeface="Quattrocento Sans" pitchFamily="34" charset="0"/>
                <a:ea typeface="Quattrocento Sans" pitchFamily="34" charset="-122"/>
                <a:cs typeface="Quattrocento Sans" pitchFamily="34" charset="-120"/>
              </a:rPr>
              <a:t>Daily operational management and supervision</a:t>
            </a:r>
            <a:endParaRPr lang="en-US" sz="1600" dirty="0"/>
          </a:p>
        </p:txBody>
      </p:sp>
      <p:sp>
        <p:nvSpPr>
          <p:cNvPr id="23" name="Shape 21"/>
          <p:cNvSpPr/>
          <p:nvPr/>
        </p:nvSpPr>
        <p:spPr>
          <a:xfrm>
            <a:off x="6168830" y="2429022"/>
            <a:ext cx="187569" cy="150055"/>
          </a:xfrm>
          <a:custGeom>
            <a:avLst/>
            <a:gdLst/>
            <a:ahLst/>
            <a:cxnLst/>
            <a:rect l="l" t="t" r="r" b="b"/>
            <a:pathLst>
              <a:path w="187569" h="150055">
                <a:moveTo>
                  <a:pt x="93785" y="65649"/>
                </a:moveTo>
                <a:cubicBezTo>
                  <a:pt x="110607" y="65649"/>
                  <a:pt x="124265" y="51992"/>
                  <a:pt x="124265" y="35169"/>
                </a:cubicBezTo>
                <a:cubicBezTo>
                  <a:pt x="124265" y="18347"/>
                  <a:pt x="110607" y="4689"/>
                  <a:pt x="93785" y="4689"/>
                </a:cubicBezTo>
                <a:cubicBezTo>
                  <a:pt x="76962" y="4689"/>
                  <a:pt x="63305" y="18347"/>
                  <a:pt x="63305" y="35169"/>
                </a:cubicBezTo>
                <a:cubicBezTo>
                  <a:pt x="63305" y="51992"/>
                  <a:pt x="76962" y="65649"/>
                  <a:pt x="93785" y="65649"/>
                </a:cubicBezTo>
                <a:close/>
                <a:moveTo>
                  <a:pt x="28135" y="67994"/>
                </a:moveTo>
                <a:cubicBezTo>
                  <a:pt x="39782" y="67994"/>
                  <a:pt x="49237" y="58539"/>
                  <a:pt x="49237" y="46892"/>
                </a:cubicBezTo>
                <a:cubicBezTo>
                  <a:pt x="49237" y="35246"/>
                  <a:pt x="39782" y="25791"/>
                  <a:pt x="28135" y="25791"/>
                </a:cubicBezTo>
                <a:cubicBezTo>
                  <a:pt x="16489" y="25791"/>
                  <a:pt x="7034" y="35246"/>
                  <a:pt x="7034" y="46892"/>
                </a:cubicBezTo>
                <a:cubicBezTo>
                  <a:pt x="7034" y="58539"/>
                  <a:pt x="16489" y="67994"/>
                  <a:pt x="28135" y="67994"/>
                </a:cubicBezTo>
                <a:close/>
                <a:moveTo>
                  <a:pt x="0" y="121920"/>
                </a:moveTo>
                <a:lnTo>
                  <a:pt x="0" y="131298"/>
                </a:lnTo>
                <a:cubicBezTo>
                  <a:pt x="0" y="136486"/>
                  <a:pt x="4191" y="140677"/>
                  <a:pt x="9378" y="140677"/>
                </a:cubicBezTo>
                <a:lnTo>
                  <a:pt x="34788" y="140677"/>
                </a:lnTo>
                <a:cubicBezTo>
                  <a:pt x="33528" y="137805"/>
                  <a:pt x="32825" y="134640"/>
                  <a:pt x="32825" y="131298"/>
                </a:cubicBezTo>
                <a:lnTo>
                  <a:pt x="32825" y="126609"/>
                </a:lnTo>
                <a:cubicBezTo>
                  <a:pt x="32825" y="111018"/>
                  <a:pt x="38686" y="96774"/>
                  <a:pt x="48328" y="85989"/>
                </a:cubicBezTo>
                <a:cubicBezTo>
                  <a:pt x="44899" y="84963"/>
                  <a:pt x="41265" y="84406"/>
                  <a:pt x="37514" y="84406"/>
                </a:cubicBezTo>
                <a:cubicBezTo>
                  <a:pt x="16793" y="84406"/>
                  <a:pt x="0" y="101199"/>
                  <a:pt x="0" y="121920"/>
                </a:cubicBezTo>
                <a:close/>
                <a:moveTo>
                  <a:pt x="180535" y="46892"/>
                </a:moveTo>
                <a:cubicBezTo>
                  <a:pt x="180535" y="35246"/>
                  <a:pt x="171080" y="25791"/>
                  <a:pt x="159434" y="25791"/>
                </a:cubicBezTo>
                <a:cubicBezTo>
                  <a:pt x="147788" y="25791"/>
                  <a:pt x="138332" y="35246"/>
                  <a:pt x="138332" y="46892"/>
                </a:cubicBezTo>
                <a:cubicBezTo>
                  <a:pt x="138332" y="58539"/>
                  <a:pt x="147788" y="67994"/>
                  <a:pt x="159434" y="67994"/>
                </a:cubicBezTo>
                <a:cubicBezTo>
                  <a:pt x="171080" y="67994"/>
                  <a:pt x="180535" y="58539"/>
                  <a:pt x="180535" y="46892"/>
                </a:cubicBezTo>
                <a:close/>
                <a:moveTo>
                  <a:pt x="46892" y="126609"/>
                </a:moveTo>
                <a:lnTo>
                  <a:pt x="46892" y="131298"/>
                </a:lnTo>
                <a:cubicBezTo>
                  <a:pt x="46892" y="136486"/>
                  <a:pt x="51083" y="140677"/>
                  <a:pt x="56271" y="140677"/>
                </a:cubicBezTo>
                <a:lnTo>
                  <a:pt x="102225" y="140677"/>
                </a:lnTo>
                <a:cubicBezTo>
                  <a:pt x="100144" y="134346"/>
                  <a:pt x="100379" y="127664"/>
                  <a:pt x="105361" y="121920"/>
                </a:cubicBezTo>
                <a:cubicBezTo>
                  <a:pt x="101258" y="117172"/>
                  <a:pt x="99353" y="110285"/>
                  <a:pt x="102020" y="103368"/>
                </a:cubicBezTo>
                <a:cubicBezTo>
                  <a:pt x="103954" y="98357"/>
                  <a:pt x="106680" y="93667"/>
                  <a:pt x="110050" y="89506"/>
                </a:cubicBezTo>
                <a:cubicBezTo>
                  <a:pt x="111633" y="87571"/>
                  <a:pt x="113450" y="86077"/>
                  <a:pt x="115414" y="84992"/>
                </a:cubicBezTo>
                <a:cubicBezTo>
                  <a:pt x="108937" y="81622"/>
                  <a:pt x="101580" y="79717"/>
                  <a:pt x="93785" y="79717"/>
                </a:cubicBezTo>
                <a:cubicBezTo>
                  <a:pt x="67877" y="79717"/>
                  <a:pt x="46892" y="100701"/>
                  <a:pt x="46892" y="126609"/>
                </a:cubicBezTo>
                <a:close/>
                <a:moveTo>
                  <a:pt x="183056" y="113685"/>
                </a:moveTo>
                <a:cubicBezTo>
                  <a:pt x="184902" y="112629"/>
                  <a:pt x="185840" y="110431"/>
                  <a:pt x="185049" y="108409"/>
                </a:cubicBezTo>
                <a:cubicBezTo>
                  <a:pt x="183642" y="104775"/>
                  <a:pt x="181678" y="101346"/>
                  <a:pt x="179217" y="98327"/>
                </a:cubicBezTo>
                <a:cubicBezTo>
                  <a:pt x="177868" y="96657"/>
                  <a:pt x="175494" y="96364"/>
                  <a:pt x="173648" y="97448"/>
                </a:cubicBezTo>
                <a:cubicBezTo>
                  <a:pt x="167259" y="101141"/>
                  <a:pt x="159405" y="96627"/>
                  <a:pt x="159405" y="89213"/>
                </a:cubicBezTo>
                <a:cubicBezTo>
                  <a:pt x="159405" y="87073"/>
                  <a:pt x="157968" y="85168"/>
                  <a:pt x="155858" y="84846"/>
                </a:cubicBezTo>
                <a:cubicBezTo>
                  <a:pt x="152078" y="84260"/>
                  <a:pt x="148004" y="84260"/>
                  <a:pt x="144223" y="84846"/>
                </a:cubicBezTo>
                <a:cubicBezTo>
                  <a:pt x="142113" y="85168"/>
                  <a:pt x="140677" y="87073"/>
                  <a:pt x="140677" y="89213"/>
                </a:cubicBezTo>
                <a:cubicBezTo>
                  <a:pt x="140677" y="96598"/>
                  <a:pt x="132822" y="101141"/>
                  <a:pt x="126433" y="97448"/>
                </a:cubicBezTo>
                <a:cubicBezTo>
                  <a:pt x="124587" y="96393"/>
                  <a:pt x="122213" y="96686"/>
                  <a:pt x="120865" y="98327"/>
                </a:cubicBezTo>
                <a:cubicBezTo>
                  <a:pt x="118403" y="101346"/>
                  <a:pt x="116439" y="104775"/>
                  <a:pt x="115033" y="108409"/>
                </a:cubicBezTo>
                <a:cubicBezTo>
                  <a:pt x="114271" y="110402"/>
                  <a:pt x="115179" y="112600"/>
                  <a:pt x="117026" y="113655"/>
                </a:cubicBezTo>
                <a:cubicBezTo>
                  <a:pt x="123444" y="117348"/>
                  <a:pt x="123444" y="126404"/>
                  <a:pt x="117026" y="130126"/>
                </a:cubicBezTo>
                <a:cubicBezTo>
                  <a:pt x="115179" y="131181"/>
                  <a:pt x="114241" y="133379"/>
                  <a:pt x="115033" y="135372"/>
                </a:cubicBezTo>
                <a:cubicBezTo>
                  <a:pt x="116439" y="139006"/>
                  <a:pt x="118403" y="142435"/>
                  <a:pt x="120865" y="145454"/>
                </a:cubicBezTo>
                <a:cubicBezTo>
                  <a:pt x="122213" y="147125"/>
                  <a:pt x="124587" y="147418"/>
                  <a:pt x="126433" y="146333"/>
                </a:cubicBezTo>
                <a:cubicBezTo>
                  <a:pt x="132822" y="142641"/>
                  <a:pt x="140677" y="147183"/>
                  <a:pt x="140677" y="154569"/>
                </a:cubicBezTo>
                <a:cubicBezTo>
                  <a:pt x="140677" y="156708"/>
                  <a:pt x="142113" y="158613"/>
                  <a:pt x="144223" y="158936"/>
                </a:cubicBezTo>
                <a:cubicBezTo>
                  <a:pt x="148004" y="159522"/>
                  <a:pt x="152078" y="159522"/>
                  <a:pt x="155858" y="158936"/>
                </a:cubicBezTo>
                <a:cubicBezTo>
                  <a:pt x="157968" y="158613"/>
                  <a:pt x="159405" y="156708"/>
                  <a:pt x="159405" y="154569"/>
                </a:cubicBezTo>
                <a:cubicBezTo>
                  <a:pt x="159405" y="147183"/>
                  <a:pt x="167259" y="142641"/>
                  <a:pt x="173648" y="146333"/>
                </a:cubicBezTo>
                <a:cubicBezTo>
                  <a:pt x="175494" y="147388"/>
                  <a:pt x="177868" y="147095"/>
                  <a:pt x="179217" y="145454"/>
                </a:cubicBezTo>
                <a:cubicBezTo>
                  <a:pt x="181678" y="142435"/>
                  <a:pt x="183642" y="139006"/>
                  <a:pt x="185049" y="135372"/>
                </a:cubicBezTo>
                <a:cubicBezTo>
                  <a:pt x="185811" y="133379"/>
                  <a:pt x="184902" y="131181"/>
                  <a:pt x="183056" y="130126"/>
                </a:cubicBezTo>
                <a:cubicBezTo>
                  <a:pt x="176637" y="126433"/>
                  <a:pt x="176637" y="117377"/>
                  <a:pt x="183056" y="113655"/>
                </a:cubicBezTo>
                <a:close/>
                <a:moveTo>
                  <a:pt x="138332" y="121920"/>
                </a:moveTo>
                <a:cubicBezTo>
                  <a:pt x="138332" y="115450"/>
                  <a:pt x="143585" y="110197"/>
                  <a:pt x="150055" y="110197"/>
                </a:cubicBezTo>
                <a:cubicBezTo>
                  <a:pt x="156526" y="110197"/>
                  <a:pt x="161778" y="115450"/>
                  <a:pt x="161778" y="121920"/>
                </a:cubicBezTo>
                <a:cubicBezTo>
                  <a:pt x="161778" y="128390"/>
                  <a:pt x="156526" y="133643"/>
                  <a:pt x="150055" y="133643"/>
                </a:cubicBezTo>
                <a:cubicBezTo>
                  <a:pt x="143585" y="133643"/>
                  <a:pt x="138332" y="128390"/>
                  <a:pt x="138332" y="121920"/>
                </a:cubicBezTo>
                <a:close/>
              </a:path>
            </a:pathLst>
          </a:custGeom>
          <a:solidFill>
            <a:srgbClr val="BCA37F"/>
          </a:solidFill>
          <a:ln/>
        </p:spPr>
      </p:sp>
      <p:sp>
        <p:nvSpPr>
          <p:cNvPr id="24" name="Text 22"/>
          <p:cNvSpPr/>
          <p:nvPr/>
        </p:nvSpPr>
        <p:spPr>
          <a:xfrm>
            <a:off x="6431427" y="2391508"/>
            <a:ext cx="3395003" cy="225083"/>
          </a:xfrm>
          <a:prstGeom prst="rect">
            <a:avLst/>
          </a:prstGeom>
          <a:noFill/>
          <a:ln/>
        </p:spPr>
        <p:txBody>
          <a:bodyPr wrap="square" lIns="0" tIns="0" rIns="0" bIns="0" rtlCol="0" anchor="ctr"/>
          <a:lstStyle/>
          <a:p>
            <a:pPr>
              <a:lnSpc>
                <a:spcPct val="130000"/>
              </a:lnSpc>
            </a:pPr>
            <a:r>
              <a:rPr lang="en-US" sz="1182" dirty="0">
                <a:solidFill>
                  <a:srgbClr val="F8F6F2"/>
                </a:solidFill>
                <a:latin typeface="Quattrocento Sans" pitchFamily="34" charset="0"/>
                <a:ea typeface="Quattrocento Sans" pitchFamily="34" charset="-122"/>
                <a:cs typeface="Quattrocento Sans" pitchFamily="34" charset="-120"/>
              </a:rPr>
              <a:t>Staff hiring, training, and performance management</a:t>
            </a:r>
            <a:endParaRPr lang="en-US" sz="1600" dirty="0"/>
          </a:p>
        </p:txBody>
      </p:sp>
      <p:sp>
        <p:nvSpPr>
          <p:cNvPr id="25" name="Shape 23"/>
          <p:cNvSpPr/>
          <p:nvPr/>
        </p:nvSpPr>
        <p:spPr>
          <a:xfrm>
            <a:off x="6187587" y="2691618"/>
            <a:ext cx="150055" cy="150055"/>
          </a:xfrm>
          <a:custGeom>
            <a:avLst/>
            <a:gdLst/>
            <a:ahLst/>
            <a:cxnLst/>
            <a:rect l="l" t="t" r="r" b="b"/>
            <a:pathLst>
              <a:path w="150055" h="150055">
                <a:moveTo>
                  <a:pt x="150055" y="9378"/>
                </a:moveTo>
                <a:cubicBezTo>
                  <a:pt x="150055" y="41060"/>
                  <a:pt x="127606" y="67496"/>
                  <a:pt x="97770" y="73680"/>
                </a:cubicBezTo>
                <a:cubicBezTo>
                  <a:pt x="95455" y="56652"/>
                  <a:pt x="87806" y="41324"/>
                  <a:pt x="76522" y="29454"/>
                </a:cubicBezTo>
                <a:cubicBezTo>
                  <a:pt x="88275" y="11723"/>
                  <a:pt x="108409" y="0"/>
                  <a:pt x="131298" y="0"/>
                </a:cubicBezTo>
                <a:lnTo>
                  <a:pt x="140677" y="0"/>
                </a:lnTo>
                <a:cubicBezTo>
                  <a:pt x="145864" y="0"/>
                  <a:pt x="150055" y="4191"/>
                  <a:pt x="150055" y="9378"/>
                </a:cubicBezTo>
                <a:close/>
                <a:moveTo>
                  <a:pt x="0" y="28135"/>
                </a:moveTo>
                <a:cubicBezTo>
                  <a:pt x="0" y="22948"/>
                  <a:pt x="4191" y="18757"/>
                  <a:pt x="9378" y="18757"/>
                </a:cubicBezTo>
                <a:lnTo>
                  <a:pt x="18757" y="18757"/>
                </a:lnTo>
                <a:cubicBezTo>
                  <a:pt x="55011" y="18757"/>
                  <a:pt x="84406" y="48153"/>
                  <a:pt x="84406" y="84406"/>
                </a:cubicBezTo>
                <a:lnTo>
                  <a:pt x="84406" y="140677"/>
                </a:lnTo>
                <a:cubicBezTo>
                  <a:pt x="84406" y="145864"/>
                  <a:pt x="80215" y="150055"/>
                  <a:pt x="75028" y="150055"/>
                </a:cubicBezTo>
                <a:cubicBezTo>
                  <a:pt x="69840" y="150055"/>
                  <a:pt x="65649" y="145864"/>
                  <a:pt x="65649" y="140677"/>
                </a:cubicBezTo>
                <a:lnTo>
                  <a:pt x="65649" y="93785"/>
                </a:lnTo>
                <a:cubicBezTo>
                  <a:pt x="29396" y="93785"/>
                  <a:pt x="0" y="64389"/>
                  <a:pt x="0" y="28135"/>
                </a:cubicBezTo>
                <a:close/>
              </a:path>
            </a:pathLst>
          </a:custGeom>
          <a:solidFill>
            <a:srgbClr val="BCA37F"/>
          </a:solidFill>
          <a:ln/>
        </p:spPr>
      </p:sp>
      <p:sp>
        <p:nvSpPr>
          <p:cNvPr id="26" name="Text 24"/>
          <p:cNvSpPr/>
          <p:nvPr/>
        </p:nvSpPr>
        <p:spPr>
          <a:xfrm>
            <a:off x="6431427" y="2654105"/>
            <a:ext cx="3432517" cy="225083"/>
          </a:xfrm>
          <a:prstGeom prst="rect">
            <a:avLst/>
          </a:prstGeom>
          <a:noFill/>
          <a:ln/>
        </p:spPr>
        <p:txBody>
          <a:bodyPr wrap="square" lIns="0" tIns="0" rIns="0" bIns="0" rtlCol="0" anchor="ctr"/>
          <a:lstStyle/>
          <a:p>
            <a:pPr>
              <a:lnSpc>
                <a:spcPct val="130000"/>
              </a:lnSpc>
            </a:pPr>
            <a:r>
              <a:rPr lang="en-US" sz="1182" dirty="0">
                <a:solidFill>
                  <a:srgbClr val="F8F6F2"/>
                </a:solidFill>
                <a:latin typeface="Quattrocento Sans" pitchFamily="34" charset="0"/>
                <a:ea typeface="Quattrocento Sans" pitchFamily="34" charset="-122"/>
                <a:cs typeface="Quattrocento Sans" pitchFamily="34" charset="-120"/>
              </a:rPr>
              <a:t>Crop management and agricultural decision-making</a:t>
            </a:r>
            <a:endParaRPr lang="en-US" sz="1600" dirty="0"/>
          </a:p>
        </p:txBody>
      </p:sp>
      <p:sp>
        <p:nvSpPr>
          <p:cNvPr id="27" name="Shape 25"/>
          <p:cNvSpPr/>
          <p:nvPr/>
        </p:nvSpPr>
        <p:spPr>
          <a:xfrm>
            <a:off x="6187587" y="2954215"/>
            <a:ext cx="150055" cy="150055"/>
          </a:xfrm>
          <a:custGeom>
            <a:avLst/>
            <a:gdLst/>
            <a:ahLst/>
            <a:cxnLst/>
            <a:rect l="l" t="t" r="r" b="b"/>
            <a:pathLst>
              <a:path w="150055" h="150055">
                <a:moveTo>
                  <a:pt x="18757" y="18757"/>
                </a:moveTo>
                <a:cubicBezTo>
                  <a:pt x="18757" y="13569"/>
                  <a:pt x="14566" y="9378"/>
                  <a:pt x="9378" y="9378"/>
                </a:cubicBezTo>
                <a:cubicBezTo>
                  <a:pt x="4191" y="9378"/>
                  <a:pt x="0" y="13569"/>
                  <a:pt x="0" y="18757"/>
                </a:cubicBezTo>
                <a:lnTo>
                  <a:pt x="0" y="117231"/>
                </a:lnTo>
                <a:cubicBezTo>
                  <a:pt x="0" y="130185"/>
                  <a:pt x="10492" y="140677"/>
                  <a:pt x="23446" y="140677"/>
                </a:cubicBezTo>
                <a:lnTo>
                  <a:pt x="140677" y="140677"/>
                </a:lnTo>
                <a:cubicBezTo>
                  <a:pt x="145864" y="140677"/>
                  <a:pt x="150055" y="136486"/>
                  <a:pt x="150055" y="131298"/>
                </a:cubicBezTo>
                <a:cubicBezTo>
                  <a:pt x="150055" y="126111"/>
                  <a:pt x="145864" y="121920"/>
                  <a:pt x="140677" y="121920"/>
                </a:cubicBezTo>
                <a:lnTo>
                  <a:pt x="23446" y="121920"/>
                </a:lnTo>
                <a:cubicBezTo>
                  <a:pt x="20867" y="121920"/>
                  <a:pt x="18757" y="119810"/>
                  <a:pt x="18757" y="117231"/>
                </a:cubicBezTo>
                <a:lnTo>
                  <a:pt x="18757" y="18757"/>
                </a:lnTo>
                <a:close/>
                <a:moveTo>
                  <a:pt x="137922" y="44137"/>
                </a:moveTo>
                <a:cubicBezTo>
                  <a:pt x="141585" y="40474"/>
                  <a:pt x="141585" y="34524"/>
                  <a:pt x="137922" y="30861"/>
                </a:cubicBezTo>
                <a:cubicBezTo>
                  <a:pt x="134259" y="27198"/>
                  <a:pt x="128309" y="27198"/>
                  <a:pt x="124646" y="30861"/>
                </a:cubicBezTo>
                <a:lnTo>
                  <a:pt x="93785" y="61751"/>
                </a:lnTo>
                <a:lnTo>
                  <a:pt x="76962" y="44958"/>
                </a:lnTo>
                <a:cubicBezTo>
                  <a:pt x="73299" y="41295"/>
                  <a:pt x="67349" y="41295"/>
                  <a:pt x="63686" y="44958"/>
                </a:cubicBezTo>
                <a:lnTo>
                  <a:pt x="35550" y="73093"/>
                </a:lnTo>
                <a:cubicBezTo>
                  <a:pt x="31887" y="76757"/>
                  <a:pt x="31887" y="82706"/>
                  <a:pt x="35550" y="86370"/>
                </a:cubicBezTo>
                <a:cubicBezTo>
                  <a:pt x="39214" y="90033"/>
                  <a:pt x="45163" y="90033"/>
                  <a:pt x="48827" y="86370"/>
                </a:cubicBezTo>
                <a:lnTo>
                  <a:pt x="70338" y="64858"/>
                </a:lnTo>
                <a:lnTo>
                  <a:pt x="87161" y="81681"/>
                </a:lnTo>
                <a:cubicBezTo>
                  <a:pt x="90825" y="85344"/>
                  <a:pt x="96774" y="85344"/>
                  <a:pt x="100437" y="81681"/>
                </a:cubicBezTo>
                <a:lnTo>
                  <a:pt x="137951" y="44167"/>
                </a:lnTo>
                <a:close/>
              </a:path>
            </a:pathLst>
          </a:custGeom>
          <a:solidFill>
            <a:srgbClr val="BCA37F"/>
          </a:solidFill>
          <a:ln/>
        </p:spPr>
      </p:sp>
      <p:sp>
        <p:nvSpPr>
          <p:cNvPr id="28" name="Text 26"/>
          <p:cNvSpPr/>
          <p:nvPr/>
        </p:nvSpPr>
        <p:spPr>
          <a:xfrm>
            <a:off x="6431427" y="2916702"/>
            <a:ext cx="2597834" cy="225083"/>
          </a:xfrm>
          <a:prstGeom prst="rect">
            <a:avLst/>
          </a:prstGeom>
          <a:noFill/>
          <a:ln/>
        </p:spPr>
        <p:txBody>
          <a:bodyPr wrap="square" lIns="0" tIns="0" rIns="0" bIns="0" rtlCol="0" anchor="ctr"/>
          <a:lstStyle/>
          <a:p>
            <a:pPr>
              <a:lnSpc>
                <a:spcPct val="130000"/>
              </a:lnSpc>
            </a:pPr>
            <a:r>
              <a:rPr lang="en-US" sz="1182" dirty="0">
                <a:solidFill>
                  <a:srgbClr val="F8F6F2"/>
                </a:solidFill>
                <a:latin typeface="Quattrocento Sans" pitchFamily="34" charset="0"/>
                <a:ea typeface="Quattrocento Sans" pitchFamily="34" charset="-122"/>
                <a:cs typeface="Quattrocento Sans" pitchFamily="34" charset="-120"/>
              </a:rPr>
              <a:t>Financial record-keeping and reporting</a:t>
            </a:r>
            <a:endParaRPr lang="en-US" sz="1600" dirty="0"/>
          </a:p>
        </p:txBody>
      </p:sp>
      <p:sp>
        <p:nvSpPr>
          <p:cNvPr id="29" name="Shape 27"/>
          <p:cNvSpPr/>
          <p:nvPr/>
        </p:nvSpPr>
        <p:spPr>
          <a:xfrm>
            <a:off x="393895" y="3404382"/>
            <a:ext cx="5627077" cy="3451274"/>
          </a:xfrm>
          <a:custGeom>
            <a:avLst/>
            <a:gdLst/>
            <a:ahLst/>
            <a:cxnLst/>
            <a:rect l="l" t="t" r="r" b="b"/>
            <a:pathLst>
              <a:path w="5627077" h="3451274">
                <a:moveTo>
                  <a:pt x="37514" y="0"/>
                </a:moveTo>
                <a:lnTo>
                  <a:pt x="5552046" y="0"/>
                </a:lnTo>
                <a:cubicBezTo>
                  <a:pt x="5593485" y="0"/>
                  <a:pt x="5627077" y="33592"/>
                  <a:pt x="5627077" y="75031"/>
                </a:cubicBezTo>
                <a:lnTo>
                  <a:pt x="5627077" y="3376243"/>
                </a:lnTo>
                <a:cubicBezTo>
                  <a:pt x="5627077" y="3417681"/>
                  <a:pt x="5593485" y="3451274"/>
                  <a:pt x="5552046" y="3451274"/>
                </a:cubicBezTo>
                <a:lnTo>
                  <a:pt x="37514" y="3451274"/>
                </a:lnTo>
                <a:cubicBezTo>
                  <a:pt x="16796" y="3451274"/>
                  <a:pt x="0" y="3434478"/>
                  <a:pt x="0" y="3413760"/>
                </a:cubicBezTo>
                <a:lnTo>
                  <a:pt x="0" y="37514"/>
                </a:lnTo>
                <a:cubicBezTo>
                  <a:pt x="0" y="16809"/>
                  <a:pt x="16809" y="0"/>
                  <a:pt x="37514" y="0"/>
                </a:cubicBezTo>
                <a:close/>
              </a:path>
            </a:pathLst>
          </a:custGeom>
          <a:solidFill>
            <a:srgbClr val="FFFFFF"/>
          </a:solidFill>
          <a:ln/>
          <a:effectLst>
            <a:outerShdw sx="100000" sy="100000" kx="0" ky="0" algn="bl" rotWithShape="0" blurRad="28135" dist="9378" dir="5400000">
              <a:srgbClr val="000000">
                <a:alpha val="10196"/>
              </a:srgbClr>
            </a:outerShdw>
          </a:effectLst>
        </p:spPr>
      </p:sp>
      <p:sp>
        <p:nvSpPr>
          <p:cNvPr id="30" name="Shape 28"/>
          <p:cNvSpPr/>
          <p:nvPr/>
        </p:nvSpPr>
        <p:spPr>
          <a:xfrm>
            <a:off x="393895" y="3404382"/>
            <a:ext cx="37514" cy="3451274"/>
          </a:xfrm>
          <a:custGeom>
            <a:avLst/>
            <a:gdLst/>
            <a:ahLst/>
            <a:cxnLst/>
            <a:rect l="l" t="t" r="r" b="b"/>
            <a:pathLst>
              <a:path w="37514" h="3451274">
                <a:moveTo>
                  <a:pt x="37514" y="0"/>
                </a:moveTo>
                <a:lnTo>
                  <a:pt x="37514" y="0"/>
                </a:lnTo>
                <a:lnTo>
                  <a:pt x="37514" y="3451274"/>
                </a:lnTo>
                <a:lnTo>
                  <a:pt x="37514" y="3451274"/>
                </a:lnTo>
                <a:cubicBezTo>
                  <a:pt x="16796" y="3451274"/>
                  <a:pt x="0" y="3434478"/>
                  <a:pt x="0" y="3413760"/>
                </a:cubicBezTo>
                <a:lnTo>
                  <a:pt x="0" y="37514"/>
                </a:lnTo>
                <a:cubicBezTo>
                  <a:pt x="0" y="16809"/>
                  <a:pt x="16809" y="0"/>
                  <a:pt x="37514" y="0"/>
                </a:cubicBezTo>
                <a:close/>
              </a:path>
            </a:pathLst>
          </a:custGeom>
          <a:solidFill>
            <a:srgbClr val="7A6250"/>
          </a:solidFill>
          <a:ln/>
        </p:spPr>
      </p:sp>
      <p:sp>
        <p:nvSpPr>
          <p:cNvPr id="31" name="Shape 29"/>
          <p:cNvSpPr/>
          <p:nvPr/>
        </p:nvSpPr>
        <p:spPr>
          <a:xfrm>
            <a:off x="562708" y="3554437"/>
            <a:ext cx="375138" cy="375138"/>
          </a:xfrm>
          <a:custGeom>
            <a:avLst/>
            <a:gdLst/>
            <a:ahLst/>
            <a:cxnLst/>
            <a:rect l="l" t="t" r="r" b="b"/>
            <a:pathLst>
              <a:path w="375138" h="375138">
                <a:moveTo>
                  <a:pt x="187569" y="0"/>
                </a:moveTo>
                <a:lnTo>
                  <a:pt x="187569" y="0"/>
                </a:lnTo>
                <a:cubicBezTo>
                  <a:pt x="291092" y="0"/>
                  <a:pt x="375138" y="84047"/>
                  <a:pt x="375138" y="187569"/>
                </a:cubicBezTo>
                <a:lnTo>
                  <a:pt x="375138" y="187569"/>
                </a:lnTo>
                <a:cubicBezTo>
                  <a:pt x="375138" y="291092"/>
                  <a:pt x="291092" y="375138"/>
                  <a:pt x="187569" y="375138"/>
                </a:cubicBezTo>
                <a:lnTo>
                  <a:pt x="187569" y="375138"/>
                </a:lnTo>
                <a:cubicBezTo>
                  <a:pt x="84047" y="375138"/>
                  <a:pt x="0" y="291092"/>
                  <a:pt x="0" y="187569"/>
                </a:cubicBezTo>
                <a:lnTo>
                  <a:pt x="0" y="187569"/>
                </a:lnTo>
                <a:cubicBezTo>
                  <a:pt x="0" y="84047"/>
                  <a:pt x="84047" y="0"/>
                  <a:pt x="187569" y="0"/>
                </a:cubicBezTo>
                <a:close/>
              </a:path>
            </a:pathLst>
          </a:custGeom>
          <a:solidFill>
            <a:srgbClr val="7A6250"/>
          </a:solidFill>
          <a:ln/>
        </p:spPr>
      </p:sp>
      <p:sp>
        <p:nvSpPr>
          <p:cNvPr id="32" name="Shape 30"/>
          <p:cNvSpPr/>
          <p:nvPr/>
        </p:nvSpPr>
        <p:spPr>
          <a:xfrm>
            <a:off x="668215" y="3657600"/>
            <a:ext cx="168812" cy="168812"/>
          </a:xfrm>
          <a:custGeom>
            <a:avLst/>
            <a:gdLst/>
            <a:ahLst/>
            <a:cxnLst/>
            <a:rect l="l" t="t" r="r" b="b"/>
            <a:pathLst>
              <a:path w="168812" h="168812">
                <a:moveTo>
                  <a:pt x="0" y="138347"/>
                </a:moveTo>
                <a:lnTo>
                  <a:pt x="0" y="36103"/>
                </a:lnTo>
                <a:cubicBezTo>
                  <a:pt x="0" y="28454"/>
                  <a:pt x="7946" y="23377"/>
                  <a:pt x="15266" y="25553"/>
                </a:cubicBezTo>
                <a:cubicBezTo>
                  <a:pt x="44181" y="34191"/>
                  <a:pt x="64623" y="27366"/>
                  <a:pt x="85197" y="20508"/>
                </a:cubicBezTo>
                <a:cubicBezTo>
                  <a:pt x="106464" y="13419"/>
                  <a:pt x="127862" y="6297"/>
                  <a:pt x="158822" y="16189"/>
                </a:cubicBezTo>
                <a:cubicBezTo>
                  <a:pt x="164922" y="18134"/>
                  <a:pt x="168812" y="24036"/>
                  <a:pt x="168812" y="30465"/>
                </a:cubicBezTo>
                <a:lnTo>
                  <a:pt x="168812" y="132709"/>
                </a:lnTo>
                <a:cubicBezTo>
                  <a:pt x="168812" y="140358"/>
                  <a:pt x="160866" y="145436"/>
                  <a:pt x="153580" y="143260"/>
                </a:cubicBezTo>
                <a:cubicBezTo>
                  <a:pt x="124664" y="134621"/>
                  <a:pt x="104189" y="141446"/>
                  <a:pt x="83648" y="148304"/>
                </a:cubicBezTo>
                <a:cubicBezTo>
                  <a:pt x="62381" y="155393"/>
                  <a:pt x="40983" y="162515"/>
                  <a:pt x="10023" y="152623"/>
                </a:cubicBezTo>
                <a:cubicBezTo>
                  <a:pt x="3924" y="150678"/>
                  <a:pt x="33" y="144776"/>
                  <a:pt x="33" y="138347"/>
                </a:cubicBezTo>
                <a:close/>
                <a:moveTo>
                  <a:pt x="110783" y="84406"/>
                </a:moveTo>
                <a:cubicBezTo>
                  <a:pt x="110783" y="66931"/>
                  <a:pt x="98979" y="52754"/>
                  <a:pt x="84406" y="52754"/>
                </a:cubicBezTo>
                <a:cubicBezTo>
                  <a:pt x="69833" y="52754"/>
                  <a:pt x="58029" y="66931"/>
                  <a:pt x="58029" y="84406"/>
                </a:cubicBezTo>
                <a:cubicBezTo>
                  <a:pt x="58029" y="101881"/>
                  <a:pt x="69833" y="116058"/>
                  <a:pt x="84406" y="116058"/>
                </a:cubicBezTo>
                <a:cubicBezTo>
                  <a:pt x="98979" y="116058"/>
                  <a:pt x="110783" y="101881"/>
                  <a:pt x="110783" y="84406"/>
                </a:cubicBezTo>
                <a:close/>
                <a:moveTo>
                  <a:pt x="39565" y="136369"/>
                </a:moveTo>
                <a:cubicBezTo>
                  <a:pt x="41016" y="136369"/>
                  <a:pt x="42170" y="135116"/>
                  <a:pt x="41939" y="133698"/>
                </a:cubicBezTo>
                <a:cubicBezTo>
                  <a:pt x="40423" y="124532"/>
                  <a:pt x="33037" y="117377"/>
                  <a:pt x="23739" y="116223"/>
                </a:cubicBezTo>
                <a:cubicBezTo>
                  <a:pt x="22288" y="116058"/>
                  <a:pt x="21102" y="117245"/>
                  <a:pt x="21102" y="118696"/>
                </a:cubicBezTo>
                <a:lnTo>
                  <a:pt x="21102" y="131852"/>
                </a:lnTo>
                <a:cubicBezTo>
                  <a:pt x="21102" y="133039"/>
                  <a:pt x="21893" y="134094"/>
                  <a:pt x="23080" y="134390"/>
                </a:cubicBezTo>
                <a:cubicBezTo>
                  <a:pt x="28982" y="135775"/>
                  <a:pt x="34389" y="136402"/>
                  <a:pt x="39565" y="136402"/>
                </a:cubicBezTo>
                <a:close/>
                <a:moveTo>
                  <a:pt x="144579" y="119520"/>
                </a:moveTo>
                <a:cubicBezTo>
                  <a:pt x="146227" y="119784"/>
                  <a:pt x="147711" y="118531"/>
                  <a:pt x="147711" y="116883"/>
                </a:cubicBezTo>
                <a:lnTo>
                  <a:pt x="147711" y="102837"/>
                </a:lnTo>
                <a:cubicBezTo>
                  <a:pt x="147711" y="101386"/>
                  <a:pt x="146524" y="100166"/>
                  <a:pt x="145073" y="100364"/>
                </a:cubicBezTo>
                <a:cubicBezTo>
                  <a:pt x="136764" y="101386"/>
                  <a:pt x="129939" y="107255"/>
                  <a:pt x="127532" y="115069"/>
                </a:cubicBezTo>
                <a:cubicBezTo>
                  <a:pt x="127071" y="116619"/>
                  <a:pt x="128291" y="118070"/>
                  <a:pt x="129906" y="118103"/>
                </a:cubicBezTo>
                <a:cubicBezTo>
                  <a:pt x="134588" y="118235"/>
                  <a:pt x="139468" y="118663"/>
                  <a:pt x="144546" y="119520"/>
                </a:cubicBezTo>
                <a:close/>
                <a:moveTo>
                  <a:pt x="147711" y="50116"/>
                </a:moveTo>
                <a:lnTo>
                  <a:pt x="147711" y="36961"/>
                </a:lnTo>
                <a:cubicBezTo>
                  <a:pt x="147711" y="35774"/>
                  <a:pt x="146886" y="34719"/>
                  <a:pt x="145733" y="34422"/>
                </a:cubicBezTo>
                <a:cubicBezTo>
                  <a:pt x="139831" y="33037"/>
                  <a:pt x="134423" y="32411"/>
                  <a:pt x="129247" y="32411"/>
                </a:cubicBezTo>
                <a:cubicBezTo>
                  <a:pt x="127796" y="32411"/>
                  <a:pt x="126642" y="33664"/>
                  <a:pt x="126873" y="35081"/>
                </a:cubicBezTo>
                <a:cubicBezTo>
                  <a:pt x="128390" y="44247"/>
                  <a:pt x="135775" y="51402"/>
                  <a:pt x="145073" y="52556"/>
                </a:cubicBezTo>
                <a:cubicBezTo>
                  <a:pt x="146524" y="52721"/>
                  <a:pt x="147711" y="51534"/>
                  <a:pt x="147711" y="50083"/>
                </a:cubicBezTo>
                <a:close/>
                <a:moveTo>
                  <a:pt x="41280" y="53710"/>
                </a:moveTo>
                <a:cubicBezTo>
                  <a:pt x="41741" y="52160"/>
                  <a:pt x="40522" y="50710"/>
                  <a:pt x="38906" y="50677"/>
                </a:cubicBezTo>
                <a:cubicBezTo>
                  <a:pt x="34224" y="50545"/>
                  <a:pt x="29344" y="50116"/>
                  <a:pt x="24267" y="49259"/>
                </a:cubicBezTo>
                <a:cubicBezTo>
                  <a:pt x="22618" y="48995"/>
                  <a:pt x="21135" y="50248"/>
                  <a:pt x="21135" y="51897"/>
                </a:cubicBezTo>
                <a:lnTo>
                  <a:pt x="21102" y="65942"/>
                </a:lnTo>
                <a:cubicBezTo>
                  <a:pt x="21102" y="67393"/>
                  <a:pt x="22288" y="68613"/>
                  <a:pt x="23739" y="68415"/>
                </a:cubicBezTo>
                <a:cubicBezTo>
                  <a:pt x="32048" y="67393"/>
                  <a:pt x="38873" y="61524"/>
                  <a:pt x="41280" y="53710"/>
                </a:cubicBezTo>
                <a:close/>
              </a:path>
            </a:pathLst>
          </a:custGeom>
          <a:solidFill>
            <a:srgbClr val="F8F6F2"/>
          </a:solidFill>
          <a:ln/>
        </p:spPr>
      </p:sp>
      <p:sp>
        <p:nvSpPr>
          <p:cNvPr id="33" name="Text 31"/>
          <p:cNvSpPr/>
          <p:nvPr/>
        </p:nvSpPr>
        <p:spPr>
          <a:xfrm>
            <a:off x="1050388" y="3610708"/>
            <a:ext cx="2579077" cy="262597"/>
          </a:xfrm>
          <a:prstGeom prst="rect">
            <a:avLst/>
          </a:prstGeom>
          <a:noFill/>
          <a:ln/>
        </p:spPr>
        <p:txBody>
          <a:bodyPr wrap="square" lIns="0" tIns="0" rIns="0" bIns="0" rtlCol="0" anchor="ctr"/>
          <a:lstStyle/>
          <a:p>
            <a:pPr>
              <a:lnSpc>
                <a:spcPct val="120000"/>
              </a:lnSpc>
            </a:pPr>
            <a:r>
              <a:rPr lang="en-US" sz="1477" b="1" dirty="0">
                <a:solidFill>
                  <a:srgbClr val="3A4D39"/>
                </a:solidFill>
                <a:latin typeface="Unna" pitchFamily="34" charset="0"/>
                <a:ea typeface="Unna" pitchFamily="34" charset="-122"/>
                <a:cs typeface="Unna" pitchFamily="34" charset="-120"/>
              </a:rPr>
              <a:t>Category B: Monetary Partners</a:t>
            </a:r>
            <a:endParaRPr lang="en-US" sz="1600" dirty="0"/>
          </a:p>
        </p:txBody>
      </p:sp>
      <p:sp>
        <p:nvSpPr>
          <p:cNvPr id="34" name="Text 32"/>
          <p:cNvSpPr/>
          <p:nvPr/>
        </p:nvSpPr>
        <p:spPr>
          <a:xfrm>
            <a:off x="562708" y="4042117"/>
            <a:ext cx="5383237" cy="225083"/>
          </a:xfrm>
          <a:prstGeom prst="rect">
            <a:avLst/>
          </a:prstGeom>
          <a:noFill/>
          <a:ln/>
        </p:spPr>
        <p:txBody>
          <a:bodyPr wrap="square" lIns="0" tIns="0" rIns="0" bIns="0" rtlCol="0" anchor="ctr"/>
          <a:lstStyle/>
          <a:p>
            <a:pPr>
              <a:lnSpc>
                <a:spcPct val="130000"/>
              </a:lnSpc>
            </a:pPr>
            <a:r>
              <a:rPr lang="en-US" sz="1182" b="1" dirty="0">
                <a:solidFill>
                  <a:srgbClr val="3A4D39"/>
                </a:solidFill>
                <a:latin typeface="Unna" pitchFamily="34" charset="0"/>
                <a:ea typeface="Unna" pitchFamily="34" charset="-122"/>
                <a:cs typeface="Unna" pitchFamily="34" charset="-120"/>
              </a:rPr>
              <a:t>Investment Role</a:t>
            </a:r>
            <a:endParaRPr lang="en-US" sz="1600" dirty="0"/>
          </a:p>
        </p:txBody>
      </p:sp>
      <p:sp>
        <p:nvSpPr>
          <p:cNvPr id="35" name="Text 33"/>
          <p:cNvSpPr/>
          <p:nvPr/>
        </p:nvSpPr>
        <p:spPr>
          <a:xfrm>
            <a:off x="562708" y="4304714"/>
            <a:ext cx="5383237" cy="450166"/>
          </a:xfrm>
          <a:prstGeom prst="rect">
            <a:avLst/>
          </a:prstGeom>
          <a:noFill/>
          <a:ln/>
        </p:spPr>
        <p:txBody>
          <a:bodyPr wrap="square" lIns="0" tIns="0" rIns="0" bIns="0" rtlCol="0" anchor="ctr"/>
          <a:lstStyle/>
          <a:p>
            <a:pPr>
              <a:lnSpc>
                <a:spcPct val="130000"/>
              </a:lnSpc>
            </a:pPr>
            <a:r>
              <a:rPr lang="en-US" sz="1182" dirty="0">
                <a:solidFill>
                  <a:srgbClr val="2C2C2C"/>
                </a:solidFill>
                <a:latin typeface="Quattrocento Sans" pitchFamily="34" charset="0"/>
                <a:ea typeface="Quattrocento Sans" pitchFamily="34" charset="-122"/>
                <a:cs typeface="Quattrocento Sans" pitchFamily="34" charset="-120"/>
              </a:rPr>
              <a:t>Capital-only investors providing financial contributions without operational involvement.</a:t>
            </a:r>
            <a:endParaRPr lang="en-US" sz="1600" dirty="0"/>
          </a:p>
        </p:txBody>
      </p:sp>
      <p:sp>
        <p:nvSpPr>
          <p:cNvPr id="36" name="Text 34"/>
          <p:cNvSpPr/>
          <p:nvPr/>
        </p:nvSpPr>
        <p:spPr>
          <a:xfrm>
            <a:off x="562708" y="4829908"/>
            <a:ext cx="5383237" cy="225083"/>
          </a:xfrm>
          <a:prstGeom prst="rect">
            <a:avLst/>
          </a:prstGeom>
          <a:noFill/>
          <a:ln/>
        </p:spPr>
        <p:txBody>
          <a:bodyPr wrap="square" lIns="0" tIns="0" rIns="0" bIns="0" rtlCol="0" anchor="ctr"/>
          <a:lstStyle/>
          <a:p>
            <a:pPr>
              <a:lnSpc>
                <a:spcPct val="130000"/>
              </a:lnSpc>
            </a:pPr>
            <a:r>
              <a:rPr lang="en-US" sz="1182" b="1" dirty="0">
                <a:solidFill>
                  <a:srgbClr val="3A4D39"/>
                </a:solidFill>
                <a:latin typeface="Unna" pitchFamily="34" charset="0"/>
                <a:ea typeface="Unna" pitchFamily="34" charset="-122"/>
                <a:cs typeface="Unna" pitchFamily="34" charset="-120"/>
              </a:rPr>
              <a:t>Rights &amp; Entitlements</a:t>
            </a:r>
            <a:endParaRPr lang="en-US" sz="1600" dirty="0"/>
          </a:p>
        </p:txBody>
      </p:sp>
      <p:sp>
        <p:nvSpPr>
          <p:cNvPr id="37" name="Text 35"/>
          <p:cNvSpPr/>
          <p:nvPr/>
        </p:nvSpPr>
        <p:spPr>
          <a:xfrm>
            <a:off x="562708" y="5092505"/>
            <a:ext cx="5383237" cy="225083"/>
          </a:xfrm>
          <a:prstGeom prst="rect">
            <a:avLst/>
          </a:prstGeom>
          <a:noFill/>
          <a:ln/>
        </p:spPr>
        <p:txBody>
          <a:bodyPr wrap="square" lIns="0" tIns="0" rIns="0" bIns="0" rtlCol="0" anchor="ctr"/>
          <a:lstStyle/>
          <a:p>
            <a:pPr>
              <a:lnSpc>
                <a:spcPct val="130000"/>
              </a:lnSpc>
            </a:pPr>
            <a:r>
              <a:rPr lang="en-US" sz="1182" dirty="0">
                <a:solidFill>
                  <a:srgbClr val="2C2C2C"/>
                </a:solidFill>
                <a:latin typeface="Quattrocento Sans" pitchFamily="34" charset="0"/>
                <a:ea typeface="Quattrocento Sans" pitchFamily="34" charset="-122"/>
                <a:cs typeface="Quattrocento Sans" pitchFamily="34" charset="-120"/>
              </a:rPr>
              <a:t>• Profit share based on investment percentage</a:t>
            </a:r>
            <a:endParaRPr lang="en-US" sz="1600" dirty="0"/>
          </a:p>
        </p:txBody>
      </p:sp>
      <p:sp>
        <p:nvSpPr>
          <p:cNvPr id="38" name="Text 36"/>
          <p:cNvSpPr/>
          <p:nvPr/>
        </p:nvSpPr>
        <p:spPr>
          <a:xfrm>
            <a:off x="562708" y="5355102"/>
            <a:ext cx="5383237" cy="225083"/>
          </a:xfrm>
          <a:prstGeom prst="rect">
            <a:avLst/>
          </a:prstGeom>
          <a:noFill/>
          <a:ln/>
        </p:spPr>
        <p:txBody>
          <a:bodyPr wrap="square" lIns="0" tIns="0" rIns="0" bIns="0" rtlCol="0" anchor="ctr"/>
          <a:lstStyle/>
          <a:p>
            <a:pPr>
              <a:lnSpc>
                <a:spcPct val="130000"/>
              </a:lnSpc>
            </a:pPr>
            <a:r>
              <a:rPr lang="en-US" sz="1182" dirty="0">
                <a:solidFill>
                  <a:srgbClr val="2C2C2C"/>
                </a:solidFill>
                <a:latin typeface="Quattrocento Sans" pitchFamily="34" charset="0"/>
                <a:ea typeface="Quattrocento Sans" pitchFamily="34" charset="-122"/>
                <a:cs typeface="Quattrocento Sans" pitchFamily="34" charset="-120"/>
              </a:rPr>
              <a:t>• Access to financial reports and updates</a:t>
            </a:r>
            <a:endParaRPr lang="en-US" sz="1600" dirty="0"/>
          </a:p>
        </p:txBody>
      </p:sp>
      <p:sp>
        <p:nvSpPr>
          <p:cNvPr id="39" name="Text 37"/>
          <p:cNvSpPr/>
          <p:nvPr/>
        </p:nvSpPr>
        <p:spPr>
          <a:xfrm>
            <a:off x="562708" y="5617698"/>
            <a:ext cx="5383237" cy="225083"/>
          </a:xfrm>
          <a:prstGeom prst="rect">
            <a:avLst/>
          </a:prstGeom>
          <a:noFill/>
          <a:ln/>
        </p:spPr>
        <p:txBody>
          <a:bodyPr wrap="square" lIns="0" tIns="0" rIns="0" bIns="0" rtlCol="0" anchor="ctr"/>
          <a:lstStyle/>
          <a:p>
            <a:pPr>
              <a:lnSpc>
                <a:spcPct val="130000"/>
              </a:lnSpc>
            </a:pPr>
            <a:r>
              <a:rPr lang="en-US" sz="1182" dirty="0">
                <a:solidFill>
                  <a:srgbClr val="2C2C2C"/>
                </a:solidFill>
                <a:latin typeface="Quattrocento Sans" pitchFamily="34" charset="0"/>
                <a:ea typeface="Quattrocento Sans" pitchFamily="34" charset="-122"/>
                <a:cs typeface="Quattrocento Sans" pitchFamily="34" charset="-120"/>
              </a:rPr>
              <a:t>• Voting rights on major decisions</a:t>
            </a:r>
            <a:endParaRPr lang="en-US" sz="1600" dirty="0"/>
          </a:p>
        </p:txBody>
      </p:sp>
      <p:sp>
        <p:nvSpPr>
          <p:cNvPr id="40" name="Text 38"/>
          <p:cNvSpPr/>
          <p:nvPr/>
        </p:nvSpPr>
        <p:spPr>
          <a:xfrm>
            <a:off x="562708" y="5880295"/>
            <a:ext cx="5383237" cy="225083"/>
          </a:xfrm>
          <a:prstGeom prst="rect">
            <a:avLst/>
          </a:prstGeom>
          <a:noFill/>
          <a:ln/>
        </p:spPr>
        <p:txBody>
          <a:bodyPr wrap="square" lIns="0" tIns="0" rIns="0" bIns="0" rtlCol="0" anchor="ctr"/>
          <a:lstStyle/>
          <a:p>
            <a:pPr>
              <a:lnSpc>
                <a:spcPct val="130000"/>
              </a:lnSpc>
            </a:pPr>
            <a:r>
              <a:rPr lang="en-US" sz="1182" dirty="0">
                <a:solidFill>
                  <a:srgbClr val="2C2C2C"/>
                </a:solidFill>
                <a:latin typeface="Quattrocento Sans" pitchFamily="34" charset="0"/>
                <a:ea typeface="Quattrocento Sans" pitchFamily="34" charset="-122"/>
                <a:cs typeface="Quattrocento Sans" pitchFamily="34" charset="-120"/>
              </a:rPr>
              <a:t>• Audit rights with reasonable notice</a:t>
            </a:r>
            <a:endParaRPr lang="en-US" sz="1600" dirty="0"/>
          </a:p>
        </p:txBody>
      </p:sp>
      <p:sp>
        <p:nvSpPr>
          <p:cNvPr id="41" name="Text 39"/>
          <p:cNvSpPr/>
          <p:nvPr/>
        </p:nvSpPr>
        <p:spPr>
          <a:xfrm>
            <a:off x="562708" y="6180406"/>
            <a:ext cx="5383237" cy="225083"/>
          </a:xfrm>
          <a:prstGeom prst="rect">
            <a:avLst/>
          </a:prstGeom>
          <a:noFill/>
          <a:ln/>
        </p:spPr>
        <p:txBody>
          <a:bodyPr wrap="square" lIns="0" tIns="0" rIns="0" bIns="0" rtlCol="0" anchor="ctr"/>
          <a:lstStyle/>
          <a:p>
            <a:pPr>
              <a:lnSpc>
                <a:spcPct val="130000"/>
              </a:lnSpc>
            </a:pPr>
            <a:r>
              <a:rPr lang="en-US" sz="1182" b="1" dirty="0">
                <a:solidFill>
                  <a:srgbClr val="3A4D39"/>
                </a:solidFill>
                <a:latin typeface="Unna" pitchFamily="34" charset="0"/>
                <a:ea typeface="Unna" pitchFamily="34" charset="-122"/>
                <a:cs typeface="Unna" pitchFamily="34" charset="-120"/>
              </a:rPr>
              <a:t>Limitations</a:t>
            </a:r>
            <a:endParaRPr lang="en-US" sz="1600" dirty="0"/>
          </a:p>
        </p:txBody>
      </p:sp>
      <p:sp>
        <p:nvSpPr>
          <p:cNvPr id="42" name="Text 40"/>
          <p:cNvSpPr/>
          <p:nvPr/>
        </p:nvSpPr>
        <p:spPr>
          <a:xfrm>
            <a:off x="562708" y="6443003"/>
            <a:ext cx="5383237" cy="225083"/>
          </a:xfrm>
          <a:prstGeom prst="rect">
            <a:avLst/>
          </a:prstGeom>
          <a:noFill/>
          <a:ln/>
        </p:spPr>
        <p:txBody>
          <a:bodyPr wrap="square" lIns="0" tIns="0" rIns="0" bIns="0" rtlCol="0" anchor="ctr"/>
          <a:lstStyle/>
          <a:p>
            <a:pPr>
              <a:lnSpc>
                <a:spcPct val="130000"/>
              </a:lnSpc>
            </a:pPr>
            <a:r>
              <a:rPr lang="en-US" sz="1182" dirty="0">
                <a:solidFill>
                  <a:srgbClr val="2C2C2C"/>
                </a:solidFill>
                <a:latin typeface="Quattrocento Sans" pitchFamily="34" charset="0"/>
                <a:ea typeface="Quattrocento Sans" pitchFamily="34" charset="-122"/>
                <a:cs typeface="Quattrocento Sans" pitchFamily="34" charset="-120"/>
              </a:rPr>
              <a:t>No day-to-day operational responsibilities or direct management authority.</a:t>
            </a:r>
            <a:endParaRPr lang="en-US" sz="1600" dirty="0"/>
          </a:p>
        </p:txBody>
      </p:sp>
      <p:sp>
        <p:nvSpPr>
          <p:cNvPr id="43" name="Shape 41"/>
          <p:cNvSpPr/>
          <p:nvPr/>
        </p:nvSpPr>
        <p:spPr>
          <a:xfrm>
            <a:off x="6187587" y="3404382"/>
            <a:ext cx="5627077" cy="3451274"/>
          </a:xfrm>
          <a:custGeom>
            <a:avLst/>
            <a:gdLst/>
            <a:ahLst/>
            <a:cxnLst/>
            <a:rect l="l" t="t" r="r" b="b"/>
            <a:pathLst>
              <a:path w="5627077" h="3451274">
                <a:moveTo>
                  <a:pt x="37514" y="0"/>
                </a:moveTo>
                <a:lnTo>
                  <a:pt x="5552046" y="0"/>
                </a:lnTo>
                <a:cubicBezTo>
                  <a:pt x="5593485" y="0"/>
                  <a:pt x="5627077" y="33592"/>
                  <a:pt x="5627077" y="75031"/>
                </a:cubicBezTo>
                <a:lnTo>
                  <a:pt x="5627077" y="3376243"/>
                </a:lnTo>
                <a:cubicBezTo>
                  <a:pt x="5627077" y="3417681"/>
                  <a:pt x="5593485" y="3451274"/>
                  <a:pt x="5552046" y="3451274"/>
                </a:cubicBezTo>
                <a:lnTo>
                  <a:pt x="37514" y="3451274"/>
                </a:lnTo>
                <a:cubicBezTo>
                  <a:pt x="16796" y="3451274"/>
                  <a:pt x="0" y="3434478"/>
                  <a:pt x="0" y="3413760"/>
                </a:cubicBezTo>
                <a:lnTo>
                  <a:pt x="0" y="37514"/>
                </a:lnTo>
                <a:cubicBezTo>
                  <a:pt x="0" y="16809"/>
                  <a:pt x="16809" y="0"/>
                  <a:pt x="37514" y="0"/>
                </a:cubicBezTo>
                <a:close/>
              </a:path>
            </a:pathLst>
          </a:custGeom>
          <a:solidFill>
            <a:srgbClr val="FFFFFF"/>
          </a:solidFill>
          <a:ln/>
          <a:effectLst>
            <a:outerShdw sx="100000" sy="100000" kx="0" ky="0" algn="bl" rotWithShape="0" blurRad="28135" dist="9378" dir="5400000">
              <a:srgbClr val="000000">
                <a:alpha val="10196"/>
              </a:srgbClr>
            </a:outerShdw>
          </a:effectLst>
        </p:spPr>
      </p:sp>
      <p:sp>
        <p:nvSpPr>
          <p:cNvPr id="44" name="Shape 42"/>
          <p:cNvSpPr/>
          <p:nvPr/>
        </p:nvSpPr>
        <p:spPr>
          <a:xfrm>
            <a:off x="6187587" y="3404382"/>
            <a:ext cx="37514" cy="3451274"/>
          </a:xfrm>
          <a:custGeom>
            <a:avLst/>
            <a:gdLst/>
            <a:ahLst/>
            <a:cxnLst/>
            <a:rect l="l" t="t" r="r" b="b"/>
            <a:pathLst>
              <a:path w="37514" h="3451274">
                <a:moveTo>
                  <a:pt x="37514" y="0"/>
                </a:moveTo>
                <a:lnTo>
                  <a:pt x="37514" y="0"/>
                </a:lnTo>
                <a:lnTo>
                  <a:pt x="37514" y="3451274"/>
                </a:lnTo>
                <a:lnTo>
                  <a:pt x="37514" y="3451274"/>
                </a:lnTo>
                <a:cubicBezTo>
                  <a:pt x="16796" y="3451274"/>
                  <a:pt x="0" y="3434478"/>
                  <a:pt x="0" y="3413760"/>
                </a:cubicBezTo>
                <a:lnTo>
                  <a:pt x="0" y="37514"/>
                </a:lnTo>
                <a:cubicBezTo>
                  <a:pt x="0" y="16809"/>
                  <a:pt x="16809" y="0"/>
                  <a:pt x="37514" y="0"/>
                </a:cubicBezTo>
                <a:close/>
              </a:path>
            </a:pathLst>
          </a:custGeom>
          <a:solidFill>
            <a:srgbClr val="3A4D39"/>
          </a:solidFill>
          <a:ln/>
        </p:spPr>
      </p:sp>
      <p:sp>
        <p:nvSpPr>
          <p:cNvPr id="45" name="Shape 43"/>
          <p:cNvSpPr/>
          <p:nvPr/>
        </p:nvSpPr>
        <p:spPr>
          <a:xfrm>
            <a:off x="6356399" y="3554437"/>
            <a:ext cx="375138" cy="375138"/>
          </a:xfrm>
          <a:custGeom>
            <a:avLst/>
            <a:gdLst/>
            <a:ahLst/>
            <a:cxnLst/>
            <a:rect l="l" t="t" r="r" b="b"/>
            <a:pathLst>
              <a:path w="375138" h="375138">
                <a:moveTo>
                  <a:pt x="187569" y="0"/>
                </a:moveTo>
                <a:lnTo>
                  <a:pt x="187569" y="0"/>
                </a:lnTo>
                <a:cubicBezTo>
                  <a:pt x="291092" y="0"/>
                  <a:pt x="375138" y="84047"/>
                  <a:pt x="375138" y="187569"/>
                </a:cubicBezTo>
                <a:lnTo>
                  <a:pt x="375138" y="187569"/>
                </a:lnTo>
                <a:cubicBezTo>
                  <a:pt x="375138" y="291092"/>
                  <a:pt x="291092" y="375138"/>
                  <a:pt x="187569" y="375138"/>
                </a:cubicBezTo>
                <a:lnTo>
                  <a:pt x="187569" y="375138"/>
                </a:lnTo>
                <a:cubicBezTo>
                  <a:pt x="84047" y="375138"/>
                  <a:pt x="0" y="291092"/>
                  <a:pt x="0" y="187569"/>
                </a:cubicBezTo>
                <a:lnTo>
                  <a:pt x="0" y="187569"/>
                </a:lnTo>
                <a:cubicBezTo>
                  <a:pt x="0" y="84047"/>
                  <a:pt x="84047" y="0"/>
                  <a:pt x="187569" y="0"/>
                </a:cubicBezTo>
                <a:close/>
              </a:path>
            </a:pathLst>
          </a:custGeom>
          <a:solidFill>
            <a:srgbClr val="3A4D39"/>
          </a:solidFill>
          <a:ln/>
        </p:spPr>
      </p:sp>
      <p:sp>
        <p:nvSpPr>
          <p:cNvPr id="46" name="Shape 44"/>
          <p:cNvSpPr/>
          <p:nvPr/>
        </p:nvSpPr>
        <p:spPr>
          <a:xfrm>
            <a:off x="6451356" y="3657600"/>
            <a:ext cx="189914" cy="168812"/>
          </a:xfrm>
          <a:custGeom>
            <a:avLst/>
            <a:gdLst/>
            <a:ahLst/>
            <a:cxnLst/>
            <a:rect l="l" t="t" r="r" b="b"/>
            <a:pathLst>
              <a:path w="189914" h="168812">
                <a:moveTo>
                  <a:pt x="94957" y="10551"/>
                </a:moveTo>
                <a:cubicBezTo>
                  <a:pt x="68316" y="10551"/>
                  <a:pt x="46984" y="22684"/>
                  <a:pt x="31454" y="37126"/>
                </a:cubicBezTo>
                <a:cubicBezTo>
                  <a:pt x="16024" y="51468"/>
                  <a:pt x="5704" y="68580"/>
                  <a:pt x="791" y="80351"/>
                </a:cubicBezTo>
                <a:cubicBezTo>
                  <a:pt x="-297" y="82955"/>
                  <a:pt x="-297" y="85857"/>
                  <a:pt x="791" y="88462"/>
                </a:cubicBezTo>
                <a:cubicBezTo>
                  <a:pt x="5704" y="100232"/>
                  <a:pt x="16024" y="117377"/>
                  <a:pt x="31454" y="131687"/>
                </a:cubicBezTo>
                <a:cubicBezTo>
                  <a:pt x="46984" y="146095"/>
                  <a:pt x="68316" y="158262"/>
                  <a:pt x="94957" y="158262"/>
                </a:cubicBezTo>
                <a:cubicBezTo>
                  <a:pt x="121598" y="158262"/>
                  <a:pt x="142930" y="146128"/>
                  <a:pt x="158459" y="131687"/>
                </a:cubicBezTo>
                <a:cubicBezTo>
                  <a:pt x="173890" y="117344"/>
                  <a:pt x="184210" y="100232"/>
                  <a:pt x="189123" y="88462"/>
                </a:cubicBezTo>
                <a:cubicBezTo>
                  <a:pt x="190211" y="85857"/>
                  <a:pt x="190211" y="82955"/>
                  <a:pt x="189123" y="80351"/>
                </a:cubicBezTo>
                <a:cubicBezTo>
                  <a:pt x="184210" y="68580"/>
                  <a:pt x="173890" y="51435"/>
                  <a:pt x="158459" y="37126"/>
                </a:cubicBezTo>
                <a:cubicBezTo>
                  <a:pt x="142930" y="22717"/>
                  <a:pt x="121598" y="10551"/>
                  <a:pt x="94957" y="10551"/>
                </a:cubicBezTo>
                <a:close/>
                <a:moveTo>
                  <a:pt x="47478" y="84406"/>
                </a:moveTo>
                <a:cubicBezTo>
                  <a:pt x="47478" y="58202"/>
                  <a:pt x="68753" y="36928"/>
                  <a:pt x="94957" y="36928"/>
                </a:cubicBezTo>
                <a:cubicBezTo>
                  <a:pt x="121161" y="36928"/>
                  <a:pt x="142435" y="58202"/>
                  <a:pt x="142435" y="84406"/>
                </a:cubicBezTo>
                <a:cubicBezTo>
                  <a:pt x="142435" y="110610"/>
                  <a:pt x="121161" y="131885"/>
                  <a:pt x="94957" y="131885"/>
                </a:cubicBezTo>
                <a:cubicBezTo>
                  <a:pt x="68753" y="131885"/>
                  <a:pt x="47478" y="110610"/>
                  <a:pt x="47478" y="84406"/>
                </a:cubicBezTo>
                <a:close/>
                <a:moveTo>
                  <a:pt x="94957" y="63305"/>
                </a:moveTo>
                <a:cubicBezTo>
                  <a:pt x="94957" y="74943"/>
                  <a:pt x="85494" y="84406"/>
                  <a:pt x="73855" y="84406"/>
                </a:cubicBezTo>
                <a:cubicBezTo>
                  <a:pt x="70064" y="84406"/>
                  <a:pt x="66503" y="83417"/>
                  <a:pt x="63404" y="81637"/>
                </a:cubicBezTo>
                <a:cubicBezTo>
                  <a:pt x="63074" y="85230"/>
                  <a:pt x="63371" y="88923"/>
                  <a:pt x="64360" y="92583"/>
                </a:cubicBezTo>
                <a:cubicBezTo>
                  <a:pt x="68877" y="109464"/>
                  <a:pt x="86253" y="119487"/>
                  <a:pt x="103134" y="114970"/>
                </a:cubicBezTo>
                <a:cubicBezTo>
                  <a:pt x="120015" y="110453"/>
                  <a:pt x="130038" y="93078"/>
                  <a:pt x="125521" y="76196"/>
                </a:cubicBezTo>
                <a:cubicBezTo>
                  <a:pt x="121499" y="61129"/>
                  <a:pt x="107222" y="51534"/>
                  <a:pt x="92187" y="52853"/>
                </a:cubicBezTo>
                <a:cubicBezTo>
                  <a:pt x="93935" y="55919"/>
                  <a:pt x="94957" y="59480"/>
                  <a:pt x="94957" y="63305"/>
                </a:cubicBezTo>
                <a:close/>
              </a:path>
            </a:pathLst>
          </a:custGeom>
          <a:solidFill>
            <a:srgbClr val="F8F6F2"/>
          </a:solidFill>
          <a:ln/>
        </p:spPr>
      </p:sp>
      <p:sp>
        <p:nvSpPr>
          <p:cNvPr id="47" name="Text 45"/>
          <p:cNvSpPr/>
          <p:nvPr/>
        </p:nvSpPr>
        <p:spPr>
          <a:xfrm>
            <a:off x="6844079" y="3610708"/>
            <a:ext cx="2710375" cy="262597"/>
          </a:xfrm>
          <a:prstGeom prst="rect">
            <a:avLst/>
          </a:prstGeom>
          <a:noFill/>
          <a:ln/>
        </p:spPr>
        <p:txBody>
          <a:bodyPr wrap="square" lIns="0" tIns="0" rIns="0" bIns="0" rtlCol="0" anchor="ctr"/>
          <a:lstStyle/>
          <a:p>
            <a:pPr>
              <a:lnSpc>
                <a:spcPct val="120000"/>
              </a:lnSpc>
            </a:pPr>
            <a:r>
              <a:rPr lang="en-US" sz="1477" b="1" dirty="0">
                <a:solidFill>
                  <a:srgbClr val="3A4D39"/>
                </a:solidFill>
                <a:latin typeface="Unna" pitchFamily="34" charset="0"/>
                <a:ea typeface="Unna" pitchFamily="34" charset="-122"/>
                <a:cs typeface="Unna" pitchFamily="34" charset="-120"/>
              </a:rPr>
              <a:t>Category C: Monitoring Partners</a:t>
            </a:r>
            <a:endParaRPr lang="en-US" sz="1600" dirty="0"/>
          </a:p>
        </p:txBody>
      </p:sp>
      <p:sp>
        <p:nvSpPr>
          <p:cNvPr id="48" name="Text 46"/>
          <p:cNvSpPr/>
          <p:nvPr/>
        </p:nvSpPr>
        <p:spPr>
          <a:xfrm>
            <a:off x="6356399" y="4042117"/>
            <a:ext cx="5383237" cy="225083"/>
          </a:xfrm>
          <a:prstGeom prst="rect">
            <a:avLst/>
          </a:prstGeom>
          <a:noFill/>
          <a:ln/>
        </p:spPr>
        <p:txBody>
          <a:bodyPr wrap="square" lIns="0" tIns="0" rIns="0" bIns="0" rtlCol="0" anchor="ctr"/>
          <a:lstStyle/>
          <a:p>
            <a:pPr>
              <a:lnSpc>
                <a:spcPct val="130000"/>
              </a:lnSpc>
            </a:pPr>
            <a:r>
              <a:rPr lang="en-US" sz="1182" b="1" dirty="0">
                <a:solidFill>
                  <a:srgbClr val="3A4D39"/>
                </a:solidFill>
                <a:latin typeface="Unna" pitchFamily="34" charset="0"/>
                <a:ea typeface="Unna" pitchFamily="34" charset="-122"/>
                <a:cs typeface="Unna" pitchFamily="34" charset="-120"/>
              </a:rPr>
              <a:t>Investment + Oversight</a:t>
            </a:r>
            <a:endParaRPr lang="en-US" sz="1600" dirty="0"/>
          </a:p>
        </p:txBody>
      </p:sp>
      <p:sp>
        <p:nvSpPr>
          <p:cNvPr id="49" name="Text 47"/>
          <p:cNvSpPr/>
          <p:nvPr/>
        </p:nvSpPr>
        <p:spPr>
          <a:xfrm>
            <a:off x="6356399" y="4304714"/>
            <a:ext cx="5383237" cy="225083"/>
          </a:xfrm>
          <a:prstGeom prst="rect">
            <a:avLst/>
          </a:prstGeom>
          <a:noFill/>
          <a:ln/>
        </p:spPr>
        <p:txBody>
          <a:bodyPr wrap="square" lIns="0" tIns="0" rIns="0" bIns="0" rtlCol="0" anchor="ctr"/>
          <a:lstStyle/>
          <a:p>
            <a:pPr>
              <a:lnSpc>
                <a:spcPct val="130000"/>
              </a:lnSpc>
            </a:pPr>
            <a:r>
              <a:rPr lang="en-US" sz="1182" dirty="0">
                <a:solidFill>
                  <a:srgbClr val="2C2C2C"/>
                </a:solidFill>
                <a:latin typeface="Quattrocento Sans" pitchFamily="34" charset="0"/>
                <a:ea typeface="Quattrocento Sans" pitchFamily="34" charset="-122"/>
                <a:cs typeface="Quattrocento Sans" pitchFamily="34" charset="-120"/>
              </a:rPr>
              <a:t>Capital investment plus mandatory active monitoring responsibilities.</a:t>
            </a:r>
            <a:endParaRPr lang="en-US" sz="1600" dirty="0"/>
          </a:p>
        </p:txBody>
      </p:sp>
      <p:sp>
        <p:nvSpPr>
          <p:cNvPr id="50" name="Text 48"/>
          <p:cNvSpPr/>
          <p:nvPr/>
        </p:nvSpPr>
        <p:spPr>
          <a:xfrm>
            <a:off x="6356399" y="4604825"/>
            <a:ext cx="5383237" cy="225083"/>
          </a:xfrm>
          <a:prstGeom prst="rect">
            <a:avLst/>
          </a:prstGeom>
          <a:noFill/>
          <a:ln/>
        </p:spPr>
        <p:txBody>
          <a:bodyPr wrap="square" lIns="0" tIns="0" rIns="0" bIns="0" rtlCol="0" anchor="ctr"/>
          <a:lstStyle/>
          <a:p>
            <a:pPr>
              <a:lnSpc>
                <a:spcPct val="130000"/>
              </a:lnSpc>
            </a:pPr>
            <a:r>
              <a:rPr lang="en-US" sz="1182" b="1" dirty="0">
                <a:solidFill>
                  <a:srgbClr val="3A4D39"/>
                </a:solidFill>
                <a:latin typeface="Unna" pitchFamily="34" charset="0"/>
                <a:ea typeface="Unna" pitchFamily="34" charset="-122"/>
                <a:cs typeface="Unna" pitchFamily="34" charset="-120"/>
              </a:rPr>
              <a:t>Monitoring Obligations</a:t>
            </a:r>
            <a:endParaRPr lang="en-US" sz="1600" dirty="0"/>
          </a:p>
        </p:txBody>
      </p:sp>
      <p:sp>
        <p:nvSpPr>
          <p:cNvPr id="51" name="Text 49"/>
          <p:cNvSpPr/>
          <p:nvPr/>
        </p:nvSpPr>
        <p:spPr>
          <a:xfrm>
            <a:off x="6356399" y="4867422"/>
            <a:ext cx="5383237" cy="225083"/>
          </a:xfrm>
          <a:prstGeom prst="rect">
            <a:avLst/>
          </a:prstGeom>
          <a:noFill/>
          <a:ln/>
        </p:spPr>
        <p:txBody>
          <a:bodyPr wrap="square" lIns="0" tIns="0" rIns="0" bIns="0" rtlCol="0" anchor="ctr"/>
          <a:lstStyle/>
          <a:p>
            <a:pPr>
              <a:lnSpc>
                <a:spcPct val="130000"/>
              </a:lnSpc>
            </a:pPr>
            <a:r>
              <a:rPr lang="en-US" sz="1182" dirty="0">
                <a:solidFill>
                  <a:srgbClr val="2C2C2C"/>
                </a:solidFill>
                <a:latin typeface="Quattrocento Sans" pitchFamily="34" charset="0"/>
                <a:ea typeface="Quattrocento Sans" pitchFamily="34" charset="-122"/>
                <a:cs typeface="Quattrocento Sans" pitchFamily="34" charset="-120"/>
              </a:rPr>
              <a:t>• Bi-weekly farm visits (minimum 26 visits/season)</a:t>
            </a:r>
            <a:endParaRPr lang="en-US" sz="1600" dirty="0"/>
          </a:p>
        </p:txBody>
      </p:sp>
      <p:sp>
        <p:nvSpPr>
          <p:cNvPr id="52" name="Text 50"/>
          <p:cNvSpPr/>
          <p:nvPr/>
        </p:nvSpPr>
        <p:spPr>
          <a:xfrm>
            <a:off x="6356399" y="5130018"/>
            <a:ext cx="5383237" cy="225083"/>
          </a:xfrm>
          <a:prstGeom prst="rect">
            <a:avLst/>
          </a:prstGeom>
          <a:noFill/>
          <a:ln/>
        </p:spPr>
        <p:txBody>
          <a:bodyPr wrap="square" lIns="0" tIns="0" rIns="0" bIns="0" rtlCol="0" anchor="ctr"/>
          <a:lstStyle/>
          <a:p>
            <a:pPr>
              <a:lnSpc>
                <a:spcPct val="130000"/>
              </a:lnSpc>
            </a:pPr>
            <a:r>
              <a:rPr lang="en-US" sz="1182" dirty="0">
                <a:solidFill>
                  <a:srgbClr val="2C2C2C"/>
                </a:solidFill>
                <a:latin typeface="Quattrocento Sans" pitchFamily="34" charset="0"/>
                <a:ea typeface="Quattrocento Sans" pitchFamily="34" charset="-122"/>
                <a:cs typeface="Quattrocento Sans" pitchFamily="34" charset="-120"/>
              </a:rPr>
              <a:t>• Staff performance assessment and verification</a:t>
            </a:r>
            <a:endParaRPr lang="en-US" sz="1600" dirty="0"/>
          </a:p>
        </p:txBody>
      </p:sp>
      <p:sp>
        <p:nvSpPr>
          <p:cNvPr id="53" name="Text 51"/>
          <p:cNvSpPr/>
          <p:nvPr/>
        </p:nvSpPr>
        <p:spPr>
          <a:xfrm>
            <a:off x="6356399" y="5392615"/>
            <a:ext cx="5383237" cy="225083"/>
          </a:xfrm>
          <a:prstGeom prst="rect">
            <a:avLst/>
          </a:prstGeom>
          <a:noFill/>
          <a:ln/>
        </p:spPr>
        <p:txBody>
          <a:bodyPr wrap="square" lIns="0" tIns="0" rIns="0" bIns="0" rtlCol="0" anchor="ctr"/>
          <a:lstStyle/>
          <a:p>
            <a:pPr>
              <a:lnSpc>
                <a:spcPct val="130000"/>
              </a:lnSpc>
            </a:pPr>
            <a:r>
              <a:rPr lang="en-US" sz="1182" dirty="0">
                <a:solidFill>
                  <a:srgbClr val="2C2C2C"/>
                </a:solidFill>
                <a:latin typeface="Quattrocento Sans" pitchFamily="34" charset="0"/>
                <a:ea typeface="Quattrocento Sans" pitchFamily="34" charset="-122"/>
                <a:cs typeface="Quattrocento Sans" pitchFamily="34" charset="-120"/>
              </a:rPr>
              <a:t>• Task completion validation</a:t>
            </a:r>
            <a:endParaRPr lang="en-US" sz="1600" dirty="0"/>
          </a:p>
        </p:txBody>
      </p:sp>
      <p:sp>
        <p:nvSpPr>
          <p:cNvPr id="54" name="Text 52"/>
          <p:cNvSpPr/>
          <p:nvPr/>
        </p:nvSpPr>
        <p:spPr>
          <a:xfrm>
            <a:off x="6356399" y="5655212"/>
            <a:ext cx="5383237" cy="225083"/>
          </a:xfrm>
          <a:prstGeom prst="rect">
            <a:avLst/>
          </a:prstGeom>
          <a:noFill/>
          <a:ln/>
        </p:spPr>
        <p:txBody>
          <a:bodyPr wrap="square" lIns="0" tIns="0" rIns="0" bIns="0" rtlCol="0" anchor="ctr"/>
          <a:lstStyle/>
          <a:p>
            <a:pPr>
              <a:lnSpc>
                <a:spcPct val="130000"/>
              </a:lnSpc>
            </a:pPr>
            <a:r>
              <a:rPr lang="en-US" sz="1182" dirty="0">
                <a:solidFill>
                  <a:srgbClr val="2C2C2C"/>
                </a:solidFill>
                <a:latin typeface="Quattrocento Sans" pitchFamily="34" charset="0"/>
                <a:ea typeface="Quattrocento Sans" pitchFamily="34" charset="-122"/>
                <a:cs typeface="Quattrocento Sans" pitchFamily="34" charset="-120"/>
              </a:rPr>
              <a:t>• Operational compliance monitoring</a:t>
            </a:r>
            <a:endParaRPr lang="en-US" sz="1600" dirty="0"/>
          </a:p>
        </p:txBody>
      </p:sp>
      <p:sp>
        <p:nvSpPr>
          <p:cNvPr id="55" name="Text 53"/>
          <p:cNvSpPr/>
          <p:nvPr/>
        </p:nvSpPr>
        <p:spPr>
          <a:xfrm>
            <a:off x="6356399" y="5917809"/>
            <a:ext cx="5383237" cy="225083"/>
          </a:xfrm>
          <a:prstGeom prst="rect">
            <a:avLst/>
          </a:prstGeom>
          <a:noFill/>
          <a:ln/>
        </p:spPr>
        <p:txBody>
          <a:bodyPr wrap="square" lIns="0" tIns="0" rIns="0" bIns="0" rtlCol="0" anchor="ctr"/>
          <a:lstStyle/>
          <a:p>
            <a:pPr>
              <a:lnSpc>
                <a:spcPct val="130000"/>
              </a:lnSpc>
            </a:pPr>
            <a:r>
              <a:rPr lang="en-US" sz="1182" dirty="0">
                <a:solidFill>
                  <a:srgbClr val="2C2C2C"/>
                </a:solidFill>
                <a:latin typeface="Quattrocento Sans" pitchFamily="34" charset="0"/>
                <a:ea typeface="Quattrocento Sans" pitchFamily="34" charset="-122"/>
                <a:cs typeface="Quattrocento Sans" pitchFamily="34" charset="-120"/>
              </a:rPr>
              <a:t>• Written reports to all partners</a:t>
            </a:r>
            <a:endParaRPr lang="en-US" sz="1600" dirty="0"/>
          </a:p>
        </p:txBody>
      </p:sp>
      <p:sp>
        <p:nvSpPr>
          <p:cNvPr id="56" name="Text 54"/>
          <p:cNvSpPr/>
          <p:nvPr/>
        </p:nvSpPr>
        <p:spPr>
          <a:xfrm>
            <a:off x="6356399" y="6217920"/>
            <a:ext cx="5383237" cy="225083"/>
          </a:xfrm>
          <a:prstGeom prst="rect">
            <a:avLst/>
          </a:prstGeom>
          <a:noFill/>
          <a:ln/>
        </p:spPr>
        <p:txBody>
          <a:bodyPr wrap="square" lIns="0" tIns="0" rIns="0" bIns="0" rtlCol="0" anchor="ctr"/>
          <a:lstStyle/>
          <a:p>
            <a:pPr>
              <a:lnSpc>
                <a:spcPct val="130000"/>
              </a:lnSpc>
            </a:pPr>
            <a:r>
              <a:rPr lang="en-US" sz="1182" b="1" dirty="0">
                <a:solidFill>
                  <a:srgbClr val="3A4D39"/>
                </a:solidFill>
                <a:latin typeface="Unna" pitchFamily="34" charset="0"/>
                <a:ea typeface="Unna" pitchFamily="34" charset="-122"/>
                <a:cs typeface="Unna" pitchFamily="34" charset="-120"/>
              </a:rPr>
              <a:t>Transport Coverage</a:t>
            </a:r>
            <a:endParaRPr lang="en-US" sz="1600" dirty="0"/>
          </a:p>
        </p:txBody>
      </p:sp>
      <p:sp>
        <p:nvSpPr>
          <p:cNvPr id="57" name="Text 55"/>
          <p:cNvSpPr/>
          <p:nvPr/>
        </p:nvSpPr>
        <p:spPr>
          <a:xfrm>
            <a:off x="6356399" y="6480517"/>
            <a:ext cx="5383237" cy="225083"/>
          </a:xfrm>
          <a:prstGeom prst="rect">
            <a:avLst/>
          </a:prstGeom>
          <a:noFill/>
          <a:ln/>
        </p:spPr>
        <p:txBody>
          <a:bodyPr wrap="square" lIns="0" tIns="0" rIns="0" bIns="0" rtlCol="0" anchor="ctr"/>
          <a:lstStyle/>
          <a:p>
            <a:pPr>
              <a:lnSpc>
                <a:spcPct val="130000"/>
              </a:lnSpc>
            </a:pPr>
            <a:r>
              <a:rPr lang="en-US" sz="1182" dirty="0">
                <a:solidFill>
                  <a:srgbClr val="2C2C2C"/>
                </a:solidFill>
                <a:latin typeface="Quattrocento Sans" pitchFamily="34" charset="0"/>
                <a:ea typeface="Quattrocento Sans" pitchFamily="34" charset="-122"/>
                <a:cs typeface="Quattrocento Sans" pitchFamily="34" charset="-120"/>
              </a:rPr>
              <a:t>All transport costs for monitoring visits covered by partnership funds.</a:t>
            </a:r>
            <a:endParaRPr lang="en-US" sz="1600" dirty="0"/>
          </a:p>
        </p:txBody>
      </p:sp>
    </p:spTree>
  </p:cSld>
  <p:clrMapOvr>
    <a:masterClrMapping/>
  </p:clrMapOvr>
  <p:transition>
    <p:fade/>
    <p:spd val="med"/>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6F2"/>
        </a:solidFill>
      </p:bgPr>
    </p:bg>
    <p:spTree>
      <p:nvGrpSpPr>
        <p:cNvPr id="1" name=""/>
        <p:cNvGrpSpPr/>
        <p:nvPr/>
      </p:nvGrpSpPr>
      <p:grpSpPr>
        <a:xfrm>
          <a:off x="0" y="0"/>
          <a:ext cx="0" cy="0"/>
          <a:chOff x="0" y="0"/>
          <a:chExt cx="0" cy="0"/>
        </a:xfrm>
      </p:grpSpPr>
      <p:sp>
        <p:nvSpPr>
          <p:cNvPr id="2" name="Shape 0"/>
          <p:cNvSpPr/>
          <p:nvPr/>
        </p:nvSpPr>
        <p:spPr>
          <a:xfrm>
            <a:off x="381000" y="381000"/>
            <a:ext cx="381000" cy="381000"/>
          </a:xfrm>
          <a:custGeom>
            <a:avLst/>
            <a:gdLst/>
            <a:ahLst/>
            <a:cxnLst/>
            <a:rect l="l" t="t" r="r" b="b"/>
            <a:pathLst>
              <a:path w="381000" h="381000">
                <a:moveTo>
                  <a:pt x="38100" y="0"/>
                </a:moveTo>
                <a:lnTo>
                  <a:pt x="342900" y="0"/>
                </a:lnTo>
                <a:cubicBezTo>
                  <a:pt x="363928" y="0"/>
                  <a:pt x="381000" y="17072"/>
                  <a:pt x="381000" y="38100"/>
                </a:cubicBezTo>
                <a:lnTo>
                  <a:pt x="381000" y="342900"/>
                </a:lnTo>
                <a:cubicBezTo>
                  <a:pt x="381000" y="363928"/>
                  <a:pt x="363928" y="381000"/>
                  <a:pt x="342900" y="381000"/>
                </a:cubicBezTo>
                <a:lnTo>
                  <a:pt x="38100" y="381000"/>
                </a:lnTo>
                <a:cubicBezTo>
                  <a:pt x="17072" y="381000"/>
                  <a:pt x="0" y="363928"/>
                  <a:pt x="0" y="342900"/>
                </a:cubicBezTo>
                <a:lnTo>
                  <a:pt x="0" y="38100"/>
                </a:lnTo>
                <a:cubicBezTo>
                  <a:pt x="0" y="17072"/>
                  <a:pt x="17072" y="0"/>
                  <a:pt x="38100" y="0"/>
                </a:cubicBezTo>
                <a:close/>
              </a:path>
            </a:pathLst>
          </a:custGeom>
          <a:solidFill>
            <a:srgbClr val="3A4D39"/>
          </a:solidFill>
          <a:ln/>
        </p:spPr>
      </p:sp>
      <p:sp>
        <p:nvSpPr>
          <p:cNvPr id="3" name="Text 1"/>
          <p:cNvSpPr/>
          <p:nvPr/>
        </p:nvSpPr>
        <p:spPr>
          <a:xfrm>
            <a:off x="524024" y="438150"/>
            <a:ext cx="190500" cy="266700"/>
          </a:xfrm>
          <a:prstGeom prst="rect">
            <a:avLst/>
          </a:prstGeom>
          <a:noFill/>
          <a:ln/>
        </p:spPr>
        <p:txBody>
          <a:bodyPr wrap="square" lIns="0" tIns="0" rIns="0" bIns="0" rtlCol="0" anchor="ctr"/>
          <a:lstStyle/>
          <a:p>
            <a:pPr>
              <a:lnSpc>
                <a:spcPct val="120000"/>
              </a:lnSpc>
            </a:pPr>
            <a:r>
              <a:rPr lang="en-US" sz="1500" b="1" dirty="0">
                <a:solidFill>
                  <a:srgbClr val="F8F6F2"/>
                </a:solidFill>
                <a:latin typeface="Oranienbaum" pitchFamily="34" charset="0"/>
                <a:ea typeface="Oranienbaum" pitchFamily="34" charset="-122"/>
                <a:cs typeface="Oranienbaum" pitchFamily="34" charset="-120"/>
              </a:rPr>
              <a:t>5</a:t>
            </a:r>
            <a:endParaRPr lang="en-US" sz="1600" dirty="0"/>
          </a:p>
        </p:txBody>
      </p:sp>
      <p:sp>
        <p:nvSpPr>
          <p:cNvPr id="4" name="Text 2"/>
          <p:cNvSpPr/>
          <p:nvPr/>
        </p:nvSpPr>
        <p:spPr>
          <a:xfrm>
            <a:off x="876300" y="381000"/>
            <a:ext cx="6010275" cy="381000"/>
          </a:xfrm>
          <a:prstGeom prst="rect">
            <a:avLst/>
          </a:prstGeom>
          <a:noFill/>
          <a:ln/>
        </p:spPr>
        <p:txBody>
          <a:bodyPr wrap="square" lIns="0" tIns="0" rIns="0" bIns="0" rtlCol="0" anchor="ctr"/>
          <a:lstStyle/>
          <a:p>
            <a:pPr>
              <a:lnSpc>
                <a:spcPct val="90000"/>
              </a:lnSpc>
            </a:pPr>
            <a:r>
              <a:rPr lang="en-US" sz="2700" b="1" dirty="0">
                <a:solidFill>
                  <a:srgbClr val="3A4D39"/>
                </a:solidFill>
                <a:latin typeface="Oranienbaum" pitchFamily="34" charset="0"/>
                <a:ea typeface="Oranienbaum" pitchFamily="34" charset="-122"/>
                <a:cs typeface="Oranienbaum" pitchFamily="34" charset="-120"/>
              </a:rPr>
              <a:t>Investment Structure and Contributions</a:t>
            </a:r>
            <a:endParaRPr lang="en-US" sz="1600" dirty="0"/>
          </a:p>
        </p:txBody>
      </p:sp>
      <p:sp>
        <p:nvSpPr>
          <p:cNvPr id="5" name="Shape 3"/>
          <p:cNvSpPr/>
          <p:nvPr/>
        </p:nvSpPr>
        <p:spPr>
          <a:xfrm>
            <a:off x="381000" y="83820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BCA37F"/>
          </a:solidFill>
          <a:ln/>
        </p:spPr>
      </p:sp>
      <p:sp>
        <p:nvSpPr>
          <p:cNvPr id="6" name="Shape 4"/>
          <p:cNvSpPr/>
          <p:nvPr/>
        </p:nvSpPr>
        <p:spPr>
          <a:xfrm>
            <a:off x="381000" y="1047750"/>
            <a:ext cx="11430000" cy="3257550"/>
          </a:xfrm>
          <a:custGeom>
            <a:avLst/>
            <a:gdLst/>
            <a:ahLst/>
            <a:cxnLst/>
            <a:rect l="l" t="t" r="r" b="b"/>
            <a:pathLst>
              <a:path w="11430000" h="3257550">
                <a:moveTo>
                  <a:pt x="38100" y="0"/>
                </a:moveTo>
                <a:lnTo>
                  <a:pt x="11391900" y="0"/>
                </a:lnTo>
                <a:cubicBezTo>
                  <a:pt x="11412928" y="0"/>
                  <a:pt x="11430000" y="17072"/>
                  <a:pt x="11430000" y="38100"/>
                </a:cubicBezTo>
                <a:lnTo>
                  <a:pt x="11430000" y="3181356"/>
                </a:lnTo>
                <a:cubicBezTo>
                  <a:pt x="11430000" y="3223437"/>
                  <a:pt x="11395887" y="3257550"/>
                  <a:pt x="11353806" y="3257550"/>
                </a:cubicBezTo>
                <a:lnTo>
                  <a:pt x="76194" y="3257550"/>
                </a:lnTo>
                <a:cubicBezTo>
                  <a:pt x="34113" y="3257550"/>
                  <a:pt x="0" y="3223437"/>
                  <a:pt x="0" y="3181356"/>
                </a:cubicBezTo>
                <a:lnTo>
                  <a:pt x="0" y="38100"/>
                </a:lnTo>
                <a:cubicBezTo>
                  <a:pt x="0" y="17072"/>
                  <a:pt x="17072" y="0"/>
                  <a:pt x="38100" y="0"/>
                </a:cubicBezTo>
                <a:close/>
              </a:path>
            </a:pathLst>
          </a:custGeom>
          <a:solidFill>
            <a:srgbClr val="FFFFFF"/>
          </a:solidFill>
          <a:ln/>
          <a:effectLst>
            <a:outerShdw sx="100000" sy="100000" kx="0" ky="0" algn="bl" rotWithShape="0" blurRad="28575" dist="9525" dir="5400000">
              <a:srgbClr val="000000">
                <a:alpha val="10196"/>
              </a:srgbClr>
            </a:outerShdw>
          </a:effectLst>
        </p:spPr>
      </p:sp>
      <p:sp>
        <p:nvSpPr>
          <p:cNvPr id="7" name="Shape 5"/>
          <p:cNvSpPr/>
          <p:nvPr/>
        </p:nvSpPr>
        <p:spPr>
          <a:xfrm>
            <a:off x="381000" y="1047750"/>
            <a:ext cx="11430000" cy="38100"/>
          </a:xfrm>
          <a:custGeom>
            <a:avLst/>
            <a:gdLst/>
            <a:ahLst/>
            <a:cxnLst/>
            <a:rect l="l" t="t" r="r" b="b"/>
            <a:pathLst>
              <a:path w="11430000" h="38100">
                <a:moveTo>
                  <a:pt x="38100" y="0"/>
                </a:moveTo>
                <a:lnTo>
                  <a:pt x="11391900" y="0"/>
                </a:lnTo>
                <a:cubicBezTo>
                  <a:pt x="11412928" y="0"/>
                  <a:pt x="11430000" y="17072"/>
                  <a:pt x="11430000" y="38100"/>
                </a:cubicBezTo>
                <a:lnTo>
                  <a:pt x="11430000" y="38100"/>
                </a:lnTo>
                <a:lnTo>
                  <a:pt x="0" y="38100"/>
                </a:lnTo>
                <a:lnTo>
                  <a:pt x="0" y="38100"/>
                </a:lnTo>
                <a:cubicBezTo>
                  <a:pt x="0" y="17072"/>
                  <a:pt x="17072" y="0"/>
                  <a:pt x="38100" y="0"/>
                </a:cubicBezTo>
                <a:close/>
              </a:path>
            </a:pathLst>
          </a:custGeom>
          <a:solidFill>
            <a:srgbClr val="3A4D39"/>
          </a:solidFill>
          <a:ln/>
        </p:spPr>
      </p:sp>
      <p:sp>
        <p:nvSpPr>
          <p:cNvPr id="8" name="Shape 6"/>
          <p:cNvSpPr/>
          <p:nvPr/>
        </p:nvSpPr>
        <p:spPr>
          <a:xfrm>
            <a:off x="581025" y="1257300"/>
            <a:ext cx="142875" cy="190500"/>
          </a:xfrm>
          <a:custGeom>
            <a:avLst/>
            <a:gdLst/>
            <a:ahLst/>
            <a:cxnLst/>
            <a:rect l="l" t="t" r="r" b="b"/>
            <a:pathLst>
              <a:path w="142875" h="190500">
                <a:moveTo>
                  <a:pt x="23812" y="0"/>
                </a:moveTo>
                <a:cubicBezTo>
                  <a:pt x="10678" y="0"/>
                  <a:pt x="0" y="10678"/>
                  <a:pt x="0" y="23812"/>
                </a:cubicBezTo>
                <a:lnTo>
                  <a:pt x="0" y="166688"/>
                </a:lnTo>
                <a:cubicBezTo>
                  <a:pt x="0" y="179822"/>
                  <a:pt x="10678" y="190500"/>
                  <a:pt x="23812" y="190500"/>
                </a:cubicBezTo>
                <a:lnTo>
                  <a:pt x="119063" y="190500"/>
                </a:lnTo>
                <a:cubicBezTo>
                  <a:pt x="132197" y="190500"/>
                  <a:pt x="142875" y="179822"/>
                  <a:pt x="142875" y="166688"/>
                </a:cubicBezTo>
                <a:lnTo>
                  <a:pt x="142875" y="23812"/>
                </a:lnTo>
                <a:cubicBezTo>
                  <a:pt x="142875" y="10678"/>
                  <a:pt x="132197" y="0"/>
                  <a:pt x="119063" y="0"/>
                </a:cubicBezTo>
                <a:lnTo>
                  <a:pt x="23812" y="0"/>
                </a:lnTo>
                <a:close/>
                <a:moveTo>
                  <a:pt x="35719" y="23812"/>
                </a:moveTo>
                <a:lnTo>
                  <a:pt x="107156" y="23812"/>
                </a:lnTo>
                <a:cubicBezTo>
                  <a:pt x="113742" y="23812"/>
                  <a:pt x="119063" y="29133"/>
                  <a:pt x="119063" y="35719"/>
                </a:cubicBezTo>
                <a:lnTo>
                  <a:pt x="119063" y="47625"/>
                </a:lnTo>
                <a:cubicBezTo>
                  <a:pt x="119063" y="54211"/>
                  <a:pt x="113742" y="59531"/>
                  <a:pt x="107156" y="59531"/>
                </a:cubicBezTo>
                <a:lnTo>
                  <a:pt x="35719" y="59531"/>
                </a:lnTo>
                <a:cubicBezTo>
                  <a:pt x="29133" y="59531"/>
                  <a:pt x="23812" y="54211"/>
                  <a:pt x="23812" y="47625"/>
                </a:cubicBezTo>
                <a:lnTo>
                  <a:pt x="23812" y="35719"/>
                </a:lnTo>
                <a:cubicBezTo>
                  <a:pt x="23812" y="29133"/>
                  <a:pt x="29133" y="23812"/>
                  <a:pt x="35719" y="23812"/>
                </a:cubicBezTo>
                <a:close/>
                <a:moveTo>
                  <a:pt x="41672" y="86320"/>
                </a:moveTo>
                <a:cubicBezTo>
                  <a:pt x="41672" y="91249"/>
                  <a:pt x="37671" y="95250"/>
                  <a:pt x="32742" y="95250"/>
                </a:cubicBezTo>
                <a:cubicBezTo>
                  <a:pt x="27814" y="95250"/>
                  <a:pt x="23812" y="91249"/>
                  <a:pt x="23812" y="86320"/>
                </a:cubicBezTo>
                <a:cubicBezTo>
                  <a:pt x="23812" y="81392"/>
                  <a:pt x="27814" y="77391"/>
                  <a:pt x="32742" y="77391"/>
                </a:cubicBezTo>
                <a:cubicBezTo>
                  <a:pt x="37671" y="77391"/>
                  <a:pt x="41672" y="81392"/>
                  <a:pt x="41672" y="86320"/>
                </a:cubicBezTo>
                <a:close/>
                <a:moveTo>
                  <a:pt x="71438" y="95250"/>
                </a:moveTo>
                <a:cubicBezTo>
                  <a:pt x="66509" y="95250"/>
                  <a:pt x="62508" y="91249"/>
                  <a:pt x="62508" y="86320"/>
                </a:cubicBezTo>
                <a:cubicBezTo>
                  <a:pt x="62508" y="81392"/>
                  <a:pt x="66509" y="77391"/>
                  <a:pt x="71438" y="77391"/>
                </a:cubicBezTo>
                <a:cubicBezTo>
                  <a:pt x="76366" y="77391"/>
                  <a:pt x="80367" y="81392"/>
                  <a:pt x="80367" y="86320"/>
                </a:cubicBezTo>
                <a:cubicBezTo>
                  <a:pt x="80367" y="91249"/>
                  <a:pt x="76366" y="95250"/>
                  <a:pt x="71438" y="95250"/>
                </a:cubicBezTo>
                <a:close/>
                <a:moveTo>
                  <a:pt x="119063" y="86320"/>
                </a:moveTo>
                <a:cubicBezTo>
                  <a:pt x="119063" y="91249"/>
                  <a:pt x="115061" y="95250"/>
                  <a:pt x="110133" y="95250"/>
                </a:cubicBezTo>
                <a:cubicBezTo>
                  <a:pt x="105204" y="95250"/>
                  <a:pt x="101203" y="91249"/>
                  <a:pt x="101203" y="86320"/>
                </a:cubicBezTo>
                <a:cubicBezTo>
                  <a:pt x="101203" y="81392"/>
                  <a:pt x="105204" y="77391"/>
                  <a:pt x="110133" y="77391"/>
                </a:cubicBezTo>
                <a:cubicBezTo>
                  <a:pt x="115061" y="77391"/>
                  <a:pt x="119063" y="81392"/>
                  <a:pt x="119063" y="86320"/>
                </a:cubicBezTo>
                <a:close/>
                <a:moveTo>
                  <a:pt x="32742" y="130969"/>
                </a:moveTo>
                <a:cubicBezTo>
                  <a:pt x="27814" y="130969"/>
                  <a:pt x="23812" y="126967"/>
                  <a:pt x="23812" y="122039"/>
                </a:cubicBezTo>
                <a:cubicBezTo>
                  <a:pt x="23812" y="117111"/>
                  <a:pt x="27814" y="113109"/>
                  <a:pt x="32742" y="113109"/>
                </a:cubicBezTo>
                <a:cubicBezTo>
                  <a:pt x="37671" y="113109"/>
                  <a:pt x="41672" y="117111"/>
                  <a:pt x="41672" y="122039"/>
                </a:cubicBezTo>
                <a:cubicBezTo>
                  <a:pt x="41672" y="126967"/>
                  <a:pt x="37671" y="130969"/>
                  <a:pt x="32742" y="130969"/>
                </a:cubicBezTo>
                <a:close/>
                <a:moveTo>
                  <a:pt x="80367" y="122039"/>
                </a:moveTo>
                <a:cubicBezTo>
                  <a:pt x="80367" y="126967"/>
                  <a:pt x="76366" y="130969"/>
                  <a:pt x="71438" y="130969"/>
                </a:cubicBezTo>
                <a:cubicBezTo>
                  <a:pt x="66509" y="130969"/>
                  <a:pt x="62508" y="126967"/>
                  <a:pt x="62508" y="122039"/>
                </a:cubicBezTo>
                <a:cubicBezTo>
                  <a:pt x="62508" y="117111"/>
                  <a:pt x="66509" y="113109"/>
                  <a:pt x="71438" y="113109"/>
                </a:cubicBezTo>
                <a:cubicBezTo>
                  <a:pt x="76366" y="113109"/>
                  <a:pt x="80367" y="117111"/>
                  <a:pt x="80367" y="122039"/>
                </a:cubicBezTo>
                <a:close/>
                <a:moveTo>
                  <a:pt x="110133" y="130969"/>
                </a:moveTo>
                <a:cubicBezTo>
                  <a:pt x="105204" y="130969"/>
                  <a:pt x="101203" y="126967"/>
                  <a:pt x="101203" y="122039"/>
                </a:cubicBezTo>
                <a:cubicBezTo>
                  <a:pt x="101203" y="117111"/>
                  <a:pt x="105204" y="113109"/>
                  <a:pt x="110133" y="113109"/>
                </a:cubicBezTo>
                <a:cubicBezTo>
                  <a:pt x="115061" y="113109"/>
                  <a:pt x="119063" y="117111"/>
                  <a:pt x="119063" y="122039"/>
                </a:cubicBezTo>
                <a:cubicBezTo>
                  <a:pt x="119063" y="126967"/>
                  <a:pt x="115061" y="130969"/>
                  <a:pt x="110133" y="130969"/>
                </a:cubicBezTo>
                <a:close/>
                <a:moveTo>
                  <a:pt x="23812" y="157758"/>
                </a:moveTo>
                <a:cubicBezTo>
                  <a:pt x="23812" y="152809"/>
                  <a:pt x="27794" y="148828"/>
                  <a:pt x="32742" y="148828"/>
                </a:cubicBezTo>
                <a:lnTo>
                  <a:pt x="74414" y="148828"/>
                </a:lnTo>
                <a:cubicBezTo>
                  <a:pt x="79363" y="148828"/>
                  <a:pt x="83344" y="152809"/>
                  <a:pt x="83344" y="157758"/>
                </a:cubicBezTo>
                <a:cubicBezTo>
                  <a:pt x="83344" y="162706"/>
                  <a:pt x="79363" y="166688"/>
                  <a:pt x="74414" y="166688"/>
                </a:cubicBezTo>
                <a:lnTo>
                  <a:pt x="32742" y="166688"/>
                </a:lnTo>
                <a:cubicBezTo>
                  <a:pt x="27794" y="166688"/>
                  <a:pt x="23812" y="162706"/>
                  <a:pt x="23812" y="157758"/>
                </a:cubicBezTo>
                <a:close/>
                <a:moveTo>
                  <a:pt x="110133" y="148828"/>
                </a:moveTo>
                <a:cubicBezTo>
                  <a:pt x="115081" y="148828"/>
                  <a:pt x="119063" y="152809"/>
                  <a:pt x="119063" y="157758"/>
                </a:cubicBezTo>
                <a:cubicBezTo>
                  <a:pt x="119063" y="162706"/>
                  <a:pt x="115081" y="166688"/>
                  <a:pt x="110133" y="166688"/>
                </a:cubicBezTo>
                <a:cubicBezTo>
                  <a:pt x="105184" y="166688"/>
                  <a:pt x="101203" y="162706"/>
                  <a:pt x="101203" y="157758"/>
                </a:cubicBezTo>
                <a:cubicBezTo>
                  <a:pt x="101203" y="152809"/>
                  <a:pt x="105184" y="148828"/>
                  <a:pt x="110133" y="148828"/>
                </a:cubicBezTo>
                <a:close/>
              </a:path>
            </a:pathLst>
          </a:custGeom>
          <a:solidFill>
            <a:srgbClr val="3A4D39"/>
          </a:solidFill>
          <a:ln/>
        </p:spPr>
      </p:sp>
      <p:sp>
        <p:nvSpPr>
          <p:cNvPr id="9" name="Text 7"/>
          <p:cNvSpPr/>
          <p:nvPr/>
        </p:nvSpPr>
        <p:spPr>
          <a:xfrm>
            <a:off x="771525" y="1219200"/>
            <a:ext cx="10982325" cy="266700"/>
          </a:xfrm>
          <a:prstGeom prst="rect">
            <a:avLst/>
          </a:prstGeom>
          <a:noFill/>
          <a:ln/>
        </p:spPr>
        <p:txBody>
          <a:bodyPr wrap="square" lIns="0" tIns="0" rIns="0" bIns="0" rtlCol="0" anchor="ctr"/>
          <a:lstStyle/>
          <a:p>
            <a:pPr>
              <a:lnSpc>
                <a:spcPct val="120000"/>
              </a:lnSpc>
            </a:pPr>
            <a:r>
              <a:rPr lang="en-US" sz="1500" b="1" dirty="0">
                <a:solidFill>
                  <a:srgbClr val="3A4D39"/>
                </a:solidFill>
                <a:latin typeface="Unna" pitchFamily="34" charset="0"/>
                <a:ea typeface="Unna" pitchFamily="34" charset="-122"/>
                <a:cs typeface="Unna" pitchFamily="34" charset="-120"/>
              </a:rPr>
              <a:t>Investment Coverage Components</a:t>
            </a:r>
            <a:endParaRPr lang="en-US" sz="1600" dirty="0"/>
          </a:p>
        </p:txBody>
      </p:sp>
      <p:sp>
        <p:nvSpPr>
          <p:cNvPr id="10" name="Shape 8"/>
          <p:cNvSpPr/>
          <p:nvPr/>
        </p:nvSpPr>
        <p:spPr>
          <a:xfrm>
            <a:off x="552450" y="1600200"/>
            <a:ext cx="3609975" cy="1219200"/>
          </a:xfrm>
          <a:custGeom>
            <a:avLst/>
            <a:gdLst/>
            <a:ahLst/>
            <a:cxnLst/>
            <a:rect l="l" t="t" r="r" b="b"/>
            <a:pathLst>
              <a:path w="3609975" h="1219200">
                <a:moveTo>
                  <a:pt x="38100" y="0"/>
                </a:moveTo>
                <a:lnTo>
                  <a:pt x="3533775" y="0"/>
                </a:lnTo>
                <a:cubicBezTo>
                  <a:pt x="3575831" y="0"/>
                  <a:pt x="3609975" y="34144"/>
                  <a:pt x="3609975" y="76200"/>
                </a:cubicBezTo>
                <a:lnTo>
                  <a:pt x="3609975" y="1143000"/>
                </a:lnTo>
                <a:cubicBezTo>
                  <a:pt x="3609975" y="1185056"/>
                  <a:pt x="3575831" y="1219200"/>
                  <a:pt x="3533775" y="1219200"/>
                </a:cubicBezTo>
                <a:lnTo>
                  <a:pt x="38100" y="1219200"/>
                </a:lnTo>
                <a:cubicBezTo>
                  <a:pt x="17072" y="1219200"/>
                  <a:pt x="0" y="1202128"/>
                  <a:pt x="0" y="1181100"/>
                </a:cubicBezTo>
                <a:lnTo>
                  <a:pt x="0" y="38100"/>
                </a:lnTo>
                <a:cubicBezTo>
                  <a:pt x="0" y="17072"/>
                  <a:pt x="17072" y="0"/>
                  <a:pt x="38100" y="0"/>
                </a:cubicBezTo>
                <a:close/>
              </a:path>
            </a:pathLst>
          </a:custGeom>
          <a:solidFill>
            <a:srgbClr val="F8F6F2"/>
          </a:solidFill>
          <a:ln/>
        </p:spPr>
      </p:sp>
      <p:sp>
        <p:nvSpPr>
          <p:cNvPr id="11" name="Shape 9"/>
          <p:cNvSpPr/>
          <p:nvPr/>
        </p:nvSpPr>
        <p:spPr>
          <a:xfrm>
            <a:off x="552450" y="1600200"/>
            <a:ext cx="38100" cy="1219200"/>
          </a:xfrm>
          <a:custGeom>
            <a:avLst/>
            <a:gdLst/>
            <a:ahLst/>
            <a:cxnLst/>
            <a:rect l="l" t="t" r="r" b="b"/>
            <a:pathLst>
              <a:path w="38100" h="1219200">
                <a:moveTo>
                  <a:pt x="38100" y="0"/>
                </a:moveTo>
                <a:lnTo>
                  <a:pt x="38100" y="0"/>
                </a:lnTo>
                <a:lnTo>
                  <a:pt x="38100" y="1219200"/>
                </a:lnTo>
                <a:lnTo>
                  <a:pt x="38100" y="1219200"/>
                </a:lnTo>
                <a:cubicBezTo>
                  <a:pt x="17072" y="1219200"/>
                  <a:pt x="0" y="1202128"/>
                  <a:pt x="0" y="1181100"/>
                </a:cubicBezTo>
                <a:lnTo>
                  <a:pt x="0" y="38100"/>
                </a:lnTo>
                <a:cubicBezTo>
                  <a:pt x="0" y="17072"/>
                  <a:pt x="17072" y="0"/>
                  <a:pt x="38100" y="0"/>
                </a:cubicBezTo>
                <a:close/>
              </a:path>
            </a:pathLst>
          </a:custGeom>
          <a:solidFill>
            <a:srgbClr val="3A4D39"/>
          </a:solidFill>
          <a:ln/>
        </p:spPr>
      </p:sp>
      <p:sp>
        <p:nvSpPr>
          <p:cNvPr id="12" name="Shape 10"/>
          <p:cNvSpPr/>
          <p:nvPr/>
        </p:nvSpPr>
        <p:spPr>
          <a:xfrm>
            <a:off x="688181" y="1743075"/>
            <a:ext cx="214313" cy="171450"/>
          </a:xfrm>
          <a:custGeom>
            <a:avLst/>
            <a:gdLst/>
            <a:ahLst/>
            <a:cxnLst/>
            <a:rect l="l" t="t" r="r" b="b"/>
            <a:pathLst>
              <a:path w="214313" h="171450">
                <a:moveTo>
                  <a:pt x="107156" y="5358"/>
                </a:moveTo>
                <a:cubicBezTo>
                  <a:pt x="126377" y="5358"/>
                  <a:pt x="141982" y="20963"/>
                  <a:pt x="141982" y="40184"/>
                </a:cubicBezTo>
                <a:cubicBezTo>
                  <a:pt x="141982" y="59404"/>
                  <a:pt x="126377" y="75009"/>
                  <a:pt x="107156" y="75009"/>
                </a:cubicBezTo>
                <a:cubicBezTo>
                  <a:pt x="87935" y="75009"/>
                  <a:pt x="72330" y="59404"/>
                  <a:pt x="72330" y="40184"/>
                </a:cubicBezTo>
                <a:cubicBezTo>
                  <a:pt x="72330" y="20963"/>
                  <a:pt x="87935" y="5358"/>
                  <a:pt x="107156" y="5358"/>
                </a:cubicBezTo>
                <a:close/>
                <a:moveTo>
                  <a:pt x="32147" y="29468"/>
                </a:moveTo>
                <a:cubicBezTo>
                  <a:pt x="45454" y="29468"/>
                  <a:pt x="56257" y="40271"/>
                  <a:pt x="56257" y="53578"/>
                </a:cubicBezTo>
                <a:cubicBezTo>
                  <a:pt x="56257" y="66885"/>
                  <a:pt x="45454" y="77688"/>
                  <a:pt x="32147" y="77688"/>
                </a:cubicBezTo>
                <a:cubicBezTo>
                  <a:pt x="18840" y="77688"/>
                  <a:pt x="8037" y="66885"/>
                  <a:pt x="8037" y="53578"/>
                </a:cubicBezTo>
                <a:cubicBezTo>
                  <a:pt x="8037" y="40271"/>
                  <a:pt x="18840" y="29468"/>
                  <a:pt x="32147" y="29468"/>
                </a:cubicBezTo>
                <a:close/>
                <a:moveTo>
                  <a:pt x="0" y="139303"/>
                </a:moveTo>
                <a:cubicBezTo>
                  <a:pt x="0" y="115628"/>
                  <a:pt x="19188" y="96441"/>
                  <a:pt x="42863" y="96441"/>
                </a:cubicBezTo>
                <a:cubicBezTo>
                  <a:pt x="47149" y="96441"/>
                  <a:pt x="51301" y="97077"/>
                  <a:pt x="55219" y="98249"/>
                </a:cubicBezTo>
                <a:cubicBezTo>
                  <a:pt x="44202" y="110572"/>
                  <a:pt x="37505" y="126846"/>
                  <a:pt x="37505" y="144661"/>
                </a:cubicBezTo>
                <a:lnTo>
                  <a:pt x="37505" y="150019"/>
                </a:lnTo>
                <a:cubicBezTo>
                  <a:pt x="37505" y="153836"/>
                  <a:pt x="38308" y="157453"/>
                  <a:pt x="39748" y="160734"/>
                </a:cubicBezTo>
                <a:lnTo>
                  <a:pt x="10716" y="160734"/>
                </a:lnTo>
                <a:cubicBezTo>
                  <a:pt x="4789" y="160734"/>
                  <a:pt x="0" y="155946"/>
                  <a:pt x="0" y="150019"/>
                </a:cubicBezTo>
                <a:lnTo>
                  <a:pt x="0" y="139303"/>
                </a:lnTo>
                <a:close/>
                <a:moveTo>
                  <a:pt x="174564" y="160734"/>
                </a:moveTo>
                <a:cubicBezTo>
                  <a:pt x="176004" y="157453"/>
                  <a:pt x="176808" y="153836"/>
                  <a:pt x="176808" y="150019"/>
                </a:cubicBezTo>
                <a:lnTo>
                  <a:pt x="176808" y="144661"/>
                </a:lnTo>
                <a:cubicBezTo>
                  <a:pt x="176808" y="126846"/>
                  <a:pt x="170111" y="110572"/>
                  <a:pt x="159094" y="98249"/>
                </a:cubicBezTo>
                <a:cubicBezTo>
                  <a:pt x="163011" y="97077"/>
                  <a:pt x="167164" y="96441"/>
                  <a:pt x="171450" y="96441"/>
                </a:cubicBezTo>
                <a:cubicBezTo>
                  <a:pt x="195125" y="96441"/>
                  <a:pt x="214313" y="115628"/>
                  <a:pt x="214313" y="139303"/>
                </a:cubicBezTo>
                <a:lnTo>
                  <a:pt x="214313" y="150019"/>
                </a:lnTo>
                <a:cubicBezTo>
                  <a:pt x="214313" y="155946"/>
                  <a:pt x="209524" y="160734"/>
                  <a:pt x="203597" y="160734"/>
                </a:cubicBezTo>
                <a:lnTo>
                  <a:pt x="174564" y="160734"/>
                </a:lnTo>
                <a:close/>
                <a:moveTo>
                  <a:pt x="158055" y="53578"/>
                </a:moveTo>
                <a:cubicBezTo>
                  <a:pt x="158055" y="40271"/>
                  <a:pt x="168859" y="29468"/>
                  <a:pt x="182166" y="29468"/>
                </a:cubicBezTo>
                <a:cubicBezTo>
                  <a:pt x="195472" y="29468"/>
                  <a:pt x="206276" y="40271"/>
                  <a:pt x="206276" y="53578"/>
                </a:cubicBezTo>
                <a:cubicBezTo>
                  <a:pt x="206276" y="66885"/>
                  <a:pt x="195472" y="77688"/>
                  <a:pt x="182166" y="77688"/>
                </a:cubicBezTo>
                <a:cubicBezTo>
                  <a:pt x="168859" y="77688"/>
                  <a:pt x="158055" y="66885"/>
                  <a:pt x="158055" y="53578"/>
                </a:cubicBezTo>
                <a:close/>
                <a:moveTo>
                  <a:pt x="53578" y="144661"/>
                </a:moveTo>
                <a:cubicBezTo>
                  <a:pt x="53578" y="115059"/>
                  <a:pt x="77554" y="91083"/>
                  <a:pt x="107156" y="91083"/>
                </a:cubicBezTo>
                <a:cubicBezTo>
                  <a:pt x="136758" y="91083"/>
                  <a:pt x="160734" y="115059"/>
                  <a:pt x="160734" y="144661"/>
                </a:cubicBezTo>
                <a:lnTo>
                  <a:pt x="160734" y="150019"/>
                </a:lnTo>
                <a:cubicBezTo>
                  <a:pt x="160734" y="155946"/>
                  <a:pt x="155946" y="160734"/>
                  <a:pt x="150019" y="160734"/>
                </a:cubicBezTo>
                <a:lnTo>
                  <a:pt x="64294" y="160734"/>
                </a:lnTo>
                <a:cubicBezTo>
                  <a:pt x="58367" y="160734"/>
                  <a:pt x="53578" y="155946"/>
                  <a:pt x="53578" y="150019"/>
                </a:cubicBezTo>
                <a:lnTo>
                  <a:pt x="53578" y="144661"/>
                </a:lnTo>
                <a:close/>
              </a:path>
            </a:pathLst>
          </a:custGeom>
          <a:solidFill>
            <a:srgbClr val="3A4D39"/>
          </a:solidFill>
          <a:ln/>
        </p:spPr>
      </p:sp>
      <p:sp>
        <p:nvSpPr>
          <p:cNvPr id="13" name="Text 11"/>
          <p:cNvSpPr/>
          <p:nvPr/>
        </p:nvSpPr>
        <p:spPr>
          <a:xfrm>
            <a:off x="976312" y="1714500"/>
            <a:ext cx="933450" cy="228600"/>
          </a:xfrm>
          <a:prstGeom prst="rect">
            <a:avLst/>
          </a:prstGeom>
          <a:noFill/>
          <a:ln/>
        </p:spPr>
        <p:txBody>
          <a:bodyPr wrap="square" lIns="0" tIns="0" rIns="0" bIns="0" rtlCol="0" anchor="ctr"/>
          <a:lstStyle/>
          <a:p>
            <a:pPr>
              <a:lnSpc>
                <a:spcPct val="130000"/>
              </a:lnSpc>
            </a:pPr>
            <a:r>
              <a:rPr lang="en-US" sz="1200" b="1" dirty="0">
                <a:solidFill>
                  <a:srgbClr val="3A4D39"/>
                </a:solidFill>
                <a:latin typeface="Unna" pitchFamily="34" charset="0"/>
                <a:ea typeface="Unna" pitchFamily="34" charset="-122"/>
                <a:cs typeface="Unna" pitchFamily="34" charset="-120"/>
              </a:rPr>
              <a:t>Staff Salaries</a:t>
            </a:r>
            <a:endParaRPr lang="en-US" sz="1600" dirty="0"/>
          </a:p>
        </p:txBody>
      </p:sp>
      <p:sp>
        <p:nvSpPr>
          <p:cNvPr id="14" name="Text 12"/>
          <p:cNvSpPr/>
          <p:nvPr/>
        </p:nvSpPr>
        <p:spPr>
          <a:xfrm>
            <a:off x="685800" y="2019300"/>
            <a:ext cx="3438525" cy="685800"/>
          </a:xfrm>
          <a:prstGeom prst="rect">
            <a:avLst/>
          </a:prstGeom>
          <a:noFill/>
          <a:ln/>
        </p:spPr>
        <p:txBody>
          <a:bodyPr wrap="square" lIns="0" tIns="0" rIns="0" bIns="0" rtlCol="0" anchor="ctr"/>
          <a:lstStyle/>
          <a:p>
            <a:pPr>
              <a:lnSpc>
                <a:spcPct val="130000"/>
              </a:lnSpc>
            </a:pPr>
            <a:r>
              <a:rPr lang="en-US" sz="1200" dirty="0">
                <a:solidFill>
                  <a:srgbClr val="2C2C2C"/>
                </a:solidFill>
                <a:latin typeface="Quattrocento Sans" pitchFamily="34" charset="0"/>
                <a:ea typeface="Quattrocento Sans" pitchFamily="34" charset="-122"/>
                <a:cs typeface="Quattrocento Sans" pitchFamily="34" charset="-120"/>
              </a:rPr>
              <a:t>Complete compensation for 8-month period including wages, benefits, and statutory obligations for all agricultural workers.</a:t>
            </a:r>
            <a:endParaRPr lang="en-US" sz="1600" dirty="0"/>
          </a:p>
        </p:txBody>
      </p:sp>
      <p:sp>
        <p:nvSpPr>
          <p:cNvPr id="15" name="Shape 13"/>
          <p:cNvSpPr/>
          <p:nvPr/>
        </p:nvSpPr>
        <p:spPr>
          <a:xfrm>
            <a:off x="4298900" y="1600200"/>
            <a:ext cx="3609975" cy="1219200"/>
          </a:xfrm>
          <a:custGeom>
            <a:avLst/>
            <a:gdLst/>
            <a:ahLst/>
            <a:cxnLst/>
            <a:rect l="l" t="t" r="r" b="b"/>
            <a:pathLst>
              <a:path w="3609975" h="1219200">
                <a:moveTo>
                  <a:pt x="38100" y="0"/>
                </a:moveTo>
                <a:lnTo>
                  <a:pt x="3533775" y="0"/>
                </a:lnTo>
                <a:cubicBezTo>
                  <a:pt x="3575831" y="0"/>
                  <a:pt x="3609975" y="34144"/>
                  <a:pt x="3609975" y="76200"/>
                </a:cubicBezTo>
                <a:lnTo>
                  <a:pt x="3609975" y="1143000"/>
                </a:lnTo>
                <a:cubicBezTo>
                  <a:pt x="3609975" y="1185056"/>
                  <a:pt x="3575831" y="1219200"/>
                  <a:pt x="3533775" y="1219200"/>
                </a:cubicBezTo>
                <a:lnTo>
                  <a:pt x="38100" y="1219200"/>
                </a:lnTo>
                <a:cubicBezTo>
                  <a:pt x="17072" y="1219200"/>
                  <a:pt x="0" y="1202128"/>
                  <a:pt x="0" y="1181100"/>
                </a:cubicBezTo>
                <a:lnTo>
                  <a:pt x="0" y="38100"/>
                </a:lnTo>
                <a:cubicBezTo>
                  <a:pt x="0" y="17072"/>
                  <a:pt x="17072" y="0"/>
                  <a:pt x="38100" y="0"/>
                </a:cubicBezTo>
                <a:close/>
              </a:path>
            </a:pathLst>
          </a:custGeom>
          <a:solidFill>
            <a:srgbClr val="F8F6F2"/>
          </a:solidFill>
          <a:ln/>
        </p:spPr>
      </p:sp>
      <p:sp>
        <p:nvSpPr>
          <p:cNvPr id="16" name="Shape 14"/>
          <p:cNvSpPr/>
          <p:nvPr/>
        </p:nvSpPr>
        <p:spPr>
          <a:xfrm>
            <a:off x="4298900" y="1600200"/>
            <a:ext cx="38100" cy="1219200"/>
          </a:xfrm>
          <a:custGeom>
            <a:avLst/>
            <a:gdLst/>
            <a:ahLst/>
            <a:cxnLst/>
            <a:rect l="l" t="t" r="r" b="b"/>
            <a:pathLst>
              <a:path w="38100" h="1219200">
                <a:moveTo>
                  <a:pt x="38100" y="0"/>
                </a:moveTo>
                <a:lnTo>
                  <a:pt x="38100" y="0"/>
                </a:lnTo>
                <a:lnTo>
                  <a:pt x="38100" y="1219200"/>
                </a:lnTo>
                <a:lnTo>
                  <a:pt x="38100" y="1219200"/>
                </a:lnTo>
                <a:cubicBezTo>
                  <a:pt x="17072" y="1219200"/>
                  <a:pt x="0" y="1202128"/>
                  <a:pt x="0" y="1181100"/>
                </a:cubicBezTo>
                <a:lnTo>
                  <a:pt x="0" y="38100"/>
                </a:lnTo>
                <a:cubicBezTo>
                  <a:pt x="0" y="17072"/>
                  <a:pt x="17072" y="0"/>
                  <a:pt x="38100" y="0"/>
                </a:cubicBezTo>
                <a:close/>
              </a:path>
            </a:pathLst>
          </a:custGeom>
          <a:solidFill>
            <a:srgbClr val="7A6250"/>
          </a:solidFill>
          <a:ln/>
        </p:spPr>
      </p:sp>
      <p:sp>
        <p:nvSpPr>
          <p:cNvPr id="17" name="Shape 15"/>
          <p:cNvSpPr/>
          <p:nvPr/>
        </p:nvSpPr>
        <p:spPr>
          <a:xfrm>
            <a:off x="4456063" y="1743075"/>
            <a:ext cx="171450" cy="171450"/>
          </a:xfrm>
          <a:custGeom>
            <a:avLst/>
            <a:gdLst/>
            <a:ahLst/>
            <a:cxnLst/>
            <a:rect l="l" t="t" r="r" b="b"/>
            <a:pathLst>
              <a:path w="171450" h="171450">
                <a:moveTo>
                  <a:pt x="157821" y="2244"/>
                </a:moveTo>
                <a:cubicBezTo>
                  <a:pt x="159964" y="201"/>
                  <a:pt x="163078" y="-536"/>
                  <a:pt x="165958" y="402"/>
                </a:cubicBezTo>
                <a:cubicBezTo>
                  <a:pt x="169240" y="1507"/>
                  <a:pt x="171450" y="4588"/>
                  <a:pt x="171450" y="8037"/>
                </a:cubicBezTo>
                <a:lnTo>
                  <a:pt x="171450" y="70623"/>
                </a:lnTo>
                <a:cubicBezTo>
                  <a:pt x="171450" y="114557"/>
                  <a:pt x="135251" y="150019"/>
                  <a:pt x="91485" y="150019"/>
                </a:cubicBezTo>
                <a:cubicBezTo>
                  <a:pt x="65700" y="150019"/>
                  <a:pt x="43465" y="133443"/>
                  <a:pt x="35395" y="110270"/>
                </a:cubicBezTo>
                <a:cubicBezTo>
                  <a:pt x="23541" y="120584"/>
                  <a:pt x="16073" y="135754"/>
                  <a:pt x="16073" y="152698"/>
                </a:cubicBezTo>
                <a:cubicBezTo>
                  <a:pt x="16073" y="157151"/>
                  <a:pt x="12490" y="160734"/>
                  <a:pt x="8037" y="160734"/>
                </a:cubicBezTo>
                <a:cubicBezTo>
                  <a:pt x="3583" y="160734"/>
                  <a:pt x="0" y="157151"/>
                  <a:pt x="0" y="152698"/>
                </a:cubicBezTo>
                <a:cubicBezTo>
                  <a:pt x="0" y="127616"/>
                  <a:pt x="12792" y="105515"/>
                  <a:pt x="32180" y="92523"/>
                </a:cubicBezTo>
                <a:cubicBezTo>
                  <a:pt x="44001" y="84620"/>
                  <a:pt x="58099" y="80367"/>
                  <a:pt x="72330" y="80367"/>
                </a:cubicBezTo>
                <a:lnTo>
                  <a:pt x="99120" y="80367"/>
                </a:lnTo>
                <a:cubicBezTo>
                  <a:pt x="103573" y="80367"/>
                  <a:pt x="107156" y="76784"/>
                  <a:pt x="107156" y="72330"/>
                </a:cubicBezTo>
                <a:cubicBezTo>
                  <a:pt x="107156" y="67877"/>
                  <a:pt x="103573" y="64294"/>
                  <a:pt x="99120" y="64294"/>
                </a:cubicBezTo>
                <a:lnTo>
                  <a:pt x="72330" y="64294"/>
                </a:lnTo>
                <a:cubicBezTo>
                  <a:pt x="59036" y="64294"/>
                  <a:pt x="46446" y="67241"/>
                  <a:pt x="35161" y="72498"/>
                </a:cubicBezTo>
                <a:cubicBezTo>
                  <a:pt x="42963" y="49057"/>
                  <a:pt x="65030" y="32147"/>
                  <a:pt x="91083" y="32147"/>
                </a:cubicBezTo>
                <a:cubicBezTo>
                  <a:pt x="113318" y="32147"/>
                  <a:pt x="129860" y="24746"/>
                  <a:pt x="140877" y="17413"/>
                </a:cubicBezTo>
                <a:cubicBezTo>
                  <a:pt x="147306" y="13127"/>
                  <a:pt x="152765" y="8003"/>
                  <a:pt x="157855" y="2244"/>
                </a:cubicBezTo>
                <a:close/>
              </a:path>
            </a:pathLst>
          </a:custGeom>
          <a:solidFill>
            <a:srgbClr val="7A6250"/>
          </a:solidFill>
          <a:ln/>
        </p:spPr>
      </p:sp>
      <p:sp>
        <p:nvSpPr>
          <p:cNvPr id="18" name="Text 16"/>
          <p:cNvSpPr/>
          <p:nvPr/>
        </p:nvSpPr>
        <p:spPr>
          <a:xfrm>
            <a:off x="4722763" y="1714500"/>
            <a:ext cx="762000" cy="228600"/>
          </a:xfrm>
          <a:prstGeom prst="rect">
            <a:avLst/>
          </a:prstGeom>
          <a:noFill/>
          <a:ln/>
        </p:spPr>
        <p:txBody>
          <a:bodyPr wrap="square" lIns="0" tIns="0" rIns="0" bIns="0" rtlCol="0" anchor="ctr"/>
          <a:lstStyle/>
          <a:p>
            <a:pPr>
              <a:lnSpc>
                <a:spcPct val="130000"/>
              </a:lnSpc>
            </a:pPr>
            <a:r>
              <a:rPr lang="en-US" sz="1200" b="1" dirty="0">
                <a:solidFill>
                  <a:srgbClr val="3A4D39"/>
                </a:solidFill>
                <a:latin typeface="Unna" pitchFamily="34" charset="0"/>
                <a:ea typeface="Unna" pitchFamily="34" charset="-122"/>
                <a:cs typeface="Unna" pitchFamily="34" charset="-120"/>
              </a:rPr>
              <a:t>Plant Feed</a:t>
            </a:r>
            <a:endParaRPr lang="en-US" sz="1600" dirty="0"/>
          </a:p>
        </p:txBody>
      </p:sp>
      <p:sp>
        <p:nvSpPr>
          <p:cNvPr id="19" name="Text 17"/>
          <p:cNvSpPr/>
          <p:nvPr/>
        </p:nvSpPr>
        <p:spPr>
          <a:xfrm>
            <a:off x="4432250" y="2019300"/>
            <a:ext cx="3438525" cy="685800"/>
          </a:xfrm>
          <a:prstGeom prst="rect">
            <a:avLst/>
          </a:prstGeom>
          <a:noFill/>
          <a:ln/>
        </p:spPr>
        <p:txBody>
          <a:bodyPr wrap="square" lIns="0" tIns="0" rIns="0" bIns="0" rtlCol="0" anchor="ctr"/>
          <a:lstStyle/>
          <a:p>
            <a:pPr>
              <a:lnSpc>
                <a:spcPct val="130000"/>
              </a:lnSpc>
            </a:pPr>
            <a:r>
              <a:rPr lang="en-US" sz="1200" dirty="0">
                <a:solidFill>
                  <a:srgbClr val="2C2C2C"/>
                </a:solidFill>
                <a:latin typeface="Quattrocento Sans" pitchFamily="34" charset="0"/>
                <a:ea typeface="Quattrocento Sans" pitchFamily="34" charset="-122"/>
                <a:cs typeface="Quattrocento Sans" pitchFamily="34" charset="-120"/>
              </a:rPr>
              <a:t>All fertilizers, nutrients, soil amendments, and growth supplements required throughout the growing cycle.</a:t>
            </a:r>
            <a:endParaRPr lang="en-US" sz="1600" dirty="0"/>
          </a:p>
        </p:txBody>
      </p:sp>
      <p:sp>
        <p:nvSpPr>
          <p:cNvPr id="20" name="Shape 18"/>
          <p:cNvSpPr/>
          <p:nvPr/>
        </p:nvSpPr>
        <p:spPr>
          <a:xfrm>
            <a:off x="8045351" y="1600200"/>
            <a:ext cx="3609975" cy="1219200"/>
          </a:xfrm>
          <a:custGeom>
            <a:avLst/>
            <a:gdLst/>
            <a:ahLst/>
            <a:cxnLst/>
            <a:rect l="l" t="t" r="r" b="b"/>
            <a:pathLst>
              <a:path w="3609975" h="1219200">
                <a:moveTo>
                  <a:pt x="38100" y="0"/>
                </a:moveTo>
                <a:lnTo>
                  <a:pt x="3533775" y="0"/>
                </a:lnTo>
                <a:cubicBezTo>
                  <a:pt x="3575831" y="0"/>
                  <a:pt x="3609975" y="34144"/>
                  <a:pt x="3609975" y="76200"/>
                </a:cubicBezTo>
                <a:lnTo>
                  <a:pt x="3609975" y="1143000"/>
                </a:lnTo>
                <a:cubicBezTo>
                  <a:pt x="3609975" y="1185056"/>
                  <a:pt x="3575831" y="1219200"/>
                  <a:pt x="3533775" y="1219200"/>
                </a:cubicBezTo>
                <a:lnTo>
                  <a:pt x="38100" y="1219200"/>
                </a:lnTo>
                <a:cubicBezTo>
                  <a:pt x="17072" y="1219200"/>
                  <a:pt x="0" y="1202128"/>
                  <a:pt x="0" y="1181100"/>
                </a:cubicBezTo>
                <a:lnTo>
                  <a:pt x="0" y="38100"/>
                </a:lnTo>
                <a:cubicBezTo>
                  <a:pt x="0" y="17072"/>
                  <a:pt x="17072" y="0"/>
                  <a:pt x="38100" y="0"/>
                </a:cubicBezTo>
                <a:close/>
              </a:path>
            </a:pathLst>
          </a:custGeom>
          <a:solidFill>
            <a:srgbClr val="F8F6F2"/>
          </a:solidFill>
          <a:ln/>
        </p:spPr>
      </p:sp>
      <p:sp>
        <p:nvSpPr>
          <p:cNvPr id="21" name="Shape 19"/>
          <p:cNvSpPr/>
          <p:nvPr/>
        </p:nvSpPr>
        <p:spPr>
          <a:xfrm>
            <a:off x="8045351" y="1600200"/>
            <a:ext cx="38100" cy="1219200"/>
          </a:xfrm>
          <a:custGeom>
            <a:avLst/>
            <a:gdLst/>
            <a:ahLst/>
            <a:cxnLst/>
            <a:rect l="l" t="t" r="r" b="b"/>
            <a:pathLst>
              <a:path w="38100" h="1219200">
                <a:moveTo>
                  <a:pt x="38100" y="0"/>
                </a:moveTo>
                <a:lnTo>
                  <a:pt x="38100" y="0"/>
                </a:lnTo>
                <a:lnTo>
                  <a:pt x="38100" y="1219200"/>
                </a:lnTo>
                <a:lnTo>
                  <a:pt x="38100" y="1219200"/>
                </a:lnTo>
                <a:cubicBezTo>
                  <a:pt x="17072" y="1219200"/>
                  <a:pt x="0" y="1202128"/>
                  <a:pt x="0" y="1181100"/>
                </a:cubicBezTo>
                <a:lnTo>
                  <a:pt x="0" y="38100"/>
                </a:lnTo>
                <a:cubicBezTo>
                  <a:pt x="0" y="17072"/>
                  <a:pt x="17072" y="0"/>
                  <a:pt x="38100" y="0"/>
                </a:cubicBezTo>
                <a:close/>
              </a:path>
            </a:pathLst>
          </a:custGeom>
          <a:solidFill>
            <a:srgbClr val="3A4D39"/>
          </a:solidFill>
          <a:ln/>
        </p:spPr>
      </p:sp>
      <p:sp>
        <p:nvSpPr>
          <p:cNvPr id="22" name="Shape 20"/>
          <p:cNvSpPr/>
          <p:nvPr/>
        </p:nvSpPr>
        <p:spPr>
          <a:xfrm>
            <a:off x="8202513" y="1743075"/>
            <a:ext cx="171450" cy="171450"/>
          </a:xfrm>
          <a:custGeom>
            <a:avLst/>
            <a:gdLst/>
            <a:ahLst/>
            <a:cxnLst/>
            <a:rect l="l" t="t" r="r" b="b"/>
            <a:pathLst>
              <a:path w="171450" h="171450">
                <a:moveTo>
                  <a:pt x="85725" y="0"/>
                </a:moveTo>
                <a:cubicBezTo>
                  <a:pt x="87265" y="0"/>
                  <a:pt x="88806" y="335"/>
                  <a:pt x="90212" y="971"/>
                </a:cubicBezTo>
                <a:lnTo>
                  <a:pt x="153300" y="27727"/>
                </a:lnTo>
                <a:cubicBezTo>
                  <a:pt x="160667" y="30841"/>
                  <a:pt x="166159" y="38107"/>
                  <a:pt x="166126" y="46881"/>
                </a:cubicBezTo>
                <a:cubicBezTo>
                  <a:pt x="165958" y="80099"/>
                  <a:pt x="152296" y="140877"/>
                  <a:pt x="94599" y="168503"/>
                </a:cubicBezTo>
                <a:cubicBezTo>
                  <a:pt x="89007" y="171182"/>
                  <a:pt x="82510" y="171182"/>
                  <a:pt x="76918" y="168503"/>
                </a:cubicBezTo>
                <a:cubicBezTo>
                  <a:pt x="19188" y="140877"/>
                  <a:pt x="5559" y="80099"/>
                  <a:pt x="5391" y="46881"/>
                </a:cubicBezTo>
                <a:cubicBezTo>
                  <a:pt x="5358" y="38107"/>
                  <a:pt x="10850" y="30841"/>
                  <a:pt x="18217" y="27727"/>
                </a:cubicBezTo>
                <a:lnTo>
                  <a:pt x="81271" y="971"/>
                </a:lnTo>
                <a:cubicBezTo>
                  <a:pt x="82678" y="335"/>
                  <a:pt x="84185" y="0"/>
                  <a:pt x="85725" y="0"/>
                </a:cubicBezTo>
                <a:close/>
                <a:moveTo>
                  <a:pt x="85725" y="22369"/>
                </a:moveTo>
                <a:lnTo>
                  <a:pt x="85725" y="148981"/>
                </a:lnTo>
                <a:cubicBezTo>
                  <a:pt x="131936" y="126612"/>
                  <a:pt x="144360" y="77052"/>
                  <a:pt x="144661" y="47383"/>
                </a:cubicBezTo>
                <a:lnTo>
                  <a:pt x="85725" y="22402"/>
                </a:lnTo>
                <a:lnTo>
                  <a:pt x="85725" y="22402"/>
                </a:lnTo>
                <a:close/>
              </a:path>
            </a:pathLst>
          </a:custGeom>
          <a:solidFill>
            <a:srgbClr val="3A4D39"/>
          </a:solidFill>
          <a:ln/>
        </p:spPr>
      </p:sp>
      <p:sp>
        <p:nvSpPr>
          <p:cNvPr id="23" name="Text 21"/>
          <p:cNvSpPr/>
          <p:nvPr/>
        </p:nvSpPr>
        <p:spPr>
          <a:xfrm>
            <a:off x="8469213" y="1714500"/>
            <a:ext cx="1600200" cy="228600"/>
          </a:xfrm>
          <a:prstGeom prst="rect">
            <a:avLst/>
          </a:prstGeom>
          <a:noFill/>
          <a:ln/>
        </p:spPr>
        <p:txBody>
          <a:bodyPr wrap="square" lIns="0" tIns="0" rIns="0" bIns="0" rtlCol="0" anchor="ctr"/>
          <a:lstStyle/>
          <a:p>
            <a:pPr>
              <a:lnSpc>
                <a:spcPct val="130000"/>
              </a:lnSpc>
            </a:pPr>
            <a:r>
              <a:rPr lang="en-US" sz="1200" b="1" dirty="0">
                <a:solidFill>
                  <a:srgbClr val="3A4D39"/>
                </a:solidFill>
                <a:latin typeface="Unna" pitchFamily="34" charset="0"/>
                <a:ea typeface="Unna" pitchFamily="34" charset="-122"/>
                <a:cs typeface="Unna" pitchFamily="34" charset="-120"/>
              </a:rPr>
              <a:t>Pesticides &amp; Herbicides</a:t>
            </a:r>
            <a:endParaRPr lang="en-US" sz="1600" dirty="0"/>
          </a:p>
        </p:txBody>
      </p:sp>
      <p:sp>
        <p:nvSpPr>
          <p:cNvPr id="24" name="Text 22"/>
          <p:cNvSpPr/>
          <p:nvPr/>
        </p:nvSpPr>
        <p:spPr>
          <a:xfrm>
            <a:off x="8178701" y="2019300"/>
            <a:ext cx="3438525" cy="457200"/>
          </a:xfrm>
          <a:prstGeom prst="rect">
            <a:avLst/>
          </a:prstGeom>
          <a:noFill/>
          <a:ln/>
        </p:spPr>
        <p:txBody>
          <a:bodyPr wrap="square" lIns="0" tIns="0" rIns="0" bIns="0" rtlCol="0" anchor="ctr"/>
          <a:lstStyle/>
          <a:p>
            <a:pPr>
              <a:lnSpc>
                <a:spcPct val="130000"/>
              </a:lnSpc>
            </a:pPr>
            <a:r>
              <a:rPr lang="en-US" sz="1200" dirty="0">
                <a:solidFill>
                  <a:srgbClr val="2C2C2C"/>
                </a:solidFill>
                <a:latin typeface="Quattrocento Sans" pitchFamily="34" charset="0"/>
                <a:ea typeface="Quattrocento Sans" pitchFamily="34" charset="-122"/>
                <a:cs typeface="Quattrocento Sans" pitchFamily="34" charset="-120"/>
              </a:rPr>
              <a:t>Crop protection chemicals for pest management, disease control, and weed suppression.</a:t>
            </a:r>
            <a:endParaRPr lang="en-US" sz="1600" dirty="0"/>
          </a:p>
        </p:txBody>
      </p:sp>
      <p:sp>
        <p:nvSpPr>
          <p:cNvPr id="25" name="Shape 23"/>
          <p:cNvSpPr/>
          <p:nvPr/>
        </p:nvSpPr>
        <p:spPr>
          <a:xfrm>
            <a:off x="552450" y="2933700"/>
            <a:ext cx="3609975" cy="1219200"/>
          </a:xfrm>
          <a:custGeom>
            <a:avLst/>
            <a:gdLst/>
            <a:ahLst/>
            <a:cxnLst/>
            <a:rect l="l" t="t" r="r" b="b"/>
            <a:pathLst>
              <a:path w="3609975" h="1219200">
                <a:moveTo>
                  <a:pt x="38100" y="0"/>
                </a:moveTo>
                <a:lnTo>
                  <a:pt x="3533775" y="0"/>
                </a:lnTo>
                <a:cubicBezTo>
                  <a:pt x="3575831" y="0"/>
                  <a:pt x="3609975" y="34144"/>
                  <a:pt x="3609975" y="76200"/>
                </a:cubicBezTo>
                <a:lnTo>
                  <a:pt x="3609975" y="1143000"/>
                </a:lnTo>
                <a:cubicBezTo>
                  <a:pt x="3609975" y="1185056"/>
                  <a:pt x="3575831" y="1219200"/>
                  <a:pt x="3533775" y="1219200"/>
                </a:cubicBezTo>
                <a:lnTo>
                  <a:pt x="38100" y="1219200"/>
                </a:lnTo>
                <a:cubicBezTo>
                  <a:pt x="17072" y="1219200"/>
                  <a:pt x="0" y="1202128"/>
                  <a:pt x="0" y="1181100"/>
                </a:cubicBezTo>
                <a:lnTo>
                  <a:pt x="0" y="38100"/>
                </a:lnTo>
                <a:cubicBezTo>
                  <a:pt x="0" y="17072"/>
                  <a:pt x="17072" y="0"/>
                  <a:pt x="38100" y="0"/>
                </a:cubicBezTo>
                <a:close/>
              </a:path>
            </a:pathLst>
          </a:custGeom>
          <a:solidFill>
            <a:srgbClr val="F8F6F2"/>
          </a:solidFill>
          <a:ln/>
        </p:spPr>
      </p:sp>
      <p:sp>
        <p:nvSpPr>
          <p:cNvPr id="26" name="Shape 24"/>
          <p:cNvSpPr/>
          <p:nvPr/>
        </p:nvSpPr>
        <p:spPr>
          <a:xfrm>
            <a:off x="552450" y="2933700"/>
            <a:ext cx="38100" cy="1219200"/>
          </a:xfrm>
          <a:custGeom>
            <a:avLst/>
            <a:gdLst/>
            <a:ahLst/>
            <a:cxnLst/>
            <a:rect l="l" t="t" r="r" b="b"/>
            <a:pathLst>
              <a:path w="38100" h="1219200">
                <a:moveTo>
                  <a:pt x="38100" y="0"/>
                </a:moveTo>
                <a:lnTo>
                  <a:pt x="38100" y="0"/>
                </a:lnTo>
                <a:lnTo>
                  <a:pt x="38100" y="1219200"/>
                </a:lnTo>
                <a:lnTo>
                  <a:pt x="38100" y="1219200"/>
                </a:lnTo>
                <a:cubicBezTo>
                  <a:pt x="17072" y="1219200"/>
                  <a:pt x="0" y="1202128"/>
                  <a:pt x="0" y="1181100"/>
                </a:cubicBezTo>
                <a:lnTo>
                  <a:pt x="0" y="38100"/>
                </a:lnTo>
                <a:cubicBezTo>
                  <a:pt x="0" y="17072"/>
                  <a:pt x="17072" y="0"/>
                  <a:pt x="38100" y="0"/>
                </a:cubicBezTo>
                <a:close/>
              </a:path>
            </a:pathLst>
          </a:custGeom>
          <a:solidFill>
            <a:srgbClr val="7A6250"/>
          </a:solidFill>
          <a:ln/>
        </p:spPr>
      </p:sp>
      <p:sp>
        <p:nvSpPr>
          <p:cNvPr id="27" name="Shape 25"/>
          <p:cNvSpPr/>
          <p:nvPr/>
        </p:nvSpPr>
        <p:spPr>
          <a:xfrm>
            <a:off x="698897" y="3076575"/>
            <a:ext cx="192881" cy="171450"/>
          </a:xfrm>
          <a:custGeom>
            <a:avLst/>
            <a:gdLst/>
            <a:ahLst/>
            <a:cxnLst/>
            <a:rect l="l" t="t" r="r" b="b"/>
            <a:pathLst>
              <a:path w="192881" h="171450">
                <a:moveTo>
                  <a:pt x="75043" y="32515"/>
                </a:moveTo>
                <a:lnTo>
                  <a:pt x="75043" y="49124"/>
                </a:lnTo>
                <a:lnTo>
                  <a:pt x="75210" y="49292"/>
                </a:lnTo>
                <a:cubicBezTo>
                  <a:pt x="77387" y="21699"/>
                  <a:pt x="100459" y="0"/>
                  <a:pt x="128621" y="0"/>
                </a:cubicBezTo>
                <a:cubicBezTo>
                  <a:pt x="135352" y="0"/>
                  <a:pt x="141815" y="1239"/>
                  <a:pt x="147742" y="3516"/>
                </a:cubicBezTo>
                <a:cubicBezTo>
                  <a:pt x="151090" y="4789"/>
                  <a:pt x="151693" y="9041"/>
                  <a:pt x="149182" y="11586"/>
                </a:cubicBezTo>
                <a:lnTo>
                  <a:pt x="119479" y="41289"/>
                </a:lnTo>
                <a:cubicBezTo>
                  <a:pt x="118475" y="42293"/>
                  <a:pt x="117905" y="43666"/>
                  <a:pt x="117905" y="45073"/>
                </a:cubicBezTo>
                <a:lnTo>
                  <a:pt x="117905" y="58936"/>
                </a:lnTo>
                <a:cubicBezTo>
                  <a:pt x="117905" y="61883"/>
                  <a:pt x="120316" y="64294"/>
                  <a:pt x="123263" y="64294"/>
                </a:cubicBezTo>
                <a:lnTo>
                  <a:pt x="137127" y="64294"/>
                </a:lnTo>
                <a:cubicBezTo>
                  <a:pt x="138533" y="64294"/>
                  <a:pt x="139906" y="63724"/>
                  <a:pt x="140910" y="62720"/>
                </a:cubicBezTo>
                <a:lnTo>
                  <a:pt x="170613" y="33018"/>
                </a:lnTo>
                <a:cubicBezTo>
                  <a:pt x="173158" y="30473"/>
                  <a:pt x="177411" y="31109"/>
                  <a:pt x="178683" y="34457"/>
                </a:cubicBezTo>
                <a:cubicBezTo>
                  <a:pt x="180960" y="40385"/>
                  <a:pt x="182199" y="46847"/>
                  <a:pt x="182199" y="53578"/>
                </a:cubicBezTo>
                <a:cubicBezTo>
                  <a:pt x="182199" y="73871"/>
                  <a:pt x="170914" y="91552"/>
                  <a:pt x="154238" y="100626"/>
                </a:cubicBezTo>
                <a:lnTo>
                  <a:pt x="181529" y="127918"/>
                </a:lnTo>
                <a:cubicBezTo>
                  <a:pt x="187791" y="134180"/>
                  <a:pt x="187791" y="144360"/>
                  <a:pt x="181529" y="150655"/>
                </a:cubicBezTo>
                <a:lnTo>
                  <a:pt x="161404" y="170780"/>
                </a:lnTo>
                <a:cubicBezTo>
                  <a:pt x="155142" y="177042"/>
                  <a:pt x="144962" y="177042"/>
                  <a:pt x="138667" y="170780"/>
                </a:cubicBezTo>
                <a:lnTo>
                  <a:pt x="96474" y="128588"/>
                </a:lnTo>
                <a:cubicBezTo>
                  <a:pt x="87299" y="119412"/>
                  <a:pt x="85223" y="105850"/>
                  <a:pt x="90279" y="94666"/>
                </a:cubicBezTo>
                <a:lnTo>
                  <a:pt x="59907" y="64294"/>
                </a:lnTo>
                <a:lnTo>
                  <a:pt x="43298" y="64294"/>
                </a:lnTo>
                <a:cubicBezTo>
                  <a:pt x="39715" y="64294"/>
                  <a:pt x="36366" y="62519"/>
                  <a:pt x="34390" y="59539"/>
                </a:cubicBezTo>
                <a:lnTo>
                  <a:pt x="7836" y="19723"/>
                </a:lnTo>
                <a:cubicBezTo>
                  <a:pt x="6429" y="17614"/>
                  <a:pt x="6697" y="14767"/>
                  <a:pt x="8506" y="12959"/>
                </a:cubicBezTo>
                <a:lnTo>
                  <a:pt x="23708" y="-2244"/>
                </a:lnTo>
                <a:cubicBezTo>
                  <a:pt x="25517" y="-4052"/>
                  <a:pt x="28329" y="-4320"/>
                  <a:pt x="30473" y="-2913"/>
                </a:cubicBezTo>
                <a:lnTo>
                  <a:pt x="70288" y="23608"/>
                </a:lnTo>
                <a:cubicBezTo>
                  <a:pt x="73268" y="25584"/>
                  <a:pt x="75043" y="28932"/>
                  <a:pt x="75043" y="32515"/>
                </a:cubicBezTo>
                <a:close/>
                <a:moveTo>
                  <a:pt x="72197" y="99320"/>
                </a:moveTo>
                <a:cubicBezTo>
                  <a:pt x="70087" y="111710"/>
                  <a:pt x="73000" y="124804"/>
                  <a:pt x="81037" y="135285"/>
                </a:cubicBezTo>
                <a:lnTo>
                  <a:pt x="49225" y="167063"/>
                </a:lnTo>
                <a:cubicBezTo>
                  <a:pt x="39815" y="176473"/>
                  <a:pt x="24545" y="176473"/>
                  <a:pt x="15136" y="167063"/>
                </a:cubicBezTo>
                <a:cubicBezTo>
                  <a:pt x="5726" y="157654"/>
                  <a:pt x="5726" y="142384"/>
                  <a:pt x="15136" y="132974"/>
                </a:cubicBezTo>
                <a:lnTo>
                  <a:pt x="60476" y="87634"/>
                </a:lnTo>
                <a:lnTo>
                  <a:pt x="72197" y="99354"/>
                </a:lnTo>
                <a:close/>
              </a:path>
            </a:pathLst>
          </a:custGeom>
          <a:solidFill>
            <a:srgbClr val="7A6250"/>
          </a:solidFill>
          <a:ln/>
        </p:spPr>
      </p:sp>
      <p:sp>
        <p:nvSpPr>
          <p:cNvPr id="28" name="Text 26"/>
          <p:cNvSpPr/>
          <p:nvPr/>
        </p:nvSpPr>
        <p:spPr>
          <a:xfrm>
            <a:off x="976312" y="3048000"/>
            <a:ext cx="1514475" cy="228600"/>
          </a:xfrm>
          <a:prstGeom prst="rect">
            <a:avLst/>
          </a:prstGeom>
          <a:noFill/>
          <a:ln/>
        </p:spPr>
        <p:txBody>
          <a:bodyPr wrap="square" lIns="0" tIns="0" rIns="0" bIns="0" rtlCol="0" anchor="ctr"/>
          <a:lstStyle/>
          <a:p>
            <a:pPr>
              <a:lnSpc>
                <a:spcPct val="130000"/>
              </a:lnSpc>
            </a:pPr>
            <a:r>
              <a:rPr lang="en-US" sz="1200" b="1" dirty="0">
                <a:solidFill>
                  <a:srgbClr val="3A4D39"/>
                </a:solidFill>
                <a:latin typeface="Unna" pitchFamily="34" charset="0"/>
                <a:ea typeface="Unna" pitchFamily="34" charset="-122"/>
                <a:cs typeface="Unna" pitchFamily="34" charset="-120"/>
              </a:rPr>
              <a:t>Greenhouse Materials</a:t>
            </a:r>
            <a:endParaRPr lang="en-US" sz="1600" dirty="0"/>
          </a:p>
        </p:txBody>
      </p:sp>
      <p:sp>
        <p:nvSpPr>
          <p:cNvPr id="29" name="Text 27"/>
          <p:cNvSpPr/>
          <p:nvPr/>
        </p:nvSpPr>
        <p:spPr>
          <a:xfrm>
            <a:off x="685800" y="3352800"/>
            <a:ext cx="3438525" cy="685800"/>
          </a:xfrm>
          <a:prstGeom prst="rect">
            <a:avLst/>
          </a:prstGeom>
          <a:noFill/>
          <a:ln/>
        </p:spPr>
        <p:txBody>
          <a:bodyPr wrap="square" lIns="0" tIns="0" rIns="0" bIns="0" rtlCol="0" anchor="ctr"/>
          <a:lstStyle/>
          <a:p>
            <a:pPr>
              <a:lnSpc>
                <a:spcPct val="130000"/>
              </a:lnSpc>
            </a:pPr>
            <a:r>
              <a:rPr lang="en-US" sz="1200" dirty="0">
                <a:solidFill>
                  <a:srgbClr val="2C2C2C"/>
                </a:solidFill>
                <a:latin typeface="Quattrocento Sans" pitchFamily="34" charset="0"/>
                <a:ea typeface="Quattrocento Sans" pitchFamily="34" charset="-122"/>
                <a:cs typeface="Quattrocento Sans" pitchFamily="34" charset="-120"/>
              </a:rPr>
              <a:t>Ropes, clips, ties, trellising materials, and supporting infrastructure for plant training and support.</a:t>
            </a:r>
            <a:endParaRPr lang="en-US" sz="1600" dirty="0"/>
          </a:p>
        </p:txBody>
      </p:sp>
      <p:sp>
        <p:nvSpPr>
          <p:cNvPr id="30" name="Shape 28"/>
          <p:cNvSpPr/>
          <p:nvPr/>
        </p:nvSpPr>
        <p:spPr>
          <a:xfrm>
            <a:off x="4298900" y="2933700"/>
            <a:ext cx="3609975" cy="1219200"/>
          </a:xfrm>
          <a:custGeom>
            <a:avLst/>
            <a:gdLst/>
            <a:ahLst/>
            <a:cxnLst/>
            <a:rect l="l" t="t" r="r" b="b"/>
            <a:pathLst>
              <a:path w="3609975" h="1219200">
                <a:moveTo>
                  <a:pt x="38100" y="0"/>
                </a:moveTo>
                <a:lnTo>
                  <a:pt x="3533775" y="0"/>
                </a:lnTo>
                <a:cubicBezTo>
                  <a:pt x="3575831" y="0"/>
                  <a:pt x="3609975" y="34144"/>
                  <a:pt x="3609975" y="76200"/>
                </a:cubicBezTo>
                <a:lnTo>
                  <a:pt x="3609975" y="1143000"/>
                </a:lnTo>
                <a:cubicBezTo>
                  <a:pt x="3609975" y="1185056"/>
                  <a:pt x="3575831" y="1219200"/>
                  <a:pt x="3533775" y="1219200"/>
                </a:cubicBezTo>
                <a:lnTo>
                  <a:pt x="38100" y="1219200"/>
                </a:lnTo>
                <a:cubicBezTo>
                  <a:pt x="17072" y="1219200"/>
                  <a:pt x="0" y="1202128"/>
                  <a:pt x="0" y="1181100"/>
                </a:cubicBezTo>
                <a:lnTo>
                  <a:pt x="0" y="38100"/>
                </a:lnTo>
                <a:cubicBezTo>
                  <a:pt x="0" y="17072"/>
                  <a:pt x="17072" y="0"/>
                  <a:pt x="38100" y="0"/>
                </a:cubicBezTo>
                <a:close/>
              </a:path>
            </a:pathLst>
          </a:custGeom>
          <a:solidFill>
            <a:srgbClr val="F8F6F2"/>
          </a:solidFill>
          <a:ln/>
        </p:spPr>
      </p:sp>
      <p:sp>
        <p:nvSpPr>
          <p:cNvPr id="31" name="Shape 29"/>
          <p:cNvSpPr/>
          <p:nvPr/>
        </p:nvSpPr>
        <p:spPr>
          <a:xfrm>
            <a:off x="4298900" y="2933700"/>
            <a:ext cx="38100" cy="1219200"/>
          </a:xfrm>
          <a:custGeom>
            <a:avLst/>
            <a:gdLst/>
            <a:ahLst/>
            <a:cxnLst/>
            <a:rect l="l" t="t" r="r" b="b"/>
            <a:pathLst>
              <a:path w="38100" h="1219200">
                <a:moveTo>
                  <a:pt x="38100" y="0"/>
                </a:moveTo>
                <a:lnTo>
                  <a:pt x="38100" y="0"/>
                </a:lnTo>
                <a:lnTo>
                  <a:pt x="38100" y="1219200"/>
                </a:lnTo>
                <a:lnTo>
                  <a:pt x="38100" y="1219200"/>
                </a:lnTo>
                <a:cubicBezTo>
                  <a:pt x="17072" y="1219200"/>
                  <a:pt x="0" y="1202128"/>
                  <a:pt x="0" y="1181100"/>
                </a:cubicBezTo>
                <a:lnTo>
                  <a:pt x="0" y="38100"/>
                </a:lnTo>
                <a:cubicBezTo>
                  <a:pt x="0" y="17072"/>
                  <a:pt x="17072" y="0"/>
                  <a:pt x="38100" y="0"/>
                </a:cubicBezTo>
                <a:close/>
              </a:path>
            </a:pathLst>
          </a:custGeom>
          <a:solidFill>
            <a:srgbClr val="3A4D39"/>
          </a:solidFill>
          <a:ln/>
        </p:spPr>
      </p:sp>
      <p:sp>
        <p:nvSpPr>
          <p:cNvPr id="32" name="Shape 30"/>
          <p:cNvSpPr/>
          <p:nvPr/>
        </p:nvSpPr>
        <p:spPr>
          <a:xfrm>
            <a:off x="4456063" y="3076575"/>
            <a:ext cx="171450" cy="171450"/>
          </a:xfrm>
          <a:custGeom>
            <a:avLst/>
            <a:gdLst/>
            <a:ahLst/>
            <a:cxnLst/>
            <a:rect l="l" t="t" r="r" b="b"/>
            <a:pathLst>
              <a:path w="171450" h="171450">
                <a:moveTo>
                  <a:pt x="45274" y="39313"/>
                </a:moveTo>
                <a:lnTo>
                  <a:pt x="36534" y="64294"/>
                </a:lnTo>
                <a:lnTo>
                  <a:pt x="134916" y="64294"/>
                </a:lnTo>
                <a:lnTo>
                  <a:pt x="126176" y="39313"/>
                </a:lnTo>
                <a:cubicBezTo>
                  <a:pt x="124670" y="35027"/>
                  <a:pt x="120618" y="32147"/>
                  <a:pt x="116064" y="32147"/>
                </a:cubicBezTo>
                <a:lnTo>
                  <a:pt x="55386" y="32147"/>
                </a:lnTo>
                <a:cubicBezTo>
                  <a:pt x="50832" y="32147"/>
                  <a:pt x="46780" y="35027"/>
                  <a:pt x="45274" y="39313"/>
                </a:cubicBezTo>
                <a:close/>
                <a:moveTo>
                  <a:pt x="13261" y="65901"/>
                </a:moveTo>
                <a:lnTo>
                  <a:pt x="25048" y="32247"/>
                </a:lnTo>
                <a:cubicBezTo>
                  <a:pt x="29568" y="19355"/>
                  <a:pt x="41724" y="10716"/>
                  <a:pt x="55386" y="10716"/>
                </a:cubicBezTo>
                <a:lnTo>
                  <a:pt x="116064" y="10716"/>
                </a:lnTo>
                <a:cubicBezTo>
                  <a:pt x="129726" y="10716"/>
                  <a:pt x="141882" y="19355"/>
                  <a:pt x="146402" y="32247"/>
                </a:cubicBezTo>
                <a:lnTo>
                  <a:pt x="158189" y="65901"/>
                </a:lnTo>
                <a:cubicBezTo>
                  <a:pt x="165958" y="69116"/>
                  <a:pt x="171450" y="76784"/>
                  <a:pt x="171450" y="85725"/>
                </a:cubicBezTo>
                <a:lnTo>
                  <a:pt x="171450" y="150019"/>
                </a:lnTo>
                <a:cubicBezTo>
                  <a:pt x="171450" y="155946"/>
                  <a:pt x="166661" y="160734"/>
                  <a:pt x="160734" y="160734"/>
                </a:cubicBezTo>
                <a:lnTo>
                  <a:pt x="150019" y="160734"/>
                </a:lnTo>
                <a:cubicBezTo>
                  <a:pt x="144092" y="160734"/>
                  <a:pt x="139303" y="155946"/>
                  <a:pt x="139303" y="150019"/>
                </a:cubicBezTo>
                <a:lnTo>
                  <a:pt x="139303" y="139303"/>
                </a:lnTo>
                <a:lnTo>
                  <a:pt x="32147" y="139303"/>
                </a:lnTo>
                <a:lnTo>
                  <a:pt x="32147" y="150019"/>
                </a:lnTo>
                <a:cubicBezTo>
                  <a:pt x="32147" y="155946"/>
                  <a:pt x="27358" y="160734"/>
                  <a:pt x="21431" y="160734"/>
                </a:cubicBezTo>
                <a:lnTo>
                  <a:pt x="10716" y="160734"/>
                </a:lnTo>
                <a:cubicBezTo>
                  <a:pt x="4789" y="160734"/>
                  <a:pt x="0" y="155946"/>
                  <a:pt x="0" y="150019"/>
                </a:cubicBezTo>
                <a:lnTo>
                  <a:pt x="0" y="85725"/>
                </a:lnTo>
                <a:cubicBezTo>
                  <a:pt x="0" y="76784"/>
                  <a:pt x="5492" y="69116"/>
                  <a:pt x="13261" y="65901"/>
                </a:cubicBezTo>
                <a:close/>
                <a:moveTo>
                  <a:pt x="42863" y="101798"/>
                </a:moveTo>
                <a:cubicBezTo>
                  <a:pt x="42863" y="95884"/>
                  <a:pt x="38061" y="91083"/>
                  <a:pt x="32147" y="91083"/>
                </a:cubicBezTo>
                <a:cubicBezTo>
                  <a:pt x="26233" y="91083"/>
                  <a:pt x="21431" y="95884"/>
                  <a:pt x="21431" y="101798"/>
                </a:cubicBezTo>
                <a:cubicBezTo>
                  <a:pt x="21431" y="107713"/>
                  <a:pt x="26233" y="112514"/>
                  <a:pt x="32147" y="112514"/>
                </a:cubicBezTo>
                <a:cubicBezTo>
                  <a:pt x="38061" y="112514"/>
                  <a:pt x="42863" y="107713"/>
                  <a:pt x="42863" y="101798"/>
                </a:cubicBezTo>
                <a:close/>
                <a:moveTo>
                  <a:pt x="139303" y="112514"/>
                </a:moveTo>
                <a:cubicBezTo>
                  <a:pt x="145217" y="112514"/>
                  <a:pt x="150019" y="107713"/>
                  <a:pt x="150019" y="101798"/>
                </a:cubicBezTo>
                <a:cubicBezTo>
                  <a:pt x="150019" y="95884"/>
                  <a:pt x="145217" y="91083"/>
                  <a:pt x="139303" y="91083"/>
                </a:cubicBezTo>
                <a:cubicBezTo>
                  <a:pt x="133389" y="91083"/>
                  <a:pt x="128588" y="95884"/>
                  <a:pt x="128588" y="101798"/>
                </a:cubicBezTo>
                <a:cubicBezTo>
                  <a:pt x="128588" y="107713"/>
                  <a:pt x="133389" y="112514"/>
                  <a:pt x="139303" y="112514"/>
                </a:cubicBezTo>
                <a:close/>
              </a:path>
            </a:pathLst>
          </a:custGeom>
          <a:solidFill>
            <a:srgbClr val="3A4D39"/>
          </a:solidFill>
          <a:ln/>
        </p:spPr>
      </p:sp>
      <p:sp>
        <p:nvSpPr>
          <p:cNvPr id="33" name="Text 31"/>
          <p:cNvSpPr/>
          <p:nvPr/>
        </p:nvSpPr>
        <p:spPr>
          <a:xfrm>
            <a:off x="4722763" y="3048000"/>
            <a:ext cx="1371600" cy="228600"/>
          </a:xfrm>
          <a:prstGeom prst="rect">
            <a:avLst/>
          </a:prstGeom>
          <a:noFill/>
          <a:ln/>
        </p:spPr>
        <p:txBody>
          <a:bodyPr wrap="square" lIns="0" tIns="0" rIns="0" bIns="0" rtlCol="0" anchor="ctr"/>
          <a:lstStyle/>
          <a:p>
            <a:pPr>
              <a:lnSpc>
                <a:spcPct val="130000"/>
              </a:lnSpc>
            </a:pPr>
            <a:r>
              <a:rPr lang="en-US" sz="1200" b="1" dirty="0">
                <a:solidFill>
                  <a:srgbClr val="3A4D39"/>
                </a:solidFill>
                <a:latin typeface="Unna" pitchFamily="34" charset="0"/>
                <a:ea typeface="Unna" pitchFamily="34" charset="-122"/>
                <a:cs typeface="Unna" pitchFamily="34" charset="-120"/>
              </a:rPr>
              <a:t>Transport Expenses</a:t>
            </a:r>
            <a:endParaRPr lang="en-US" sz="1600" dirty="0"/>
          </a:p>
        </p:txBody>
      </p:sp>
      <p:sp>
        <p:nvSpPr>
          <p:cNvPr id="34" name="Text 32"/>
          <p:cNvSpPr/>
          <p:nvPr/>
        </p:nvSpPr>
        <p:spPr>
          <a:xfrm>
            <a:off x="4432250" y="3352800"/>
            <a:ext cx="3438525" cy="685800"/>
          </a:xfrm>
          <a:prstGeom prst="rect">
            <a:avLst/>
          </a:prstGeom>
          <a:noFill/>
          <a:ln/>
        </p:spPr>
        <p:txBody>
          <a:bodyPr wrap="square" lIns="0" tIns="0" rIns="0" bIns="0" rtlCol="0" anchor="ctr"/>
          <a:lstStyle/>
          <a:p>
            <a:pPr>
              <a:lnSpc>
                <a:spcPct val="130000"/>
              </a:lnSpc>
            </a:pPr>
            <a:r>
              <a:rPr lang="en-US" sz="1200" dirty="0">
                <a:solidFill>
                  <a:srgbClr val="2C2C2C"/>
                </a:solidFill>
                <a:latin typeface="Quattrocento Sans" pitchFamily="34" charset="0"/>
                <a:ea typeface="Quattrocento Sans" pitchFamily="34" charset="-122"/>
                <a:cs typeface="Quattrocento Sans" pitchFamily="34" charset="-120"/>
              </a:rPr>
              <a:t>All travel costs for Monitoring Partners' bi-weekly visits including fuel, vehicle maintenance, and driver fees.</a:t>
            </a:r>
            <a:endParaRPr lang="en-US" sz="1600" dirty="0"/>
          </a:p>
        </p:txBody>
      </p:sp>
      <p:sp>
        <p:nvSpPr>
          <p:cNvPr id="35" name="Shape 33"/>
          <p:cNvSpPr/>
          <p:nvPr/>
        </p:nvSpPr>
        <p:spPr>
          <a:xfrm>
            <a:off x="8045351" y="2933700"/>
            <a:ext cx="3609975" cy="1219200"/>
          </a:xfrm>
          <a:custGeom>
            <a:avLst/>
            <a:gdLst/>
            <a:ahLst/>
            <a:cxnLst/>
            <a:rect l="l" t="t" r="r" b="b"/>
            <a:pathLst>
              <a:path w="3609975" h="1219200">
                <a:moveTo>
                  <a:pt x="38100" y="0"/>
                </a:moveTo>
                <a:lnTo>
                  <a:pt x="3533775" y="0"/>
                </a:lnTo>
                <a:cubicBezTo>
                  <a:pt x="3575831" y="0"/>
                  <a:pt x="3609975" y="34144"/>
                  <a:pt x="3609975" y="76200"/>
                </a:cubicBezTo>
                <a:lnTo>
                  <a:pt x="3609975" y="1143000"/>
                </a:lnTo>
                <a:cubicBezTo>
                  <a:pt x="3609975" y="1185056"/>
                  <a:pt x="3575831" y="1219200"/>
                  <a:pt x="3533775" y="1219200"/>
                </a:cubicBezTo>
                <a:lnTo>
                  <a:pt x="38100" y="1219200"/>
                </a:lnTo>
                <a:cubicBezTo>
                  <a:pt x="17072" y="1219200"/>
                  <a:pt x="0" y="1202128"/>
                  <a:pt x="0" y="1181100"/>
                </a:cubicBezTo>
                <a:lnTo>
                  <a:pt x="0" y="38100"/>
                </a:lnTo>
                <a:cubicBezTo>
                  <a:pt x="0" y="17072"/>
                  <a:pt x="17072" y="0"/>
                  <a:pt x="38100" y="0"/>
                </a:cubicBezTo>
                <a:close/>
              </a:path>
            </a:pathLst>
          </a:custGeom>
          <a:solidFill>
            <a:srgbClr val="F8F6F2"/>
          </a:solidFill>
          <a:ln/>
        </p:spPr>
      </p:sp>
      <p:sp>
        <p:nvSpPr>
          <p:cNvPr id="36" name="Shape 34"/>
          <p:cNvSpPr/>
          <p:nvPr/>
        </p:nvSpPr>
        <p:spPr>
          <a:xfrm>
            <a:off x="8045351" y="2933700"/>
            <a:ext cx="38100" cy="1219200"/>
          </a:xfrm>
          <a:custGeom>
            <a:avLst/>
            <a:gdLst/>
            <a:ahLst/>
            <a:cxnLst/>
            <a:rect l="l" t="t" r="r" b="b"/>
            <a:pathLst>
              <a:path w="38100" h="1219200">
                <a:moveTo>
                  <a:pt x="38100" y="0"/>
                </a:moveTo>
                <a:lnTo>
                  <a:pt x="38100" y="0"/>
                </a:lnTo>
                <a:lnTo>
                  <a:pt x="38100" y="1219200"/>
                </a:lnTo>
                <a:lnTo>
                  <a:pt x="38100" y="1219200"/>
                </a:lnTo>
                <a:cubicBezTo>
                  <a:pt x="17072" y="1219200"/>
                  <a:pt x="0" y="1202128"/>
                  <a:pt x="0" y="1181100"/>
                </a:cubicBezTo>
                <a:lnTo>
                  <a:pt x="0" y="38100"/>
                </a:lnTo>
                <a:cubicBezTo>
                  <a:pt x="0" y="17072"/>
                  <a:pt x="17072" y="0"/>
                  <a:pt x="38100" y="0"/>
                </a:cubicBezTo>
                <a:close/>
              </a:path>
            </a:pathLst>
          </a:custGeom>
          <a:solidFill>
            <a:srgbClr val="7A6250"/>
          </a:solidFill>
          <a:ln/>
        </p:spPr>
      </p:sp>
      <p:sp>
        <p:nvSpPr>
          <p:cNvPr id="37" name="Shape 35"/>
          <p:cNvSpPr/>
          <p:nvPr/>
        </p:nvSpPr>
        <p:spPr>
          <a:xfrm>
            <a:off x="8202513" y="3076575"/>
            <a:ext cx="171450" cy="171450"/>
          </a:xfrm>
          <a:custGeom>
            <a:avLst/>
            <a:gdLst/>
            <a:ahLst/>
            <a:cxnLst/>
            <a:rect l="l" t="t" r="r" b="b"/>
            <a:pathLst>
              <a:path w="171450" h="171450">
                <a:moveTo>
                  <a:pt x="85725" y="171450"/>
                </a:moveTo>
                <a:cubicBezTo>
                  <a:pt x="133038" y="171450"/>
                  <a:pt x="171450" y="133038"/>
                  <a:pt x="171450" y="85725"/>
                </a:cubicBezTo>
                <a:cubicBezTo>
                  <a:pt x="171450" y="38412"/>
                  <a:pt x="133038" y="0"/>
                  <a:pt x="85725" y="0"/>
                </a:cubicBezTo>
                <a:cubicBezTo>
                  <a:pt x="38412" y="0"/>
                  <a:pt x="0" y="38412"/>
                  <a:pt x="0" y="85725"/>
                </a:cubicBezTo>
                <a:cubicBezTo>
                  <a:pt x="0" y="133038"/>
                  <a:pt x="38412" y="171450"/>
                  <a:pt x="85725" y="171450"/>
                </a:cubicBezTo>
                <a:close/>
                <a:moveTo>
                  <a:pt x="77688" y="115193"/>
                </a:moveTo>
                <a:lnTo>
                  <a:pt x="77688" y="93762"/>
                </a:lnTo>
                <a:lnTo>
                  <a:pt x="56257" y="93762"/>
                </a:lnTo>
                <a:cubicBezTo>
                  <a:pt x="51803" y="93762"/>
                  <a:pt x="48220" y="90179"/>
                  <a:pt x="48220" y="85725"/>
                </a:cubicBezTo>
                <a:cubicBezTo>
                  <a:pt x="48220" y="81271"/>
                  <a:pt x="51803" y="77688"/>
                  <a:pt x="56257" y="77688"/>
                </a:cubicBezTo>
                <a:lnTo>
                  <a:pt x="77688" y="77688"/>
                </a:lnTo>
                <a:lnTo>
                  <a:pt x="77688" y="56257"/>
                </a:lnTo>
                <a:cubicBezTo>
                  <a:pt x="77688" y="51803"/>
                  <a:pt x="81271" y="48220"/>
                  <a:pt x="85725" y="48220"/>
                </a:cubicBezTo>
                <a:cubicBezTo>
                  <a:pt x="90179" y="48220"/>
                  <a:pt x="93762" y="51803"/>
                  <a:pt x="93762" y="56257"/>
                </a:cubicBezTo>
                <a:lnTo>
                  <a:pt x="93762" y="77688"/>
                </a:lnTo>
                <a:lnTo>
                  <a:pt x="115193" y="77688"/>
                </a:lnTo>
                <a:cubicBezTo>
                  <a:pt x="119647" y="77688"/>
                  <a:pt x="123230" y="81271"/>
                  <a:pt x="123230" y="85725"/>
                </a:cubicBezTo>
                <a:cubicBezTo>
                  <a:pt x="123230" y="90179"/>
                  <a:pt x="119647" y="93762"/>
                  <a:pt x="115193" y="93762"/>
                </a:cubicBezTo>
                <a:lnTo>
                  <a:pt x="93762" y="93762"/>
                </a:lnTo>
                <a:lnTo>
                  <a:pt x="93762" y="115193"/>
                </a:lnTo>
                <a:cubicBezTo>
                  <a:pt x="93762" y="119647"/>
                  <a:pt x="90179" y="123230"/>
                  <a:pt x="85725" y="123230"/>
                </a:cubicBezTo>
                <a:cubicBezTo>
                  <a:pt x="81271" y="123230"/>
                  <a:pt x="77688" y="119647"/>
                  <a:pt x="77688" y="115193"/>
                </a:cubicBezTo>
                <a:close/>
              </a:path>
            </a:pathLst>
          </a:custGeom>
          <a:solidFill>
            <a:srgbClr val="7A6250"/>
          </a:solidFill>
          <a:ln/>
        </p:spPr>
      </p:sp>
      <p:sp>
        <p:nvSpPr>
          <p:cNvPr id="38" name="Text 36"/>
          <p:cNvSpPr/>
          <p:nvPr/>
        </p:nvSpPr>
        <p:spPr>
          <a:xfrm>
            <a:off x="8469213" y="3048000"/>
            <a:ext cx="1657350" cy="228600"/>
          </a:xfrm>
          <a:prstGeom prst="rect">
            <a:avLst/>
          </a:prstGeom>
          <a:noFill/>
          <a:ln/>
        </p:spPr>
        <p:txBody>
          <a:bodyPr wrap="square" lIns="0" tIns="0" rIns="0" bIns="0" rtlCol="0" anchor="ctr"/>
          <a:lstStyle/>
          <a:p>
            <a:pPr>
              <a:lnSpc>
                <a:spcPct val="130000"/>
              </a:lnSpc>
            </a:pPr>
            <a:r>
              <a:rPr lang="en-US" sz="1200" b="1" dirty="0">
                <a:solidFill>
                  <a:srgbClr val="3A4D39"/>
                </a:solidFill>
                <a:latin typeface="Unna" pitchFamily="34" charset="0"/>
                <a:ea typeface="Unna" pitchFamily="34" charset="-122"/>
                <a:cs typeface="Unna" pitchFamily="34" charset="-120"/>
              </a:rPr>
              <a:t>Other Operational Costs</a:t>
            </a:r>
            <a:endParaRPr lang="en-US" sz="1600" dirty="0"/>
          </a:p>
        </p:txBody>
      </p:sp>
      <p:sp>
        <p:nvSpPr>
          <p:cNvPr id="39" name="Text 37"/>
          <p:cNvSpPr/>
          <p:nvPr/>
        </p:nvSpPr>
        <p:spPr>
          <a:xfrm>
            <a:off x="8178701" y="3352800"/>
            <a:ext cx="3438525" cy="685800"/>
          </a:xfrm>
          <a:prstGeom prst="rect">
            <a:avLst/>
          </a:prstGeom>
          <a:noFill/>
          <a:ln/>
        </p:spPr>
        <p:txBody>
          <a:bodyPr wrap="square" lIns="0" tIns="0" rIns="0" bIns="0" rtlCol="0" anchor="ctr"/>
          <a:lstStyle/>
          <a:p>
            <a:pPr>
              <a:lnSpc>
                <a:spcPct val="130000"/>
              </a:lnSpc>
            </a:pPr>
            <a:r>
              <a:rPr lang="en-US" sz="1200" dirty="0">
                <a:solidFill>
                  <a:srgbClr val="2C2C2C"/>
                </a:solidFill>
                <a:latin typeface="Quattrocento Sans" pitchFamily="34" charset="0"/>
                <a:ea typeface="Quattrocento Sans" pitchFamily="34" charset="-122"/>
                <a:cs typeface="Quattrocento Sans" pitchFamily="34" charset="-120"/>
              </a:rPr>
              <a:t>Utilities, minor repairs, packaging materials, and other incidental expenses directly related to production.</a:t>
            </a:r>
            <a:endParaRPr lang="en-US" sz="1600" dirty="0"/>
          </a:p>
        </p:txBody>
      </p:sp>
      <p:sp>
        <p:nvSpPr>
          <p:cNvPr id="40" name="Shape 38"/>
          <p:cNvSpPr/>
          <p:nvPr/>
        </p:nvSpPr>
        <p:spPr>
          <a:xfrm>
            <a:off x="381000" y="4419600"/>
            <a:ext cx="5638800" cy="2400300"/>
          </a:xfrm>
          <a:custGeom>
            <a:avLst/>
            <a:gdLst/>
            <a:ahLst/>
            <a:cxnLst/>
            <a:rect l="l" t="t" r="r" b="b"/>
            <a:pathLst>
              <a:path w="5638800" h="2400300">
                <a:moveTo>
                  <a:pt x="76210" y="0"/>
                </a:moveTo>
                <a:lnTo>
                  <a:pt x="5562590" y="0"/>
                </a:lnTo>
                <a:cubicBezTo>
                  <a:pt x="5604680" y="0"/>
                  <a:pt x="5638800" y="34120"/>
                  <a:pt x="5638800" y="76210"/>
                </a:cubicBezTo>
                <a:lnTo>
                  <a:pt x="5638800" y="2324090"/>
                </a:lnTo>
                <a:cubicBezTo>
                  <a:pt x="5638800" y="2366180"/>
                  <a:pt x="5604680" y="2400300"/>
                  <a:pt x="5562590" y="2400300"/>
                </a:cubicBezTo>
                <a:lnTo>
                  <a:pt x="76210" y="2400300"/>
                </a:lnTo>
                <a:cubicBezTo>
                  <a:pt x="34120" y="2400300"/>
                  <a:pt x="0" y="2366180"/>
                  <a:pt x="0" y="2324090"/>
                </a:cubicBezTo>
                <a:lnTo>
                  <a:pt x="0" y="76210"/>
                </a:lnTo>
                <a:cubicBezTo>
                  <a:pt x="0" y="34148"/>
                  <a:pt x="34148" y="0"/>
                  <a:pt x="76210" y="0"/>
                </a:cubicBezTo>
                <a:close/>
              </a:path>
            </a:pathLst>
          </a:custGeom>
          <a:solidFill>
            <a:srgbClr val="3A4D39"/>
          </a:solidFill>
          <a:ln/>
        </p:spPr>
      </p:sp>
      <p:sp>
        <p:nvSpPr>
          <p:cNvPr id="41" name="Shape 39"/>
          <p:cNvSpPr/>
          <p:nvPr/>
        </p:nvSpPr>
        <p:spPr>
          <a:xfrm>
            <a:off x="578644" y="4619625"/>
            <a:ext cx="128588" cy="171450"/>
          </a:xfrm>
          <a:custGeom>
            <a:avLst/>
            <a:gdLst/>
            <a:ahLst/>
            <a:cxnLst/>
            <a:rect l="l" t="t" r="r" b="b"/>
            <a:pathLst>
              <a:path w="128588" h="171450">
                <a:moveTo>
                  <a:pt x="21431" y="0"/>
                </a:moveTo>
                <a:cubicBezTo>
                  <a:pt x="9611" y="0"/>
                  <a:pt x="0" y="9611"/>
                  <a:pt x="0" y="21431"/>
                </a:cubicBezTo>
                <a:lnTo>
                  <a:pt x="0" y="150019"/>
                </a:lnTo>
                <a:cubicBezTo>
                  <a:pt x="0" y="161839"/>
                  <a:pt x="9611" y="171450"/>
                  <a:pt x="21431" y="171450"/>
                </a:cubicBezTo>
                <a:lnTo>
                  <a:pt x="107156" y="171450"/>
                </a:lnTo>
                <a:cubicBezTo>
                  <a:pt x="118977" y="171450"/>
                  <a:pt x="128588" y="161839"/>
                  <a:pt x="128588" y="150019"/>
                </a:cubicBezTo>
                <a:lnTo>
                  <a:pt x="128588" y="21431"/>
                </a:lnTo>
                <a:cubicBezTo>
                  <a:pt x="128588" y="9611"/>
                  <a:pt x="118977" y="0"/>
                  <a:pt x="107156" y="0"/>
                </a:cubicBezTo>
                <a:lnTo>
                  <a:pt x="21431" y="0"/>
                </a:lnTo>
                <a:close/>
                <a:moveTo>
                  <a:pt x="58936" y="117872"/>
                </a:moveTo>
                <a:lnTo>
                  <a:pt x="69652" y="117872"/>
                </a:lnTo>
                <a:cubicBezTo>
                  <a:pt x="75579" y="117872"/>
                  <a:pt x="80367" y="122660"/>
                  <a:pt x="80367" y="128588"/>
                </a:cubicBezTo>
                <a:lnTo>
                  <a:pt x="80367" y="155377"/>
                </a:lnTo>
                <a:lnTo>
                  <a:pt x="48220" y="155377"/>
                </a:lnTo>
                <a:lnTo>
                  <a:pt x="48220" y="128588"/>
                </a:lnTo>
                <a:cubicBezTo>
                  <a:pt x="48220" y="122660"/>
                  <a:pt x="53009" y="117872"/>
                  <a:pt x="58936" y="117872"/>
                </a:cubicBezTo>
                <a:close/>
                <a:moveTo>
                  <a:pt x="32147" y="37505"/>
                </a:moveTo>
                <a:cubicBezTo>
                  <a:pt x="32147" y="34558"/>
                  <a:pt x="34558" y="32147"/>
                  <a:pt x="37505" y="32147"/>
                </a:cubicBezTo>
                <a:lnTo>
                  <a:pt x="48220" y="32147"/>
                </a:lnTo>
                <a:cubicBezTo>
                  <a:pt x="51167" y="32147"/>
                  <a:pt x="53578" y="34558"/>
                  <a:pt x="53578" y="37505"/>
                </a:cubicBezTo>
                <a:lnTo>
                  <a:pt x="53578" y="48220"/>
                </a:lnTo>
                <a:cubicBezTo>
                  <a:pt x="53578" y="51167"/>
                  <a:pt x="51167" y="53578"/>
                  <a:pt x="48220" y="53578"/>
                </a:cubicBezTo>
                <a:lnTo>
                  <a:pt x="37505" y="53578"/>
                </a:lnTo>
                <a:cubicBezTo>
                  <a:pt x="34558" y="53578"/>
                  <a:pt x="32147" y="51167"/>
                  <a:pt x="32147" y="48220"/>
                </a:cubicBezTo>
                <a:lnTo>
                  <a:pt x="32147" y="37505"/>
                </a:lnTo>
                <a:close/>
                <a:moveTo>
                  <a:pt x="80367" y="32147"/>
                </a:moveTo>
                <a:lnTo>
                  <a:pt x="91083" y="32147"/>
                </a:lnTo>
                <a:cubicBezTo>
                  <a:pt x="94030" y="32147"/>
                  <a:pt x="96441" y="34558"/>
                  <a:pt x="96441" y="37505"/>
                </a:cubicBezTo>
                <a:lnTo>
                  <a:pt x="96441" y="48220"/>
                </a:lnTo>
                <a:cubicBezTo>
                  <a:pt x="96441" y="51167"/>
                  <a:pt x="94030" y="53578"/>
                  <a:pt x="91083" y="53578"/>
                </a:cubicBezTo>
                <a:lnTo>
                  <a:pt x="80367" y="53578"/>
                </a:lnTo>
                <a:cubicBezTo>
                  <a:pt x="77420" y="53578"/>
                  <a:pt x="75009" y="51167"/>
                  <a:pt x="75009" y="48220"/>
                </a:cubicBezTo>
                <a:lnTo>
                  <a:pt x="75009" y="37505"/>
                </a:lnTo>
                <a:cubicBezTo>
                  <a:pt x="75009" y="34558"/>
                  <a:pt x="77420" y="32147"/>
                  <a:pt x="80367" y="32147"/>
                </a:cubicBezTo>
                <a:close/>
                <a:moveTo>
                  <a:pt x="32147" y="80367"/>
                </a:moveTo>
                <a:cubicBezTo>
                  <a:pt x="32147" y="77420"/>
                  <a:pt x="34558" y="75009"/>
                  <a:pt x="37505" y="75009"/>
                </a:cubicBezTo>
                <a:lnTo>
                  <a:pt x="48220" y="75009"/>
                </a:lnTo>
                <a:cubicBezTo>
                  <a:pt x="51167" y="75009"/>
                  <a:pt x="53578" y="77420"/>
                  <a:pt x="53578" y="80367"/>
                </a:cubicBezTo>
                <a:lnTo>
                  <a:pt x="53578" y="91083"/>
                </a:lnTo>
                <a:cubicBezTo>
                  <a:pt x="53578" y="94030"/>
                  <a:pt x="51167" y="96441"/>
                  <a:pt x="48220" y="96441"/>
                </a:cubicBezTo>
                <a:lnTo>
                  <a:pt x="37505" y="96441"/>
                </a:lnTo>
                <a:cubicBezTo>
                  <a:pt x="34558" y="96441"/>
                  <a:pt x="32147" y="94030"/>
                  <a:pt x="32147" y="91083"/>
                </a:cubicBezTo>
                <a:lnTo>
                  <a:pt x="32147" y="80367"/>
                </a:lnTo>
                <a:close/>
                <a:moveTo>
                  <a:pt x="80367" y="75009"/>
                </a:moveTo>
                <a:lnTo>
                  <a:pt x="91083" y="75009"/>
                </a:lnTo>
                <a:cubicBezTo>
                  <a:pt x="94030" y="75009"/>
                  <a:pt x="96441" y="77420"/>
                  <a:pt x="96441" y="80367"/>
                </a:cubicBezTo>
                <a:lnTo>
                  <a:pt x="96441" y="91083"/>
                </a:lnTo>
                <a:cubicBezTo>
                  <a:pt x="96441" y="94030"/>
                  <a:pt x="94030" y="96441"/>
                  <a:pt x="91083" y="96441"/>
                </a:cubicBezTo>
                <a:lnTo>
                  <a:pt x="80367" y="96441"/>
                </a:lnTo>
                <a:cubicBezTo>
                  <a:pt x="77420" y="96441"/>
                  <a:pt x="75009" y="94030"/>
                  <a:pt x="75009" y="91083"/>
                </a:cubicBezTo>
                <a:lnTo>
                  <a:pt x="75009" y="80367"/>
                </a:lnTo>
                <a:cubicBezTo>
                  <a:pt x="75009" y="77420"/>
                  <a:pt x="77420" y="75009"/>
                  <a:pt x="80367" y="75009"/>
                </a:cubicBezTo>
                <a:close/>
              </a:path>
            </a:pathLst>
          </a:custGeom>
          <a:solidFill>
            <a:srgbClr val="BCA37F"/>
          </a:solidFill>
          <a:ln/>
        </p:spPr>
      </p:sp>
      <p:sp>
        <p:nvSpPr>
          <p:cNvPr id="42" name="Text 40"/>
          <p:cNvSpPr/>
          <p:nvPr/>
        </p:nvSpPr>
        <p:spPr>
          <a:xfrm>
            <a:off x="752475" y="4572000"/>
            <a:ext cx="5200650" cy="266700"/>
          </a:xfrm>
          <a:prstGeom prst="rect">
            <a:avLst/>
          </a:prstGeom>
          <a:noFill/>
          <a:ln/>
        </p:spPr>
        <p:txBody>
          <a:bodyPr wrap="square" lIns="0" tIns="0" rIns="0" bIns="0" rtlCol="0" anchor="ctr"/>
          <a:lstStyle/>
          <a:p>
            <a:pPr>
              <a:lnSpc>
                <a:spcPct val="130000"/>
              </a:lnSpc>
            </a:pPr>
            <a:r>
              <a:rPr lang="en-US" sz="1350" b="1" dirty="0">
                <a:solidFill>
                  <a:srgbClr val="F8F6F2"/>
                </a:solidFill>
                <a:latin typeface="Unna" pitchFamily="34" charset="0"/>
                <a:ea typeface="Unna" pitchFamily="34" charset="-122"/>
                <a:cs typeface="Unna" pitchFamily="34" charset="-120"/>
              </a:rPr>
              <a:t>In-Kind Contribution Valuation</a:t>
            </a:r>
            <a:endParaRPr lang="en-US" sz="1600" dirty="0"/>
          </a:p>
        </p:txBody>
      </p:sp>
      <p:sp>
        <p:nvSpPr>
          <p:cNvPr id="43" name="Text 41"/>
          <p:cNvSpPr/>
          <p:nvPr/>
        </p:nvSpPr>
        <p:spPr>
          <a:xfrm>
            <a:off x="533400" y="4953000"/>
            <a:ext cx="5410200" cy="228600"/>
          </a:xfrm>
          <a:prstGeom prst="rect">
            <a:avLst/>
          </a:prstGeom>
          <a:noFill/>
          <a:ln/>
        </p:spPr>
        <p:txBody>
          <a:bodyPr wrap="square" lIns="0" tIns="0" rIns="0" bIns="0" rtlCol="0" anchor="ctr"/>
          <a:lstStyle/>
          <a:p>
            <a:pPr>
              <a:lnSpc>
                <a:spcPct val="130000"/>
              </a:lnSpc>
            </a:pPr>
            <a:r>
              <a:rPr lang="en-US" sz="1200" dirty="0">
                <a:solidFill>
                  <a:srgbClr val="F8F6F2"/>
                </a:solidFill>
                <a:latin typeface="Quattrocento Sans" pitchFamily="34" charset="0"/>
                <a:ea typeface="Quattrocento Sans" pitchFamily="34" charset="-122"/>
                <a:cs typeface="Quattrocento Sans" pitchFamily="34" charset="-120"/>
              </a:rPr>
              <a:t>Wilshire Farms' non-monetary contributions will be valued at fair market rates:</a:t>
            </a:r>
            <a:endParaRPr lang="en-US" sz="1600" dirty="0"/>
          </a:p>
        </p:txBody>
      </p:sp>
      <p:sp>
        <p:nvSpPr>
          <p:cNvPr id="44" name="Shape 42"/>
          <p:cNvSpPr/>
          <p:nvPr/>
        </p:nvSpPr>
        <p:spPr>
          <a:xfrm>
            <a:off x="561975" y="5334000"/>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BCA37F"/>
          </a:solidFill>
          <a:ln/>
        </p:spPr>
      </p:sp>
      <p:sp>
        <p:nvSpPr>
          <p:cNvPr id="45" name="Text 43"/>
          <p:cNvSpPr/>
          <p:nvPr/>
        </p:nvSpPr>
        <p:spPr>
          <a:xfrm>
            <a:off x="800100" y="5295900"/>
            <a:ext cx="4419600" cy="228600"/>
          </a:xfrm>
          <a:prstGeom prst="rect">
            <a:avLst/>
          </a:prstGeom>
          <a:noFill/>
          <a:ln/>
        </p:spPr>
        <p:txBody>
          <a:bodyPr wrap="square" lIns="0" tIns="0" rIns="0" bIns="0" rtlCol="0" anchor="ctr"/>
          <a:lstStyle/>
          <a:p>
            <a:pPr>
              <a:lnSpc>
                <a:spcPct val="130000"/>
              </a:lnSpc>
            </a:pPr>
            <a:r>
              <a:rPr lang="en-US" sz="1200" dirty="0">
                <a:solidFill>
                  <a:srgbClr val="F8F6F2"/>
                </a:solidFill>
                <a:latin typeface="Quattrocento Sans" pitchFamily="34" charset="0"/>
                <a:ea typeface="Quattrocento Sans" pitchFamily="34" charset="-122"/>
                <a:cs typeface="Quattrocento Sans" pitchFamily="34" charset="-120"/>
              </a:rPr>
              <a:t>Greenhouse facility: Based on comparable commercial rental rates</a:t>
            </a:r>
            <a:endParaRPr lang="en-US" sz="1600" dirty="0"/>
          </a:p>
        </p:txBody>
      </p:sp>
      <p:sp>
        <p:nvSpPr>
          <p:cNvPr id="46" name="Shape 44"/>
          <p:cNvSpPr/>
          <p:nvPr/>
        </p:nvSpPr>
        <p:spPr>
          <a:xfrm>
            <a:off x="561975" y="5638800"/>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BCA37F"/>
          </a:solidFill>
          <a:ln/>
        </p:spPr>
      </p:sp>
      <p:sp>
        <p:nvSpPr>
          <p:cNvPr id="47" name="Text 45"/>
          <p:cNvSpPr/>
          <p:nvPr/>
        </p:nvSpPr>
        <p:spPr>
          <a:xfrm>
            <a:off x="800100" y="5600700"/>
            <a:ext cx="4495800" cy="228600"/>
          </a:xfrm>
          <a:prstGeom prst="rect">
            <a:avLst/>
          </a:prstGeom>
          <a:noFill/>
          <a:ln/>
        </p:spPr>
        <p:txBody>
          <a:bodyPr wrap="square" lIns="0" tIns="0" rIns="0" bIns="0" rtlCol="0" anchor="ctr"/>
          <a:lstStyle/>
          <a:p>
            <a:pPr>
              <a:lnSpc>
                <a:spcPct val="130000"/>
              </a:lnSpc>
            </a:pPr>
            <a:r>
              <a:rPr lang="en-US" sz="1200" dirty="0">
                <a:solidFill>
                  <a:srgbClr val="F8F6F2"/>
                </a:solidFill>
                <a:latin typeface="Quattrocento Sans" pitchFamily="34" charset="0"/>
                <a:ea typeface="Quattrocento Sans" pitchFamily="34" charset="-122"/>
                <a:cs typeface="Quattrocento Sans" pitchFamily="34" charset="-120"/>
              </a:rPr>
              <a:t>Water infrastructure: Calculated from usage and maintenance costs</a:t>
            </a:r>
            <a:endParaRPr lang="en-US" sz="1600" dirty="0"/>
          </a:p>
        </p:txBody>
      </p:sp>
      <p:sp>
        <p:nvSpPr>
          <p:cNvPr id="48" name="Shape 46"/>
          <p:cNvSpPr/>
          <p:nvPr/>
        </p:nvSpPr>
        <p:spPr>
          <a:xfrm>
            <a:off x="561975" y="5943600"/>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BCA37F"/>
          </a:solidFill>
          <a:ln/>
        </p:spPr>
      </p:sp>
      <p:sp>
        <p:nvSpPr>
          <p:cNvPr id="49" name="Text 47"/>
          <p:cNvSpPr/>
          <p:nvPr/>
        </p:nvSpPr>
        <p:spPr>
          <a:xfrm>
            <a:off x="800100" y="5905500"/>
            <a:ext cx="3876675" cy="228600"/>
          </a:xfrm>
          <a:prstGeom prst="rect">
            <a:avLst/>
          </a:prstGeom>
          <a:noFill/>
          <a:ln/>
        </p:spPr>
        <p:txBody>
          <a:bodyPr wrap="square" lIns="0" tIns="0" rIns="0" bIns="0" rtlCol="0" anchor="ctr"/>
          <a:lstStyle/>
          <a:p>
            <a:pPr>
              <a:lnSpc>
                <a:spcPct val="130000"/>
              </a:lnSpc>
            </a:pPr>
            <a:r>
              <a:rPr lang="en-US" sz="1200" dirty="0">
                <a:solidFill>
                  <a:srgbClr val="F8F6F2"/>
                </a:solidFill>
                <a:latin typeface="Quattrocento Sans" pitchFamily="34" charset="0"/>
                <a:ea typeface="Quattrocento Sans" pitchFamily="34" charset="-122"/>
                <a:cs typeface="Quattrocento Sans" pitchFamily="34" charset="-120"/>
              </a:rPr>
              <a:t>Staff quarters: Valued at local accommodation rental rates</a:t>
            </a:r>
            <a:endParaRPr lang="en-US" sz="1600" dirty="0"/>
          </a:p>
        </p:txBody>
      </p:sp>
      <p:sp>
        <p:nvSpPr>
          <p:cNvPr id="50" name="Shape 48"/>
          <p:cNvSpPr/>
          <p:nvPr/>
        </p:nvSpPr>
        <p:spPr>
          <a:xfrm>
            <a:off x="557213" y="6248400"/>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BCA37F"/>
          </a:solidFill>
          <a:ln/>
        </p:spPr>
      </p:sp>
      <p:sp>
        <p:nvSpPr>
          <p:cNvPr id="51" name="Text 49"/>
          <p:cNvSpPr/>
          <p:nvPr/>
        </p:nvSpPr>
        <p:spPr>
          <a:xfrm>
            <a:off x="789533" y="6210300"/>
            <a:ext cx="5153025" cy="457200"/>
          </a:xfrm>
          <a:prstGeom prst="rect">
            <a:avLst/>
          </a:prstGeom>
          <a:noFill/>
          <a:ln/>
        </p:spPr>
        <p:txBody>
          <a:bodyPr wrap="square" lIns="0" tIns="0" rIns="0" bIns="0" rtlCol="0" anchor="ctr"/>
          <a:lstStyle/>
          <a:p>
            <a:pPr>
              <a:lnSpc>
                <a:spcPct val="130000"/>
              </a:lnSpc>
            </a:pPr>
            <a:r>
              <a:rPr lang="en-US" sz="1200" dirty="0">
                <a:solidFill>
                  <a:srgbClr val="F8F6F2"/>
                </a:solidFill>
                <a:latin typeface="Quattrocento Sans" pitchFamily="34" charset="0"/>
                <a:ea typeface="Quattrocento Sans" pitchFamily="34" charset="-122"/>
                <a:cs typeface="Quattrocento Sans" pitchFamily="34" charset="-120"/>
              </a:rPr>
              <a:t>Management expertise: Based on industry-standard agricultural management fees</a:t>
            </a:r>
            <a:endParaRPr lang="en-US" sz="1600" dirty="0"/>
          </a:p>
        </p:txBody>
      </p:sp>
      <p:sp>
        <p:nvSpPr>
          <p:cNvPr id="52" name="Shape 50"/>
          <p:cNvSpPr/>
          <p:nvPr/>
        </p:nvSpPr>
        <p:spPr>
          <a:xfrm>
            <a:off x="6191250" y="4419600"/>
            <a:ext cx="5619750" cy="2400300"/>
          </a:xfrm>
          <a:custGeom>
            <a:avLst/>
            <a:gdLst/>
            <a:ahLst/>
            <a:cxnLst/>
            <a:rect l="l" t="t" r="r" b="b"/>
            <a:pathLst>
              <a:path w="5619750" h="2400300">
                <a:moveTo>
                  <a:pt x="38100" y="0"/>
                </a:moveTo>
                <a:lnTo>
                  <a:pt x="5543540" y="0"/>
                </a:lnTo>
                <a:cubicBezTo>
                  <a:pt x="5585630" y="0"/>
                  <a:pt x="5619750" y="34120"/>
                  <a:pt x="5619750" y="76210"/>
                </a:cubicBezTo>
                <a:lnTo>
                  <a:pt x="5619750" y="2324090"/>
                </a:lnTo>
                <a:cubicBezTo>
                  <a:pt x="5619750" y="2366180"/>
                  <a:pt x="5585630" y="2400300"/>
                  <a:pt x="5543540" y="2400300"/>
                </a:cubicBezTo>
                <a:lnTo>
                  <a:pt x="38100" y="2400300"/>
                </a:lnTo>
                <a:cubicBezTo>
                  <a:pt x="17072" y="2400300"/>
                  <a:pt x="0" y="2383228"/>
                  <a:pt x="0" y="2362200"/>
                </a:cubicBezTo>
                <a:lnTo>
                  <a:pt x="0" y="38100"/>
                </a:lnTo>
                <a:cubicBezTo>
                  <a:pt x="0" y="17072"/>
                  <a:pt x="17072" y="0"/>
                  <a:pt x="38100" y="0"/>
                </a:cubicBezTo>
                <a:close/>
              </a:path>
            </a:pathLst>
          </a:custGeom>
          <a:solidFill>
            <a:srgbClr val="FFFFFF"/>
          </a:solidFill>
          <a:ln/>
          <a:effectLst>
            <a:outerShdw sx="100000" sy="100000" kx="0" ky="0" algn="bl" rotWithShape="0" blurRad="28575" dist="9525" dir="5400000">
              <a:srgbClr val="000000">
                <a:alpha val="10196"/>
              </a:srgbClr>
            </a:outerShdw>
          </a:effectLst>
        </p:spPr>
      </p:sp>
      <p:sp>
        <p:nvSpPr>
          <p:cNvPr id="53" name="Shape 51"/>
          <p:cNvSpPr/>
          <p:nvPr/>
        </p:nvSpPr>
        <p:spPr>
          <a:xfrm>
            <a:off x="6191250" y="4419600"/>
            <a:ext cx="38100" cy="2400300"/>
          </a:xfrm>
          <a:custGeom>
            <a:avLst/>
            <a:gdLst/>
            <a:ahLst/>
            <a:cxnLst/>
            <a:rect l="l" t="t" r="r" b="b"/>
            <a:pathLst>
              <a:path w="38100" h="2400300">
                <a:moveTo>
                  <a:pt x="38100" y="0"/>
                </a:moveTo>
                <a:lnTo>
                  <a:pt x="38100" y="0"/>
                </a:lnTo>
                <a:lnTo>
                  <a:pt x="38100" y="2400300"/>
                </a:lnTo>
                <a:lnTo>
                  <a:pt x="38100" y="2400300"/>
                </a:lnTo>
                <a:cubicBezTo>
                  <a:pt x="17072" y="2400300"/>
                  <a:pt x="0" y="2383228"/>
                  <a:pt x="0" y="2362200"/>
                </a:cubicBezTo>
                <a:lnTo>
                  <a:pt x="0" y="38100"/>
                </a:lnTo>
                <a:cubicBezTo>
                  <a:pt x="0" y="17072"/>
                  <a:pt x="17072" y="0"/>
                  <a:pt x="38100" y="0"/>
                </a:cubicBezTo>
                <a:close/>
              </a:path>
            </a:pathLst>
          </a:custGeom>
          <a:solidFill>
            <a:srgbClr val="7A6250"/>
          </a:solidFill>
          <a:ln/>
        </p:spPr>
      </p:sp>
      <p:sp>
        <p:nvSpPr>
          <p:cNvPr id="54" name="Shape 52"/>
          <p:cNvSpPr/>
          <p:nvPr/>
        </p:nvSpPr>
        <p:spPr>
          <a:xfrm>
            <a:off x="6386513" y="4619625"/>
            <a:ext cx="171450" cy="171450"/>
          </a:xfrm>
          <a:custGeom>
            <a:avLst/>
            <a:gdLst/>
            <a:ahLst/>
            <a:cxnLst/>
            <a:rect l="l" t="t" r="r" b="b"/>
            <a:pathLst>
              <a:path w="171450" h="171450">
                <a:moveTo>
                  <a:pt x="85725" y="0"/>
                </a:moveTo>
                <a:cubicBezTo>
                  <a:pt x="133038" y="0"/>
                  <a:pt x="171450" y="38412"/>
                  <a:pt x="171450" y="85725"/>
                </a:cubicBezTo>
                <a:cubicBezTo>
                  <a:pt x="171450" y="133038"/>
                  <a:pt x="133038" y="171450"/>
                  <a:pt x="85725" y="171450"/>
                </a:cubicBezTo>
                <a:cubicBezTo>
                  <a:pt x="38412" y="171450"/>
                  <a:pt x="0" y="133038"/>
                  <a:pt x="0" y="85725"/>
                </a:cubicBezTo>
                <a:cubicBezTo>
                  <a:pt x="0" y="38412"/>
                  <a:pt x="38412" y="0"/>
                  <a:pt x="85725" y="0"/>
                </a:cubicBezTo>
                <a:close/>
                <a:moveTo>
                  <a:pt x="77688" y="40184"/>
                </a:moveTo>
                <a:lnTo>
                  <a:pt x="77688" y="85725"/>
                </a:lnTo>
                <a:cubicBezTo>
                  <a:pt x="77688" y="88404"/>
                  <a:pt x="79028" y="90915"/>
                  <a:pt x="81271" y="92422"/>
                </a:cubicBezTo>
                <a:lnTo>
                  <a:pt x="113418" y="113854"/>
                </a:lnTo>
                <a:cubicBezTo>
                  <a:pt x="117102" y="116332"/>
                  <a:pt x="122091" y="115327"/>
                  <a:pt x="124569" y="111610"/>
                </a:cubicBezTo>
                <a:cubicBezTo>
                  <a:pt x="127047" y="107893"/>
                  <a:pt x="126043" y="102937"/>
                  <a:pt x="122326" y="100459"/>
                </a:cubicBezTo>
                <a:lnTo>
                  <a:pt x="93762" y="81439"/>
                </a:lnTo>
                <a:lnTo>
                  <a:pt x="93762" y="40184"/>
                </a:lnTo>
                <a:cubicBezTo>
                  <a:pt x="93762" y="35730"/>
                  <a:pt x="90179" y="32147"/>
                  <a:pt x="85725" y="32147"/>
                </a:cubicBezTo>
                <a:cubicBezTo>
                  <a:pt x="81271" y="32147"/>
                  <a:pt x="77688" y="35730"/>
                  <a:pt x="77688" y="40184"/>
                </a:cubicBezTo>
                <a:close/>
              </a:path>
            </a:pathLst>
          </a:custGeom>
          <a:solidFill>
            <a:srgbClr val="7A6250"/>
          </a:solidFill>
          <a:ln/>
        </p:spPr>
      </p:sp>
      <p:sp>
        <p:nvSpPr>
          <p:cNvPr id="55" name="Text 53"/>
          <p:cNvSpPr/>
          <p:nvPr/>
        </p:nvSpPr>
        <p:spPr>
          <a:xfrm>
            <a:off x="6581775" y="4572000"/>
            <a:ext cx="5162550" cy="266700"/>
          </a:xfrm>
          <a:prstGeom prst="rect">
            <a:avLst/>
          </a:prstGeom>
          <a:noFill/>
          <a:ln/>
        </p:spPr>
        <p:txBody>
          <a:bodyPr wrap="square" lIns="0" tIns="0" rIns="0" bIns="0" rtlCol="0" anchor="ctr"/>
          <a:lstStyle/>
          <a:p>
            <a:pPr>
              <a:lnSpc>
                <a:spcPct val="130000"/>
              </a:lnSpc>
            </a:pPr>
            <a:r>
              <a:rPr lang="en-US" sz="1350" b="1" dirty="0">
                <a:solidFill>
                  <a:srgbClr val="3A4D39"/>
                </a:solidFill>
                <a:latin typeface="Unna" pitchFamily="34" charset="0"/>
                <a:ea typeface="Unna" pitchFamily="34" charset="-122"/>
                <a:cs typeface="Unna" pitchFamily="34" charset="-120"/>
              </a:rPr>
              <a:t>Contribution Timeline</a:t>
            </a:r>
            <a:endParaRPr lang="en-US" sz="1600" dirty="0"/>
          </a:p>
        </p:txBody>
      </p:sp>
      <p:sp>
        <p:nvSpPr>
          <p:cNvPr id="56" name="Shape 54"/>
          <p:cNvSpPr/>
          <p:nvPr/>
        </p:nvSpPr>
        <p:spPr>
          <a:xfrm>
            <a:off x="6362700" y="4953000"/>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3A4D39"/>
          </a:solidFill>
          <a:ln/>
        </p:spPr>
      </p:sp>
      <p:sp>
        <p:nvSpPr>
          <p:cNvPr id="57" name="Text 55"/>
          <p:cNvSpPr/>
          <p:nvPr/>
        </p:nvSpPr>
        <p:spPr>
          <a:xfrm>
            <a:off x="6493818" y="5010150"/>
            <a:ext cx="104775" cy="190500"/>
          </a:xfrm>
          <a:prstGeom prst="rect">
            <a:avLst/>
          </a:prstGeom>
          <a:noFill/>
          <a:ln/>
        </p:spPr>
        <p:txBody>
          <a:bodyPr wrap="square" lIns="0" tIns="0" rIns="0" bIns="0" rtlCol="0" anchor="ctr"/>
          <a:lstStyle/>
          <a:p>
            <a:pPr>
              <a:lnSpc>
                <a:spcPct val="120000"/>
              </a:lnSpc>
            </a:pPr>
            <a:r>
              <a:rPr lang="en-US" sz="1050" b="1" dirty="0">
                <a:solidFill>
                  <a:srgbClr val="F8F6F2"/>
                </a:solidFill>
                <a:latin typeface="Oranienbaum" pitchFamily="34" charset="0"/>
                <a:ea typeface="Oranienbaum" pitchFamily="34" charset="-122"/>
                <a:cs typeface="Oranienbaum" pitchFamily="34" charset="-120"/>
              </a:rPr>
              <a:t>1</a:t>
            </a:r>
            <a:endParaRPr lang="en-US" sz="1600" dirty="0"/>
          </a:p>
        </p:txBody>
      </p:sp>
      <p:sp>
        <p:nvSpPr>
          <p:cNvPr id="58" name="Text 56"/>
          <p:cNvSpPr/>
          <p:nvPr/>
        </p:nvSpPr>
        <p:spPr>
          <a:xfrm>
            <a:off x="6781800" y="4953000"/>
            <a:ext cx="3543300" cy="228600"/>
          </a:xfrm>
          <a:prstGeom prst="rect">
            <a:avLst/>
          </a:prstGeom>
          <a:noFill/>
          <a:ln/>
        </p:spPr>
        <p:txBody>
          <a:bodyPr wrap="square" lIns="0" tIns="0" rIns="0" bIns="0" rtlCol="0" anchor="ctr"/>
          <a:lstStyle/>
          <a:p>
            <a:pPr>
              <a:lnSpc>
                <a:spcPct val="130000"/>
              </a:lnSpc>
            </a:pPr>
            <a:r>
              <a:rPr lang="en-US" sz="1200" b="1" dirty="0">
                <a:solidFill>
                  <a:srgbClr val="3A4D39"/>
                </a:solidFill>
                <a:latin typeface="Unna" pitchFamily="34" charset="0"/>
                <a:ea typeface="Unna" pitchFamily="34" charset="-122"/>
                <a:cs typeface="Unna" pitchFamily="34" charset="-120"/>
              </a:rPr>
              <a:t>Initial Contribution (Month 0)</a:t>
            </a:r>
            <a:endParaRPr lang="en-US" sz="1600" dirty="0"/>
          </a:p>
        </p:txBody>
      </p:sp>
      <p:sp>
        <p:nvSpPr>
          <p:cNvPr id="59" name="Text 57"/>
          <p:cNvSpPr/>
          <p:nvPr/>
        </p:nvSpPr>
        <p:spPr>
          <a:xfrm>
            <a:off x="6781800" y="5181600"/>
            <a:ext cx="3543300" cy="228600"/>
          </a:xfrm>
          <a:prstGeom prst="rect">
            <a:avLst/>
          </a:prstGeom>
          <a:noFill/>
          <a:ln/>
        </p:spPr>
        <p:txBody>
          <a:bodyPr wrap="square" lIns="0" tIns="0" rIns="0" bIns="0" rtlCol="0" anchor="ctr"/>
          <a:lstStyle/>
          <a:p>
            <a:pPr>
              <a:lnSpc>
                <a:spcPct val="130000"/>
              </a:lnSpc>
            </a:pPr>
            <a:r>
              <a:rPr lang="en-US" sz="1200" dirty="0">
                <a:solidFill>
                  <a:srgbClr val="2C2C2C"/>
                </a:solidFill>
                <a:latin typeface="Quattrocento Sans" pitchFamily="34" charset="0"/>
                <a:ea typeface="Quattrocento Sans" pitchFamily="34" charset="-122"/>
                <a:cs typeface="Quattrocento Sans" pitchFamily="34" charset="-120"/>
              </a:rPr>
              <a:t>60% of total commitment due before planting begins</a:t>
            </a:r>
            <a:endParaRPr lang="en-US" sz="1600" dirty="0"/>
          </a:p>
        </p:txBody>
      </p:sp>
      <p:sp>
        <p:nvSpPr>
          <p:cNvPr id="60" name="Shape 58"/>
          <p:cNvSpPr/>
          <p:nvPr/>
        </p:nvSpPr>
        <p:spPr>
          <a:xfrm>
            <a:off x="6362700" y="5524500"/>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7A6250"/>
          </a:solidFill>
          <a:ln/>
        </p:spPr>
      </p:sp>
      <p:sp>
        <p:nvSpPr>
          <p:cNvPr id="61" name="Text 59"/>
          <p:cNvSpPr/>
          <p:nvPr/>
        </p:nvSpPr>
        <p:spPr>
          <a:xfrm>
            <a:off x="6481465" y="5581650"/>
            <a:ext cx="133350" cy="190500"/>
          </a:xfrm>
          <a:prstGeom prst="rect">
            <a:avLst/>
          </a:prstGeom>
          <a:noFill/>
          <a:ln/>
        </p:spPr>
        <p:txBody>
          <a:bodyPr wrap="square" lIns="0" tIns="0" rIns="0" bIns="0" rtlCol="0" anchor="ctr"/>
          <a:lstStyle/>
          <a:p>
            <a:pPr>
              <a:lnSpc>
                <a:spcPct val="120000"/>
              </a:lnSpc>
            </a:pPr>
            <a:r>
              <a:rPr lang="en-US" sz="1050" b="1" dirty="0">
                <a:solidFill>
                  <a:srgbClr val="F8F6F2"/>
                </a:solidFill>
                <a:latin typeface="Oranienbaum" pitchFamily="34" charset="0"/>
                <a:ea typeface="Oranienbaum" pitchFamily="34" charset="-122"/>
                <a:cs typeface="Oranienbaum" pitchFamily="34" charset="-120"/>
              </a:rPr>
              <a:t>2</a:t>
            </a:r>
            <a:endParaRPr lang="en-US" sz="1600" dirty="0"/>
          </a:p>
        </p:txBody>
      </p:sp>
      <p:sp>
        <p:nvSpPr>
          <p:cNvPr id="62" name="Text 60"/>
          <p:cNvSpPr/>
          <p:nvPr/>
        </p:nvSpPr>
        <p:spPr>
          <a:xfrm>
            <a:off x="6781800" y="5524500"/>
            <a:ext cx="3733800" cy="228600"/>
          </a:xfrm>
          <a:prstGeom prst="rect">
            <a:avLst/>
          </a:prstGeom>
          <a:noFill/>
          <a:ln/>
        </p:spPr>
        <p:txBody>
          <a:bodyPr wrap="square" lIns="0" tIns="0" rIns="0" bIns="0" rtlCol="0" anchor="ctr"/>
          <a:lstStyle/>
          <a:p>
            <a:pPr>
              <a:lnSpc>
                <a:spcPct val="130000"/>
              </a:lnSpc>
            </a:pPr>
            <a:r>
              <a:rPr lang="en-US" sz="1200" b="1" dirty="0">
                <a:solidFill>
                  <a:srgbClr val="3A4D39"/>
                </a:solidFill>
                <a:latin typeface="Unna" pitchFamily="34" charset="0"/>
                <a:ea typeface="Unna" pitchFamily="34" charset="-122"/>
                <a:cs typeface="Unna" pitchFamily="34" charset="-120"/>
              </a:rPr>
              <a:t>Mid-Season Contribution (Month 4)</a:t>
            </a:r>
            <a:endParaRPr lang="en-US" sz="1600" dirty="0"/>
          </a:p>
        </p:txBody>
      </p:sp>
      <p:sp>
        <p:nvSpPr>
          <p:cNvPr id="63" name="Text 61"/>
          <p:cNvSpPr/>
          <p:nvPr/>
        </p:nvSpPr>
        <p:spPr>
          <a:xfrm>
            <a:off x="6781800" y="5753100"/>
            <a:ext cx="3733800" cy="228600"/>
          </a:xfrm>
          <a:prstGeom prst="rect">
            <a:avLst/>
          </a:prstGeom>
          <a:noFill/>
          <a:ln/>
        </p:spPr>
        <p:txBody>
          <a:bodyPr wrap="square" lIns="0" tIns="0" rIns="0" bIns="0" rtlCol="0" anchor="ctr"/>
          <a:lstStyle/>
          <a:p>
            <a:pPr>
              <a:lnSpc>
                <a:spcPct val="130000"/>
              </a:lnSpc>
            </a:pPr>
            <a:r>
              <a:rPr lang="en-US" sz="1200" dirty="0">
                <a:solidFill>
                  <a:srgbClr val="2C2C2C"/>
                </a:solidFill>
                <a:latin typeface="Quattrocento Sans" pitchFamily="34" charset="0"/>
                <a:ea typeface="Quattrocento Sans" pitchFamily="34" charset="-122"/>
                <a:cs typeface="Quattrocento Sans" pitchFamily="34" charset="-120"/>
              </a:rPr>
              <a:t>25% due at mid-point for ongoing operational expenses</a:t>
            </a:r>
            <a:endParaRPr lang="en-US" sz="1600" dirty="0"/>
          </a:p>
        </p:txBody>
      </p:sp>
      <p:sp>
        <p:nvSpPr>
          <p:cNvPr id="64" name="Shape 62"/>
          <p:cNvSpPr/>
          <p:nvPr/>
        </p:nvSpPr>
        <p:spPr>
          <a:xfrm>
            <a:off x="6362700" y="6096000"/>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3A4D39"/>
          </a:solidFill>
          <a:ln/>
        </p:spPr>
      </p:sp>
      <p:sp>
        <p:nvSpPr>
          <p:cNvPr id="65" name="Text 63"/>
          <p:cNvSpPr/>
          <p:nvPr/>
        </p:nvSpPr>
        <p:spPr>
          <a:xfrm>
            <a:off x="6481167" y="6153150"/>
            <a:ext cx="133350" cy="190500"/>
          </a:xfrm>
          <a:prstGeom prst="rect">
            <a:avLst/>
          </a:prstGeom>
          <a:noFill/>
          <a:ln/>
        </p:spPr>
        <p:txBody>
          <a:bodyPr wrap="square" lIns="0" tIns="0" rIns="0" bIns="0" rtlCol="0" anchor="ctr"/>
          <a:lstStyle/>
          <a:p>
            <a:pPr>
              <a:lnSpc>
                <a:spcPct val="120000"/>
              </a:lnSpc>
            </a:pPr>
            <a:r>
              <a:rPr lang="en-US" sz="1050" b="1" dirty="0">
                <a:solidFill>
                  <a:srgbClr val="F8F6F2"/>
                </a:solidFill>
                <a:latin typeface="Oranienbaum" pitchFamily="34" charset="0"/>
                <a:ea typeface="Oranienbaum" pitchFamily="34" charset="-122"/>
                <a:cs typeface="Oranienbaum" pitchFamily="34" charset="-120"/>
              </a:rPr>
              <a:t>3</a:t>
            </a:r>
            <a:endParaRPr lang="en-US" sz="1600" dirty="0"/>
          </a:p>
        </p:txBody>
      </p:sp>
      <p:sp>
        <p:nvSpPr>
          <p:cNvPr id="66" name="Text 64"/>
          <p:cNvSpPr/>
          <p:nvPr/>
        </p:nvSpPr>
        <p:spPr>
          <a:xfrm>
            <a:off x="6781800" y="6096000"/>
            <a:ext cx="3448050" cy="228600"/>
          </a:xfrm>
          <a:prstGeom prst="rect">
            <a:avLst/>
          </a:prstGeom>
          <a:noFill/>
          <a:ln/>
        </p:spPr>
        <p:txBody>
          <a:bodyPr wrap="square" lIns="0" tIns="0" rIns="0" bIns="0" rtlCol="0" anchor="ctr"/>
          <a:lstStyle/>
          <a:p>
            <a:pPr>
              <a:lnSpc>
                <a:spcPct val="130000"/>
              </a:lnSpc>
            </a:pPr>
            <a:r>
              <a:rPr lang="en-US" sz="1200" b="1" dirty="0">
                <a:solidFill>
                  <a:srgbClr val="3A4D39"/>
                </a:solidFill>
                <a:latin typeface="Unna" pitchFamily="34" charset="0"/>
                <a:ea typeface="Unna" pitchFamily="34" charset="-122"/>
                <a:cs typeface="Unna" pitchFamily="34" charset="-120"/>
              </a:rPr>
              <a:t>Final Contribution (Month 6)</a:t>
            </a:r>
            <a:endParaRPr lang="en-US" sz="1600" dirty="0"/>
          </a:p>
        </p:txBody>
      </p:sp>
      <p:sp>
        <p:nvSpPr>
          <p:cNvPr id="67" name="Text 65"/>
          <p:cNvSpPr/>
          <p:nvPr/>
        </p:nvSpPr>
        <p:spPr>
          <a:xfrm>
            <a:off x="6781800" y="6324600"/>
            <a:ext cx="3448050" cy="228600"/>
          </a:xfrm>
          <a:prstGeom prst="rect">
            <a:avLst/>
          </a:prstGeom>
          <a:noFill/>
          <a:ln/>
        </p:spPr>
        <p:txBody>
          <a:bodyPr wrap="square" lIns="0" tIns="0" rIns="0" bIns="0" rtlCol="0" anchor="ctr"/>
          <a:lstStyle/>
          <a:p>
            <a:pPr>
              <a:lnSpc>
                <a:spcPct val="130000"/>
              </a:lnSpc>
            </a:pPr>
            <a:r>
              <a:rPr lang="en-US" sz="1200" dirty="0">
                <a:solidFill>
                  <a:srgbClr val="2C2C2C"/>
                </a:solidFill>
                <a:latin typeface="Quattrocento Sans" pitchFamily="34" charset="0"/>
                <a:ea typeface="Quattrocento Sans" pitchFamily="34" charset="-122"/>
                <a:cs typeface="Quattrocento Sans" pitchFamily="34" charset="-120"/>
              </a:rPr>
              <a:t>15% due before harvest period for completion costs</a:t>
            </a:r>
            <a:endParaRPr lang="en-US" sz="1600" dirty="0"/>
          </a:p>
        </p:txBody>
      </p:sp>
    </p:spTree>
  </p:cSld>
  <p:clrMapOvr>
    <a:masterClrMapping/>
  </p:clrMapOvr>
  <p:transition>
    <p:fade/>
    <p:spd val="med"/>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6F2"/>
        </a:solidFill>
      </p:bgPr>
    </p:bg>
    <p:spTree>
      <p:nvGrpSpPr>
        <p:cNvPr id="1" name=""/>
        <p:cNvGrpSpPr/>
        <p:nvPr/>
      </p:nvGrpSpPr>
      <p:grpSpPr>
        <a:xfrm>
          <a:off x="0" y="0"/>
          <a:ext cx="0" cy="0"/>
          <a:chOff x="0" y="0"/>
          <a:chExt cx="0" cy="0"/>
        </a:xfrm>
      </p:grpSpPr>
      <p:sp>
        <p:nvSpPr>
          <p:cNvPr id="2" name="Shape 0"/>
          <p:cNvSpPr/>
          <p:nvPr/>
        </p:nvSpPr>
        <p:spPr>
          <a:xfrm>
            <a:off x="381000" y="381000"/>
            <a:ext cx="381000" cy="381000"/>
          </a:xfrm>
          <a:custGeom>
            <a:avLst/>
            <a:gdLst/>
            <a:ahLst/>
            <a:cxnLst/>
            <a:rect l="l" t="t" r="r" b="b"/>
            <a:pathLst>
              <a:path w="381000" h="381000">
                <a:moveTo>
                  <a:pt x="38100" y="0"/>
                </a:moveTo>
                <a:lnTo>
                  <a:pt x="342900" y="0"/>
                </a:lnTo>
                <a:cubicBezTo>
                  <a:pt x="363928" y="0"/>
                  <a:pt x="381000" y="17072"/>
                  <a:pt x="381000" y="38100"/>
                </a:cubicBezTo>
                <a:lnTo>
                  <a:pt x="381000" y="342900"/>
                </a:lnTo>
                <a:cubicBezTo>
                  <a:pt x="381000" y="363928"/>
                  <a:pt x="363928" y="381000"/>
                  <a:pt x="342900" y="381000"/>
                </a:cubicBezTo>
                <a:lnTo>
                  <a:pt x="38100" y="381000"/>
                </a:lnTo>
                <a:cubicBezTo>
                  <a:pt x="17072" y="381000"/>
                  <a:pt x="0" y="363928"/>
                  <a:pt x="0" y="342900"/>
                </a:cubicBezTo>
                <a:lnTo>
                  <a:pt x="0" y="38100"/>
                </a:lnTo>
                <a:cubicBezTo>
                  <a:pt x="0" y="17072"/>
                  <a:pt x="17072" y="0"/>
                  <a:pt x="38100" y="0"/>
                </a:cubicBezTo>
                <a:close/>
              </a:path>
            </a:pathLst>
          </a:custGeom>
          <a:solidFill>
            <a:srgbClr val="7A6250"/>
          </a:solidFill>
          <a:ln/>
        </p:spPr>
      </p:sp>
      <p:sp>
        <p:nvSpPr>
          <p:cNvPr id="3" name="Text 1"/>
          <p:cNvSpPr/>
          <p:nvPr/>
        </p:nvSpPr>
        <p:spPr>
          <a:xfrm>
            <a:off x="521643" y="438150"/>
            <a:ext cx="190500" cy="266700"/>
          </a:xfrm>
          <a:prstGeom prst="rect">
            <a:avLst/>
          </a:prstGeom>
          <a:noFill/>
          <a:ln/>
        </p:spPr>
        <p:txBody>
          <a:bodyPr wrap="square" lIns="0" tIns="0" rIns="0" bIns="0" rtlCol="0" anchor="ctr"/>
          <a:lstStyle/>
          <a:p>
            <a:pPr>
              <a:lnSpc>
                <a:spcPct val="120000"/>
              </a:lnSpc>
            </a:pPr>
            <a:r>
              <a:rPr lang="en-US" sz="1500" b="1" dirty="0">
                <a:solidFill>
                  <a:srgbClr val="F8F6F2"/>
                </a:solidFill>
                <a:latin typeface="Oranienbaum" pitchFamily="34" charset="0"/>
                <a:ea typeface="Oranienbaum" pitchFamily="34" charset="-122"/>
                <a:cs typeface="Oranienbaum" pitchFamily="34" charset="-120"/>
              </a:rPr>
              <a:t>6</a:t>
            </a:r>
            <a:endParaRPr lang="en-US" sz="1600" dirty="0"/>
          </a:p>
        </p:txBody>
      </p:sp>
      <p:sp>
        <p:nvSpPr>
          <p:cNvPr id="4" name="Text 2"/>
          <p:cNvSpPr/>
          <p:nvPr/>
        </p:nvSpPr>
        <p:spPr>
          <a:xfrm>
            <a:off x="876300" y="381000"/>
            <a:ext cx="4981575" cy="381000"/>
          </a:xfrm>
          <a:prstGeom prst="rect">
            <a:avLst/>
          </a:prstGeom>
          <a:noFill/>
          <a:ln/>
        </p:spPr>
        <p:txBody>
          <a:bodyPr wrap="square" lIns="0" tIns="0" rIns="0" bIns="0" rtlCol="0" anchor="ctr"/>
          <a:lstStyle/>
          <a:p>
            <a:pPr>
              <a:lnSpc>
                <a:spcPct val="90000"/>
              </a:lnSpc>
            </a:pPr>
            <a:r>
              <a:rPr lang="en-US" sz="2700" b="1" dirty="0">
                <a:solidFill>
                  <a:srgbClr val="3A4D39"/>
                </a:solidFill>
                <a:latin typeface="Oranienbaum" pitchFamily="34" charset="0"/>
                <a:ea typeface="Oranienbaum" pitchFamily="34" charset="-122"/>
                <a:cs typeface="Oranienbaum" pitchFamily="34" charset="-120"/>
              </a:rPr>
              <a:t>Financial Terms and Distribution</a:t>
            </a:r>
            <a:endParaRPr lang="en-US" sz="1600" dirty="0"/>
          </a:p>
        </p:txBody>
      </p:sp>
      <p:sp>
        <p:nvSpPr>
          <p:cNvPr id="5" name="Shape 3"/>
          <p:cNvSpPr/>
          <p:nvPr/>
        </p:nvSpPr>
        <p:spPr>
          <a:xfrm>
            <a:off x="381000" y="83820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BCA37F"/>
          </a:solidFill>
          <a:ln/>
        </p:spPr>
      </p:sp>
      <p:sp>
        <p:nvSpPr>
          <p:cNvPr id="6" name="Shape 4"/>
          <p:cNvSpPr/>
          <p:nvPr/>
        </p:nvSpPr>
        <p:spPr>
          <a:xfrm>
            <a:off x="381000" y="1047750"/>
            <a:ext cx="5638800" cy="2762250"/>
          </a:xfrm>
          <a:custGeom>
            <a:avLst/>
            <a:gdLst/>
            <a:ahLst/>
            <a:cxnLst/>
            <a:rect l="l" t="t" r="r" b="b"/>
            <a:pathLst>
              <a:path w="5638800" h="2762250">
                <a:moveTo>
                  <a:pt x="38100" y="0"/>
                </a:moveTo>
                <a:lnTo>
                  <a:pt x="5600700" y="0"/>
                </a:lnTo>
                <a:cubicBezTo>
                  <a:pt x="5621728" y="0"/>
                  <a:pt x="5638800" y="17072"/>
                  <a:pt x="5638800" y="38100"/>
                </a:cubicBezTo>
                <a:lnTo>
                  <a:pt x="5638800" y="2686040"/>
                </a:lnTo>
                <a:cubicBezTo>
                  <a:pt x="5638800" y="2728129"/>
                  <a:pt x="5604679" y="2762250"/>
                  <a:pt x="5562590" y="2762250"/>
                </a:cubicBezTo>
                <a:lnTo>
                  <a:pt x="76210" y="2762250"/>
                </a:lnTo>
                <a:cubicBezTo>
                  <a:pt x="34121" y="2762250"/>
                  <a:pt x="0" y="2728129"/>
                  <a:pt x="0" y="2686040"/>
                </a:cubicBezTo>
                <a:lnTo>
                  <a:pt x="0" y="38100"/>
                </a:lnTo>
                <a:cubicBezTo>
                  <a:pt x="0" y="17072"/>
                  <a:pt x="17072" y="0"/>
                  <a:pt x="38100" y="0"/>
                </a:cubicBezTo>
                <a:close/>
              </a:path>
            </a:pathLst>
          </a:custGeom>
          <a:solidFill>
            <a:srgbClr val="FFFFFF"/>
          </a:solidFill>
          <a:ln/>
          <a:effectLst>
            <a:outerShdw sx="100000" sy="100000" kx="0" ky="0" algn="bl" rotWithShape="0" blurRad="28575" dist="9525" dir="5400000">
              <a:srgbClr val="000000">
                <a:alpha val="10196"/>
              </a:srgbClr>
            </a:outerShdw>
          </a:effectLst>
        </p:spPr>
      </p:sp>
      <p:sp>
        <p:nvSpPr>
          <p:cNvPr id="7" name="Shape 5"/>
          <p:cNvSpPr/>
          <p:nvPr/>
        </p:nvSpPr>
        <p:spPr>
          <a:xfrm>
            <a:off x="381000" y="1047750"/>
            <a:ext cx="5638800" cy="38100"/>
          </a:xfrm>
          <a:custGeom>
            <a:avLst/>
            <a:gdLst/>
            <a:ahLst/>
            <a:cxnLst/>
            <a:rect l="l" t="t" r="r" b="b"/>
            <a:pathLst>
              <a:path w="5638800" h="38100">
                <a:moveTo>
                  <a:pt x="38100" y="0"/>
                </a:moveTo>
                <a:lnTo>
                  <a:pt x="5600700" y="0"/>
                </a:lnTo>
                <a:cubicBezTo>
                  <a:pt x="5621728" y="0"/>
                  <a:pt x="5638800" y="17072"/>
                  <a:pt x="5638800" y="38100"/>
                </a:cubicBezTo>
                <a:lnTo>
                  <a:pt x="5638800" y="38100"/>
                </a:lnTo>
                <a:lnTo>
                  <a:pt x="0" y="38100"/>
                </a:lnTo>
                <a:lnTo>
                  <a:pt x="0" y="38100"/>
                </a:lnTo>
                <a:cubicBezTo>
                  <a:pt x="0" y="17072"/>
                  <a:pt x="17072" y="0"/>
                  <a:pt x="38100" y="0"/>
                </a:cubicBezTo>
                <a:close/>
              </a:path>
            </a:pathLst>
          </a:custGeom>
          <a:solidFill>
            <a:srgbClr val="3A4D39"/>
          </a:solidFill>
          <a:ln/>
        </p:spPr>
      </p:sp>
      <p:sp>
        <p:nvSpPr>
          <p:cNvPr id="8" name="Shape 6"/>
          <p:cNvSpPr/>
          <p:nvPr/>
        </p:nvSpPr>
        <p:spPr>
          <a:xfrm>
            <a:off x="569119" y="1257300"/>
            <a:ext cx="166688" cy="190500"/>
          </a:xfrm>
          <a:custGeom>
            <a:avLst/>
            <a:gdLst/>
            <a:ahLst/>
            <a:cxnLst/>
            <a:rect l="l" t="t" r="r" b="b"/>
            <a:pathLst>
              <a:path w="166688" h="190500">
                <a:moveTo>
                  <a:pt x="71438" y="47625"/>
                </a:moveTo>
                <a:cubicBezTo>
                  <a:pt x="71438" y="27911"/>
                  <a:pt x="55432" y="11906"/>
                  <a:pt x="35719" y="11906"/>
                </a:cubicBezTo>
                <a:cubicBezTo>
                  <a:pt x="16005" y="11906"/>
                  <a:pt x="0" y="27911"/>
                  <a:pt x="0" y="47625"/>
                </a:cubicBezTo>
                <a:cubicBezTo>
                  <a:pt x="0" y="67339"/>
                  <a:pt x="16005" y="83344"/>
                  <a:pt x="35719" y="83344"/>
                </a:cubicBezTo>
                <a:cubicBezTo>
                  <a:pt x="55432" y="83344"/>
                  <a:pt x="71438" y="67339"/>
                  <a:pt x="71438" y="47625"/>
                </a:cubicBezTo>
                <a:close/>
                <a:moveTo>
                  <a:pt x="166688" y="142875"/>
                </a:moveTo>
                <a:cubicBezTo>
                  <a:pt x="166688" y="123161"/>
                  <a:pt x="150682" y="107156"/>
                  <a:pt x="130969" y="107156"/>
                </a:cubicBezTo>
                <a:cubicBezTo>
                  <a:pt x="111255" y="107156"/>
                  <a:pt x="95250" y="123161"/>
                  <a:pt x="95250" y="142875"/>
                </a:cubicBezTo>
                <a:cubicBezTo>
                  <a:pt x="95250" y="162589"/>
                  <a:pt x="111255" y="178594"/>
                  <a:pt x="130969" y="178594"/>
                </a:cubicBezTo>
                <a:cubicBezTo>
                  <a:pt x="150682" y="178594"/>
                  <a:pt x="166688" y="162589"/>
                  <a:pt x="166688" y="142875"/>
                </a:cubicBezTo>
                <a:close/>
                <a:moveTo>
                  <a:pt x="163190" y="32221"/>
                </a:moveTo>
                <a:cubicBezTo>
                  <a:pt x="167841" y="27570"/>
                  <a:pt x="167841" y="20017"/>
                  <a:pt x="163190" y="15367"/>
                </a:cubicBezTo>
                <a:cubicBezTo>
                  <a:pt x="158539" y="10716"/>
                  <a:pt x="150986" y="10716"/>
                  <a:pt x="146335" y="15367"/>
                </a:cubicBezTo>
                <a:lnTo>
                  <a:pt x="3460" y="158242"/>
                </a:lnTo>
                <a:cubicBezTo>
                  <a:pt x="-1191" y="162892"/>
                  <a:pt x="-1191" y="170445"/>
                  <a:pt x="3460" y="175096"/>
                </a:cubicBezTo>
                <a:cubicBezTo>
                  <a:pt x="8111" y="179747"/>
                  <a:pt x="15664" y="179747"/>
                  <a:pt x="20315" y="175096"/>
                </a:cubicBezTo>
                <a:lnTo>
                  <a:pt x="163190" y="32221"/>
                </a:lnTo>
                <a:close/>
              </a:path>
            </a:pathLst>
          </a:custGeom>
          <a:solidFill>
            <a:srgbClr val="3A4D39"/>
          </a:solidFill>
          <a:ln/>
        </p:spPr>
      </p:sp>
      <p:sp>
        <p:nvSpPr>
          <p:cNvPr id="9" name="Text 7"/>
          <p:cNvSpPr/>
          <p:nvPr/>
        </p:nvSpPr>
        <p:spPr>
          <a:xfrm>
            <a:off x="771525" y="1219200"/>
            <a:ext cx="5191125" cy="266700"/>
          </a:xfrm>
          <a:prstGeom prst="rect">
            <a:avLst/>
          </a:prstGeom>
          <a:noFill/>
          <a:ln/>
        </p:spPr>
        <p:txBody>
          <a:bodyPr wrap="square" lIns="0" tIns="0" rIns="0" bIns="0" rtlCol="0" anchor="ctr"/>
          <a:lstStyle/>
          <a:p>
            <a:pPr>
              <a:lnSpc>
                <a:spcPct val="120000"/>
              </a:lnSpc>
            </a:pPr>
            <a:r>
              <a:rPr lang="en-US" sz="1500" b="1" dirty="0">
                <a:solidFill>
                  <a:srgbClr val="3A4D39"/>
                </a:solidFill>
                <a:latin typeface="Unna" pitchFamily="34" charset="0"/>
                <a:ea typeface="Unna" pitchFamily="34" charset="-122"/>
                <a:cs typeface="Unna" pitchFamily="34" charset="-120"/>
              </a:rPr>
              <a:t>Ownership Percentage Calculation</a:t>
            </a:r>
            <a:endParaRPr lang="en-US" sz="1600" dirty="0"/>
          </a:p>
        </p:txBody>
      </p:sp>
      <p:sp>
        <p:nvSpPr>
          <p:cNvPr id="10" name="Shape 8"/>
          <p:cNvSpPr/>
          <p:nvPr/>
        </p:nvSpPr>
        <p:spPr>
          <a:xfrm>
            <a:off x="533400" y="1600200"/>
            <a:ext cx="5334000" cy="457200"/>
          </a:xfrm>
          <a:custGeom>
            <a:avLst/>
            <a:gdLst/>
            <a:ahLst/>
            <a:cxnLst/>
            <a:rect l="l" t="t" r="r" b="b"/>
            <a:pathLst>
              <a:path w="5334000" h="457200">
                <a:moveTo>
                  <a:pt x="76202" y="0"/>
                </a:moveTo>
                <a:lnTo>
                  <a:pt x="5257798" y="0"/>
                </a:lnTo>
                <a:cubicBezTo>
                  <a:pt x="5299883" y="0"/>
                  <a:pt x="5334000" y="34117"/>
                  <a:pt x="5334000" y="76202"/>
                </a:cubicBezTo>
                <a:lnTo>
                  <a:pt x="5334000" y="380998"/>
                </a:lnTo>
                <a:cubicBezTo>
                  <a:pt x="5334000" y="423083"/>
                  <a:pt x="5299883" y="457200"/>
                  <a:pt x="5257798" y="457200"/>
                </a:cubicBezTo>
                <a:lnTo>
                  <a:pt x="76202" y="457200"/>
                </a:lnTo>
                <a:cubicBezTo>
                  <a:pt x="34145" y="457200"/>
                  <a:pt x="0" y="423055"/>
                  <a:pt x="0" y="380998"/>
                </a:cubicBezTo>
                <a:lnTo>
                  <a:pt x="0" y="76202"/>
                </a:lnTo>
                <a:cubicBezTo>
                  <a:pt x="0" y="34145"/>
                  <a:pt x="34145" y="0"/>
                  <a:pt x="76202" y="0"/>
                </a:cubicBezTo>
                <a:close/>
              </a:path>
            </a:pathLst>
          </a:custGeom>
          <a:solidFill>
            <a:srgbClr val="F8F6F2"/>
          </a:solidFill>
          <a:ln/>
        </p:spPr>
      </p:sp>
      <p:sp>
        <p:nvSpPr>
          <p:cNvPr id="11" name="Text 9"/>
          <p:cNvSpPr/>
          <p:nvPr/>
        </p:nvSpPr>
        <p:spPr>
          <a:xfrm>
            <a:off x="609600" y="1714500"/>
            <a:ext cx="5181600" cy="228600"/>
          </a:xfrm>
          <a:prstGeom prst="rect">
            <a:avLst/>
          </a:prstGeom>
          <a:noFill/>
          <a:ln/>
        </p:spPr>
        <p:txBody>
          <a:bodyPr wrap="square" lIns="0" tIns="0" rIns="0" bIns="0" rtlCol="0" anchor="ctr"/>
          <a:lstStyle/>
          <a:p>
            <a:pPr algn="ctr">
              <a:lnSpc>
                <a:spcPct val="130000"/>
              </a:lnSpc>
            </a:pPr>
            <a:r>
              <a:rPr lang="en-US" sz="1200" b="1" dirty="0">
                <a:solidFill>
                  <a:srgbClr val="2C2C2C"/>
                </a:solidFill>
                <a:latin typeface="Quattrocento Sans" pitchFamily="34" charset="0"/>
                <a:ea typeface="Quattrocento Sans" pitchFamily="34" charset="-122"/>
                <a:cs typeface="Quattrocento Sans" pitchFamily="34" charset="-120"/>
              </a:rPr>
              <a:t>Partner's Contribution ÷ Total Investment Pool × 100 = Ownership %</a:t>
            </a:r>
            <a:endParaRPr lang="en-US" sz="1600" dirty="0"/>
          </a:p>
        </p:txBody>
      </p:sp>
      <p:sp>
        <p:nvSpPr>
          <p:cNvPr id="12" name="Shape 10"/>
          <p:cNvSpPr/>
          <p:nvPr/>
        </p:nvSpPr>
        <p:spPr>
          <a:xfrm>
            <a:off x="538163" y="2176463"/>
            <a:ext cx="5324475" cy="390525"/>
          </a:xfrm>
          <a:custGeom>
            <a:avLst/>
            <a:gdLst/>
            <a:ahLst/>
            <a:cxnLst/>
            <a:rect l="l" t="t" r="r" b="b"/>
            <a:pathLst>
              <a:path w="5324475" h="390525">
                <a:moveTo>
                  <a:pt x="38100" y="0"/>
                </a:moveTo>
                <a:lnTo>
                  <a:pt x="5286375" y="0"/>
                </a:lnTo>
                <a:cubicBezTo>
                  <a:pt x="5307417" y="0"/>
                  <a:pt x="5324475" y="17058"/>
                  <a:pt x="5324475" y="38100"/>
                </a:cubicBezTo>
                <a:lnTo>
                  <a:pt x="5324475" y="352425"/>
                </a:lnTo>
                <a:cubicBezTo>
                  <a:pt x="5324475" y="373467"/>
                  <a:pt x="5307417" y="390525"/>
                  <a:pt x="5286375" y="390525"/>
                </a:cubicBezTo>
                <a:lnTo>
                  <a:pt x="38100" y="390525"/>
                </a:lnTo>
                <a:cubicBezTo>
                  <a:pt x="17058" y="390525"/>
                  <a:pt x="0" y="373467"/>
                  <a:pt x="0" y="352425"/>
                </a:cubicBezTo>
                <a:lnTo>
                  <a:pt x="0" y="38100"/>
                </a:lnTo>
                <a:cubicBezTo>
                  <a:pt x="0" y="17072"/>
                  <a:pt x="17072" y="0"/>
                  <a:pt x="38100" y="0"/>
                </a:cubicBezTo>
                <a:close/>
              </a:path>
            </a:pathLst>
          </a:custGeom>
          <a:solidFill>
            <a:srgbClr val="FFFFFF"/>
          </a:solidFill>
          <a:ln w="12700">
            <a:solidFill>
              <a:srgbClr val="3A4D39"/>
            </a:solidFill>
            <a:prstDash val="solid"/>
          </a:ln>
        </p:spPr>
      </p:sp>
      <p:sp>
        <p:nvSpPr>
          <p:cNvPr id="13" name="Text 11"/>
          <p:cNvSpPr/>
          <p:nvPr/>
        </p:nvSpPr>
        <p:spPr>
          <a:xfrm>
            <a:off x="619125" y="2257425"/>
            <a:ext cx="5238750" cy="228600"/>
          </a:xfrm>
          <a:prstGeom prst="rect">
            <a:avLst/>
          </a:prstGeom>
          <a:noFill/>
          <a:ln/>
        </p:spPr>
        <p:txBody>
          <a:bodyPr wrap="square" lIns="0" tIns="0" rIns="0" bIns="0" rtlCol="0" anchor="ctr"/>
          <a:lstStyle/>
          <a:p>
            <a:pPr>
              <a:lnSpc>
                <a:spcPct val="130000"/>
              </a:lnSpc>
            </a:pPr>
            <a:r>
              <a:rPr lang="en-US" sz="1200" b="1" dirty="0">
                <a:solidFill>
                  <a:srgbClr val="2C2C2C"/>
                </a:solidFill>
                <a:latin typeface="Quattrocento Sans" pitchFamily="34" charset="0"/>
                <a:ea typeface="Quattrocento Sans" pitchFamily="34" charset="-122"/>
                <a:cs typeface="Quattrocento Sans" pitchFamily="34" charset="-120"/>
              </a:rPr>
              <a:t>Example:</a:t>
            </a:r>
            <a:pPr>
              <a:lnSpc>
                <a:spcPct val="130000"/>
              </a:lnSpc>
            </a:pPr>
            <a:r>
              <a:rPr lang="en-US" sz="1200" dirty="0">
                <a:solidFill>
                  <a:srgbClr val="2C2C2C"/>
                </a:solidFill>
                <a:latin typeface="Quattrocento Sans" pitchFamily="34" charset="0"/>
                <a:ea typeface="Quattrocento Sans" pitchFamily="34" charset="-122"/>
                <a:cs typeface="Quattrocento Sans" pitchFamily="34" charset="-120"/>
              </a:rPr>
              <a:t> Partner invests $10,000 in a $100,000 pool = 10% ownership</a:t>
            </a:r>
            <a:endParaRPr lang="en-US" sz="1600" dirty="0"/>
          </a:p>
        </p:txBody>
      </p:sp>
      <p:sp>
        <p:nvSpPr>
          <p:cNvPr id="14" name="Shape 12"/>
          <p:cNvSpPr/>
          <p:nvPr/>
        </p:nvSpPr>
        <p:spPr>
          <a:xfrm>
            <a:off x="538163" y="2652713"/>
            <a:ext cx="5324475" cy="390525"/>
          </a:xfrm>
          <a:custGeom>
            <a:avLst/>
            <a:gdLst/>
            <a:ahLst/>
            <a:cxnLst/>
            <a:rect l="l" t="t" r="r" b="b"/>
            <a:pathLst>
              <a:path w="5324475" h="390525">
                <a:moveTo>
                  <a:pt x="38100" y="0"/>
                </a:moveTo>
                <a:lnTo>
                  <a:pt x="5286375" y="0"/>
                </a:lnTo>
                <a:cubicBezTo>
                  <a:pt x="5307417" y="0"/>
                  <a:pt x="5324475" y="17058"/>
                  <a:pt x="5324475" y="38100"/>
                </a:cubicBezTo>
                <a:lnTo>
                  <a:pt x="5324475" y="352425"/>
                </a:lnTo>
                <a:cubicBezTo>
                  <a:pt x="5324475" y="373467"/>
                  <a:pt x="5307417" y="390525"/>
                  <a:pt x="5286375" y="390525"/>
                </a:cubicBezTo>
                <a:lnTo>
                  <a:pt x="38100" y="390525"/>
                </a:lnTo>
                <a:cubicBezTo>
                  <a:pt x="17058" y="390525"/>
                  <a:pt x="0" y="373467"/>
                  <a:pt x="0" y="352425"/>
                </a:cubicBezTo>
                <a:lnTo>
                  <a:pt x="0" y="38100"/>
                </a:lnTo>
                <a:cubicBezTo>
                  <a:pt x="0" y="17072"/>
                  <a:pt x="17072" y="0"/>
                  <a:pt x="38100" y="0"/>
                </a:cubicBezTo>
                <a:close/>
              </a:path>
            </a:pathLst>
          </a:custGeom>
          <a:solidFill>
            <a:srgbClr val="FFFFFF"/>
          </a:solidFill>
          <a:ln w="12700">
            <a:solidFill>
              <a:srgbClr val="7A6250"/>
            </a:solidFill>
            <a:prstDash val="solid"/>
          </a:ln>
        </p:spPr>
      </p:sp>
      <p:sp>
        <p:nvSpPr>
          <p:cNvPr id="15" name="Text 13"/>
          <p:cNvSpPr/>
          <p:nvPr/>
        </p:nvSpPr>
        <p:spPr>
          <a:xfrm>
            <a:off x="619125" y="2733675"/>
            <a:ext cx="5238750" cy="228600"/>
          </a:xfrm>
          <a:prstGeom prst="rect">
            <a:avLst/>
          </a:prstGeom>
          <a:noFill/>
          <a:ln/>
        </p:spPr>
        <p:txBody>
          <a:bodyPr wrap="square" lIns="0" tIns="0" rIns="0" bIns="0" rtlCol="0" anchor="ctr"/>
          <a:lstStyle/>
          <a:p>
            <a:pPr>
              <a:lnSpc>
                <a:spcPct val="130000"/>
              </a:lnSpc>
            </a:pPr>
            <a:r>
              <a:rPr lang="en-US" sz="1200" b="1" dirty="0">
                <a:solidFill>
                  <a:srgbClr val="2C2C2C"/>
                </a:solidFill>
                <a:latin typeface="Quattrocento Sans" pitchFamily="34" charset="0"/>
                <a:ea typeface="Quattrocento Sans" pitchFamily="34" charset="-122"/>
                <a:cs typeface="Quattrocento Sans" pitchFamily="34" charset="-120"/>
              </a:rPr>
              <a:t>Wilshire Farms:</a:t>
            </a:r>
            <a:pPr>
              <a:lnSpc>
                <a:spcPct val="130000"/>
              </a:lnSpc>
            </a:pPr>
            <a:r>
              <a:rPr lang="en-US" sz="1200" dirty="0">
                <a:solidFill>
                  <a:srgbClr val="2C2C2C"/>
                </a:solidFill>
                <a:latin typeface="Quattrocento Sans" pitchFamily="34" charset="0"/>
                <a:ea typeface="Quattrocento Sans" pitchFamily="34" charset="-122"/>
                <a:cs typeface="Quattrocento Sans" pitchFamily="34" charset="-120"/>
              </a:rPr>
              <a:t> In-kind contributions valued and added to pool</a:t>
            </a:r>
            <a:endParaRPr lang="en-US" sz="1600" dirty="0"/>
          </a:p>
        </p:txBody>
      </p:sp>
      <p:sp>
        <p:nvSpPr>
          <p:cNvPr id="16" name="Shape 14"/>
          <p:cNvSpPr/>
          <p:nvPr/>
        </p:nvSpPr>
        <p:spPr>
          <a:xfrm>
            <a:off x="6172200" y="1047750"/>
            <a:ext cx="5638800" cy="2762250"/>
          </a:xfrm>
          <a:custGeom>
            <a:avLst/>
            <a:gdLst/>
            <a:ahLst/>
            <a:cxnLst/>
            <a:rect l="l" t="t" r="r" b="b"/>
            <a:pathLst>
              <a:path w="5638800" h="2762250">
                <a:moveTo>
                  <a:pt x="38100" y="0"/>
                </a:moveTo>
                <a:lnTo>
                  <a:pt x="5600700" y="0"/>
                </a:lnTo>
                <a:cubicBezTo>
                  <a:pt x="5621728" y="0"/>
                  <a:pt x="5638800" y="17072"/>
                  <a:pt x="5638800" y="38100"/>
                </a:cubicBezTo>
                <a:lnTo>
                  <a:pt x="5638800" y="2686040"/>
                </a:lnTo>
                <a:cubicBezTo>
                  <a:pt x="5638800" y="2728129"/>
                  <a:pt x="5604679" y="2762250"/>
                  <a:pt x="5562590" y="2762250"/>
                </a:cubicBezTo>
                <a:lnTo>
                  <a:pt x="76210" y="2762250"/>
                </a:lnTo>
                <a:cubicBezTo>
                  <a:pt x="34121" y="2762250"/>
                  <a:pt x="0" y="2728129"/>
                  <a:pt x="0" y="2686040"/>
                </a:cubicBezTo>
                <a:lnTo>
                  <a:pt x="0" y="38100"/>
                </a:lnTo>
                <a:cubicBezTo>
                  <a:pt x="0" y="17072"/>
                  <a:pt x="17072" y="0"/>
                  <a:pt x="38100" y="0"/>
                </a:cubicBezTo>
                <a:close/>
              </a:path>
            </a:pathLst>
          </a:custGeom>
          <a:solidFill>
            <a:srgbClr val="FFFFFF"/>
          </a:solidFill>
          <a:ln/>
          <a:effectLst>
            <a:outerShdw sx="100000" sy="100000" kx="0" ky="0" algn="bl" rotWithShape="0" blurRad="28575" dist="9525" dir="5400000">
              <a:srgbClr val="000000">
                <a:alpha val="10196"/>
              </a:srgbClr>
            </a:outerShdw>
          </a:effectLst>
        </p:spPr>
      </p:sp>
      <p:sp>
        <p:nvSpPr>
          <p:cNvPr id="17" name="Shape 15"/>
          <p:cNvSpPr/>
          <p:nvPr/>
        </p:nvSpPr>
        <p:spPr>
          <a:xfrm>
            <a:off x="6172200" y="1047750"/>
            <a:ext cx="5638800" cy="38100"/>
          </a:xfrm>
          <a:custGeom>
            <a:avLst/>
            <a:gdLst/>
            <a:ahLst/>
            <a:cxnLst/>
            <a:rect l="l" t="t" r="r" b="b"/>
            <a:pathLst>
              <a:path w="5638800" h="38100">
                <a:moveTo>
                  <a:pt x="38100" y="0"/>
                </a:moveTo>
                <a:lnTo>
                  <a:pt x="5600700" y="0"/>
                </a:lnTo>
                <a:cubicBezTo>
                  <a:pt x="5621728" y="0"/>
                  <a:pt x="5638800" y="17072"/>
                  <a:pt x="5638800" y="38100"/>
                </a:cubicBezTo>
                <a:lnTo>
                  <a:pt x="5638800" y="38100"/>
                </a:lnTo>
                <a:lnTo>
                  <a:pt x="0" y="38100"/>
                </a:lnTo>
                <a:lnTo>
                  <a:pt x="0" y="38100"/>
                </a:lnTo>
                <a:cubicBezTo>
                  <a:pt x="0" y="17072"/>
                  <a:pt x="17072" y="0"/>
                  <a:pt x="38100" y="0"/>
                </a:cubicBezTo>
                <a:close/>
              </a:path>
            </a:pathLst>
          </a:custGeom>
          <a:solidFill>
            <a:srgbClr val="7A6250"/>
          </a:solidFill>
          <a:ln/>
        </p:spPr>
      </p:sp>
      <p:sp>
        <p:nvSpPr>
          <p:cNvPr id="18" name="Shape 16"/>
          <p:cNvSpPr/>
          <p:nvPr/>
        </p:nvSpPr>
        <p:spPr>
          <a:xfrm>
            <a:off x="6336506" y="1257300"/>
            <a:ext cx="214313" cy="190500"/>
          </a:xfrm>
          <a:custGeom>
            <a:avLst/>
            <a:gdLst/>
            <a:ahLst/>
            <a:cxnLst/>
            <a:rect l="l" t="t" r="r" b="b"/>
            <a:pathLst>
              <a:path w="214313" h="190500">
                <a:moveTo>
                  <a:pt x="107156" y="-5953"/>
                </a:moveTo>
                <a:cubicBezTo>
                  <a:pt x="102208" y="-5953"/>
                  <a:pt x="98227" y="-1972"/>
                  <a:pt x="98227" y="2977"/>
                </a:cubicBezTo>
                <a:lnTo>
                  <a:pt x="98227" y="7441"/>
                </a:lnTo>
                <a:lnTo>
                  <a:pt x="97557" y="7441"/>
                </a:lnTo>
                <a:cubicBezTo>
                  <a:pt x="83939" y="7441"/>
                  <a:pt x="72926" y="18492"/>
                  <a:pt x="72926" y="32072"/>
                </a:cubicBezTo>
                <a:cubicBezTo>
                  <a:pt x="72926" y="44500"/>
                  <a:pt x="82190" y="54992"/>
                  <a:pt x="94506" y="56517"/>
                </a:cubicBezTo>
                <a:lnTo>
                  <a:pt x="117202" y="59345"/>
                </a:lnTo>
                <a:cubicBezTo>
                  <a:pt x="119100" y="59568"/>
                  <a:pt x="120551" y="61206"/>
                  <a:pt x="120551" y="63140"/>
                </a:cubicBezTo>
                <a:cubicBezTo>
                  <a:pt x="120551" y="65261"/>
                  <a:pt x="118839" y="66935"/>
                  <a:pt x="116756" y="66935"/>
                </a:cubicBezTo>
                <a:lnTo>
                  <a:pt x="89297" y="66973"/>
                </a:lnTo>
                <a:cubicBezTo>
                  <a:pt x="83530" y="66973"/>
                  <a:pt x="78879" y="71624"/>
                  <a:pt x="78879" y="77391"/>
                </a:cubicBezTo>
                <a:cubicBezTo>
                  <a:pt x="78879" y="83158"/>
                  <a:pt x="83530" y="87809"/>
                  <a:pt x="89297" y="87809"/>
                </a:cubicBezTo>
                <a:lnTo>
                  <a:pt x="98227" y="87809"/>
                </a:lnTo>
                <a:lnTo>
                  <a:pt x="98227" y="92273"/>
                </a:lnTo>
                <a:cubicBezTo>
                  <a:pt x="98227" y="97222"/>
                  <a:pt x="102208" y="101203"/>
                  <a:pt x="107156" y="101203"/>
                </a:cubicBezTo>
                <a:cubicBezTo>
                  <a:pt x="112105" y="101203"/>
                  <a:pt x="116086" y="97222"/>
                  <a:pt x="116086" y="92273"/>
                </a:cubicBezTo>
                <a:lnTo>
                  <a:pt x="116086" y="87809"/>
                </a:lnTo>
                <a:lnTo>
                  <a:pt x="116756" y="87809"/>
                </a:lnTo>
                <a:cubicBezTo>
                  <a:pt x="130373" y="87809"/>
                  <a:pt x="141387" y="76758"/>
                  <a:pt x="141387" y="63178"/>
                </a:cubicBezTo>
                <a:cubicBezTo>
                  <a:pt x="141387" y="50750"/>
                  <a:pt x="132122" y="40258"/>
                  <a:pt x="119807" y="38733"/>
                </a:cubicBezTo>
                <a:lnTo>
                  <a:pt x="97110" y="35905"/>
                </a:lnTo>
                <a:cubicBezTo>
                  <a:pt x="95213" y="35682"/>
                  <a:pt x="93762" y="34044"/>
                  <a:pt x="93762" y="32110"/>
                </a:cubicBezTo>
                <a:cubicBezTo>
                  <a:pt x="93762" y="29989"/>
                  <a:pt x="95473" y="28315"/>
                  <a:pt x="97557" y="28315"/>
                </a:cubicBezTo>
                <a:lnTo>
                  <a:pt x="122039" y="28277"/>
                </a:lnTo>
                <a:cubicBezTo>
                  <a:pt x="127806" y="28277"/>
                  <a:pt x="132457" y="23626"/>
                  <a:pt x="132457" y="17859"/>
                </a:cubicBezTo>
                <a:cubicBezTo>
                  <a:pt x="132457" y="12092"/>
                  <a:pt x="127806" y="7441"/>
                  <a:pt x="122039" y="7441"/>
                </a:cubicBezTo>
                <a:lnTo>
                  <a:pt x="116086" y="7441"/>
                </a:lnTo>
                <a:lnTo>
                  <a:pt x="116086" y="2977"/>
                </a:lnTo>
                <a:cubicBezTo>
                  <a:pt x="116086" y="-1972"/>
                  <a:pt x="112105" y="-5953"/>
                  <a:pt x="107156" y="-5953"/>
                </a:cubicBezTo>
                <a:close/>
                <a:moveTo>
                  <a:pt x="40667" y="127062"/>
                </a:moveTo>
                <a:lnTo>
                  <a:pt x="24817" y="142875"/>
                </a:lnTo>
                <a:lnTo>
                  <a:pt x="11906" y="142875"/>
                </a:lnTo>
                <a:cubicBezTo>
                  <a:pt x="5321" y="142875"/>
                  <a:pt x="0" y="148196"/>
                  <a:pt x="0" y="154781"/>
                </a:cubicBezTo>
                <a:lnTo>
                  <a:pt x="0" y="178594"/>
                </a:lnTo>
                <a:cubicBezTo>
                  <a:pt x="0" y="185179"/>
                  <a:pt x="5321" y="190500"/>
                  <a:pt x="11906" y="190500"/>
                </a:cubicBezTo>
                <a:lnTo>
                  <a:pt x="131155" y="190500"/>
                </a:lnTo>
                <a:cubicBezTo>
                  <a:pt x="141945" y="190500"/>
                  <a:pt x="152474" y="187040"/>
                  <a:pt x="161181" y="180640"/>
                </a:cubicBezTo>
                <a:lnTo>
                  <a:pt x="208285" y="145926"/>
                </a:lnTo>
                <a:cubicBezTo>
                  <a:pt x="214908" y="141052"/>
                  <a:pt x="216322" y="131750"/>
                  <a:pt x="211448" y="125127"/>
                </a:cubicBezTo>
                <a:cubicBezTo>
                  <a:pt x="206573" y="118504"/>
                  <a:pt x="197272" y="117091"/>
                  <a:pt x="190649" y="121965"/>
                </a:cubicBezTo>
                <a:lnTo>
                  <a:pt x="146075" y="154781"/>
                </a:lnTo>
                <a:lnTo>
                  <a:pt x="104180" y="154781"/>
                </a:lnTo>
                <a:cubicBezTo>
                  <a:pt x="99231" y="154781"/>
                  <a:pt x="95250" y="150800"/>
                  <a:pt x="95250" y="145852"/>
                </a:cubicBezTo>
                <a:cubicBezTo>
                  <a:pt x="95250" y="140903"/>
                  <a:pt x="99231" y="136922"/>
                  <a:pt x="104180" y="136922"/>
                </a:cubicBezTo>
                <a:lnTo>
                  <a:pt x="130969" y="136922"/>
                </a:lnTo>
                <a:cubicBezTo>
                  <a:pt x="137554" y="136922"/>
                  <a:pt x="142875" y="131601"/>
                  <a:pt x="142875" y="125016"/>
                </a:cubicBezTo>
                <a:cubicBezTo>
                  <a:pt x="142875" y="118430"/>
                  <a:pt x="137554" y="113109"/>
                  <a:pt x="130969" y="113109"/>
                </a:cubicBezTo>
                <a:lnTo>
                  <a:pt x="74340" y="113109"/>
                </a:lnTo>
                <a:cubicBezTo>
                  <a:pt x="61726" y="113109"/>
                  <a:pt x="49597" y="118132"/>
                  <a:pt x="40667" y="127062"/>
                </a:cubicBezTo>
                <a:close/>
              </a:path>
            </a:pathLst>
          </a:custGeom>
          <a:solidFill>
            <a:srgbClr val="7A6250"/>
          </a:solidFill>
          <a:ln/>
        </p:spPr>
      </p:sp>
      <p:sp>
        <p:nvSpPr>
          <p:cNvPr id="19" name="Text 17"/>
          <p:cNvSpPr/>
          <p:nvPr/>
        </p:nvSpPr>
        <p:spPr>
          <a:xfrm>
            <a:off x="6562725" y="1219200"/>
            <a:ext cx="5191125" cy="266700"/>
          </a:xfrm>
          <a:prstGeom prst="rect">
            <a:avLst/>
          </a:prstGeom>
          <a:noFill/>
          <a:ln/>
        </p:spPr>
        <p:txBody>
          <a:bodyPr wrap="square" lIns="0" tIns="0" rIns="0" bIns="0" rtlCol="0" anchor="ctr"/>
          <a:lstStyle/>
          <a:p>
            <a:pPr>
              <a:lnSpc>
                <a:spcPct val="120000"/>
              </a:lnSpc>
            </a:pPr>
            <a:r>
              <a:rPr lang="en-US" sz="1500" b="1" dirty="0">
                <a:solidFill>
                  <a:srgbClr val="3A4D39"/>
                </a:solidFill>
                <a:latin typeface="Unna" pitchFamily="34" charset="0"/>
                <a:ea typeface="Unna" pitchFamily="34" charset="-122"/>
                <a:cs typeface="Unna" pitchFamily="34" charset="-120"/>
              </a:rPr>
              <a:t>Revenue Distribution</a:t>
            </a:r>
            <a:endParaRPr lang="en-US" sz="1600" dirty="0"/>
          </a:p>
        </p:txBody>
      </p:sp>
      <p:sp>
        <p:nvSpPr>
          <p:cNvPr id="20" name="Shape 18"/>
          <p:cNvSpPr/>
          <p:nvPr/>
        </p:nvSpPr>
        <p:spPr>
          <a:xfrm>
            <a:off x="6324600" y="1638300"/>
            <a:ext cx="228600" cy="228600"/>
          </a:xfrm>
          <a:custGeom>
            <a:avLst/>
            <a:gdLst/>
            <a:ahLst/>
            <a:cxnLst/>
            <a:rect l="l" t="t" r="r" b="b"/>
            <a:pathLst>
              <a:path w="228600" h="228600">
                <a:moveTo>
                  <a:pt x="114300" y="0"/>
                </a:moveTo>
                <a:lnTo>
                  <a:pt x="114300" y="0"/>
                </a:lnTo>
                <a:cubicBezTo>
                  <a:pt x="177384" y="0"/>
                  <a:pt x="228600" y="51216"/>
                  <a:pt x="228600" y="114300"/>
                </a:cubicBezTo>
                <a:lnTo>
                  <a:pt x="228600" y="114300"/>
                </a:lnTo>
                <a:cubicBezTo>
                  <a:pt x="228600" y="177384"/>
                  <a:pt x="177384" y="228600"/>
                  <a:pt x="114300" y="228600"/>
                </a:cubicBezTo>
                <a:lnTo>
                  <a:pt x="114300" y="228600"/>
                </a:lnTo>
                <a:cubicBezTo>
                  <a:pt x="51216" y="228600"/>
                  <a:pt x="0" y="177384"/>
                  <a:pt x="0" y="114300"/>
                </a:cubicBezTo>
                <a:lnTo>
                  <a:pt x="0" y="114300"/>
                </a:lnTo>
                <a:cubicBezTo>
                  <a:pt x="0" y="51216"/>
                  <a:pt x="51216" y="0"/>
                  <a:pt x="114300" y="0"/>
                </a:cubicBezTo>
                <a:close/>
              </a:path>
            </a:pathLst>
          </a:custGeom>
          <a:solidFill>
            <a:srgbClr val="3A4D39"/>
          </a:solidFill>
          <a:ln/>
        </p:spPr>
      </p:sp>
      <p:sp>
        <p:nvSpPr>
          <p:cNvPr id="21" name="Text 19"/>
          <p:cNvSpPr/>
          <p:nvPr/>
        </p:nvSpPr>
        <p:spPr>
          <a:xfrm>
            <a:off x="6420594" y="1681163"/>
            <a:ext cx="95250" cy="142875"/>
          </a:xfrm>
          <a:prstGeom prst="rect">
            <a:avLst/>
          </a:prstGeom>
          <a:noFill/>
          <a:ln/>
        </p:spPr>
        <p:txBody>
          <a:bodyPr wrap="square" lIns="0" tIns="0" rIns="0" bIns="0" rtlCol="0" anchor="ctr"/>
          <a:lstStyle/>
          <a:p>
            <a:pPr>
              <a:lnSpc>
                <a:spcPct val="110000"/>
              </a:lnSpc>
            </a:pPr>
            <a:r>
              <a:rPr lang="en-US" sz="900" b="1" dirty="0">
                <a:solidFill>
                  <a:srgbClr val="F8F6F2"/>
                </a:solidFill>
                <a:latin typeface="Oranienbaum" pitchFamily="34" charset="0"/>
                <a:ea typeface="Oranienbaum" pitchFamily="34" charset="-122"/>
                <a:cs typeface="Oranienbaum" pitchFamily="34" charset="-120"/>
              </a:rPr>
              <a:t>1</a:t>
            </a:r>
            <a:endParaRPr lang="en-US" sz="1600" dirty="0"/>
          </a:p>
        </p:txBody>
      </p:sp>
      <p:sp>
        <p:nvSpPr>
          <p:cNvPr id="22" name="Text 20"/>
          <p:cNvSpPr/>
          <p:nvPr/>
        </p:nvSpPr>
        <p:spPr>
          <a:xfrm>
            <a:off x="6629400" y="1600200"/>
            <a:ext cx="3324225" cy="228600"/>
          </a:xfrm>
          <a:prstGeom prst="rect">
            <a:avLst/>
          </a:prstGeom>
          <a:noFill/>
          <a:ln/>
        </p:spPr>
        <p:txBody>
          <a:bodyPr wrap="square" lIns="0" tIns="0" rIns="0" bIns="0" rtlCol="0" anchor="ctr"/>
          <a:lstStyle/>
          <a:p>
            <a:pPr>
              <a:lnSpc>
                <a:spcPct val="130000"/>
              </a:lnSpc>
            </a:pPr>
            <a:r>
              <a:rPr lang="en-US" sz="1200" b="1" dirty="0">
                <a:solidFill>
                  <a:srgbClr val="3A4D39"/>
                </a:solidFill>
                <a:latin typeface="Unna" pitchFamily="34" charset="0"/>
                <a:ea typeface="Unna" pitchFamily="34" charset="-122"/>
                <a:cs typeface="Unna" pitchFamily="34" charset="-120"/>
              </a:rPr>
              <a:t>Gross Revenue</a:t>
            </a:r>
            <a:endParaRPr lang="en-US" sz="1600" dirty="0"/>
          </a:p>
        </p:txBody>
      </p:sp>
      <p:sp>
        <p:nvSpPr>
          <p:cNvPr id="23" name="Text 21"/>
          <p:cNvSpPr/>
          <p:nvPr/>
        </p:nvSpPr>
        <p:spPr>
          <a:xfrm>
            <a:off x="6629400" y="1828800"/>
            <a:ext cx="3324225" cy="228600"/>
          </a:xfrm>
          <a:prstGeom prst="rect">
            <a:avLst/>
          </a:prstGeom>
          <a:noFill/>
          <a:ln/>
        </p:spPr>
        <p:txBody>
          <a:bodyPr wrap="square" lIns="0" tIns="0" rIns="0" bIns="0" rtlCol="0" anchor="ctr"/>
          <a:lstStyle/>
          <a:p>
            <a:pPr>
              <a:lnSpc>
                <a:spcPct val="130000"/>
              </a:lnSpc>
            </a:pPr>
            <a:r>
              <a:rPr lang="en-US" sz="1200" dirty="0">
                <a:solidFill>
                  <a:srgbClr val="2C2C2C"/>
                </a:solidFill>
                <a:latin typeface="Quattrocento Sans" pitchFamily="34" charset="0"/>
                <a:ea typeface="Quattrocento Sans" pitchFamily="34" charset="-122"/>
                <a:cs typeface="Quattrocento Sans" pitchFamily="34" charset="-120"/>
              </a:rPr>
              <a:t>Total proceeds from sale of all Habanero produce</a:t>
            </a:r>
            <a:endParaRPr lang="en-US" sz="1600" dirty="0"/>
          </a:p>
        </p:txBody>
      </p:sp>
      <p:sp>
        <p:nvSpPr>
          <p:cNvPr id="24" name="Shape 22"/>
          <p:cNvSpPr/>
          <p:nvPr/>
        </p:nvSpPr>
        <p:spPr>
          <a:xfrm>
            <a:off x="6324600" y="2171700"/>
            <a:ext cx="228600" cy="228600"/>
          </a:xfrm>
          <a:custGeom>
            <a:avLst/>
            <a:gdLst/>
            <a:ahLst/>
            <a:cxnLst/>
            <a:rect l="l" t="t" r="r" b="b"/>
            <a:pathLst>
              <a:path w="228600" h="228600">
                <a:moveTo>
                  <a:pt x="114300" y="0"/>
                </a:moveTo>
                <a:lnTo>
                  <a:pt x="114300" y="0"/>
                </a:lnTo>
                <a:cubicBezTo>
                  <a:pt x="177384" y="0"/>
                  <a:pt x="228600" y="51216"/>
                  <a:pt x="228600" y="114300"/>
                </a:cubicBezTo>
                <a:lnTo>
                  <a:pt x="228600" y="114300"/>
                </a:lnTo>
                <a:cubicBezTo>
                  <a:pt x="228600" y="177384"/>
                  <a:pt x="177384" y="228600"/>
                  <a:pt x="114300" y="228600"/>
                </a:cubicBezTo>
                <a:lnTo>
                  <a:pt x="114300" y="228600"/>
                </a:lnTo>
                <a:cubicBezTo>
                  <a:pt x="51216" y="228600"/>
                  <a:pt x="0" y="177384"/>
                  <a:pt x="0" y="114300"/>
                </a:cubicBezTo>
                <a:lnTo>
                  <a:pt x="0" y="114300"/>
                </a:lnTo>
                <a:cubicBezTo>
                  <a:pt x="0" y="51216"/>
                  <a:pt x="51216" y="0"/>
                  <a:pt x="114300" y="0"/>
                </a:cubicBezTo>
                <a:close/>
              </a:path>
            </a:pathLst>
          </a:custGeom>
          <a:solidFill>
            <a:srgbClr val="7A6250"/>
          </a:solidFill>
          <a:ln/>
        </p:spPr>
      </p:sp>
      <p:sp>
        <p:nvSpPr>
          <p:cNvPr id="25" name="Text 23"/>
          <p:cNvSpPr/>
          <p:nvPr/>
        </p:nvSpPr>
        <p:spPr>
          <a:xfrm>
            <a:off x="6410027" y="2214563"/>
            <a:ext cx="114300" cy="142875"/>
          </a:xfrm>
          <a:prstGeom prst="rect">
            <a:avLst/>
          </a:prstGeom>
          <a:noFill/>
          <a:ln/>
        </p:spPr>
        <p:txBody>
          <a:bodyPr wrap="square" lIns="0" tIns="0" rIns="0" bIns="0" rtlCol="0" anchor="ctr"/>
          <a:lstStyle/>
          <a:p>
            <a:pPr>
              <a:lnSpc>
                <a:spcPct val="110000"/>
              </a:lnSpc>
            </a:pPr>
            <a:r>
              <a:rPr lang="en-US" sz="900" b="1" dirty="0">
                <a:solidFill>
                  <a:srgbClr val="F8F6F2"/>
                </a:solidFill>
                <a:latin typeface="Oranienbaum" pitchFamily="34" charset="0"/>
                <a:ea typeface="Oranienbaum" pitchFamily="34" charset="-122"/>
                <a:cs typeface="Oranienbaum" pitchFamily="34" charset="-120"/>
              </a:rPr>
              <a:t>2</a:t>
            </a:r>
            <a:endParaRPr lang="en-US" sz="1600" dirty="0"/>
          </a:p>
        </p:txBody>
      </p:sp>
      <p:sp>
        <p:nvSpPr>
          <p:cNvPr id="26" name="Text 24"/>
          <p:cNvSpPr/>
          <p:nvPr/>
        </p:nvSpPr>
        <p:spPr>
          <a:xfrm>
            <a:off x="6629400" y="2133600"/>
            <a:ext cx="2895600" cy="228600"/>
          </a:xfrm>
          <a:prstGeom prst="rect">
            <a:avLst/>
          </a:prstGeom>
          <a:noFill/>
          <a:ln/>
        </p:spPr>
        <p:txBody>
          <a:bodyPr wrap="square" lIns="0" tIns="0" rIns="0" bIns="0" rtlCol="0" anchor="ctr"/>
          <a:lstStyle/>
          <a:p>
            <a:pPr>
              <a:lnSpc>
                <a:spcPct val="130000"/>
              </a:lnSpc>
            </a:pPr>
            <a:r>
              <a:rPr lang="en-US" sz="1200" b="1" dirty="0">
                <a:solidFill>
                  <a:srgbClr val="3A4D39"/>
                </a:solidFill>
                <a:latin typeface="Unna" pitchFamily="34" charset="0"/>
                <a:ea typeface="Unna" pitchFamily="34" charset="-122"/>
                <a:cs typeface="Unna" pitchFamily="34" charset="-120"/>
              </a:rPr>
              <a:t>Less: Operational Expenses</a:t>
            </a:r>
            <a:endParaRPr lang="en-US" sz="1600" dirty="0"/>
          </a:p>
        </p:txBody>
      </p:sp>
      <p:sp>
        <p:nvSpPr>
          <p:cNvPr id="27" name="Text 25"/>
          <p:cNvSpPr/>
          <p:nvPr/>
        </p:nvSpPr>
        <p:spPr>
          <a:xfrm>
            <a:off x="6629400" y="2362200"/>
            <a:ext cx="2895600" cy="228600"/>
          </a:xfrm>
          <a:prstGeom prst="rect">
            <a:avLst/>
          </a:prstGeom>
          <a:noFill/>
          <a:ln/>
        </p:spPr>
        <p:txBody>
          <a:bodyPr wrap="square" lIns="0" tIns="0" rIns="0" bIns="0" rtlCol="0" anchor="ctr"/>
          <a:lstStyle/>
          <a:p>
            <a:pPr>
              <a:lnSpc>
                <a:spcPct val="130000"/>
              </a:lnSpc>
            </a:pPr>
            <a:r>
              <a:rPr lang="en-US" sz="1200" dirty="0">
                <a:solidFill>
                  <a:srgbClr val="2C2C2C"/>
                </a:solidFill>
                <a:latin typeface="Quattrocento Sans" pitchFamily="34" charset="0"/>
                <a:ea typeface="Quattrocento Sans" pitchFamily="34" charset="-122"/>
                <a:cs typeface="Quattrocento Sans" pitchFamily="34" charset="-120"/>
              </a:rPr>
              <a:t>Approved costs incurred during the season</a:t>
            </a:r>
            <a:endParaRPr lang="en-US" sz="1600" dirty="0"/>
          </a:p>
        </p:txBody>
      </p:sp>
      <p:sp>
        <p:nvSpPr>
          <p:cNvPr id="28" name="Shape 26"/>
          <p:cNvSpPr/>
          <p:nvPr/>
        </p:nvSpPr>
        <p:spPr>
          <a:xfrm>
            <a:off x="6324600" y="2705100"/>
            <a:ext cx="228600" cy="228600"/>
          </a:xfrm>
          <a:custGeom>
            <a:avLst/>
            <a:gdLst/>
            <a:ahLst/>
            <a:cxnLst/>
            <a:rect l="l" t="t" r="r" b="b"/>
            <a:pathLst>
              <a:path w="228600" h="228600">
                <a:moveTo>
                  <a:pt x="114300" y="0"/>
                </a:moveTo>
                <a:lnTo>
                  <a:pt x="114300" y="0"/>
                </a:lnTo>
                <a:cubicBezTo>
                  <a:pt x="177384" y="0"/>
                  <a:pt x="228600" y="51216"/>
                  <a:pt x="228600" y="114300"/>
                </a:cubicBezTo>
                <a:lnTo>
                  <a:pt x="228600" y="114300"/>
                </a:lnTo>
                <a:cubicBezTo>
                  <a:pt x="228600" y="177384"/>
                  <a:pt x="177384" y="228600"/>
                  <a:pt x="114300" y="228600"/>
                </a:cubicBezTo>
                <a:lnTo>
                  <a:pt x="114300" y="228600"/>
                </a:lnTo>
                <a:cubicBezTo>
                  <a:pt x="51216" y="228600"/>
                  <a:pt x="0" y="177384"/>
                  <a:pt x="0" y="114300"/>
                </a:cubicBezTo>
                <a:lnTo>
                  <a:pt x="0" y="114300"/>
                </a:lnTo>
                <a:cubicBezTo>
                  <a:pt x="0" y="51216"/>
                  <a:pt x="51216" y="0"/>
                  <a:pt x="114300" y="0"/>
                </a:cubicBezTo>
                <a:close/>
              </a:path>
            </a:pathLst>
          </a:custGeom>
          <a:solidFill>
            <a:srgbClr val="3A4D39"/>
          </a:solidFill>
          <a:ln/>
        </p:spPr>
      </p:sp>
      <p:sp>
        <p:nvSpPr>
          <p:cNvPr id="29" name="Text 27"/>
          <p:cNvSpPr/>
          <p:nvPr/>
        </p:nvSpPr>
        <p:spPr>
          <a:xfrm>
            <a:off x="6409879" y="2747963"/>
            <a:ext cx="114300" cy="142875"/>
          </a:xfrm>
          <a:prstGeom prst="rect">
            <a:avLst/>
          </a:prstGeom>
          <a:noFill/>
          <a:ln/>
        </p:spPr>
        <p:txBody>
          <a:bodyPr wrap="square" lIns="0" tIns="0" rIns="0" bIns="0" rtlCol="0" anchor="ctr"/>
          <a:lstStyle/>
          <a:p>
            <a:pPr>
              <a:lnSpc>
                <a:spcPct val="110000"/>
              </a:lnSpc>
            </a:pPr>
            <a:r>
              <a:rPr lang="en-US" sz="900" b="1" dirty="0">
                <a:solidFill>
                  <a:srgbClr val="F8F6F2"/>
                </a:solidFill>
                <a:latin typeface="Oranienbaum" pitchFamily="34" charset="0"/>
                <a:ea typeface="Oranienbaum" pitchFamily="34" charset="-122"/>
                <a:cs typeface="Oranienbaum" pitchFamily="34" charset="-120"/>
              </a:rPr>
              <a:t>3</a:t>
            </a:r>
            <a:endParaRPr lang="en-US" sz="1600" dirty="0"/>
          </a:p>
        </p:txBody>
      </p:sp>
      <p:sp>
        <p:nvSpPr>
          <p:cNvPr id="30" name="Text 28"/>
          <p:cNvSpPr/>
          <p:nvPr/>
        </p:nvSpPr>
        <p:spPr>
          <a:xfrm>
            <a:off x="6629400" y="2667000"/>
            <a:ext cx="2438400" cy="228600"/>
          </a:xfrm>
          <a:prstGeom prst="rect">
            <a:avLst/>
          </a:prstGeom>
          <a:noFill/>
          <a:ln/>
        </p:spPr>
        <p:txBody>
          <a:bodyPr wrap="square" lIns="0" tIns="0" rIns="0" bIns="0" rtlCol="0" anchor="ctr"/>
          <a:lstStyle/>
          <a:p>
            <a:pPr>
              <a:lnSpc>
                <a:spcPct val="130000"/>
              </a:lnSpc>
            </a:pPr>
            <a:r>
              <a:rPr lang="en-US" sz="1200" b="1" dirty="0">
                <a:solidFill>
                  <a:srgbClr val="3A4D39"/>
                </a:solidFill>
                <a:latin typeface="Unna" pitchFamily="34" charset="0"/>
                <a:ea typeface="Unna" pitchFamily="34" charset="-122"/>
                <a:cs typeface="Unna" pitchFamily="34" charset="-120"/>
              </a:rPr>
              <a:t>Equals: Net Proceeds</a:t>
            </a:r>
            <a:endParaRPr lang="en-US" sz="1600" dirty="0"/>
          </a:p>
        </p:txBody>
      </p:sp>
      <p:sp>
        <p:nvSpPr>
          <p:cNvPr id="31" name="Text 29"/>
          <p:cNvSpPr/>
          <p:nvPr/>
        </p:nvSpPr>
        <p:spPr>
          <a:xfrm>
            <a:off x="6629400" y="2895600"/>
            <a:ext cx="2438400" cy="228600"/>
          </a:xfrm>
          <a:prstGeom prst="rect">
            <a:avLst/>
          </a:prstGeom>
          <a:noFill/>
          <a:ln/>
        </p:spPr>
        <p:txBody>
          <a:bodyPr wrap="square" lIns="0" tIns="0" rIns="0" bIns="0" rtlCol="0" anchor="ctr"/>
          <a:lstStyle/>
          <a:p>
            <a:pPr>
              <a:lnSpc>
                <a:spcPct val="130000"/>
              </a:lnSpc>
            </a:pPr>
            <a:r>
              <a:rPr lang="en-US" sz="1200" dirty="0">
                <a:solidFill>
                  <a:srgbClr val="2C2C2C"/>
                </a:solidFill>
                <a:latin typeface="Quattrocento Sans" pitchFamily="34" charset="0"/>
                <a:ea typeface="Quattrocento Sans" pitchFamily="34" charset="-122"/>
                <a:cs typeface="Quattrocento Sans" pitchFamily="34" charset="-120"/>
              </a:rPr>
              <a:t>Available for distribution to partners</a:t>
            </a:r>
            <a:endParaRPr lang="en-US" sz="1600" dirty="0"/>
          </a:p>
        </p:txBody>
      </p:sp>
      <p:sp>
        <p:nvSpPr>
          <p:cNvPr id="32" name="Shape 30"/>
          <p:cNvSpPr/>
          <p:nvPr/>
        </p:nvSpPr>
        <p:spPr>
          <a:xfrm>
            <a:off x="6324600" y="3238500"/>
            <a:ext cx="228600" cy="228600"/>
          </a:xfrm>
          <a:custGeom>
            <a:avLst/>
            <a:gdLst/>
            <a:ahLst/>
            <a:cxnLst/>
            <a:rect l="l" t="t" r="r" b="b"/>
            <a:pathLst>
              <a:path w="228600" h="228600">
                <a:moveTo>
                  <a:pt x="114300" y="0"/>
                </a:moveTo>
                <a:lnTo>
                  <a:pt x="114300" y="0"/>
                </a:lnTo>
                <a:cubicBezTo>
                  <a:pt x="177384" y="0"/>
                  <a:pt x="228600" y="51216"/>
                  <a:pt x="228600" y="114300"/>
                </a:cubicBezTo>
                <a:lnTo>
                  <a:pt x="228600" y="114300"/>
                </a:lnTo>
                <a:cubicBezTo>
                  <a:pt x="228600" y="177384"/>
                  <a:pt x="177384" y="228600"/>
                  <a:pt x="114300" y="228600"/>
                </a:cubicBezTo>
                <a:lnTo>
                  <a:pt x="114300" y="228600"/>
                </a:lnTo>
                <a:cubicBezTo>
                  <a:pt x="51216" y="228600"/>
                  <a:pt x="0" y="177384"/>
                  <a:pt x="0" y="114300"/>
                </a:cubicBezTo>
                <a:lnTo>
                  <a:pt x="0" y="114300"/>
                </a:lnTo>
                <a:cubicBezTo>
                  <a:pt x="0" y="51216"/>
                  <a:pt x="51216" y="0"/>
                  <a:pt x="114300" y="0"/>
                </a:cubicBezTo>
                <a:close/>
              </a:path>
            </a:pathLst>
          </a:custGeom>
          <a:solidFill>
            <a:srgbClr val="7A6250"/>
          </a:solidFill>
          <a:ln/>
        </p:spPr>
      </p:sp>
      <p:sp>
        <p:nvSpPr>
          <p:cNvPr id="33" name="Text 31"/>
          <p:cNvSpPr/>
          <p:nvPr/>
        </p:nvSpPr>
        <p:spPr>
          <a:xfrm>
            <a:off x="6407200" y="3281363"/>
            <a:ext cx="123825" cy="142875"/>
          </a:xfrm>
          <a:prstGeom prst="rect">
            <a:avLst/>
          </a:prstGeom>
          <a:noFill/>
          <a:ln/>
        </p:spPr>
        <p:txBody>
          <a:bodyPr wrap="square" lIns="0" tIns="0" rIns="0" bIns="0" rtlCol="0" anchor="ctr"/>
          <a:lstStyle/>
          <a:p>
            <a:pPr>
              <a:lnSpc>
                <a:spcPct val="110000"/>
              </a:lnSpc>
            </a:pPr>
            <a:r>
              <a:rPr lang="en-US" sz="900" b="1" dirty="0">
                <a:solidFill>
                  <a:srgbClr val="F8F6F2"/>
                </a:solidFill>
                <a:latin typeface="Oranienbaum" pitchFamily="34" charset="0"/>
                <a:ea typeface="Oranienbaum" pitchFamily="34" charset="-122"/>
                <a:cs typeface="Oranienbaum" pitchFamily="34" charset="-120"/>
              </a:rPr>
              <a:t>4</a:t>
            </a:r>
            <a:endParaRPr lang="en-US" sz="1600" dirty="0"/>
          </a:p>
        </p:txBody>
      </p:sp>
      <p:sp>
        <p:nvSpPr>
          <p:cNvPr id="34" name="Text 32"/>
          <p:cNvSpPr/>
          <p:nvPr/>
        </p:nvSpPr>
        <p:spPr>
          <a:xfrm>
            <a:off x="6629400" y="3200400"/>
            <a:ext cx="2733675" cy="228600"/>
          </a:xfrm>
          <a:prstGeom prst="rect">
            <a:avLst/>
          </a:prstGeom>
          <a:noFill/>
          <a:ln/>
        </p:spPr>
        <p:txBody>
          <a:bodyPr wrap="square" lIns="0" tIns="0" rIns="0" bIns="0" rtlCol="0" anchor="ctr"/>
          <a:lstStyle/>
          <a:p>
            <a:pPr>
              <a:lnSpc>
                <a:spcPct val="130000"/>
              </a:lnSpc>
            </a:pPr>
            <a:r>
              <a:rPr lang="en-US" sz="1200" b="1" dirty="0">
                <a:solidFill>
                  <a:srgbClr val="3A4D39"/>
                </a:solidFill>
                <a:latin typeface="Unna" pitchFamily="34" charset="0"/>
                <a:ea typeface="Unna" pitchFamily="34" charset="-122"/>
                <a:cs typeface="Unna" pitchFamily="34" charset="-120"/>
              </a:rPr>
              <a:t>Distribution by Ownership %</a:t>
            </a:r>
            <a:endParaRPr lang="en-US" sz="1600" dirty="0"/>
          </a:p>
        </p:txBody>
      </p:sp>
      <p:sp>
        <p:nvSpPr>
          <p:cNvPr id="35" name="Text 33"/>
          <p:cNvSpPr/>
          <p:nvPr/>
        </p:nvSpPr>
        <p:spPr>
          <a:xfrm>
            <a:off x="6629400" y="3429000"/>
            <a:ext cx="2733675" cy="228600"/>
          </a:xfrm>
          <a:prstGeom prst="rect">
            <a:avLst/>
          </a:prstGeom>
          <a:noFill/>
          <a:ln/>
        </p:spPr>
        <p:txBody>
          <a:bodyPr wrap="square" lIns="0" tIns="0" rIns="0" bIns="0" rtlCol="0" anchor="ctr"/>
          <a:lstStyle/>
          <a:p>
            <a:pPr>
              <a:lnSpc>
                <a:spcPct val="130000"/>
              </a:lnSpc>
            </a:pPr>
            <a:r>
              <a:rPr lang="en-US" sz="1200" dirty="0">
                <a:solidFill>
                  <a:srgbClr val="2C2C2C"/>
                </a:solidFill>
                <a:latin typeface="Quattrocento Sans" pitchFamily="34" charset="0"/>
                <a:ea typeface="Quattrocento Sans" pitchFamily="34" charset="-122"/>
                <a:cs typeface="Quattrocento Sans" pitchFamily="34" charset="-120"/>
              </a:rPr>
              <a:t>Each partner receives proportional share</a:t>
            </a:r>
            <a:endParaRPr lang="en-US" sz="1600" dirty="0"/>
          </a:p>
        </p:txBody>
      </p:sp>
      <p:sp>
        <p:nvSpPr>
          <p:cNvPr id="36" name="Shape 34"/>
          <p:cNvSpPr/>
          <p:nvPr/>
        </p:nvSpPr>
        <p:spPr>
          <a:xfrm>
            <a:off x="381000" y="3924300"/>
            <a:ext cx="3733800" cy="1485900"/>
          </a:xfrm>
          <a:custGeom>
            <a:avLst/>
            <a:gdLst/>
            <a:ahLst/>
            <a:cxnLst/>
            <a:rect l="l" t="t" r="r" b="b"/>
            <a:pathLst>
              <a:path w="3733800" h="1485900">
                <a:moveTo>
                  <a:pt x="76197" y="0"/>
                </a:moveTo>
                <a:lnTo>
                  <a:pt x="3657603" y="0"/>
                </a:lnTo>
                <a:cubicBezTo>
                  <a:pt x="3699685" y="0"/>
                  <a:pt x="3733800" y="34115"/>
                  <a:pt x="3733800" y="76197"/>
                </a:cubicBezTo>
                <a:lnTo>
                  <a:pt x="3733800" y="1409703"/>
                </a:lnTo>
                <a:cubicBezTo>
                  <a:pt x="3733800" y="1451785"/>
                  <a:pt x="3699685" y="1485900"/>
                  <a:pt x="3657603" y="1485900"/>
                </a:cubicBezTo>
                <a:lnTo>
                  <a:pt x="76197" y="1485900"/>
                </a:lnTo>
                <a:cubicBezTo>
                  <a:pt x="34115" y="1485900"/>
                  <a:pt x="0" y="1451785"/>
                  <a:pt x="0" y="1409703"/>
                </a:cubicBezTo>
                <a:lnTo>
                  <a:pt x="0" y="76197"/>
                </a:lnTo>
                <a:cubicBezTo>
                  <a:pt x="0" y="34143"/>
                  <a:pt x="34143" y="0"/>
                  <a:pt x="76197" y="0"/>
                </a:cubicBezTo>
                <a:close/>
              </a:path>
            </a:pathLst>
          </a:custGeom>
          <a:solidFill>
            <a:srgbClr val="3A4D39"/>
          </a:solidFill>
          <a:ln/>
        </p:spPr>
      </p:sp>
      <p:sp>
        <p:nvSpPr>
          <p:cNvPr id="37" name="Shape 35"/>
          <p:cNvSpPr/>
          <p:nvPr/>
        </p:nvSpPr>
        <p:spPr>
          <a:xfrm>
            <a:off x="2147888" y="4038600"/>
            <a:ext cx="200025" cy="228600"/>
          </a:xfrm>
          <a:custGeom>
            <a:avLst/>
            <a:gdLst/>
            <a:ahLst/>
            <a:cxnLst/>
            <a:rect l="l" t="t" r="r" b="b"/>
            <a:pathLst>
              <a:path w="200025" h="228600">
                <a:moveTo>
                  <a:pt x="57150" y="0"/>
                </a:moveTo>
                <a:cubicBezTo>
                  <a:pt x="65053" y="0"/>
                  <a:pt x="71438" y="6385"/>
                  <a:pt x="71438" y="14288"/>
                </a:cubicBezTo>
                <a:lnTo>
                  <a:pt x="71438" y="28575"/>
                </a:lnTo>
                <a:lnTo>
                  <a:pt x="128588" y="28575"/>
                </a:lnTo>
                <a:lnTo>
                  <a:pt x="128588" y="14288"/>
                </a:lnTo>
                <a:cubicBezTo>
                  <a:pt x="128588" y="6385"/>
                  <a:pt x="134972" y="0"/>
                  <a:pt x="142875" y="0"/>
                </a:cubicBezTo>
                <a:cubicBezTo>
                  <a:pt x="150778" y="0"/>
                  <a:pt x="157163" y="6385"/>
                  <a:pt x="157163" y="14288"/>
                </a:cubicBezTo>
                <a:lnTo>
                  <a:pt x="157163" y="28575"/>
                </a:lnTo>
                <a:lnTo>
                  <a:pt x="171450" y="28575"/>
                </a:lnTo>
                <a:cubicBezTo>
                  <a:pt x="187211" y="28575"/>
                  <a:pt x="200025" y="41389"/>
                  <a:pt x="200025" y="57150"/>
                </a:cubicBezTo>
                <a:lnTo>
                  <a:pt x="200025" y="185738"/>
                </a:lnTo>
                <a:cubicBezTo>
                  <a:pt x="200025" y="201498"/>
                  <a:pt x="187211" y="214313"/>
                  <a:pt x="171450" y="214313"/>
                </a:cubicBezTo>
                <a:lnTo>
                  <a:pt x="28575" y="214313"/>
                </a:lnTo>
                <a:cubicBezTo>
                  <a:pt x="12814" y="214313"/>
                  <a:pt x="0" y="201498"/>
                  <a:pt x="0" y="185738"/>
                </a:cubicBezTo>
                <a:lnTo>
                  <a:pt x="0" y="57150"/>
                </a:lnTo>
                <a:cubicBezTo>
                  <a:pt x="0" y="41389"/>
                  <a:pt x="12814" y="28575"/>
                  <a:pt x="28575" y="28575"/>
                </a:cubicBezTo>
                <a:lnTo>
                  <a:pt x="42863" y="28575"/>
                </a:lnTo>
                <a:lnTo>
                  <a:pt x="42863" y="14288"/>
                </a:lnTo>
                <a:cubicBezTo>
                  <a:pt x="42863" y="6385"/>
                  <a:pt x="49247" y="0"/>
                  <a:pt x="57150" y="0"/>
                </a:cubicBezTo>
                <a:close/>
                <a:moveTo>
                  <a:pt x="137696" y="102111"/>
                </a:moveTo>
                <a:cubicBezTo>
                  <a:pt x="140821" y="97110"/>
                  <a:pt x="139303" y="90502"/>
                  <a:pt x="134302" y="87332"/>
                </a:cubicBezTo>
                <a:cubicBezTo>
                  <a:pt x="129302" y="84162"/>
                  <a:pt x="122694" y="85725"/>
                  <a:pt x="119524" y="90726"/>
                </a:cubicBezTo>
                <a:lnTo>
                  <a:pt x="92110" y="134615"/>
                </a:lnTo>
                <a:lnTo>
                  <a:pt x="80055" y="118542"/>
                </a:lnTo>
                <a:cubicBezTo>
                  <a:pt x="76483" y="113809"/>
                  <a:pt x="69786" y="112827"/>
                  <a:pt x="65053" y="116398"/>
                </a:cubicBezTo>
                <a:cubicBezTo>
                  <a:pt x="60320" y="119970"/>
                  <a:pt x="59338" y="126668"/>
                  <a:pt x="62910" y="131400"/>
                </a:cubicBezTo>
                <a:lnTo>
                  <a:pt x="84341" y="159975"/>
                </a:lnTo>
                <a:cubicBezTo>
                  <a:pt x="86439" y="162788"/>
                  <a:pt x="89833" y="164396"/>
                  <a:pt x="93360" y="164262"/>
                </a:cubicBezTo>
                <a:cubicBezTo>
                  <a:pt x="96887" y="164128"/>
                  <a:pt x="100102" y="162252"/>
                  <a:pt x="101977" y="159216"/>
                </a:cubicBezTo>
                <a:lnTo>
                  <a:pt x="137696" y="102066"/>
                </a:lnTo>
                <a:close/>
              </a:path>
            </a:pathLst>
          </a:custGeom>
          <a:solidFill>
            <a:srgbClr val="BCA37F"/>
          </a:solidFill>
          <a:ln/>
        </p:spPr>
      </p:sp>
      <p:sp>
        <p:nvSpPr>
          <p:cNvPr id="38" name="Text 36"/>
          <p:cNvSpPr/>
          <p:nvPr/>
        </p:nvSpPr>
        <p:spPr>
          <a:xfrm>
            <a:off x="457200" y="4343400"/>
            <a:ext cx="3581400" cy="228600"/>
          </a:xfrm>
          <a:prstGeom prst="rect">
            <a:avLst/>
          </a:prstGeom>
          <a:noFill/>
          <a:ln/>
        </p:spPr>
        <p:txBody>
          <a:bodyPr wrap="square" lIns="0" tIns="0" rIns="0" bIns="0" rtlCol="0" anchor="ctr"/>
          <a:lstStyle/>
          <a:p>
            <a:pPr algn="ctr">
              <a:lnSpc>
                <a:spcPct val="130000"/>
              </a:lnSpc>
            </a:pPr>
            <a:r>
              <a:rPr lang="en-US" sz="1200" b="1" dirty="0">
                <a:solidFill>
                  <a:srgbClr val="F8F6F2"/>
                </a:solidFill>
                <a:latin typeface="Unna" pitchFamily="34" charset="0"/>
                <a:ea typeface="Unna" pitchFamily="34" charset="-122"/>
                <a:cs typeface="Unna" pitchFamily="34" charset="-120"/>
              </a:rPr>
              <a:t>Distribution Timing</a:t>
            </a:r>
            <a:endParaRPr lang="en-US" sz="1600" dirty="0"/>
          </a:p>
        </p:txBody>
      </p:sp>
      <p:sp>
        <p:nvSpPr>
          <p:cNvPr id="39" name="Text 37"/>
          <p:cNvSpPr/>
          <p:nvPr/>
        </p:nvSpPr>
        <p:spPr>
          <a:xfrm>
            <a:off x="457200" y="4610100"/>
            <a:ext cx="3581400" cy="685800"/>
          </a:xfrm>
          <a:prstGeom prst="rect">
            <a:avLst/>
          </a:prstGeom>
          <a:noFill/>
          <a:ln/>
        </p:spPr>
        <p:txBody>
          <a:bodyPr wrap="square" lIns="0" tIns="0" rIns="0" bIns="0" rtlCol="0" anchor="ctr"/>
          <a:lstStyle/>
          <a:p>
            <a:pPr algn="ctr">
              <a:lnSpc>
                <a:spcPct val="130000"/>
              </a:lnSpc>
            </a:pPr>
            <a:r>
              <a:rPr lang="en-US" sz="1200" dirty="0">
                <a:solidFill>
                  <a:srgbClr val="F8F6F2"/>
                </a:solidFill>
                <a:latin typeface="Quattrocento Sans" pitchFamily="34" charset="0"/>
                <a:ea typeface="Quattrocento Sans" pitchFamily="34" charset="-122"/>
                <a:cs typeface="Quattrocento Sans" pitchFamily="34" charset="-120"/>
              </a:rPr>
              <a:t>Monthly distributions during harvest period as sales occur, with final settlement within 30 days of season end</a:t>
            </a:r>
            <a:endParaRPr lang="en-US" sz="1600" dirty="0"/>
          </a:p>
        </p:txBody>
      </p:sp>
      <p:sp>
        <p:nvSpPr>
          <p:cNvPr id="40" name="Shape 38"/>
          <p:cNvSpPr/>
          <p:nvPr/>
        </p:nvSpPr>
        <p:spPr>
          <a:xfrm>
            <a:off x="4229100" y="3924300"/>
            <a:ext cx="3733800" cy="1485900"/>
          </a:xfrm>
          <a:custGeom>
            <a:avLst/>
            <a:gdLst/>
            <a:ahLst/>
            <a:cxnLst/>
            <a:rect l="l" t="t" r="r" b="b"/>
            <a:pathLst>
              <a:path w="3733800" h="1485900">
                <a:moveTo>
                  <a:pt x="76197" y="0"/>
                </a:moveTo>
                <a:lnTo>
                  <a:pt x="3657603" y="0"/>
                </a:lnTo>
                <a:cubicBezTo>
                  <a:pt x="3699685" y="0"/>
                  <a:pt x="3733800" y="34115"/>
                  <a:pt x="3733800" y="76197"/>
                </a:cubicBezTo>
                <a:lnTo>
                  <a:pt x="3733800" y="1409703"/>
                </a:lnTo>
                <a:cubicBezTo>
                  <a:pt x="3733800" y="1451785"/>
                  <a:pt x="3699685" y="1485900"/>
                  <a:pt x="3657603" y="1485900"/>
                </a:cubicBezTo>
                <a:lnTo>
                  <a:pt x="76197" y="1485900"/>
                </a:lnTo>
                <a:cubicBezTo>
                  <a:pt x="34115" y="1485900"/>
                  <a:pt x="0" y="1451785"/>
                  <a:pt x="0" y="1409703"/>
                </a:cubicBezTo>
                <a:lnTo>
                  <a:pt x="0" y="76197"/>
                </a:lnTo>
                <a:cubicBezTo>
                  <a:pt x="0" y="34143"/>
                  <a:pt x="34143" y="0"/>
                  <a:pt x="76197" y="0"/>
                </a:cubicBezTo>
                <a:close/>
              </a:path>
            </a:pathLst>
          </a:custGeom>
          <a:solidFill>
            <a:srgbClr val="7A6250"/>
          </a:solidFill>
          <a:ln/>
        </p:spPr>
      </p:sp>
      <p:sp>
        <p:nvSpPr>
          <p:cNvPr id="41" name="Shape 39"/>
          <p:cNvSpPr/>
          <p:nvPr/>
        </p:nvSpPr>
        <p:spPr>
          <a:xfrm>
            <a:off x="5981700" y="4038600"/>
            <a:ext cx="228600" cy="228600"/>
          </a:xfrm>
          <a:custGeom>
            <a:avLst/>
            <a:gdLst/>
            <a:ahLst/>
            <a:cxnLst/>
            <a:rect l="l" t="t" r="r" b="b"/>
            <a:pathLst>
              <a:path w="228600" h="228600">
                <a:moveTo>
                  <a:pt x="14288" y="14288"/>
                </a:moveTo>
                <a:cubicBezTo>
                  <a:pt x="22190" y="14288"/>
                  <a:pt x="28575" y="20672"/>
                  <a:pt x="28575" y="28575"/>
                </a:cubicBezTo>
                <a:lnTo>
                  <a:pt x="28575" y="178594"/>
                </a:lnTo>
                <a:cubicBezTo>
                  <a:pt x="28575" y="182523"/>
                  <a:pt x="31790" y="185738"/>
                  <a:pt x="35719" y="185738"/>
                </a:cubicBezTo>
                <a:lnTo>
                  <a:pt x="214313" y="185738"/>
                </a:lnTo>
                <a:cubicBezTo>
                  <a:pt x="222215" y="185738"/>
                  <a:pt x="228600" y="192122"/>
                  <a:pt x="228600" y="200025"/>
                </a:cubicBezTo>
                <a:cubicBezTo>
                  <a:pt x="228600" y="207928"/>
                  <a:pt x="222215" y="214313"/>
                  <a:pt x="214313" y="214313"/>
                </a:cubicBezTo>
                <a:lnTo>
                  <a:pt x="35719" y="214313"/>
                </a:lnTo>
                <a:cubicBezTo>
                  <a:pt x="15984" y="214313"/>
                  <a:pt x="0" y="198328"/>
                  <a:pt x="0" y="178594"/>
                </a:cubicBezTo>
                <a:lnTo>
                  <a:pt x="0" y="28575"/>
                </a:lnTo>
                <a:cubicBezTo>
                  <a:pt x="0" y="20672"/>
                  <a:pt x="6385" y="14288"/>
                  <a:pt x="14288" y="14288"/>
                </a:cubicBezTo>
                <a:close/>
                <a:moveTo>
                  <a:pt x="57150" y="42863"/>
                </a:moveTo>
                <a:cubicBezTo>
                  <a:pt x="57150" y="34960"/>
                  <a:pt x="63535" y="28575"/>
                  <a:pt x="71438" y="28575"/>
                </a:cubicBezTo>
                <a:lnTo>
                  <a:pt x="157163" y="28575"/>
                </a:lnTo>
                <a:cubicBezTo>
                  <a:pt x="165065" y="28575"/>
                  <a:pt x="171450" y="34960"/>
                  <a:pt x="171450" y="42863"/>
                </a:cubicBezTo>
                <a:cubicBezTo>
                  <a:pt x="171450" y="50765"/>
                  <a:pt x="165065" y="57150"/>
                  <a:pt x="157163" y="57150"/>
                </a:cubicBezTo>
                <a:lnTo>
                  <a:pt x="71438" y="57150"/>
                </a:lnTo>
                <a:cubicBezTo>
                  <a:pt x="63535" y="57150"/>
                  <a:pt x="57150" y="50765"/>
                  <a:pt x="57150" y="42863"/>
                </a:cubicBezTo>
                <a:close/>
                <a:moveTo>
                  <a:pt x="71438" y="78581"/>
                </a:moveTo>
                <a:lnTo>
                  <a:pt x="128588" y="78581"/>
                </a:lnTo>
                <a:cubicBezTo>
                  <a:pt x="136490" y="78581"/>
                  <a:pt x="142875" y="84966"/>
                  <a:pt x="142875" y="92869"/>
                </a:cubicBezTo>
                <a:cubicBezTo>
                  <a:pt x="142875" y="100772"/>
                  <a:pt x="136490" y="107156"/>
                  <a:pt x="128588" y="107156"/>
                </a:cubicBezTo>
                <a:lnTo>
                  <a:pt x="71438" y="107156"/>
                </a:lnTo>
                <a:cubicBezTo>
                  <a:pt x="63535" y="107156"/>
                  <a:pt x="57150" y="100772"/>
                  <a:pt x="57150" y="92869"/>
                </a:cubicBezTo>
                <a:cubicBezTo>
                  <a:pt x="57150" y="84966"/>
                  <a:pt x="63535" y="78581"/>
                  <a:pt x="71438" y="78581"/>
                </a:cubicBezTo>
                <a:close/>
                <a:moveTo>
                  <a:pt x="71438" y="128588"/>
                </a:moveTo>
                <a:lnTo>
                  <a:pt x="185738" y="128588"/>
                </a:lnTo>
                <a:cubicBezTo>
                  <a:pt x="193640" y="128588"/>
                  <a:pt x="200025" y="134972"/>
                  <a:pt x="200025" y="142875"/>
                </a:cubicBezTo>
                <a:cubicBezTo>
                  <a:pt x="200025" y="150778"/>
                  <a:pt x="193640" y="157163"/>
                  <a:pt x="185738" y="157163"/>
                </a:cubicBezTo>
                <a:lnTo>
                  <a:pt x="71438" y="157163"/>
                </a:lnTo>
                <a:cubicBezTo>
                  <a:pt x="63535" y="157163"/>
                  <a:pt x="57150" y="150778"/>
                  <a:pt x="57150" y="142875"/>
                </a:cubicBezTo>
                <a:cubicBezTo>
                  <a:pt x="57150" y="134972"/>
                  <a:pt x="63535" y="128588"/>
                  <a:pt x="71438" y="128588"/>
                </a:cubicBezTo>
                <a:close/>
              </a:path>
            </a:pathLst>
          </a:custGeom>
          <a:solidFill>
            <a:srgbClr val="BCA37F"/>
          </a:solidFill>
          <a:ln/>
        </p:spPr>
      </p:sp>
      <p:sp>
        <p:nvSpPr>
          <p:cNvPr id="42" name="Text 40"/>
          <p:cNvSpPr/>
          <p:nvPr/>
        </p:nvSpPr>
        <p:spPr>
          <a:xfrm>
            <a:off x="4305300" y="4343400"/>
            <a:ext cx="3581400" cy="228600"/>
          </a:xfrm>
          <a:prstGeom prst="rect">
            <a:avLst/>
          </a:prstGeom>
          <a:noFill/>
          <a:ln/>
        </p:spPr>
        <p:txBody>
          <a:bodyPr wrap="square" lIns="0" tIns="0" rIns="0" bIns="0" rtlCol="0" anchor="ctr"/>
          <a:lstStyle/>
          <a:p>
            <a:pPr algn="ctr">
              <a:lnSpc>
                <a:spcPct val="130000"/>
              </a:lnSpc>
            </a:pPr>
            <a:r>
              <a:rPr lang="en-US" sz="1200" b="1" dirty="0">
                <a:solidFill>
                  <a:srgbClr val="F8F6F2"/>
                </a:solidFill>
                <a:latin typeface="Unna" pitchFamily="34" charset="0"/>
                <a:ea typeface="Unna" pitchFamily="34" charset="-122"/>
                <a:cs typeface="Unna" pitchFamily="34" charset="-120"/>
              </a:rPr>
              <a:t>Financial Reporting</a:t>
            </a:r>
            <a:endParaRPr lang="en-US" sz="1600" dirty="0"/>
          </a:p>
        </p:txBody>
      </p:sp>
      <p:sp>
        <p:nvSpPr>
          <p:cNvPr id="43" name="Text 41"/>
          <p:cNvSpPr/>
          <p:nvPr/>
        </p:nvSpPr>
        <p:spPr>
          <a:xfrm>
            <a:off x="4305300" y="4610100"/>
            <a:ext cx="3581400" cy="685800"/>
          </a:xfrm>
          <a:prstGeom prst="rect">
            <a:avLst/>
          </a:prstGeom>
          <a:noFill/>
          <a:ln/>
        </p:spPr>
        <p:txBody>
          <a:bodyPr wrap="square" lIns="0" tIns="0" rIns="0" bIns="0" rtlCol="0" anchor="ctr"/>
          <a:lstStyle/>
          <a:p>
            <a:pPr algn="ctr">
              <a:lnSpc>
                <a:spcPct val="130000"/>
              </a:lnSpc>
            </a:pPr>
            <a:r>
              <a:rPr lang="en-US" sz="1200" dirty="0">
                <a:solidFill>
                  <a:srgbClr val="F8F6F2"/>
                </a:solidFill>
                <a:latin typeface="Quattrocento Sans" pitchFamily="34" charset="0"/>
                <a:ea typeface="Quattrocento Sans" pitchFamily="34" charset="-122"/>
                <a:cs typeface="Quattrocento Sans" pitchFamily="34" charset="-120"/>
              </a:rPr>
              <a:t>Monthly expense reports, quarterly financial statements, comprehensive annual report with audited figures</a:t>
            </a:r>
            <a:endParaRPr lang="en-US" sz="1600" dirty="0"/>
          </a:p>
        </p:txBody>
      </p:sp>
      <p:sp>
        <p:nvSpPr>
          <p:cNvPr id="44" name="Shape 42"/>
          <p:cNvSpPr/>
          <p:nvPr/>
        </p:nvSpPr>
        <p:spPr>
          <a:xfrm>
            <a:off x="8077200" y="3924300"/>
            <a:ext cx="3733800" cy="1485900"/>
          </a:xfrm>
          <a:custGeom>
            <a:avLst/>
            <a:gdLst/>
            <a:ahLst/>
            <a:cxnLst/>
            <a:rect l="l" t="t" r="r" b="b"/>
            <a:pathLst>
              <a:path w="3733800" h="1485900">
                <a:moveTo>
                  <a:pt x="76197" y="0"/>
                </a:moveTo>
                <a:lnTo>
                  <a:pt x="3657603" y="0"/>
                </a:lnTo>
                <a:cubicBezTo>
                  <a:pt x="3699685" y="0"/>
                  <a:pt x="3733800" y="34115"/>
                  <a:pt x="3733800" y="76197"/>
                </a:cubicBezTo>
                <a:lnTo>
                  <a:pt x="3733800" y="1409703"/>
                </a:lnTo>
                <a:cubicBezTo>
                  <a:pt x="3733800" y="1451785"/>
                  <a:pt x="3699685" y="1485900"/>
                  <a:pt x="3657603" y="1485900"/>
                </a:cubicBezTo>
                <a:lnTo>
                  <a:pt x="76197" y="1485900"/>
                </a:lnTo>
                <a:cubicBezTo>
                  <a:pt x="34115" y="1485900"/>
                  <a:pt x="0" y="1451785"/>
                  <a:pt x="0" y="1409703"/>
                </a:cubicBezTo>
                <a:lnTo>
                  <a:pt x="0" y="76197"/>
                </a:lnTo>
                <a:cubicBezTo>
                  <a:pt x="0" y="34143"/>
                  <a:pt x="34143" y="0"/>
                  <a:pt x="76197" y="0"/>
                </a:cubicBezTo>
                <a:close/>
              </a:path>
            </a:pathLst>
          </a:custGeom>
          <a:solidFill>
            <a:srgbClr val="3A4D39"/>
          </a:solidFill>
          <a:ln/>
        </p:spPr>
      </p:sp>
      <p:sp>
        <p:nvSpPr>
          <p:cNvPr id="45" name="Shape 43"/>
          <p:cNvSpPr/>
          <p:nvPr/>
        </p:nvSpPr>
        <p:spPr>
          <a:xfrm>
            <a:off x="9829800" y="4038600"/>
            <a:ext cx="228600" cy="228600"/>
          </a:xfrm>
          <a:custGeom>
            <a:avLst/>
            <a:gdLst/>
            <a:ahLst/>
            <a:cxnLst/>
            <a:rect l="l" t="t" r="r" b="b"/>
            <a:pathLst>
              <a:path w="228600" h="228600">
                <a:moveTo>
                  <a:pt x="121399" y="9019"/>
                </a:moveTo>
                <a:cubicBezTo>
                  <a:pt x="117024" y="6519"/>
                  <a:pt x="111621" y="6519"/>
                  <a:pt x="107201" y="9019"/>
                </a:cubicBezTo>
                <a:lnTo>
                  <a:pt x="7188" y="66169"/>
                </a:lnTo>
                <a:cubicBezTo>
                  <a:pt x="1563" y="69384"/>
                  <a:pt x="-1206" y="75992"/>
                  <a:pt x="446" y="82242"/>
                </a:cubicBezTo>
                <a:cubicBezTo>
                  <a:pt x="2098" y="88493"/>
                  <a:pt x="7813" y="92869"/>
                  <a:pt x="14288" y="92869"/>
                </a:cubicBezTo>
                <a:lnTo>
                  <a:pt x="28575" y="92869"/>
                </a:lnTo>
                <a:lnTo>
                  <a:pt x="28575" y="185738"/>
                </a:lnTo>
                <a:lnTo>
                  <a:pt x="28575" y="185738"/>
                </a:lnTo>
                <a:lnTo>
                  <a:pt x="5715" y="202883"/>
                </a:lnTo>
                <a:cubicBezTo>
                  <a:pt x="2098" y="205561"/>
                  <a:pt x="0" y="209803"/>
                  <a:pt x="0" y="214313"/>
                </a:cubicBezTo>
                <a:cubicBezTo>
                  <a:pt x="0" y="222215"/>
                  <a:pt x="6385" y="228600"/>
                  <a:pt x="14288" y="228600"/>
                </a:cubicBezTo>
                <a:lnTo>
                  <a:pt x="214313" y="228600"/>
                </a:lnTo>
                <a:cubicBezTo>
                  <a:pt x="222215" y="228600"/>
                  <a:pt x="228600" y="222215"/>
                  <a:pt x="228600" y="214313"/>
                </a:cubicBezTo>
                <a:cubicBezTo>
                  <a:pt x="228600" y="209803"/>
                  <a:pt x="226502" y="205561"/>
                  <a:pt x="222885" y="202883"/>
                </a:cubicBezTo>
                <a:lnTo>
                  <a:pt x="200025" y="185738"/>
                </a:lnTo>
                <a:lnTo>
                  <a:pt x="200025" y="92869"/>
                </a:lnTo>
                <a:lnTo>
                  <a:pt x="214313" y="92869"/>
                </a:lnTo>
                <a:cubicBezTo>
                  <a:pt x="220787" y="92869"/>
                  <a:pt x="226457" y="88493"/>
                  <a:pt x="228109" y="82242"/>
                </a:cubicBezTo>
                <a:cubicBezTo>
                  <a:pt x="229761" y="75992"/>
                  <a:pt x="226993" y="69384"/>
                  <a:pt x="221367" y="66169"/>
                </a:cubicBezTo>
                <a:lnTo>
                  <a:pt x="121354" y="9019"/>
                </a:lnTo>
                <a:close/>
                <a:moveTo>
                  <a:pt x="178594" y="92869"/>
                </a:moveTo>
                <a:lnTo>
                  <a:pt x="178594" y="185738"/>
                </a:lnTo>
                <a:lnTo>
                  <a:pt x="150019" y="185738"/>
                </a:lnTo>
                <a:lnTo>
                  <a:pt x="150019" y="92869"/>
                </a:lnTo>
                <a:lnTo>
                  <a:pt x="178594" y="92869"/>
                </a:lnTo>
                <a:close/>
                <a:moveTo>
                  <a:pt x="128588" y="92869"/>
                </a:moveTo>
                <a:lnTo>
                  <a:pt x="128588" y="185738"/>
                </a:lnTo>
                <a:lnTo>
                  <a:pt x="100013" y="185738"/>
                </a:lnTo>
                <a:lnTo>
                  <a:pt x="100013" y="92869"/>
                </a:lnTo>
                <a:lnTo>
                  <a:pt x="128588" y="92869"/>
                </a:lnTo>
                <a:close/>
                <a:moveTo>
                  <a:pt x="78581" y="92869"/>
                </a:moveTo>
                <a:lnTo>
                  <a:pt x="78581" y="185738"/>
                </a:lnTo>
                <a:lnTo>
                  <a:pt x="50006" y="185738"/>
                </a:lnTo>
                <a:lnTo>
                  <a:pt x="50006" y="92869"/>
                </a:lnTo>
                <a:lnTo>
                  <a:pt x="78581" y="92869"/>
                </a:lnTo>
                <a:close/>
                <a:moveTo>
                  <a:pt x="114300" y="42863"/>
                </a:moveTo>
                <a:cubicBezTo>
                  <a:pt x="122185" y="42863"/>
                  <a:pt x="128588" y="49265"/>
                  <a:pt x="128588" y="57150"/>
                </a:cubicBezTo>
                <a:cubicBezTo>
                  <a:pt x="128588" y="65035"/>
                  <a:pt x="122185" y="71438"/>
                  <a:pt x="114300" y="71438"/>
                </a:cubicBezTo>
                <a:cubicBezTo>
                  <a:pt x="106415" y="71438"/>
                  <a:pt x="100013" y="65035"/>
                  <a:pt x="100013" y="57150"/>
                </a:cubicBezTo>
                <a:cubicBezTo>
                  <a:pt x="100013" y="49265"/>
                  <a:pt x="106415" y="42863"/>
                  <a:pt x="114300" y="42863"/>
                </a:cubicBezTo>
                <a:close/>
              </a:path>
            </a:pathLst>
          </a:custGeom>
          <a:solidFill>
            <a:srgbClr val="BCA37F"/>
          </a:solidFill>
          <a:ln/>
        </p:spPr>
      </p:sp>
      <p:sp>
        <p:nvSpPr>
          <p:cNvPr id="46" name="Text 44"/>
          <p:cNvSpPr/>
          <p:nvPr/>
        </p:nvSpPr>
        <p:spPr>
          <a:xfrm>
            <a:off x="8153400" y="4343400"/>
            <a:ext cx="3581400" cy="228600"/>
          </a:xfrm>
          <a:prstGeom prst="rect">
            <a:avLst/>
          </a:prstGeom>
          <a:noFill/>
          <a:ln/>
        </p:spPr>
        <p:txBody>
          <a:bodyPr wrap="square" lIns="0" tIns="0" rIns="0" bIns="0" rtlCol="0" anchor="ctr"/>
          <a:lstStyle/>
          <a:p>
            <a:pPr algn="ctr">
              <a:lnSpc>
                <a:spcPct val="130000"/>
              </a:lnSpc>
            </a:pPr>
            <a:r>
              <a:rPr lang="en-US" sz="1200" b="1" dirty="0">
                <a:solidFill>
                  <a:srgbClr val="F8F6F2"/>
                </a:solidFill>
                <a:latin typeface="Unna" pitchFamily="34" charset="0"/>
                <a:ea typeface="Unna" pitchFamily="34" charset="-122"/>
                <a:cs typeface="Unna" pitchFamily="34" charset="-120"/>
              </a:rPr>
              <a:t>Banking &amp; Audit</a:t>
            </a:r>
            <a:endParaRPr lang="en-US" sz="1600" dirty="0"/>
          </a:p>
        </p:txBody>
      </p:sp>
      <p:sp>
        <p:nvSpPr>
          <p:cNvPr id="47" name="Text 45"/>
          <p:cNvSpPr/>
          <p:nvPr/>
        </p:nvSpPr>
        <p:spPr>
          <a:xfrm>
            <a:off x="8153400" y="4610100"/>
            <a:ext cx="3581400" cy="685800"/>
          </a:xfrm>
          <a:prstGeom prst="rect">
            <a:avLst/>
          </a:prstGeom>
          <a:noFill/>
          <a:ln/>
        </p:spPr>
        <p:txBody>
          <a:bodyPr wrap="square" lIns="0" tIns="0" rIns="0" bIns="0" rtlCol="0" anchor="ctr"/>
          <a:lstStyle/>
          <a:p>
            <a:pPr algn="ctr">
              <a:lnSpc>
                <a:spcPct val="130000"/>
              </a:lnSpc>
            </a:pPr>
            <a:r>
              <a:rPr lang="en-US" sz="1200" dirty="0">
                <a:solidFill>
                  <a:srgbClr val="F8F6F2"/>
                </a:solidFill>
                <a:latin typeface="Quattrocento Sans" pitchFamily="34" charset="0"/>
                <a:ea typeface="Quattrocento Sans" pitchFamily="34" charset="-122"/>
                <a:cs typeface="Quattrocento Sans" pitchFamily="34" charset="-120"/>
              </a:rPr>
              <a:t>Dedicated partnership account requiring dual signatures; partners have right to annual independent audit</a:t>
            </a:r>
            <a:endParaRPr lang="en-US" sz="1600" dirty="0"/>
          </a:p>
        </p:txBody>
      </p:sp>
      <p:sp>
        <p:nvSpPr>
          <p:cNvPr id="48" name="Shape 46"/>
          <p:cNvSpPr/>
          <p:nvPr/>
        </p:nvSpPr>
        <p:spPr>
          <a:xfrm>
            <a:off x="385763" y="5529263"/>
            <a:ext cx="11420475" cy="1228725"/>
          </a:xfrm>
          <a:custGeom>
            <a:avLst/>
            <a:gdLst/>
            <a:ahLst/>
            <a:cxnLst/>
            <a:rect l="l" t="t" r="r" b="b"/>
            <a:pathLst>
              <a:path w="11420475" h="1228725">
                <a:moveTo>
                  <a:pt x="76206" y="0"/>
                </a:moveTo>
                <a:lnTo>
                  <a:pt x="11344269" y="0"/>
                </a:lnTo>
                <a:cubicBezTo>
                  <a:pt x="11386357" y="0"/>
                  <a:pt x="11420475" y="34118"/>
                  <a:pt x="11420475" y="76206"/>
                </a:cubicBezTo>
                <a:lnTo>
                  <a:pt x="11420475" y="1152519"/>
                </a:lnTo>
                <a:cubicBezTo>
                  <a:pt x="11420475" y="1194607"/>
                  <a:pt x="11386357" y="1228725"/>
                  <a:pt x="11344269" y="1228725"/>
                </a:cubicBezTo>
                <a:lnTo>
                  <a:pt x="76206" y="1228725"/>
                </a:lnTo>
                <a:cubicBezTo>
                  <a:pt x="34118" y="1228725"/>
                  <a:pt x="0" y="1194607"/>
                  <a:pt x="0" y="1152519"/>
                </a:cubicBezTo>
                <a:lnTo>
                  <a:pt x="0" y="76206"/>
                </a:lnTo>
                <a:cubicBezTo>
                  <a:pt x="0" y="34147"/>
                  <a:pt x="34147" y="0"/>
                  <a:pt x="76206" y="0"/>
                </a:cubicBezTo>
                <a:close/>
              </a:path>
            </a:pathLst>
          </a:custGeom>
          <a:solidFill>
            <a:srgbClr val="BCA37F"/>
          </a:solidFill>
          <a:ln w="12700">
            <a:solidFill>
              <a:srgbClr val="BCA37F"/>
            </a:solidFill>
            <a:prstDash val="solid"/>
          </a:ln>
        </p:spPr>
      </p:sp>
      <p:sp>
        <p:nvSpPr>
          <p:cNvPr id="49" name="Shape 47"/>
          <p:cNvSpPr/>
          <p:nvPr/>
        </p:nvSpPr>
        <p:spPr>
          <a:xfrm>
            <a:off x="485775" y="5686425"/>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83344" y="59531"/>
                </a:moveTo>
                <a:cubicBezTo>
                  <a:pt x="83344" y="52960"/>
                  <a:pt x="88679" y="47625"/>
                  <a:pt x="95250" y="47625"/>
                </a:cubicBezTo>
                <a:cubicBezTo>
                  <a:pt x="101821" y="47625"/>
                  <a:pt x="107156" y="52960"/>
                  <a:pt x="107156" y="59531"/>
                </a:cubicBezTo>
                <a:cubicBezTo>
                  <a:pt x="107156" y="66102"/>
                  <a:pt x="101821" y="71438"/>
                  <a:pt x="95250" y="71438"/>
                </a:cubicBezTo>
                <a:cubicBezTo>
                  <a:pt x="88679" y="71438"/>
                  <a:pt x="83344" y="66102"/>
                  <a:pt x="83344" y="59531"/>
                </a:cubicBezTo>
                <a:close/>
                <a:moveTo>
                  <a:pt x="80367" y="83344"/>
                </a:moveTo>
                <a:lnTo>
                  <a:pt x="98227" y="83344"/>
                </a:lnTo>
                <a:cubicBezTo>
                  <a:pt x="103175" y="83344"/>
                  <a:pt x="107156" y="87325"/>
                  <a:pt x="107156" y="92273"/>
                </a:cubicBezTo>
                <a:lnTo>
                  <a:pt x="107156" y="125016"/>
                </a:lnTo>
                <a:lnTo>
                  <a:pt x="110133" y="125016"/>
                </a:lnTo>
                <a:cubicBezTo>
                  <a:pt x="115081" y="125016"/>
                  <a:pt x="119063" y="128997"/>
                  <a:pt x="119063" y="133945"/>
                </a:cubicBezTo>
                <a:cubicBezTo>
                  <a:pt x="119063" y="138894"/>
                  <a:pt x="115081" y="142875"/>
                  <a:pt x="110133" y="142875"/>
                </a:cubicBezTo>
                <a:lnTo>
                  <a:pt x="80367" y="142875"/>
                </a:lnTo>
                <a:cubicBezTo>
                  <a:pt x="75419" y="142875"/>
                  <a:pt x="71438" y="138894"/>
                  <a:pt x="71438" y="133945"/>
                </a:cubicBezTo>
                <a:cubicBezTo>
                  <a:pt x="71438" y="128997"/>
                  <a:pt x="75419" y="125016"/>
                  <a:pt x="80367" y="125016"/>
                </a:cubicBezTo>
                <a:lnTo>
                  <a:pt x="89297" y="125016"/>
                </a:lnTo>
                <a:lnTo>
                  <a:pt x="89297" y="101203"/>
                </a:lnTo>
                <a:lnTo>
                  <a:pt x="80367" y="101203"/>
                </a:lnTo>
                <a:cubicBezTo>
                  <a:pt x="75419" y="101203"/>
                  <a:pt x="71438" y="97222"/>
                  <a:pt x="71438" y="92273"/>
                </a:cubicBezTo>
                <a:cubicBezTo>
                  <a:pt x="71438" y="87325"/>
                  <a:pt x="75419" y="83344"/>
                  <a:pt x="80367" y="83344"/>
                </a:cubicBezTo>
                <a:close/>
              </a:path>
            </a:pathLst>
          </a:custGeom>
          <a:solidFill>
            <a:srgbClr val="7A6250"/>
          </a:solidFill>
          <a:ln/>
        </p:spPr>
      </p:sp>
      <p:sp>
        <p:nvSpPr>
          <p:cNvPr id="50" name="Text 48"/>
          <p:cNvSpPr/>
          <p:nvPr/>
        </p:nvSpPr>
        <p:spPr>
          <a:xfrm>
            <a:off x="767358" y="5648325"/>
            <a:ext cx="11001375" cy="266700"/>
          </a:xfrm>
          <a:prstGeom prst="rect">
            <a:avLst/>
          </a:prstGeom>
          <a:noFill/>
          <a:ln/>
        </p:spPr>
        <p:txBody>
          <a:bodyPr wrap="square" lIns="0" tIns="0" rIns="0" bIns="0" rtlCol="0" anchor="ctr"/>
          <a:lstStyle/>
          <a:p>
            <a:pPr>
              <a:lnSpc>
                <a:spcPct val="130000"/>
              </a:lnSpc>
            </a:pPr>
            <a:r>
              <a:rPr lang="en-US" sz="1350" b="1" dirty="0">
                <a:solidFill>
                  <a:srgbClr val="3A4D39"/>
                </a:solidFill>
                <a:latin typeface="Unna" pitchFamily="34" charset="0"/>
                <a:ea typeface="Unna" pitchFamily="34" charset="-122"/>
                <a:cs typeface="Unna" pitchFamily="34" charset="-120"/>
              </a:rPr>
              <a:t>Market Price Fluctuations &amp; Unsold Inventory</a:t>
            </a:r>
            <a:endParaRPr lang="en-US" sz="1600" dirty="0"/>
          </a:p>
        </p:txBody>
      </p:sp>
      <p:sp>
        <p:nvSpPr>
          <p:cNvPr id="51" name="Text 49"/>
          <p:cNvSpPr/>
          <p:nvPr/>
        </p:nvSpPr>
        <p:spPr>
          <a:xfrm>
            <a:off x="767358" y="5953125"/>
            <a:ext cx="10991850" cy="685800"/>
          </a:xfrm>
          <a:prstGeom prst="rect">
            <a:avLst/>
          </a:prstGeom>
          <a:noFill/>
          <a:ln/>
        </p:spPr>
        <p:txBody>
          <a:bodyPr wrap="square" lIns="0" tIns="0" rIns="0" bIns="0" rtlCol="0" anchor="ctr"/>
          <a:lstStyle/>
          <a:p>
            <a:pPr>
              <a:lnSpc>
                <a:spcPct val="130000"/>
              </a:lnSpc>
            </a:pPr>
            <a:r>
              <a:rPr lang="en-US" sz="1200" dirty="0">
                <a:solidFill>
                  <a:srgbClr val="2C2C2C"/>
                </a:solidFill>
                <a:latin typeface="Quattrocento Sans" pitchFamily="34" charset="0"/>
                <a:ea typeface="Quattrocento Sans" pitchFamily="34" charset="-122"/>
                <a:cs typeface="Quattrocento Sans" pitchFamily="34" charset="-120"/>
              </a:rPr>
              <a:t>Partners acknowledge that agricultural commodity prices fluctuate based on market conditions. Any unsold inventory at season end will be valued at fair market price and included in final distribution calculations. Wilshire Farms will use commercially reasonable efforts to maximize sale prices through strategic timing and buyer negotiations.</a:t>
            </a:r>
            <a:endParaRPr lang="en-US" sz="1600" dirty="0"/>
          </a:p>
        </p:txBody>
      </p:sp>
    </p:spTree>
  </p:cSld>
  <p:clrMapOvr>
    <a:masterClrMapping/>
  </p:clrMapOvr>
  <p:transition>
    <p:fade/>
    <p:spd val="med"/>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6F2"/>
        </a:solidFill>
      </p:bgPr>
    </p:bg>
    <p:spTree>
      <p:nvGrpSpPr>
        <p:cNvPr id="1" name=""/>
        <p:cNvGrpSpPr/>
        <p:nvPr/>
      </p:nvGrpSpPr>
      <p:grpSpPr>
        <a:xfrm>
          <a:off x="0" y="0"/>
          <a:ext cx="0" cy="0"/>
          <a:chOff x="0" y="0"/>
          <a:chExt cx="0" cy="0"/>
        </a:xfrm>
      </p:grpSpPr>
      <p:sp>
        <p:nvSpPr>
          <p:cNvPr id="2" name="Shape 0"/>
          <p:cNvSpPr/>
          <p:nvPr/>
        </p:nvSpPr>
        <p:spPr>
          <a:xfrm>
            <a:off x="381000" y="381000"/>
            <a:ext cx="381000" cy="381000"/>
          </a:xfrm>
          <a:custGeom>
            <a:avLst/>
            <a:gdLst/>
            <a:ahLst/>
            <a:cxnLst/>
            <a:rect l="l" t="t" r="r" b="b"/>
            <a:pathLst>
              <a:path w="381000" h="381000">
                <a:moveTo>
                  <a:pt x="38100" y="0"/>
                </a:moveTo>
                <a:lnTo>
                  <a:pt x="342900" y="0"/>
                </a:lnTo>
                <a:cubicBezTo>
                  <a:pt x="363928" y="0"/>
                  <a:pt x="381000" y="17072"/>
                  <a:pt x="381000" y="38100"/>
                </a:cubicBezTo>
                <a:lnTo>
                  <a:pt x="381000" y="342900"/>
                </a:lnTo>
                <a:cubicBezTo>
                  <a:pt x="381000" y="363928"/>
                  <a:pt x="363928" y="381000"/>
                  <a:pt x="342900" y="381000"/>
                </a:cubicBezTo>
                <a:lnTo>
                  <a:pt x="38100" y="381000"/>
                </a:lnTo>
                <a:cubicBezTo>
                  <a:pt x="17072" y="381000"/>
                  <a:pt x="0" y="363928"/>
                  <a:pt x="0" y="342900"/>
                </a:cubicBezTo>
                <a:lnTo>
                  <a:pt x="0" y="38100"/>
                </a:lnTo>
                <a:cubicBezTo>
                  <a:pt x="0" y="17072"/>
                  <a:pt x="17072" y="0"/>
                  <a:pt x="38100" y="0"/>
                </a:cubicBezTo>
                <a:close/>
              </a:path>
            </a:pathLst>
          </a:custGeom>
          <a:solidFill>
            <a:srgbClr val="3A4D39"/>
          </a:solidFill>
          <a:ln/>
        </p:spPr>
      </p:sp>
      <p:sp>
        <p:nvSpPr>
          <p:cNvPr id="3" name="Text 1"/>
          <p:cNvSpPr/>
          <p:nvPr/>
        </p:nvSpPr>
        <p:spPr>
          <a:xfrm>
            <a:off x="526554" y="438150"/>
            <a:ext cx="180975" cy="266700"/>
          </a:xfrm>
          <a:prstGeom prst="rect">
            <a:avLst/>
          </a:prstGeom>
          <a:noFill/>
          <a:ln/>
        </p:spPr>
        <p:txBody>
          <a:bodyPr wrap="square" lIns="0" tIns="0" rIns="0" bIns="0" rtlCol="0" anchor="ctr"/>
          <a:lstStyle/>
          <a:p>
            <a:pPr>
              <a:lnSpc>
                <a:spcPct val="120000"/>
              </a:lnSpc>
            </a:pPr>
            <a:r>
              <a:rPr lang="en-US" sz="1500" b="1" dirty="0">
                <a:solidFill>
                  <a:srgbClr val="F8F6F2"/>
                </a:solidFill>
                <a:latin typeface="Oranienbaum" pitchFamily="34" charset="0"/>
                <a:ea typeface="Oranienbaum" pitchFamily="34" charset="-122"/>
                <a:cs typeface="Oranienbaum" pitchFamily="34" charset="-120"/>
              </a:rPr>
              <a:t>7</a:t>
            </a:r>
            <a:endParaRPr lang="en-US" sz="1600" dirty="0"/>
          </a:p>
        </p:txBody>
      </p:sp>
      <p:sp>
        <p:nvSpPr>
          <p:cNvPr id="4" name="Text 2"/>
          <p:cNvSpPr/>
          <p:nvPr/>
        </p:nvSpPr>
        <p:spPr>
          <a:xfrm>
            <a:off x="876300" y="381000"/>
            <a:ext cx="6600825" cy="381000"/>
          </a:xfrm>
          <a:prstGeom prst="rect">
            <a:avLst/>
          </a:prstGeom>
          <a:noFill/>
          <a:ln/>
        </p:spPr>
        <p:txBody>
          <a:bodyPr wrap="square" lIns="0" tIns="0" rIns="0" bIns="0" rtlCol="0" anchor="ctr"/>
          <a:lstStyle/>
          <a:p>
            <a:pPr>
              <a:lnSpc>
                <a:spcPct val="90000"/>
              </a:lnSpc>
            </a:pPr>
            <a:r>
              <a:rPr lang="en-US" sz="2700" b="1" dirty="0">
                <a:solidFill>
                  <a:srgbClr val="3A4D39"/>
                </a:solidFill>
                <a:latin typeface="Oranienbaum" pitchFamily="34" charset="0"/>
                <a:ea typeface="Oranienbaum" pitchFamily="34" charset="-122"/>
                <a:cs typeface="Oranienbaum" pitchFamily="34" charset="-120"/>
              </a:rPr>
              <a:t>Operational Procedures and Responsibilities</a:t>
            </a:r>
            <a:endParaRPr lang="en-US" sz="1600" dirty="0"/>
          </a:p>
        </p:txBody>
      </p:sp>
      <p:sp>
        <p:nvSpPr>
          <p:cNvPr id="5" name="Shape 3"/>
          <p:cNvSpPr/>
          <p:nvPr/>
        </p:nvSpPr>
        <p:spPr>
          <a:xfrm>
            <a:off x="381000" y="83820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BCA37F"/>
          </a:solidFill>
          <a:ln/>
        </p:spPr>
      </p:sp>
      <p:sp>
        <p:nvSpPr>
          <p:cNvPr id="6" name="Shape 4"/>
          <p:cNvSpPr/>
          <p:nvPr/>
        </p:nvSpPr>
        <p:spPr>
          <a:xfrm>
            <a:off x="400050" y="1028700"/>
            <a:ext cx="11410950" cy="2019300"/>
          </a:xfrm>
          <a:custGeom>
            <a:avLst/>
            <a:gdLst/>
            <a:ahLst/>
            <a:cxnLst/>
            <a:rect l="l" t="t" r="r" b="b"/>
            <a:pathLst>
              <a:path w="11410950" h="2019300">
                <a:moveTo>
                  <a:pt x="38100" y="0"/>
                </a:moveTo>
                <a:lnTo>
                  <a:pt x="11334742" y="0"/>
                </a:lnTo>
                <a:cubicBezTo>
                  <a:pt x="11376830" y="0"/>
                  <a:pt x="11410950" y="34120"/>
                  <a:pt x="11410950" y="76208"/>
                </a:cubicBezTo>
                <a:lnTo>
                  <a:pt x="11410950" y="1943092"/>
                </a:lnTo>
                <a:cubicBezTo>
                  <a:pt x="11410950" y="1985180"/>
                  <a:pt x="11376830" y="2019300"/>
                  <a:pt x="11334742" y="2019300"/>
                </a:cubicBezTo>
                <a:lnTo>
                  <a:pt x="38100" y="2019300"/>
                </a:lnTo>
                <a:cubicBezTo>
                  <a:pt x="17072" y="2019300"/>
                  <a:pt x="0" y="2002228"/>
                  <a:pt x="0" y="1981200"/>
                </a:cubicBezTo>
                <a:lnTo>
                  <a:pt x="0" y="38100"/>
                </a:lnTo>
                <a:cubicBezTo>
                  <a:pt x="0" y="17072"/>
                  <a:pt x="17072" y="0"/>
                  <a:pt x="38100" y="0"/>
                </a:cubicBezTo>
                <a:close/>
              </a:path>
            </a:pathLst>
          </a:custGeom>
          <a:solidFill>
            <a:srgbClr val="FFFFFF"/>
          </a:solidFill>
          <a:ln/>
          <a:effectLst>
            <a:outerShdw sx="100000" sy="100000" kx="0" ky="0" algn="bl" rotWithShape="0" blurRad="28575" dist="9525" dir="5400000">
              <a:srgbClr val="000000">
                <a:alpha val="10196"/>
              </a:srgbClr>
            </a:outerShdw>
          </a:effectLst>
        </p:spPr>
      </p:sp>
      <p:sp>
        <p:nvSpPr>
          <p:cNvPr id="7" name="Shape 5"/>
          <p:cNvSpPr/>
          <p:nvPr/>
        </p:nvSpPr>
        <p:spPr>
          <a:xfrm>
            <a:off x="400050" y="1028700"/>
            <a:ext cx="38100" cy="2019300"/>
          </a:xfrm>
          <a:custGeom>
            <a:avLst/>
            <a:gdLst/>
            <a:ahLst/>
            <a:cxnLst/>
            <a:rect l="l" t="t" r="r" b="b"/>
            <a:pathLst>
              <a:path w="38100" h="2019300">
                <a:moveTo>
                  <a:pt x="38100" y="0"/>
                </a:moveTo>
                <a:lnTo>
                  <a:pt x="38100" y="0"/>
                </a:lnTo>
                <a:lnTo>
                  <a:pt x="38100" y="2019300"/>
                </a:lnTo>
                <a:lnTo>
                  <a:pt x="38100" y="2019300"/>
                </a:lnTo>
                <a:cubicBezTo>
                  <a:pt x="17072" y="2019300"/>
                  <a:pt x="0" y="2002228"/>
                  <a:pt x="0" y="1981200"/>
                </a:cubicBezTo>
                <a:lnTo>
                  <a:pt x="0" y="38100"/>
                </a:lnTo>
                <a:cubicBezTo>
                  <a:pt x="0" y="17072"/>
                  <a:pt x="17072" y="0"/>
                  <a:pt x="38100" y="0"/>
                </a:cubicBezTo>
                <a:close/>
              </a:path>
            </a:pathLst>
          </a:custGeom>
          <a:solidFill>
            <a:srgbClr val="3A4D39"/>
          </a:solidFill>
          <a:ln/>
        </p:spPr>
      </p:sp>
      <p:sp>
        <p:nvSpPr>
          <p:cNvPr id="8" name="Shape 6"/>
          <p:cNvSpPr/>
          <p:nvPr/>
        </p:nvSpPr>
        <p:spPr>
          <a:xfrm>
            <a:off x="607219" y="1219200"/>
            <a:ext cx="166688" cy="190500"/>
          </a:xfrm>
          <a:custGeom>
            <a:avLst/>
            <a:gdLst/>
            <a:ahLst/>
            <a:cxnLst/>
            <a:rect l="l" t="t" r="r" b="b"/>
            <a:pathLst>
              <a:path w="166688" h="190500">
                <a:moveTo>
                  <a:pt x="83344" y="92273"/>
                </a:moveTo>
                <a:cubicBezTo>
                  <a:pt x="58702" y="92273"/>
                  <a:pt x="38695" y="72267"/>
                  <a:pt x="38695" y="47625"/>
                </a:cubicBezTo>
                <a:cubicBezTo>
                  <a:pt x="38695" y="22983"/>
                  <a:pt x="58702" y="2977"/>
                  <a:pt x="83344" y="2977"/>
                </a:cubicBezTo>
                <a:cubicBezTo>
                  <a:pt x="107986" y="2977"/>
                  <a:pt x="127992" y="22983"/>
                  <a:pt x="127992" y="47625"/>
                </a:cubicBezTo>
                <a:cubicBezTo>
                  <a:pt x="127992" y="72267"/>
                  <a:pt x="107986" y="92273"/>
                  <a:pt x="83344" y="92273"/>
                </a:cubicBezTo>
                <a:close/>
                <a:moveTo>
                  <a:pt x="71996" y="113109"/>
                </a:moveTo>
                <a:lnTo>
                  <a:pt x="94692" y="113109"/>
                </a:lnTo>
                <a:cubicBezTo>
                  <a:pt x="98301" y="113109"/>
                  <a:pt x="101203" y="116012"/>
                  <a:pt x="101203" y="119621"/>
                </a:cubicBezTo>
                <a:cubicBezTo>
                  <a:pt x="101203" y="121183"/>
                  <a:pt x="100645" y="122672"/>
                  <a:pt x="99640" y="123862"/>
                </a:cubicBezTo>
                <a:lnTo>
                  <a:pt x="89446" y="135768"/>
                </a:lnTo>
                <a:lnTo>
                  <a:pt x="100980" y="178594"/>
                </a:lnTo>
                <a:lnTo>
                  <a:pt x="101203" y="178594"/>
                </a:lnTo>
                <a:lnTo>
                  <a:pt x="114077" y="127062"/>
                </a:lnTo>
                <a:cubicBezTo>
                  <a:pt x="114895" y="123825"/>
                  <a:pt x="118207" y="121853"/>
                  <a:pt x="121332" y="123044"/>
                </a:cubicBezTo>
                <a:cubicBezTo>
                  <a:pt x="144363" y="131825"/>
                  <a:pt x="160734" y="154149"/>
                  <a:pt x="160734" y="180268"/>
                </a:cubicBezTo>
                <a:cubicBezTo>
                  <a:pt x="160734" y="185886"/>
                  <a:pt x="156158" y="190463"/>
                  <a:pt x="150540" y="190463"/>
                </a:cubicBezTo>
                <a:lnTo>
                  <a:pt x="16148" y="190500"/>
                </a:lnTo>
                <a:cubicBezTo>
                  <a:pt x="10530" y="190500"/>
                  <a:pt x="5953" y="185924"/>
                  <a:pt x="5953" y="180305"/>
                </a:cubicBezTo>
                <a:cubicBezTo>
                  <a:pt x="5953" y="154186"/>
                  <a:pt x="22324" y="131862"/>
                  <a:pt x="45355" y="123081"/>
                </a:cubicBezTo>
                <a:cubicBezTo>
                  <a:pt x="48481" y="121890"/>
                  <a:pt x="51792" y="123862"/>
                  <a:pt x="52611" y="127099"/>
                </a:cubicBezTo>
                <a:lnTo>
                  <a:pt x="65484" y="178631"/>
                </a:lnTo>
                <a:lnTo>
                  <a:pt x="65708" y="178631"/>
                </a:lnTo>
                <a:lnTo>
                  <a:pt x="77242" y="135806"/>
                </a:lnTo>
                <a:lnTo>
                  <a:pt x="67047" y="123899"/>
                </a:lnTo>
                <a:cubicBezTo>
                  <a:pt x="66042" y="122709"/>
                  <a:pt x="65484" y="121221"/>
                  <a:pt x="65484" y="119658"/>
                </a:cubicBezTo>
                <a:cubicBezTo>
                  <a:pt x="65484" y="116049"/>
                  <a:pt x="68387" y="113147"/>
                  <a:pt x="71996" y="113147"/>
                </a:cubicBezTo>
                <a:close/>
              </a:path>
            </a:pathLst>
          </a:custGeom>
          <a:solidFill>
            <a:srgbClr val="3A4D39"/>
          </a:solidFill>
          <a:ln/>
        </p:spPr>
      </p:sp>
      <p:sp>
        <p:nvSpPr>
          <p:cNvPr id="9" name="Text 7"/>
          <p:cNvSpPr/>
          <p:nvPr/>
        </p:nvSpPr>
        <p:spPr>
          <a:xfrm>
            <a:off x="809625" y="1181100"/>
            <a:ext cx="10944225" cy="266700"/>
          </a:xfrm>
          <a:prstGeom prst="rect">
            <a:avLst/>
          </a:prstGeom>
          <a:noFill/>
          <a:ln/>
        </p:spPr>
        <p:txBody>
          <a:bodyPr wrap="square" lIns="0" tIns="0" rIns="0" bIns="0" rtlCol="0" anchor="ctr"/>
          <a:lstStyle/>
          <a:p>
            <a:pPr>
              <a:lnSpc>
                <a:spcPct val="120000"/>
              </a:lnSpc>
            </a:pPr>
            <a:r>
              <a:rPr lang="en-US" sz="1500" b="1" dirty="0">
                <a:solidFill>
                  <a:srgbClr val="3A4D39"/>
                </a:solidFill>
                <a:latin typeface="Unna" pitchFamily="34" charset="0"/>
                <a:ea typeface="Unna" pitchFamily="34" charset="-122"/>
                <a:cs typeface="Unna" pitchFamily="34" charset="-120"/>
              </a:rPr>
              <a:t>Wilshire Farms as Managing Partner</a:t>
            </a:r>
            <a:endParaRPr lang="en-US" sz="1600" dirty="0"/>
          </a:p>
        </p:txBody>
      </p:sp>
      <p:sp>
        <p:nvSpPr>
          <p:cNvPr id="10" name="Text 8"/>
          <p:cNvSpPr/>
          <p:nvPr/>
        </p:nvSpPr>
        <p:spPr>
          <a:xfrm>
            <a:off x="571500" y="1562100"/>
            <a:ext cx="5543550" cy="228600"/>
          </a:xfrm>
          <a:prstGeom prst="rect">
            <a:avLst/>
          </a:prstGeom>
          <a:noFill/>
          <a:ln/>
        </p:spPr>
        <p:txBody>
          <a:bodyPr wrap="square" lIns="0" tIns="0" rIns="0" bIns="0" rtlCol="0" anchor="ctr"/>
          <a:lstStyle/>
          <a:p>
            <a:pPr>
              <a:lnSpc>
                <a:spcPct val="130000"/>
              </a:lnSpc>
            </a:pPr>
            <a:r>
              <a:rPr lang="en-US" sz="1200" b="1" dirty="0">
                <a:solidFill>
                  <a:srgbClr val="3A4D39"/>
                </a:solidFill>
                <a:latin typeface="Unna" pitchFamily="34" charset="0"/>
                <a:ea typeface="Unna" pitchFamily="34" charset="-122"/>
                <a:cs typeface="Unna" pitchFamily="34" charset="-120"/>
              </a:rPr>
              <a:t>Daily Operations Authority</a:t>
            </a:r>
            <a:endParaRPr lang="en-US" sz="1600" dirty="0"/>
          </a:p>
        </p:txBody>
      </p:sp>
      <p:sp>
        <p:nvSpPr>
          <p:cNvPr id="11" name="Shape 9"/>
          <p:cNvSpPr/>
          <p:nvPr/>
        </p:nvSpPr>
        <p:spPr>
          <a:xfrm>
            <a:off x="600075" y="1905000"/>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3A4D39"/>
          </a:solidFill>
          <a:ln/>
        </p:spPr>
      </p:sp>
      <p:sp>
        <p:nvSpPr>
          <p:cNvPr id="12" name="Text 10"/>
          <p:cNvSpPr/>
          <p:nvPr/>
        </p:nvSpPr>
        <p:spPr>
          <a:xfrm>
            <a:off x="838200" y="1866900"/>
            <a:ext cx="3619500" cy="228600"/>
          </a:xfrm>
          <a:prstGeom prst="rect">
            <a:avLst/>
          </a:prstGeom>
          <a:noFill/>
          <a:ln/>
        </p:spPr>
        <p:txBody>
          <a:bodyPr wrap="square" lIns="0" tIns="0" rIns="0" bIns="0" rtlCol="0" anchor="ctr"/>
          <a:lstStyle/>
          <a:p>
            <a:pPr>
              <a:lnSpc>
                <a:spcPct val="130000"/>
              </a:lnSpc>
            </a:pPr>
            <a:r>
              <a:rPr lang="en-US" sz="1200" dirty="0">
                <a:solidFill>
                  <a:srgbClr val="2C2C2C"/>
                </a:solidFill>
                <a:latin typeface="Quattrocento Sans" pitchFamily="34" charset="0"/>
                <a:ea typeface="Quattrocento Sans" pitchFamily="34" charset="-122"/>
                <a:cs typeface="Quattrocento Sans" pitchFamily="34" charset="-120"/>
              </a:rPr>
              <a:t>Complete authority over day-to-day farming activities</a:t>
            </a:r>
            <a:endParaRPr lang="en-US" sz="1600" dirty="0"/>
          </a:p>
        </p:txBody>
      </p:sp>
      <p:sp>
        <p:nvSpPr>
          <p:cNvPr id="13" name="Shape 11"/>
          <p:cNvSpPr/>
          <p:nvPr/>
        </p:nvSpPr>
        <p:spPr>
          <a:xfrm>
            <a:off x="600075" y="2171700"/>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3A4D39"/>
          </a:solidFill>
          <a:ln/>
        </p:spPr>
      </p:sp>
      <p:sp>
        <p:nvSpPr>
          <p:cNvPr id="14" name="Text 12"/>
          <p:cNvSpPr/>
          <p:nvPr/>
        </p:nvSpPr>
        <p:spPr>
          <a:xfrm>
            <a:off x="838200" y="2133600"/>
            <a:ext cx="3352800" cy="228600"/>
          </a:xfrm>
          <a:prstGeom prst="rect">
            <a:avLst/>
          </a:prstGeom>
          <a:noFill/>
          <a:ln/>
        </p:spPr>
        <p:txBody>
          <a:bodyPr wrap="square" lIns="0" tIns="0" rIns="0" bIns="0" rtlCol="0" anchor="ctr"/>
          <a:lstStyle/>
          <a:p>
            <a:pPr>
              <a:lnSpc>
                <a:spcPct val="130000"/>
              </a:lnSpc>
            </a:pPr>
            <a:r>
              <a:rPr lang="en-US" sz="1200" dirty="0">
                <a:solidFill>
                  <a:srgbClr val="2C2C2C"/>
                </a:solidFill>
                <a:latin typeface="Quattrocento Sans" pitchFamily="34" charset="0"/>
                <a:ea typeface="Quattrocento Sans" pitchFamily="34" charset="-122"/>
                <a:cs typeface="Quattrocento Sans" pitchFamily="34" charset="-120"/>
              </a:rPr>
              <a:t>Staff supervision and work schedule management</a:t>
            </a:r>
            <a:endParaRPr lang="en-US" sz="1600" dirty="0"/>
          </a:p>
        </p:txBody>
      </p:sp>
      <p:sp>
        <p:nvSpPr>
          <p:cNvPr id="15" name="Shape 13"/>
          <p:cNvSpPr/>
          <p:nvPr/>
        </p:nvSpPr>
        <p:spPr>
          <a:xfrm>
            <a:off x="600075" y="2438400"/>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3A4D39"/>
          </a:solidFill>
          <a:ln/>
        </p:spPr>
      </p:sp>
      <p:sp>
        <p:nvSpPr>
          <p:cNvPr id="16" name="Text 14"/>
          <p:cNvSpPr/>
          <p:nvPr/>
        </p:nvSpPr>
        <p:spPr>
          <a:xfrm>
            <a:off x="838200" y="2400300"/>
            <a:ext cx="3790950" cy="228600"/>
          </a:xfrm>
          <a:prstGeom prst="rect">
            <a:avLst/>
          </a:prstGeom>
          <a:noFill/>
          <a:ln/>
        </p:spPr>
        <p:txBody>
          <a:bodyPr wrap="square" lIns="0" tIns="0" rIns="0" bIns="0" rtlCol="0" anchor="ctr"/>
          <a:lstStyle/>
          <a:p>
            <a:pPr>
              <a:lnSpc>
                <a:spcPct val="130000"/>
              </a:lnSpc>
            </a:pPr>
            <a:r>
              <a:rPr lang="en-US" sz="1200" dirty="0">
                <a:solidFill>
                  <a:srgbClr val="2C2C2C"/>
                </a:solidFill>
                <a:latin typeface="Quattrocento Sans" pitchFamily="34" charset="0"/>
                <a:ea typeface="Quattrocento Sans" pitchFamily="34" charset="-122"/>
                <a:cs typeface="Quattrocento Sans" pitchFamily="34" charset="-120"/>
              </a:rPr>
              <a:t>Crop management decisions (watering, feeding, pruning)</a:t>
            </a:r>
            <a:endParaRPr lang="en-US" sz="1600" dirty="0"/>
          </a:p>
        </p:txBody>
      </p:sp>
      <p:sp>
        <p:nvSpPr>
          <p:cNvPr id="17" name="Shape 15"/>
          <p:cNvSpPr/>
          <p:nvPr/>
        </p:nvSpPr>
        <p:spPr>
          <a:xfrm>
            <a:off x="600075" y="2705100"/>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3A4D39"/>
          </a:solidFill>
          <a:ln/>
        </p:spPr>
      </p:sp>
      <p:sp>
        <p:nvSpPr>
          <p:cNvPr id="18" name="Text 16"/>
          <p:cNvSpPr/>
          <p:nvPr/>
        </p:nvSpPr>
        <p:spPr>
          <a:xfrm>
            <a:off x="838200" y="2667000"/>
            <a:ext cx="2876550" cy="228600"/>
          </a:xfrm>
          <a:prstGeom prst="rect">
            <a:avLst/>
          </a:prstGeom>
          <a:noFill/>
          <a:ln/>
        </p:spPr>
        <p:txBody>
          <a:bodyPr wrap="square" lIns="0" tIns="0" rIns="0" bIns="0" rtlCol="0" anchor="ctr"/>
          <a:lstStyle/>
          <a:p>
            <a:pPr>
              <a:lnSpc>
                <a:spcPct val="130000"/>
              </a:lnSpc>
            </a:pPr>
            <a:r>
              <a:rPr lang="en-US" sz="1200" dirty="0">
                <a:solidFill>
                  <a:srgbClr val="2C2C2C"/>
                </a:solidFill>
                <a:latin typeface="Quattrocento Sans" pitchFamily="34" charset="0"/>
                <a:ea typeface="Quattrocento Sans" pitchFamily="34" charset="-122"/>
                <a:cs typeface="Quattrocento Sans" pitchFamily="34" charset="-120"/>
              </a:rPr>
              <a:t>Pest and disease monitoring and treatment</a:t>
            </a:r>
            <a:endParaRPr lang="en-US" sz="1600" dirty="0"/>
          </a:p>
        </p:txBody>
      </p:sp>
      <p:sp>
        <p:nvSpPr>
          <p:cNvPr id="19" name="Text 17"/>
          <p:cNvSpPr/>
          <p:nvPr/>
        </p:nvSpPr>
        <p:spPr>
          <a:xfrm>
            <a:off x="6191250" y="1562100"/>
            <a:ext cx="5543550" cy="228600"/>
          </a:xfrm>
          <a:prstGeom prst="rect">
            <a:avLst/>
          </a:prstGeom>
          <a:noFill/>
          <a:ln/>
        </p:spPr>
        <p:txBody>
          <a:bodyPr wrap="square" lIns="0" tIns="0" rIns="0" bIns="0" rtlCol="0" anchor="ctr"/>
          <a:lstStyle/>
          <a:p>
            <a:pPr>
              <a:lnSpc>
                <a:spcPct val="130000"/>
              </a:lnSpc>
            </a:pPr>
            <a:r>
              <a:rPr lang="en-US" sz="1200" b="1" dirty="0">
                <a:solidFill>
                  <a:srgbClr val="3A4D39"/>
                </a:solidFill>
                <a:latin typeface="Unna" pitchFamily="34" charset="0"/>
                <a:ea typeface="Unna" pitchFamily="34" charset="-122"/>
                <a:cs typeface="Unna" pitchFamily="34" charset="-120"/>
              </a:rPr>
              <a:t>Procurement &amp; Quality Control</a:t>
            </a:r>
            <a:endParaRPr lang="en-US" sz="1600" dirty="0"/>
          </a:p>
        </p:txBody>
      </p:sp>
      <p:sp>
        <p:nvSpPr>
          <p:cNvPr id="20" name="Shape 18"/>
          <p:cNvSpPr/>
          <p:nvPr/>
        </p:nvSpPr>
        <p:spPr>
          <a:xfrm>
            <a:off x="6219825" y="1905000"/>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7A6250"/>
          </a:solidFill>
          <a:ln/>
        </p:spPr>
      </p:sp>
      <p:sp>
        <p:nvSpPr>
          <p:cNvPr id="21" name="Text 19"/>
          <p:cNvSpPr/>
          <p:nvPr/>
        </p:nvSpPr>
        <p:spPr>
          <a:xfrm>
            <a:off x="6457950" y="1866900"/>
            <a:ext cx="4191000" cy="228600"/>
          </a:xfrm>
          <a:prstGeom prst="rect">
            <a:avLst/>
          </a:prstGeom>
          <a:noFill/>
          <a:ln/>
        </p:spPr>
        <p:txBody>
          <a:bodyPr wrap="square" lIns="0" tIns="0" rIns="0" bIns="0" rtlCol="0" anchor="ctr"/>
          <a:lstStyle/>
          <a:p>
            <a:pPr>
              <a:lnSpc>
                <a:spcPct val="130000"/>
              </a:lnSpc>
            </a:pPr>
            <a:r>
              <a:rPr lang="en-US" sz="1200" dirty="0">
                <a:solidFill>
                  <a:srgbClr val="2C2C2C"/>
                </a:solidFill>
                <a:latin typeface="Quattrocento Sans" pitchFamily="34" charset="0"/>
                <a:ea typeface="Quattrocento Sans" pitchFamily="34" charset="-122"/>
                <a:cs typeface="Quattrocento Sans" pitchFamily="34" charset="-120"/>
              </a:rPr>
              <a:t>Selection of approved suppliers for seeds, fertilizers, chemicals</a:t>
            </a:r>
            <a:endParaRPr lang="en-US" sz="1600" dirty="0"/>
          </a:p>
        </p:txBody>
      </p:sp>
      <p:sp>
        <p:nvSpPr>
          <p:cNvPr id="22" name="Shape 20"/>
          <p:cNvSpPr/>
          <p:nvPr/>
        </p:nvSpPr>
        <p:spPr>
          <a:xfrm>
            <a:off x="6219825" y="2171700"/>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7A6250"/>
          </a:solidFill>
          <a:ln/>
        </p:spPr>
      </p:sp>
      <p:sp>
        <p:nvSpPr>
          <p:cNvPr id="23" name="Text 21"/>
          <p:cNvSpPr/>
          <p:nvPr/>
        </p:nvSpPr>
        <p:spPr>
          <a:xfrm>
            <a:off x="6457950" y="2133600"/>
            <a:ext cx="2838450" cy="228600"/>
          </a:xfrm>
          <a:prstGeom prst="rect">
            <a:avLst/>
          </a:prstGeom>
          <a:noFill/>
          <a:ln/>
        </p:spPr>
        <p:txBody>
          <a:bodyPr wrap="square" lIns="0" tIns="0" rIns="0" bIns="0" rtlCol="0" anchor="ctr"/>
          <a:lstStyle/>
          <a:p>
            <a:pPr>
              <a:lnSpc>
                <a:spcPct val="130000"/>
              </a:lnSpc>
            </a:pPr>
            <a:r>
              <a:rPr lang="en-US" sz="1200" dirty="0">
                <a:solidFill>
                  <a:srgbClr val="2C2C2C"/>
                </a:solidFill>
                <a:latin typeface="Quattrocento Sans" pitchFamily="34" charset="0"/>
                <a:ea typeface="Quattrocento Sans" pitchFamily="34" charset="-122"/>
                <a:cs typeface="Quattrocento Sans" pitchFamily="34" charset="-120"/>
              </a:rPr>
              <a:t>Quality standards for all agricultural inputs</a:t>
            </a:r>
            <a:endParaRPr lang="en-US" sz="1600" dirty="0"/>
          </a:p>
        </p:txBody>
      </p:sp>
      <p:sp>
        <p:nvSpPr>
          <p:cNvPr id="24" name="Shape 22"/>
          <p:cNvSpPr/>
          <p:nvPr/>
        </p:nvSpPr>
        <p:spPr>
          <a:xfrm>
            <a:off x="6219825" y="2438400"/>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7A6250"/>
          </a:solidFill>
          <a:ln/>
        </p:spPr>
      </p:sp>
      <p:sp>
        <p:nvSpPr>
          <p:cNvPr id="25" name="Text 23"/>
          <p:cNvSpPr/>
          <p:nvPr/>
        </p:nvSpPr>
        <p:spPr>
          <a:xfrm>
            <a:off x="6457950" y="2400300"/>
            <a:ext cx="4057650" cy="228600"/>
          </a:xfrm>
          <a:prstGeom prst="rect">
            <a:avLst/>
          </a:prstGeom>
          <a:noFill/>
          <a:ln/>
        </p:spPr>
        <p:txBody>
          <a:bodyPr wrap="square" lIns="0" tIns="0" rIns="0" bIns="0" rtlCol="0" anchor="ctr"/>
          <a:lstStyle/>
          <a:p>
            <a:pPr>
              <a:lnSpc>
                <a:spcPct val="130000"/>
              </a:lnSpc>
            </a:pPr>
            <a:r>
              <a:rPr lang="en-US" sz="1200" dirty="0">
                <a:solidFill>
                  <a:srgbClr val="2C2C2C"/>
                </a:solidFill>
                <a:latin typeface="Quattrocento Sans" pitchFamily="34" charset="0"/>
                <a:ea typeface="Quattrocento Sans" pitchFamily="34" charset="-122"/>
                <a:cs typeface="Quattrocento Sans" pitchFamily="34" charset="-120"/>
              </a:rPr>
              <a:t>Greenhouse climate control and environmental management</a:t>
            </a:r>
            <a:endParaRPr lang="en-US" sz="1600" dirty="0"/>
          </a:p>
        </p:txBody>
      </p:sp>
      <p:sp>
        <p:nvSpPr>
          <p:cNvPr id="26" name="Shape 24"/>
          <p:cNvSpPr/>
          <p:nvPr/>
        </p:nvSpPr>
        <p:spPr>
          <a:xfrm>
            <a:off x="6219825" y="2705100"/>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7A6250"/>
          </a:solidFill>
          <a:ln/>
        </p:spPr>
      </p:sp>
      <p:sp>
        <p:nvSpPr>
          <p:cNvPr id="27" name="Text 25"/>
          <p:cNvSpPr/>
          <p:nvPr/>
        </p:nvSpPr>
        <p:spPr>
          <a:xfrm>
            <a:off x="6457950" y="2667000"/>
            <a:ext cx="2314575" cy="228600"/>
          </a:xfrm>
          <a:prstGeom prst="rect">
            <a:avLst/>
          </a:prstGeom>
          <a:noFill/>
          <a:ln/>
        </p:spPr>
        <p:txBody>
          <a:bodyPr wrap="square" lIns="0" tIns="0" rIns="0" bIns="0" rtlCol="0" anchor="ctr"/>
          <a:lstStyle/>
          <a:p>
            <a:pPr>
              <a:lnSpc>
                <a:spcPct val="130000"/>
              </a:lnSpc>
            </a:pPr>
            <a:r>
              <a:rPr lang="en-US" sz="1200" dirty="0">
                <a:solidFill>
                  <a:srgbClr val="2C2C2C"/>
                </a:solidFill>
                <a:latin typeface="Quattrocento Sans" pitchFamily="34" charset="0"/>
                <a:ea typeface="Quattrocento Sans" pitchFamily="34" charset="-122"/>
                <a:cs typeface="Quattrocento Sans" pitchFamily="34" charset="-120"/>
              </a:rPr>
              <a:t>Harvest timing and quality grading</a:t>
            </a:r>
            <a:endParaRPr lang="en-US" sz="1600" dirty="0"/>
          </a:p>
        </p:txBody>
      </p:sp>
      <p:sp>
        <p:nvSpPr>
          <p:cNvPr id="28" name="Shape 26"/>
          <p:cNvSpPr/>
          <p:nvPr/>
        </p:nvSpPr>
        <p:spPr>
          <a:xfrm>
            <a:off x="381000" y="3181350"/>
            <a:ext cx="3733800" cy="1581150"/>
          </a:xfrm>
          <a:custGeom>
            <a:avLst/>
            <a:gdLst/>
            <a:ahLst/>
            <a:cxnLst/>
            <a:rect l="l" t="t" r="r" b="b"/>
            <a:pathLst>
              <a:path w="3733800" h="1581150">
                <a:moveTo>
                  <a:pt x="38100" y="0"/>
                </a:moveTo>
                <a:lnTo>
                  <a:pt x="3695700" y="0"/>
                </a:lnTo>
                <a:cubicBezTo>
                  <a:pt x="3716742" y="0"/>
                  <a:pt x="3733800" y="17058"/>
                  <a:pt x="3733800" y="38100"/>
                </a:cubicBezTo>
                <a:lnTo>
                  <a:pt x="3733800" y="1504954"/>
                </a:lnTo>
                <a:cubicBezTo>
                  <a:pt x="3733800" y="1547036"/>
                  <a:pt x="3699686" y="1581150"/>
                  <a:pt x="3657604" y="1581150"/>
                </a:cubicBezTo>
                <a:lnTo>
                  <a:pt x="76196" y="1581150"/>
                </a:lnTo>
                <a:cubicBezTo>
                  <a:pt x="34114" y="1581150"/>
                  <a:pt x="0" y="1547036"/>
                  <a:pt x="0" y="1504954"/>
                </a:cubicBezTo>
                <a:lnTo>
                  <a:pt x="0" y="38100"/>
                </a:lnTo>
                <a:cubicBezTo>
                  <a:pt x="0" y="17072"/>
                  <a:pt x="17072" y="0"/>
                  <a:pt x="38100" y="0"/>
                </a:cubicBezTo>
                <a:close/>
              </a:path>
            </a:pathLst>
          </a:custGeom>
          <a:solidFill>
            <a:srgbClr val="F8F6F2"/>
          </a:solidFill>
          <a:ln/>
        </p:spPr>
      </p:sp>
      <p:sp>
        <p:nvSpPr>
          <p:cNvPr id="29" name="Shape 27"/>
          <p:cNvSpPr/>
          <p:nvPr/>
        </p:nvSpPr>
        <p:spPr>
          <a:xfrm>
            <a:off x="381000" y="3181350"/>
            <a:ext cx="3733800" cy="38100"/>
          </a:xfrm>
          <a:custGeom>
            <a:avLst/>
            <a:gdLst/>
            <a:ahLst/>
            <a:cxnLst/>
            <a:rect l="l" t="t" r="r" b="b"/>
            <a:pathLst>
              <a:path w="3733800" h="38100">
                <a:moveTo>
                  <a:pt x="38100" y="0"/>
                </a:moveTo>
                <a:lnTo>
                  <a:pt x="3695700" y="0"/>
                </a:lnTo>
                <a:cubicBezTo>
                  <a:pt x="3716728" y="0"/>
                  <a:pt x="3733800" y="17072"/>
                  <a:pt x="3733800" y="38100"/>
                </a:cubicBezTo>
                <a:lnTo>
                  <a:pt x="3733800" y="38100"/>
                </a:lnTo>
                <a:lnTo>
                  <a:pt x="0" y="38100"/>
                </a:lnTo>
                <a:lnTo>
                  <a:pt x="0" y="38100"/>
                </a:lnTo>
                <a:cubicBezTo>
                  <a:pt x="0" y="17072"/>
                  <a:pt x="17072" y="0"/>
                  <a:pt x="38100" y="0"/>
                </a:cubicBezTo>
                <a:close/>
              </a:path>
            </a:pathLst>
          </a:custGeom>
          <a:solidFill>
            <a:srgbClr val="3A4D39"/>
          </a:solidFill>
          <a:ln/>
        </p:spPr>
      </p:sp>
      <p:sp>
        <p:nvSpPr>
          <p:cNvPr id="30" name="Shape 28"/>
          <p:cNvSpPr/>
          <p:nvPr/>
        </p:nvSpPr>
        <p:spPr>
          <a:xfrm>
            <a:off x="497681" y="3343275"/>
            <a:ext cx="214313" cy="171450"/>
          </a:xfrm>
          <a:custGeom>
            <a:avLst/>
            <a:gdLst/>
            <a:ahLst/>
            <a:cxnLst/>
            <a:rect l="l" t="t" r="r" b="b"/>
            <a:pathLst>
              <a:path w="214313" h="171450">
                <a:moveTo>
                  <a:pt x="107156" y="5358"/>
                </a:moveTo>
                <a:cubicBezTo>
                  <a:pt x="126377" y="5358"/>
                  <a:pt x="141982" y="20963"/>
                  <a:pt x="141982" y="40184"/>
                </a:cubicBezTo>
                <a:cubicBezTo>
                  <a:pt x="141982" y="59404"/>
                  <a:pt x="126377" y="75009"/>
                  <a:pt x="107156" y="75009"/>
                </a:cubicBezTo>
                <a:cubicBezTo>
                  <a:pt x="87935" y="75009"/>
                  <a:pt x="72330" y="59404"/>
                  <a:pt x="72330" y="40184"/>
                </a:cubicBezTo>
                <a:cubicBezTo>
                  <a:pt x="72330" y="20963"/>
                  <a:pt x="87935" y="5358"/>
                  <a:pt x="107156" y="5358"/>
                </a:cubicBezTo>
                <a:close/>
                <a:moveTo>
                  <a:pt x="32147" y="29468"/>
                </a:moveTo>
                <a:cubicBezTo>
                  <a:pt x="45454" y="29468"/>
                  <a:pt x="56257" y="40271"/>
                  <a:pt x="56257" y="53578"/>
                </a:cubicBezTo>
                <a:cubicBezTo>
                  <a:pt x="56257" y="66885"/>
                  <a:pt x="45454" y="77688"/>
                  <a:pt x="32147" y="77688"/>
                </a:cubicBezTo>
                <a:cubicBezTo>
                  <a:pt x="18840" y="77688"/>
                  <a:pt x="8037" y="66885"/>
                  <a:pt x="8037" y="53578"/>
                </a:cubicBezTo>
                <a:cubicBezTo>
                  <a:pt x="8037" y="40271"/>
                  <a:pt x="18840" y="29468"/>
                  <a:pt x="32147" y="29468"/>
                </a:cubicBezTo>
                <a:close/>
                <a:moveTo>
                  <a:pt x="0" y="139303"/>
                </a:moveTo>
                <a:cubicBezTo>
                  <a:pt x="0" y="115628"/>
                  <a:pt x="19188" y="96441"/>
                  <a:pt x="42863" y="96441"/>
                </a:cubicBezTo>
                <a:cubicBezTo>
                  <a:pt x="47149" y="96441"/>
                  <a:pt x="51301" y="97077"/>
                  <a:pt x="55219" y="98249"/>
                </a:cubicBezTo>
                <a:cubicBezTo>
                  <a:pt x="44202" y="110572"/>
                  <a:pt x="37505" y="126846"/>
                  <a:pt x="37505" y="144661"/>
                </a:cubicBezTo>
                <a:lnTo>
                  <a:pt x="37505" y="150019"/>
                </a:lnTo>
                <a:cubicBezTo>
                  <a:pt x="37505" y="153836"/>
                  <a:pt x="38308" y="157453"/>
                  <a:pt x="39748" y="160734"/>
                </a:cubicBezTo>
                <a:lnTo>
                  <a:pt x="10716" y="160734"/>
                </a:lnTo>
                <a:cubicBezTo>
                  <a:pt x="4789" y="160734"/>
                  <a:pt x="0" y="155946"/>
                  <a:pt x="0" y="150019"/>
                </a:cubicBezTo>
                <a:lnTo>
                  <a:pt x="0" y="139303"/>
                </a:lnTo>
                <a:close/>
                <a:moveTo>
                  <a:pt x="174564" y="160734"/>
                </a:moveTo>
                <a:cubicBezTo>
                  <a:pt x="176004" y="157453"/>
                  <a:pt x="176808" y="153836"/>
                  <a:pt x="176808" y="150019"/>
                </a:cubicBezTo>
                <a:lnTo>
                  <a:pt x="176808" y="144661"/>
                </a:lnTo>
                <a:cubicBezTo>
                  <a:pt x="176808" y="126846"/>
                  <a:pt x="170111" y="110572"/>
                  <a:pt x="159094" y="98249"/>
                </a:cubicBezTo>
                <a:cubicBezTo>
                  <a:pt x="163011" y="97077"/>
                  <a:pt x="167164" y="96441"/>
                  <a:pt x="171450" y="96441"/>
                </a:cubicBezTo>
                <a:cubicBezTo>
                  <a:pt x="195125" y="96441"/>
                  <a:pt x="214313" y="115628"/>
                  <a:pt x="214313" y="139303"/>
                </a:cubicBezTo>
                <a:lnTo>
                  <a:pt x="214313" y="150019"/>
                </a:lnTo>
                <a:cubicBezTo>
                  <a:pt x="214313" y="155946"/>
                  <a:pt x="209524" y="160734"/>
                  <a:pt x="203597" y="160734"/>
                </a:cubicBezTo>
                <a:lnTo>
                  <a:pt x="174564" y="160734"/>
                </a:lnTo>
                <a:close/>
                <a:moveTo>
                  <a:pt x="158055" y="53578"/>
                </a:moveTo>
                <a:cubicBezTo>
                  <a:pt x="158055" y="40271"/>
                  <a:pt x="168859" y="29468"/>
                  <a:pt x="182166" y="29468"/>
                </a:cubicBezTo>
                <a:cubicBezTo>
                  <a:pt x="195472" y="29468"/>
                  <a:pt x="206276" y="40271"/>
                  <a:pt x="206276" y="53578"/>
                </a:cubicBezTo>
                <a:cubicBezTo>
                  <a:pt x="206276" y="66885"/>
                  <a:pt x="195472" y="77688"/>
                  <a:pt x="182166" y="77688"/>
                </a:cubicBezTo>
                <a:cubicBezTo>
                  <a:pt x="168859" y="77688"/>
                  <a:pt x="158055" y="66885"/>
                  <a:pt x="158055" y="53578"/>
                </a:cubicBezTo>
                <a:close/>
                <a:moveTo>
                  <a:pt x="53578" y="144661"/>
                </a:moveTo>
                <a:cubicBezTo>
                  <a:pt x="53578" y="115059"/>
                  <a:pt x="77554" y="91083"/>
                  <a:pt x="107156" y="91083"/>
                </a:cubicBezTo>
                <a:cubicBezTo>
                  <a:pt x="136758" y="91083"/>
                  <a:pt x="160734" y="115059"/>
                  <a:pt x="160734" y="144661"/>
                </a:cubicBezTo>
                <a:lnTo>
                  <a:pt x="160734" y="150019"/>
                </a:lnTo>
                <a:cubicBezTo>
                  <a:pt x="160734" y="155946"/>
                  <a:pt x="155946" y="160734"/>
                  <a:pt x="150019" y="160734"/>
                </a:cubicBezTo>
                <a:lnTo>
                  <a:pt x="64294" y="160734"/>
                </a:lnTo>
                <a:cubicBezTo>
                  <a:pt x="58367" y="160734"/>
                  <a:pt x="53578" y="155946"/>
                  <a:pt x="53578" y="150019"/>
                </a:cubicBezTo>
                <a:lnTo>
                  <a:pt x="53578" y="144661"/>
                </a:lnTo>
                <a:close/>
              </a:path>
            </a:pathLst>
          </a:custGeom>
          <a:solidFill>
            <a:srgbClr val="3A4D39"/>
          </a:solidFill>
          <a:ln/>
        </p:spPr>
      </p:sp>
      <p:sp>
        <p:nvSpPr>
          <p:cNvPr id="31" name="Text 29"/>
          <p:cNvSpPr/>
          <p:nvPr/>
        </p:nvSpPr>
        <p:spPr>
          <a:xfrm>
            <a:off x="785813" y="3314700"/>
            <a:ext cx="1266825" cy="228600"/>
          </a:xfrm>
          <a:prstGeom prst="rect">
            <a:avLst/>
          </a:prstGeom>
          <a:noFill/>
          <a:ln/>
        </p:spPr>
        <p:txBody>
          <a:bodyPr wrap="square" lIns="0" tIns="0" rIns="0" bIns="0" rtlCol="0" anchor="ctr"/>
          <a:lstStyle/>
          <a:p>
            <a:pPr>
              <a:lnSpc>
                <a:spcPct val="130000"/>
              </a:lnSpc>
            </a:pPr>
            <a:r>
              <a:rPr lang="en-US" sz="1200" b="1" dirty="0">
                <a:solidFill>
                  <a:srgbClr val="3A4D39"/>
                </a:solidFill>
                <a:latin typeface="Unna" pitchFamily="34" charset="0"/>
                <a:ea typeface="Unna" pitchFamily="34" charset="-122"/>
                <a:cs typeface="Unna" pitchFamily="34" charset="-120"/>
              </a:rPr>
              <a:t>Staff Management</a:t>
            </a:r>
            <a:endParaRPr lang="en-US" sz="1600" dirty="0"/>
          </a:p>
        </p:txBody>
      </p:sp>
      <p:sp>
        <p:nvSpPr>
          <p:cNvPr id="32" name="Text 30"/>
          <p:cNvSpPr/>
          <p:nvPr/>
        </p:nvSpPr>
        <p:spPr>
          <a:xfrm>
            <a:off x="495300" y="3619500"/>
            <a:ext cx="3581400" cy="228600"/>
          </a:xfrm>
          <a:prstGeom prst="rect">
            <a:avLst/>
          </a:prstGeom>
          <a:noFill/>
          <a:ln/>
        </p:spPr>
        <p:txBody>
          <a:bodyPr wrap="square" lIns="0" tIns="0" rIns="0" bIns="0" rtlCol="0" anchor="ctr"/>
          <a:lstStyle/>
          <a:p>
            <a:pPr>
              <a:lnSpc>
                <a:spcPct val="130000"/>
              </a:lnSpc>
            </a:pPr>
            <a:r>
              <a:rPr lang="en-US" sz="1200" dirty="0">
                <a:solidFill>
                  <a:srgbClr val="2C2C2C"/>
                </a:solidFill>
                <a:latin typeface="Quattrocento Sans" pitchFamily="34" charset="0"/>
                <a:ea typeface="Quattrocento Sans" pitchFamily="34" charset="-122"/>
                <a:cs typeface="Quattrocento Sans" pitchFamily="34" charset="-120"/>
              </a:rPr>
              <a:t>• Hiring qualified agricultural workers</a:t>
            </a:r>
            <a:endParaRPr lang="en-US" sz="1600" dirty="0"/>
          </a:p>
        </p:txBody>
      </p:sp>
      <p:sp>
        <p:nvSpPr>
          <p:cNvPr id="33" name="Text 31"/>
          <p:cNvSpPr/>
          <p:nvPr/>
        </p:nvSpPr>
        <p:spPr>
          <a:xfrm>
            <a:off x="495300" y="3886200"/>
            <a:ext cx="3581400" cy="228600"/>
          </a:xfrm>
          <a:prstGeom prst="rect">
            <a:avLst/>
          </a:prstGeom>
          <a:noFill/>
          <a:ln/>
        </p:spPr>
        <p:txBody>
          <a:bodyPr wrap="square" lIns="0" tIns="0" rIns="0" bIns="0" rtlCol="0" anchor="ctr"/>
          <a:lstStyle/>
          <a:p>
            <a:pPr>
              <a:lnSpc>
                <a:spcPct val="130000"/>
              </a:lnSpc>
            </a:pPr>
            <a:r>
              <a:rPr lang="en-US" sz="1200" dirty="0">
                <a:solidFill>
                  <a:srgbClr val="2C2C2C"/>
                </a:solidFill>
                <a:latin typeface="Quattrocento Sans" pitchFamily="34" charset="0"/>
                <a:ea typeface="Quattrocento Sans" pitchFamily="34" charset="-122"/>
                <a:cs typeface="Quattrocento Sans" pitchFamily="34" charset="-120"/>
              </a:rPr>
              <a:t>• Training on greenhouse procedures</a:t>
            </a:r>
            <a:endParaRPr lang="en-US" sz="1600" dirty="0"/>
          </a:p>
        </p:txBody>
      </p:sp>
      <p:sp>
        <p:nvSpPr>
          <p:cNvPr id="34" name="Text 32"/>
          <p:cNvSpPr/>
          <p:nvPr/>
        </p:nvSpPr>
        <p:spPr>
          <a:xfrm>
            <a:off x="495300" y="4152900"/>
            <a:ext cx="3581400" cy="228600"/>
          </a:xfrm>
          <a:prstGeom prst="rect">
            <a:avLst/>
          </a:prstGeom>
          <a:noFill/>
          <a:ln/>
        </p:spPr>
        <p:txBody>
          <a:bodyPr wrap="square" lIns="0" tIns="0" rIns="0" bIns="0" rtlCol="0" anchor="ctr"/>
          <a:lstStyle/>
          <a:p>
            <a:pPr>
              <a:lnSpc>
                <a:spcPct val="130000"/>
              </a:lnSpc>
            </a:pPr>
            <a:r>
              <a:rPr lang="en-US" sz="1200" dirty="0">
                <a:solidFill>
                  <a:srgbClr val="2C2C2C"/>
                </a:solidFill>
                <a:latin typeface="Quattrocento Sans" pitchFamily="34" charset="0"/>
                <a:ea typeface="Quattrocento Sans" pitchFamily="34" charset="-122"/>
                <a:cs typeface="Quattrocento Sans" pitchFamily="34" charset="-120"/>
              </a:rPr>
              <a:t>• Performance standards and evaluations</a:t>
            </a:r>
            <a:endParaRPr lang="en-US" sz="1600" dirty="0"/>
          </a:p>
        </p:txBody>
      </p:sp>
      <p:sp>
        <p:nvSpPr>
          <p:cNvPr id="35" name="Text 33"/>
          <p:cNvSpPr/>
          <p:nvPr/>
        </p:nvSpPr>
        <p:spPr>
          <a:xfrm>
            <a:off x="495300" y="4419600"/>
            <a:ext cx="3581400" cy="228600"/>
          </a:xfrm>
          <a:prstGeom prst="rect">
            <a:avLst/>
          </a:prstGeom>
          <a:noFill/>
          <a:ln/>
        </p:spPr>
        <p:txBody>
          <a:bodyPr wrap="square" lIns="0" tIns="0" rIns="0" bIns="0" rtlCol="0" anchor="ctr"/>
          <a:lstStyle/>
          <a:p>
            <a:pPr>
              <a:lnSpc>
                <a:spcPct val="130000"/>
              </a:lnSpc>
            </a:pPr>
            <a:r>
              <a:rPr lang="en-US" sz="1200" dirty="0">
                <a:solidFill>
                  <a:srgbClr val="2C2C2C"/>
                </a:solidFill>
                <a:latin typeface="Quattrocento Sans" pitchFamily="34" charset="0"/>
                <a:ea typeface="Quattrocento Sans" pitchFamily="34" charset="-122"/>
                <a:cs typeface="Quattrocento Sans" pitchFamily="34" charset="-120"/>
              </a:rPr>
              <a:t>• Disciplinary procedures and termination</a:t>
            </a:r>
            <a:endParaRPr lang="en-US" sz="1600" dirty="0"/>
          </a:p>
        </p:txBody>
      </p:sp>
      <p:sp>
        <p:nvSpPr>
          <p:cNvPr id="36" name="Shape 34"/>
          <p:cNvSpPr/>
          <p:nvPr/>
        </p:nvSpPr>
        <p:spPr>
          <a:xfrm>
            <a:off x="4229100" y="3181350"/>
            <a:ext cx="3733800" cy="1581150"/>
          </a:xfrm>
          <a:custGeom>
            <a:avLst/>
            <a:gdLst/>
            <a:ahLst/>
            <a:cxnLst/>
            <a:rect l="l" t="t" r="r" b="b"/>
            <a:pathLst>
              <a:path w="3733800" h="1581150">
                <a:moveTo>
                  <a:pt x="38100" y="0"/>
                </a:moveTo>
                <a:lnTo>
                  <a:pt x="3695700" y="0"/>
                </a:lnTo>
                <a:cubicBezTo>
                  <a:pt x="3716742" y="0"/>
                  <a:pt x="3733800" y="17058"/>
                  <a:pt x="3733800" y="38100"/>
                </a:cubicBezTo>
                <a:lnTo>
                  <a:pt x="3733800" y="1504954"/>
                </a:lnTo>
                <a:cubicBezTo>
                  <a:pt x="3733800" y="1547036"/>
                  <a:pt x="3699686" y="1581150"/>
                  <a:pt x="3657604" y="1581150"/>
                </a:cubicBezTo>
                <a:lnTo>
                  <a:pt x="76196" y="1581150"/>
                </a:lnTo>
                <a:cubicBezTo>
                  <a:pt x="34114" y="1581150"/>
                  <a:pt x="0" y="1547036"/>
                  <a:pt x="0" y="1504954"/>
                </a:cubicBezTo>
                <a:lnTo>
                  <a:pt x="0" y="38100"/>
                </a:lnTo>
                <a:cubicBezTo>
                  <a:pt x="0" y="17072"/>
                  <a:pt x="17072" y="0"/>
                  <a:pt x="38100" y="0"/>
                </a:cubicBezTo>
                <a:close/>
              </a:path>
            </a:pathLst>
          </a:custGeom>
          <a:solidFill>
            <a:srgbClr val="F8F6F2"/>
          </a:solidFill>
          <a:ln/>
        </p:spPr>
      </p:sp>
      <p:sp>
        <p:nvSpPr>
          <p:cNvPr id="37" name="Shape 35"/>
          <p:cNvSpPr/>
          <p:nvPr/>
        </p:nvSpPr>
        <p:spPr>
          <a:xfrm>
            <a:off x="4229100" y="3181350"/>
            <a:ext cx="3733800" cy="38100"/>
          </a:xfrm>
          <a:custGeom>
            <a:avLst/>
            <a:gdLst/>
            <a:ahLst/>
            <a:cxnLst/>
            <a:rect l="l" t="t" r="r" b="b"/>
            <a:pathLst>
              <a:path w="3733800" h="38100">
                <a:moveTo>
                  <a:pt x="38100" y="0"/>
                </a:moveTo>
                <a:lnTo>
                  <a:pt x="3695700" y="0"/>
                </a:lnTo>
                <a:cubicBezTo>
                  <a:pt x="3716728" y="0"/>
                  <a:pt x="3733800" y="17072"/>
                  <a:pt x="3733800" y="38100"/>
                </a:cubicBezTo>
                <a:lnTo>
                  <a:pt x="3733800" y="38100"/>
                </a:lnTo>
                <a:lnTo>
                  <a:pt x="0" y="38100"/>
                </a:lnTo>
                <a:lnTo>
                  <a:pt x="0" y="38100"/>
                </a:lnTo>
                <a:cubicBezTo>
                  <a:pt x="0" y="17072"/>
                  <a:pt x="17072" y="0"/>
                  <a:pt x="38100" y="0"/>
                </a:cubicBezTo>
                <a:close/>
              </a:path>
            </a:pathLst>
          </a:custGeom>
          <a:solidFill>
            <a:srgbClr val="7A6250"/>
          </a:solidFill>
          <a:ln/>
        </p:spPr>
      </p:sp>
      <p:sp>
        <p:nvSpPr>
          <p:cNvPr id="38" name="Shape 36"/>
          <p:cNvSpPr/>
          <p:nvPr/>
        </p:nvSpPr>
        <p:spPr>
          <a:xfrm>
            <a:off x="4388644" y="3343275"/>
            <a:ext cx="128588" cy="171450"/>
          </a:xfrm>
          <a:custGeom>
            <a:avLst/>
            <a:gdLst/>
            <a:ahLst/>
            <a:cxnLst/>
            <a:rect l="l" t="t" r="r" b="b"/>
            <a:pathLst>
              <a:path w="128588" h="171450">
                <a:moveTo>
                  <a:pt x="104276" y="10716"/>
                </a:moveTo>
                <a:lnTo>
                  <a:pt x="107156" y="10716"/>
                </a:lnTo>
                <a:cubicBezTo>
                  <a:pt x="118977" y="10716"/>
                  <a:pt x="128588" y="20326"/>
                  <a:pt x="128588" y="32147"/>
                </a:cubicBezTo>
                <a:lnTo>
                  <a:pt x="128588" y="150019"/>
                </a:lnTo>
                <a:cubicBezTo>
                  <a:pt x="128588" y="161839"/>
                  <a:pt x="118977" y="171450"/>
                  <a:pt x="107156" y="171450"/>
                </a:cubicBezTo>
                <a:lnTo>
                  <a:pt x="21431" y="171450"/>
                </a:lnTo>
                <a:cubicBezTo>
                  <a:pt x="9611" y="171450"/>
                  <a:pt x="0" y="161839"/>
                  <a:pt x="0" y="150019"/>
                </a:cubicBezTo>
                <a:lnTo>
                  <a:pt x="0" y="32147"/>
                </a:lnTo>
                <a:cubicBezTo>
                  <a:pt x="0" y="20326"/>
                  <a:pt x="9611" y="10716"/>
                  <a:pt x="21431" y="10716"/>
                </a:cubicBezTo>
                <a:lnTo>
                  <a:pt x="24311" y="10716"/>
                </a:lnTo>
                <a:cubicBezTo>
                  <a:pt x="27995" y="4320"/>
                  <a:pt x="34926" y="0"/>
                  <a:pt x="42863" y="0"/>
                </a:cubicBezTo>
                <a:lnTo>
                  <a:pt x="85725" y="0"/>
                </a:lnTo>
                <a:cubicBezTo>
                  <a:pt x="93661" y="0"/>
                  <a:pt x="100593" y="4320"/>
                  <a:pt x="104276" y="10716"/>
                </a:cubicBezTo>
                <a:close/>
                <a:moveTo>
                  <a:pt x="83046" y="37505"/>
                </a:moveTo>
                <a:cubicBezTo>
                  <a:pt x="87500" y="37505"/>
                  <a:pt x="91083" y="33922"/>
                  <a:pt x="91083" y="29468"/>
                </a:cubicBezTo>
                <a:cubicBezTo>
                  <a:pt x="91083" y="25014"/>
                  <a:pt x="87500" y="21431"/>
                  <a:pt x="83046" y="21431"/>
                </a:cubicBezTo>
                <a:lnTo>
                  <a:pt x="45541" y="21431"/>
                </a:lnTo>
                <a:cubicBezTo>
                  <a:pt x="41088" y="21431"/>
                  <a:pt x="37505" y="25014"/>
                  <a:pt x="37505" y="29468"/>
                </a:cubicBezTo>
                <a:cubicBezTo>
                  <a:pt x="37505" y="33922"/>
                  <a:pt x="41088" y="37505"/>
                  <a:pt x="45541" y="37505"/>
                </a:cubicBezTo>
                <a:lnTo>
                  <a:pt x="83046" y="37505"/>
                </a:lnTo>
                <a:close/>
                <a:moveTo>
                  <a:pt x="92556" y="87299"/>
                </a:moveTo>
                <a:cubicBezTo>
                  <a:pt x="94900" y="83548"/>
                  <a:pt x="93762" y="78592"/>
                  <a:pt x="90011" y="76215"/>
                </a:cubicBezTo>
                <a:cubicBezTo>
                  <a:pt x="86261" y="73837"/>
                  <a:pt x="81305" y="75009"/>
                  <a:pt x="78927" y="78760"/>
                </a:cubicBezTo>
                <a:lnTo>
                  <a:pt x="58367" y="111677"/>
                </a:lnTo>
                <a:lnTo>
                  <a:pt x="49325" y="99622"/>
                </a:lnTo>
                <a:cubicBezTo>
                  <a:pt x="46646" y="96072"/>
                  <a:pt x="41624" y="95336"/>
                  <a:pt x="38074" y="98014"/>
                </a:cubicBezTo>
                <a:cubicBezTo>
                  <a:pt x="34524" y="100693"/>
                  <a:pt x="33788" y="105716"/>
                  <a:pt x="36467" y="109266"/>
                </a:cubicBezTo>
                <a:lnTo>
                  <a:pt x="52540" y="130697"/>
                </a:lnTo>
                <a:cubicBezTo>
                  <a:pt x="54114" y="132807"/>
                  <a:pt x="56659" y="134012"/>
                  <a:pt x="59304" y="133912"/>
                </a:cubicBezTo>
                <a:cubicBezTo>
                  <a:pt x="61950" y="133811"/>
                  <a:pt x="64361" y="132405"/>
                  <a:pt x="65767" y="130128"/>
                </a:cubicBezTo>
                <a:lnTo>
                  <a:pt x="92556" y="87265"/>
                </a:lnTo>
                <a:close/>
              </a:path>
            </a:pathLst>
          </a:custGeom>
          <a:solidFill>
            <a:srgbClr val="7A6250"/>
          </a:solidFill>
          <a:ln/>
        </p:spPr>
      </p:sp>
      <p:sp>
        <p:nvSpPr>
          <p:cNvPr id="39" name="Text 37"/>
          <p:cNvSpPr/>
          <p:nvPr/>
        </p:nvSpPr>
        <p:spPr>
          <a:xfrm>
            <a:off x="4633913" y="3314700"/>
            <a:ext cx="1085850" cy="228600"/>
          </a:xfrm>
          <a:prstGeom prst="rect">
            <a:avLst/>
          </a:prstGeom>
          <a:noFill/>
          <a:ln/>
        </p:spPr>
        <p:txBody>
          <a:bodyPr wrap="square" lIns="0" tIns="0" rIns="0" bIns="0" rtlCol="0" anchor="ctr"/>
          <a:lstStyle/>
          <a:p>
            <a:pPr>
              <a:lnSpc>
                <a:spcPct val="130000"/>
              </a:lnSpc>
            </a:pPr>
            <a:r>
              <a:rPr lang="en-US" sz="1200" b="1" dirty="0">
                <a:solidFill>
                  <a:srgbClr val="3A4D39"/>
                </a:solidFill>
                <a:latin typeface="Unna" pitchFamily="34" charset="0"/>
                <a:ea typeface="Unna" pitchFamily="34" charset="-122"/>
                <a:cs typeface="Unna" pitchFamily="34" charset="-120"/>
              </a:rPr>
              <a:t>Record Keeping</a:t>
            </a:r>
            <a:endParaRPr lang="en-US" sz="1600" dirty="0"/>
          </a:p>
        </p:txBody>
      </p:sp>
      <p:sp>
        <p:nvSpPr>
          <p:cNvPr id="40" name="Text 38"/>
          <p:cNvSpPr/>
          <p:nvPr/>
        </p:nvSpPr>
        <p:spPr>
          <a:xfrm>
            <a:off x="4343400" y="3619500"/>
            <a:ext cx="3581400" cy="228600"/>
          </a:xfrm>
          <a:prstGeom prst="rect">
            <a:avLst/>
          </a:prstGeom>
          <a:noFill/>
          <a:ln/>
        </p:spPr>
        <p:txBody>
          <a:bodyPr wrap="square" lIns="0" tIns="0" rIns="0" bIns="0" rtlCol="0" anchor="ctr"/>
          <a:lstStyle/>
          <a:p>
            <a:pPr>
              <a:lnSpc>
                <a:spcPct val="130000"/>
              </a:lnSpc>
            </a:pPr>
            <a:r>
              <a:rPr lang="en-US" sz="1200" dirty="0">
                <a:solidFill>
                  <a:srgbClr val="2C2C2C"/>
                </a:solidFill>
                <a:latin typeface="Quattrocento Sans" pitchFamily="34" charset="0"/>
                <a:ea typeface="Quattrocento Sans" pitchFamily="34" charset="-122"/>
                <a:cs typeface="Quattrocento Sans" pitchFamily="34" charset="-120"/>
              </a:rPr>
              <a:t>• Daily activity logs and task completion</a:t>
            </a:r>
            <a:endParaRPr lang="en-US" sz="1600" dirty="0"/>
          </a:p>
        </p:txBody>
      </p:sp>
      <p:sp>
        <p:nvSpPr>
          <p:cNvPr id="41" name="Text 39"/>
          <p:cNvSpPr/>
          <p:nvPr/>
        </p:nvSpPr>
        <p:spPr>
          <a:xfrm>
            <a:off x="4343400" y="3886200"/>
            <a:ext cx="3581400" cy="228600"/>
          </a:xfrm>
          <a:prstGeom prst="rect">
            <a:avLst/>
          </a:prstGeom>
          <a:noFill/>
          <a:ln/>
        </p:spPr>
        <p:txBody>
          <a:bodyPr wrap="square" lIns="0" tIns="0" rIns="0" bIns="0" rtlCol="0" anchor="ctr"/>
          <a:lstStyle/>
          <a:p>
            <a:pPr>
              <a:lnSpc>
                <a:spcPct val="130000"/>
              </a:lnSpc>
            </a:pPr>
            <a:r>
              <a:rPr lang="en-US" sz="1200" dirty="0">
                <a:solidFill>
                  <a:srgbClr val="2C2C2C"/>
                </a:solidFill>
                <a:latin typeface="Quattrocento Sans" pitchFamily="34" charset="0"/>
                <a:ea typeface="Quattrocento Sans" pitchFamily="34" charset="-122"/>
                <a:cs typeface="Quattrocento Sans" pitchFamily="34" charset="-120"/>
              </a:rPr>
              <a:t>• Input usage tracking (fertilizers, chemicals)</a:t>
            </a:r>
            <a:endParaRPr lang="en-US" sz="1600" dirty="0"/>
          </a:p>
        </p:txBody>
      </p:sp>
      <p:sp>
        <p:nvSpPr>
          <p:cNvPr id="42" name="Text 40"/>
          <p:cNvSpPr/>
          <p:nvPr/>
        </p:nvSpPr>
        <p:spPr>
          <a:xfrm>
            <a:off x="4343400" y="4152900"/>
            <a:ext cx="3581400" cy="228600"/>
          </a:xfrm>
          <a:prstGeom prst="rect">
            <a:avLst/>
          </a:prstGeom>
          <a:noFill/>
          <a:ln/>
        </p:spPr>
        <p:txBody>
          <a:bodyPr wrap="square" lIns="0" tIns="0" rIns="0" bIns="0" rtlCol="0" anchor="ctr"/>
          <a:lstStyle/>
          <a:p>
            <a:pPr>
              <a:lnSpc>
                <a:spcPct val="130000"/>
              </a:lnSpc>
            </a:pPr>
            <a:r>
              <a:rPr lang="en-US" sz="1200" dirty="0">
                <a:solidFill>
                  <a:srgbClr val="2C2C2C"/>
                </a:solidFill>
                <a:latin typeface="Quattrocento Sans" pitchFamily="34" charset="0"/>
                <a:ea typeface="Quattrocento Sans" pitchFamily="34" charset="-122"/>
                <a:cs typeface="Quattrocento Sans" pitchFamily="34" charset="-120"/>
              </a:rPr>
              <a:t>• Harvest quantities and quality grades</a:t>
            </a:r>
            <a:endParaRPr lang="en-US" sz="1600" dirty="0"/>
          </a:p>
        </p:txBody>
      </p:sp>
      <p:sp>
        <p:nvSpPr>
          <p:cNvPr id="43" name="Text 41"/>
          <p:cNvSpPr/>
          <p:nvPr/>
        </p:nvSpPr>
        <p:spPr>
          <a:xfrm>
            <a:off x="4343400" y="4419600"/>
            <a:ext cx="3581400" cy="228600"/>
          </a:xfrm>
          <a:prstGeom prst="rect">
            <a:avLst/>
          </a:prstGeom>
          <a:noFill/>
          <a:ln/>
        </p:spPr>
        <p:txBody>
          <a:bodyPr wrap="square" lIns="0" tIns="0" rIns="0" bIns="0" rtlCol="0" anchor="ctr"/>
          <a:lstStyle/>
          <a:p>
            <a:pPr>
              <a:lnSpc>
                <a:spcPct val="130000"/>
              </a:lnSpc>
            </a:pPr>
            <a:r>
              <a:rPr lang="en-US" sz="1200" dirty="0">
                <a:solidFill>
                  <a:srgbClr val="2C2C2C"/>
                </a:solidFill>
                <a:latin typeface="Quattrocento Sans" pitchFamily="34" charset="0"/>
                <a:ea typeface="Quattrocento Sans" pitchFamily="34" charset="-122"/>
                <a:cs typeface="Quattrocento Sans" pitchFamily="34" charset="-120"/>
              </a:rPr>
              <a:t>• Financial receipts and expense documentation</a:t>
            </a:r>
            <a:endParaRPr lang="en-US" sz="1600" dirty="0"/>
          </a:p>
        </p:txBody>
      </p:sp>
      <p:sp>
        <p:nvSpPr>
          <p:cNvPr id="44" name="Shape 42"/>
          <p:cNvSpPr/>
          <p:nvPr/>
        </p:nvSpPr>
        <p:spPr>
          <a:xfrm>
            <a:off x="8077200" y="3181350"/>
            <a:ext cx="3733800" cy="1581150"/>
          </a:xfrm>
          <a:custGeom>
            <a:avLst/>
            <a:gdLst/>
            <a:ahLst/>
            <a:cxnLst/>
            <a:rect l="l" t="t" r="r" b="b"/>
            <a:pathLst>
              <a:path w="3733800" h="1581150">
                <a:moveTo>
                  <a:pt x="38100" y="0"/>
                </a:moveTo>
                <a:lnTo>
                  <a:pt x="3695700" y="0"/>
                </a:lnTo>
                <a:cubicBezTo>
                  <a:pt x="3716742" y="0"/>
                  <a:pt x="3733800" y="17058"/>
                  <a:pt x="3733800" y="38100"/>
                </a:cubicBezTo>
                <a:lnTo>
                  <a:pt x="3733800" y="1504954"/>
                </a:lnTo>
                <a:cubicBezTo>
                  <a:pt x="3733800" y="1547036"/>
                  <a:pt x="3699686" y="1581150"/>
                  <a:pt x="3657604" y="1581150"/>
                </a:cubicBezTo>
                <a:lnTo>
                  <a:pt x="76196" y="1581150"/>
                </a:lnTo>
                <a:cubicBezTo>
                  <a:pt x="34114" y="1581150"/>
                  <a:pt x="0" y="1547036"/>
                  <a:pt x="0" y="1504954"/>
                </a:cubicBezTo>
                <a:lnTo>
                  <a:pt x="0" y="38100"/>
                </a:lnTo>
                <a:cubicBezTo>
                  <a:pt x="0" y="17072"/>
                  <a:pt x="17072" y="0"/>
                  <a:pt x="38100" y="0"/>
                </a:cubicBezTo>
                <a:close/>
              </a:path>
            </a:pathLst>
          </a:custGeom>
          <a:solidFill>
            <a:srgbClr val="F8F6F2"/>
          </a:solidFill>
          <a:ln/>
        </p:spPr>
      </p:sp>
      <p:sp>
        <p:nvSpPr>
          <p:cNvPr id="45" name="Shape 43"/>
          <p:cNvSpPr/>
          <p:nvPr/>
        </p:nvSpPr>
        <p:spPr>
          <a:xfrm>
            <a:off x="8077200" y="3181350"/>
            <a:ext cx="3733800" cy="38100"/>
          </a:xfrm>
          <a:custGeom>
            <a:avLst/>
            <a:gdLst/>
            <a:ahLst/>
            <a:cxnLst/>
            <a:rect l="l" t="t" r="r" b="b"/>
            <a:pathLst>
              <a:path w="3733800" h="38100">
                <a:moveTo>
                  <a:pt x="38100" y="0"/>
                </a:moveTo>
                <a:lnTo>
                  <a:pt x="3695700" y="0"/>
                </a:lnTo>
                <a:cubicBezTo>
                  <a:pt x="3716728" y="0"/>
                  <a:pt x="3733800" y="17072"/>
                  <a:pt x="3733800" y="38100"/>
                </a:cubicBezTo>
                <a:lnTo>
                  <a:pt x="3733800" y="38100"/>
                </a:lnTo>
                <a:lnTo>
                  <a:pt x="0" y="38100"/>
                </a:lnTo>
                <a:lnTo>
                  <a:pt x="0" y="38100"/>
                </a:lnTo>
                <a:cubicBezTo>
                  <a:pt x="0" y="17072"/>
                  <a:pt x="17072" y="0"/>
                  <a:pt x="38100" y="0"/>
                </a:cubicBezTo>
                <a:close/>
              </a:path>
            </a:pathLst>
          </a:custGeom>
          <a:solidFill>
            <a:srgbClr val="3A4D39"/>
          </a:solidFill>
          <a:ln/>
        </p:spPr>
      </p:sp>
      <p:sp>
        <p:nvSpPr>
          <p:cNvPr id="46" name="Shape 44"/>
          <p:cNvSpPr/>
          <p:nvPr/>
        </p:nvSpPr>
        <p:spPr>
          <a:xfrm>
            <a:off x="8193881" y="3343275"/>
            <a:ext cx="214313" cy="171450"/>
          </a:xfrm>
          <a:custGeom>
            <a:avLst/>
            <a:gdLst/>
            <a:ahLst/>
            <a:cxnLst/>
            <a:rect l="l" t="t" r="r" b="b"/>
            <a:pathLst>
              <a:path w="214313" h="171450">
                <a:moveTo>
                  <a:pt x="8037" y="-5358"/>
                </a:moveTo>
                <a:cubicBezTo>
                  <a:pt x="3583" y="-5358"/>
                  <a:pt x="0" y="-1775"/>
                  <a:pt x="0" y="2679"/>
                </a:cubicBezTo>
                <a:cubicBezTo>
                  <a:pt x="0" y="7133"/>
                  <a:pt x="3583" y="10716"/>
                  <a:pt x="8037" y="10716"/>
                </a:cubicBezTo>
                <a:lnTo>
                  <a:pt x="23206" y="10716"/>
                </a:lnTo>
                <a:cubicBezTo>
                  <a:pt x="24512" y="10716"/>
                  <a:pt x="25617" y="11653"/>
                  <a:pt x="25851" y="12926"/>
                </a:cubicBezTo>
                <a:lnTo>
                  <a:pt x="43298" y="108797"/>
                </a:lnTo>
                <a:cubicBezTo>
                  <a:pt x="45374" y="120249"/>
                  <a:pt x="55353" y="128588"/>
                  <a:pt x="67006" y="128588"/>
                </a:cubicBezTo>
                <a:lnTo>
                  <a:pt x="152698" y="128588"/>
                </a:lnTo>
                <a:cubicBezTo>
                  <a:pt x="157151" y="128588"/>
                  <a:pt x="160734" y="125004"/>
                  <a:pt x="160734" y="120551"/>
                </a:cubicBezTo>
                <a:cubicBezTo>
                  <a:pt x="160734" y="116097"/>
                  <a:pt x="157151" y="112514"/>
                  <a:pt x="152698" y="112514"/>
                </a:cubicBezTo>
                <a:lnTo>
                  <a:pt x="67006" y="112514"/>
                </a:lnTo>
                <a:cubicBezTo>
                  <a:pt x="63122" y="112514"/>
                  <a:pt x="59807" y="109735"/>
                  <a:pt x="59103" y="105917"/>
                </a:cubicBezTo>
                <a:lnTo>
                  <a:pt x="57396" y="96441"/>
                </a:lnTo>
                <a:lnTo>
                  <a:pt x="159060" y="96441"/>
                </a:lnTo>
                <a:cubicBezTo>
                  <a:pt x="169374" y="96441"/>
                  <a:pt x="178214" y="89107"/>
                  <a:pt x="180123" y="78961"/>
                </a:cubicBezTo>
                <a:lnTo>
                  <a:pt x="190504" y="23407"/>
                </a:lnTo>
                <a:cubicBezTo>
                  <a:pt x="191743" y="16810"/>
                  <a:pt x="186686" y="10716"/>
                  <a:pt x="179956" y="10716"/>
                </a:cubicBezTo>
                <a:lnTo>
                  <a:pt x="41757" y="10716"/>
                </a:lnTo>
                <a:lnTo>
                  <a:pt x="41624" y="10046"/>
                </a:lnTo>
                <a:cubicBezTo>
                  <a:pt x="40016" y="1139"/>
                  <a:pt x="32247" y="-5358"/>
                  <a:pt x="23173" y="-5358"/>
                </a:cubicBezTo>
                <a:lnTo>
                  <a:pt x="8037" y="-5358"/>
                </a:lnTo>
                <a:close/>
                <a:moveTo>
                  <a:pt x="69652" y="171450"/>
                </a:moveTo>
                <a:cubicBezTo>
                  <a:pt x="78523" y="171450"/>
                  <a:pt x="85725" y="164248"/>
                  <a:pt x="85725" y="155377"/>
                </a:cubicBezTo>
                <a:cubicBezTo>
                  <a:pt x="85725" y="146505"/>
                  <a:pt x="78523" y="139303"/>
                  <a:pt x="69652" y="139303"/>
                </a:cubicBezTo>
                <a:cubicBezTo>
                  <a:pt x="60780" y="139303"/>
                  <a:pt x="53578" y="146505"/>
                  <a:pt x="53578" y="155377"/>
                </a:cubicBezTo>
                <a:cubicBezTo>
                  <a:pt x="53578" y="164248"/>
                  <a:pt x="60780" y="171450"/>
                  <a:pt x="69652" y="171450"/>
                </a:cubicBezTo>
                <a:close/>
                <a:moveTo>
                  <a:pt x="144661" y="171450"/>
                </a:moveTo>
                <a:cubicBezTo>
                  <a:pt x="153532" y="171450"/>
                  <a:pt x="160734" y="164248"/>
                  <a:pt x="160734" y="155377"/>
                </a:cubicBezTo>
                <a:cubicBezTo>
                  <a:pt x="160734" y="146505"/>
                  <a:pt x="153532" y="139303"/>
                  <a:pt x="144661" y="139303"/>
                </a:cubicBezTo>
                <a:cubicBezTo>
                  <a:pt x="135790" y="139303"/>
                  <a:pt x="128588" y="146505"/>
                  <a:pt x="128588" y="155377"/>
                </a:cubicBezTo>
                <a:cubicBezTo>
                  <a:pt x="128588" y="164248"/>
                  <a:pt x="135790" y="171450"/>
                  <a:pt x="144661" y="171450"/>
                </a:cubicBezTo>
                <a:close/>
              </a:path>
            </a:pathLst>
          </a:custGeom>
          <a:solidFill>
            <a:srgbClr val="3A4D39"/>
          </a:solidFill>
          <a:ln/>
        </p:spPr>
      </p:sp>
      <p:sp>
        <p:nvSpPr>
          <p:cNvPr id="47" name="Text 45"/>
          <p:cNvSpPr/>
          <p:nvPr/>
        </p:nvSpPr>
        <p:spPr>
          <a:xfrm>
            <a:off x="8482013" y="3314700"/>
            <a:ext cx="1257300" cy="228600"/>
          </a:xfrm>
          <a:prstGeom prst="rect">
            <a:avLst/>
          </a:prstGeom>
          <a:noFill/>
          <a:ln/>
        </p:spPr>
        <p:txBody>
          <a:bodyPr wrap="square" lIns="0" tIns="0" rIns="0" bIns="0" rtlCol="0" anchor="ctr"/>
          <a:lstStyle/>
          <a:p>
            <a:pPr>
              <a:lnSpc>
                <a:spcPct val="130000"/>
              </a:lnSpc>
            </a:pPr>
            <a:r>
              <a:rPr lang="en-US" sz="1200" b="1" dirty="0">
                <a:solidFill>
                  <a:srgbClr val="3A4D39"/>
                </a:solidFill>
                <a:latin typeface="Unna" pitchFamily="34" charset="0"/>
                <a:ea typeface="Unna" pitchFamily="34" charset="-122"/>
                <a:cs typeface="Unna" pitchFamily="34" charset="-120"/>
              </a:rPr>
              <a:t>Sales &amp; Marketing</a:t>
            </a:r>
            <a:endParaRPr lang="en-US" sz="1600" dirty="0"/>
          </a:p>
        </p:txBody>
      </p:sp>
      <p:sp>
        <p:nvSpPr>
          <p:cNvPr id="48" name="Text 46"/>
          <p:cNvSpPr/>
          <p:nvPr/>
        </p:nvSpPr>
        <p:spPr>
          <a:xfrm>
            <a:off x="8191500" y="3619500"/>
            <a:ext cx="3581400" cy="228600"/>
          </a:xfrm>
          <a:prstGeom prst="rect">
            <a:avLst/>
          </a:prstGeom>
          <a:noFill/>
          <a:ln/>
        </p:spPr>
        <p:txBody>
          <a:bodyPr wrap="square" lIns="0" tIns="0" rIns="0" bIns="0" rtlCol="0" anchor="ctr"/>
          <a:lstStyle/>
          <a:p>
            <a:pPr>
              <a:lnSpc>
                <a:spcPct val="130000"/>
              </a:lnSpc>
            </a:pPr>
            <a:r>
              <a:rPr lang="en-US" sz="1200" dirty="0">
                <a:solidFill>
                  <a:srgbClr val="2C2C2C"/>
                </a:solidFill>
                <a:latin typeface="Quattrocento Sans" pitchFamily="34" charset="0"/>
                <a:ea typeface="Quattrocento Sans" pitchFamily="34" charset="-122"/>
                <a:cs typeface="Quattrocento Sans" pitchFamily="34" charset="-120"/>
              </a:rPr>
              <a:t>• Buyer identification and relationship management</a:t>
            </a:r>
            <a:endParaRPr lang="en-US" sz="1600" dirty="0"/>
          </a:p>
        </p:txBody>
      </p:sp>
      <p:sp>
        <p:nvSpPr>
          <p:cNvPr id="49" name="Text 47"/>
          <p:cNvSpPr/>
          <p:nvPr/>
        </p:nvSpPr>
        <p:spPr>
          <a:xfrm>
            <a:off x="8191500" y="3886200"/>
            <a:ext cx="3581400" cy="228600"/>
          </a:xfrm>
          <a:prstGeom prst="rect">
            <a:avLst/>
          </a:prstGeom>
          <a:noFill/>
          <a:ln/>
        </p:spPr>
        <p:txBody>
          <a:bodyPr wrap="square" lIns="0" tIns="0" rIns="0" bIns="0" rtlCol="0" anchor="ctr"/>
          <a:lstStyle/>
          <a:p>
            <a:pPr>
              <a:lnSpc>
                <a:spcPct val="130000"/>
              </a:lnSpc>
            </a:pPr>
            <a:r>
              <a:rPr lang="en-US" sz="1200" dirty="0">
                <a:solidFill>
                  <a:srgbClr val="2C2C2C"/>
                </a:solidFill>
                <a:latin typeface="Quattrocento Sans" pitchFamily="34" charset="0"/>
                <a:ea typeface="Quattrocento Sans" pitchFamily="34" charset="-122"/>
                <a:cs typeface="Quattrocento Sans" pitchFamily="34" charset="-120"/>
              </a:rPr>
              <a:t>• Pricing strategy based on market conditions</a:t>
            </a:r>
            <a:endParaRPr lang="en-US" sz="1600" dirty="0"/>
          </a:p>
        </p:txBody>
      </p:sp>
      <p:sp>
        <p:nvSpPr>
          <p:cNvPr id="50" name="Text 48"/>
          <p:cNvSpPr/>
          <p:nvPr/>
        </p:nvSpPr>
        <p:spPr>
          <a:xfrm>
            <a:off x="8191500" y="4152900"/>
            <a:ext cx="3581400" cy="228600"/>
          </a:xfrm>
          <a:prstGeom prst="rect">
            <a:avLst/>
          </a:prstGeom>
          <a:noFill/>
          <a:ln/>
        </p:spPr>
        <p:txBody>
          <a:bodyPr wrap="square" lIns="0" tIns="0" rIns="0" bIns="0" rtlCol="0" anchor="ctr"/>
          <a:lstStyle/>
          <a:p>
            <a:pPr>
              <a:lnSpc>
                <a:spcPct val="130000"/>
              </a:lnSpc>
            </a:pPr>
            <a:r>
              <a:rPr lang="en-US" sz="1200" dirty="0">
                <a:solidFill>
                  <a:srgbClr val="2C2C2C"/>
                </a:solidFill>
                <a:latin typeface="Quattrocento Sans" pitchFamily="34" charset="0"/>
                <a:ea typeface="Quattrocento Sans" pitchFamily="34" charset="-122"/>
                <a:cs typeface="Quattrocento Sans" pitchFamily="34" charset="-120"/>
              </a:rPr>
              <a:t>• Distribution logistics and delivery coordination</a:t>
            </a:r>
            <a:endParaRPr lang="en-US" sz="1600" dirty="0"/>
          </a:p>
        </p:txBody>
      </p:sp>
      <p:sp>
        <p:nvSpPr>
          <p:cNvPr id="51" name="Text 49"/>
          <p:cNvSpPr/>
          <p:nvPr/>
        </p:nvSpPr>
        <p:spPr>
          <a:xfrm>
            <a:off x="8191500" y="4419600"/>
            <a:ext cx="3581400" cy="228600"/>
          </a:xfrm>
          <a:prstGeom prst="rect">
            <a:avLst/>
          </a:prstGeom>
          <a:noFill/>
          <a:ln/>
        </p:spPr>
        <p:txBody>
          <a:bodyPr wrap="square" lIns="0" tIns="0" rIns="0" bIns="0" rtlCol="0" anchor="ctr"/>
          <a:lstStyle/>
          <a:p>
            <a:pPr>
              <a:lnSpc>
                <a:spcPct val="130000"/>
              </a:lnSpc>
            </a:pPr>
            <a:r>
              <a:rPr lang="en-US" sz="1200" dirty="0">
                <a:solidFill>
                  <a:srgbClr val="2C2C2C"/>
                </a:solidFill>
                <a:latin typeface="Quattrocento Sans" pitchFamily="34" charset="0"/>
                <a:ea typeface="Quattrocento Sans" pitchFamily="34" charset="-122"/>
                <a:cs typeface="Quattrocento Sans" pitchFamily="34" charset="-120"/>
              </a:rPr>
              <a:t>• Payment collection and receivables management</a:t>
            </a:r>
            <a:endParaRPr lang="en-US" sz="1600" dirty="0"/>
          </a:p>
        </p:txBody>
      </p:sp>
      <p:sp>
        <p:nvSpPr>
          <p:cNvPr id="52" name="Shape 50"/>
          <p:cNvSpPr/>
          <p:nvPr/>
        </p:nvSpPr>
        <p:spPr>
          <a:xfrm>
            <a:off x="381000" y="4876800"/>
            <a:ext cx="11430000" cy="1219200"/>
          </a:xfrm>
          <a:custGeom>
            <a:avLst/>
            <a:gdLst/>
            <a:ahLst/>
            <a:cxnLst/>
            <a:rect l="l" t="t" r="r" b="b"/>
            <a:pathLst>
              <a:path w="11430000" h="1219200">
                <a:moveTo>
                  <a:pt x="76200" y="0"/>
                </a:moveTo>
                <a:lnTo>
                  <a:pt x="11353800" y="0"/>
                </a:lnTo>
                <a:cubicBezTo>
                  <a:pt x="11395856" y="0"/>
                  <a:pt x="11430000" y="34144"/>
                  <a:pt x="11430000" y="76200"/>
                </a:cubicBezTo>
                <a:lnTo>
                  <a:pt x="11430000" y="1143000"/>
                </a:lnTo>
                <a:cubicBezTo>
                  <a:pt x="11430000" y="1185056"/>
                  <a:pt x="11395856" y="1219200"/>
                  <a:pt x="11353800" y="1219200"/>
                </a:cubicBezTo>
                <a:lnTo>
                  <a:pt x="76200" y="1219200"/>
                </a:lnTo>
                <a:cubicBezTo>
                  <a:pt x="34144" y="1219200"/>
                  <a:pt x="0" y="1185056"/>
                  <a:pt x="0" y="1143000"/>
                </a:cubicBezTo>
                <a:lnTo>
                  <a:pt x="0" y="76200"/>
                </a:lnTo>
                <a:cubicBezTo>
                  <a:pt x="0" y="34144"/>
                  <a:pt x="34144" y="0"/>
                  <a:pt x="76200" y="0"/>
                </a:cubicBezTo>
                <a:close/>
              </a:path>
            </a:pathLst>
          </a:custGeom>
          <a:solidFill>
            <a:srgbClr val="3A4D39"/>
          </a:solidFill>
          <a:ln/>
        </p:spPr>
      </p:sp>
      <p:sp>
        <p:nvSpPr>
          <p:cNvPr id="53" name="Shape 51"/>
          <p:cNvSpPr/>
          <p:nvPr/>
        </p:nvSpPr>
        <p:spPr>
          <a:xfrm>
            <a:off x="464344" y="5029200"/>
            <a:ext cx="214313" cy="190500"/>
          </a:xfrm>
          <a:custGeom>
            <a:avLst/>
            <a:gdLst/>
            <a:ahLst/>
            <a:cxnLst/>
            <a:rect l="l" t="t" r="r" b="b"/>
            <a:pathLst>
              <a:path w="214313" h="190500">
                <a:moveTo>
                  <a:pt x="130969" y="98227"/>
                </a:moveTo>
                <a:lnTo>
                  <a:pt x="130969" y="23812"/>
                </a:lnTo>
                <a:cubicBezTo>
                  <a:pt x="130969" y="17227"/>
                  <a:pt x="125648" y="11906"/>
                  <a:pt x="119063" y="11906"/>
                </a:cubicBezTo>
                <a:lnTo>
                  <a:pt x="95250" y="11906"/>
                </a:lnTo>
                <a:cubicBezTo>
                  <a:pt x="88664" y="11906"/>
                  <a:pt x="83344" y="17227"/>
                  <a:pt x="83344" y="23812"/>
                </a:cubicBezTo>
                <a:lnTo>
                  <a:pt x="83344" y="98227"/>
                </a:lnTo>
                <a:cubicBezTo>
                  <a:pt x="83344" y="103175"/>
                  <a:pt x="79363" y="107156"/>
                  <a:pt x="74414" y="107156"/>
                </a:cubicBezTo>
                <a:cubicBezTo>
                  <a:pt x="69466" y="107156"/>
                  <a:pt x="65484" y="103175"/>
                  <a:pt x="65484" y="98227"/>
                </a:cubicBezTo>
                <a:lnTo>
                  <a:pt x="65484" y="29059"/>
                </a:lnTo>
                <a:cubicBezTo>
                  <a:pt x="33486" y="40853"/>
                  <a:pt x="11906" y="71363"/>
                  <a:pt x="11906" y="107156"/>
                </a:cubicBezTo>
                <a:lnTo>
                  <a:pt x="11906" y="130969"/>
                </a:lnTo>
                <a:lnTo>
                  <a:pt x="202406" y="130969"/>
                </a:lnTo>
                <a:lnTo>
                  <a:pt x="202406" y="107156"/>
                </a:lnTo>
                <a:cubicBezTo>
                  <a:pt x="202034" y="71735"/>
                  <a:pt x="180677" y="41039"/>
                  <a:pt x="148828" y="29096"/>
                </a:cubicBezTo>
                <a:lnTo>
                  <a:pt x="148828" y="98227"/>
                </a:lnTo>
                <a:cubicBezTo>
                  <a:pt x="148828" y="103175"/>
                  <a:pt x="144847" y="107156"/>
                  <a:pt x="139898" y="107156"/>
                </a:cubicBezTo>
                <a:cubicBezTo>
                  <a:pt x="134950" y="107156"/>
                  <a:pt x="130969" y="103175"/>
                  <a:pt x="130969" y="98227"/>
                </a:cubicBezTo>
                <a:close/>
                <a:moveTo>
                  <a:pt x="14883" y="148828"/>
                </a:moveTo>
                <a:cubicBezTo>
                  <a:pt x="6660" y="148828"/>
                  <a:pt x="0" y="155488"/>
                  <a:pt x="0" y="163711"/>
                </a:cubicBezTo>
                <a:cubicBezTo>
                  <a:pt x="0" y="171934"/>
                  <a:pt x="6660" y="178594"/>
                  <a:pt x="14883" y="178594"/>
                </a:cubicBezTo>
                <a:lnTo>
                  <a:pt x="199430" y="178594"/>
                </a:lnTo>
                <a:cubicBezTo>
                  <a:pt x="207652" y="178594"/>
                  <a:pt x="214313" y="171934"/>
                  <a:pt x="214313" y="163711"/>
                </a:cubicBezTo>
                <a:cubicBezTo>
                  <a:pt x="214313" y="155488"/>
                  <a:pt x="207652" y="148828"/>
                  <a:pt x="199430" y="148828"/>
                </a:cubicBezTo>
                <a:lnTo>
                  <a:pt x="14883" y="148828"/>
                </a:lnTo>
                <a:close/>
              </a:path>
            </a:pathLst>
          </a:custGeom>
          <a:solidFill>
            <a:srgbClr val="BCA37F"/>
          </a:solidFill>
          <a:ln/>
        </p:spPr>
      </p:sp>
      <p:sp>
        <p:nvSpPr>
          <p:cNvPr id="54" name="Text 52"/>
          <p:cNvSpPr/>
          <p:nvPr/>
        </p:nvSpPr>
        <p:spPr>
          <a:xfrm>
            <a:off x="757833" y="4991100"/>
            <a:ext cx="11020425" cy="266700"/>
          </a:xfrm>
          <a:prstGeom prst="rect">
            <a:avLst/>
          </a:prstGeom>
          <a:noFill/>
          <a:ln/>
        </p:spPr>
        <p:txBody>
          <a:bodyPr wrap="square" lIns="0" tIns="0" rIns="0" bIns="0" rtlCol="0" anchor="ctr"/>
          <a:lstStyle/>
          <a:p>
            <a:pPr>
              <a:lnSpc>
                <a:spcPct val="130000"/>
              </a:lnSpc>
            </a:pPr>
            <a:r>
              <a:rPr lang="en-US" sz="1350" b="1" dirty="0">
                <a:solidFill>
                  <a:srgbClr val="F8F6F2"/>
                </a:solidFill>
                <a:latin typeface="Unna" pitchFamily="34" charset="0"/>
                <a:ea typeface="Unna" pitchFamily="34" charset="-122"/>
                <a:cs typeface="Unna" pitchFamily="34" charset="-120"/>
              </a:rPr>
              <a:t>Health, Safety &amp; Compliance</a:t>
            </a:r>
            <a:endParaRPr lang="en-US" sz="1600" dirty="0"/>
          </a:p>
        </p:txBody>
      </p:sp>
      <p:sp>
        <p:nvSpPr>
          <p:cNvPr id="55" name="Text 53"/>
          <p:cNvSpPr/>
          <p:nvPr/>
        </p:nvSpPr>
        <p:spPr>
          <a:xfrm>
            <a:off x="757833" y="5295900"/>
            <a:ext cx="11010900" cy="685800"/>
          </a:xfrm>
          <a:prstGeom prst="rect">
            <a:avLst/>
          </a:prstGeom>
          <a:noFill/>
          <a:ln/>
        </p:spPr>
        <p:txBody>
          <a:bodyPr wrap="square" lIns="0" tIns="0" rIns="0" bIns="0" rtlCol="0" anchor="ctr"/>
          <a:lstStyle/>
          <a:p>
            <a:pPr>
              <a:lnSpc>
                <a:spcPct val="130000"/>
              </a:lnSpc>
            </a:pPr>
            <a:r>
              <a:rPr lang="en-US" sz="1200" dirty="0">
                <a:solidFill>
                  <a:srgbClr val="F8F6F2"/>
                </a:solidFill>
                <a:latin typeface="Quattrocento Sans" pitchFamily="34" charset="0"/>
                <a:ea typeface="Quattrocento Sans" pitchFamily="34" charset="-122"/>
                <a:cs typeface="Quattrocento Sans" pitchFamily="34" charset="-120"/>
              </a:rPr>
              <a:t>Wilshire Farms shall maintain all required licenses, permits, and certifications for agricultural operations. All activities must comply with local labor laws, environmental regulations, food safety standards, and pesticide application guidelines. Safety protocols must be established and communicated to all staff, with appropriate protective equipment provided for chemical handling and other hazardous tasks.</a:t>
            </a:r>
            <a:endParaRPr lang="en-US" sz="1600" dirty="0"/>
          </a:p>
        </p:txBody>
      </p:sp>
    </p:spTree>
  </p:cSld>
  <p:clrMapOvr>
    <a:masterClrMapping/>
  </p:clrMapOvr>
  <p:transition>
    <p:fade/>
    <p:spd val="med"/>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6F2"/>
        </a:solidFill>
      </p:bgPr>
    </p:bg>
    <p:spTree>
      <p:nvGrpSpPr>
        <p:cNvPr id="1" name=""/>
        <p:cNvGrpSpPr/>
        <p:nvPr/>
      </p:nvGrpSpPr>
      <p:grpSpPr>
        <a:xfrm>
          <a:off x="0" y="0"/>
          <a:ext cx="0" cy="0"/>
          <a:chOff x="0" y="0"/>
          <a:chExt cx="0" cy="0"/>
        </a:xfrm>
      </p:grpSpPr>
      <p:sp>
        <p:nvSpPr>
          <p:cNvPr id="2" name="Shape 0"/>
          <p:cNvSpPr/>
          <p:nvPr/>
        </p:nvSpPr>
        <p:spPr>
          <a:xfrm>
            <a:off x="320420" y="320420"/>
            <a:ext cx="320420" cy="320420"/>
          </a:xfrm>
          <a:custGeom>
            <a:avLst/>
            <a:gdLst/>
            <a:ahLst/>
            <a:cxnLst/>
            <a:rect l="l" t="t" r="r" b="b"/>
            <a:pathLst>
              <a:path w="320420" h="320420">
                <a:moveTo>
                  <a:pt x="32042" y="0"/>
                </a:moveTo>
                <a:lnTo>
                  <a:pt x="288378" y="0"/>
                </a:lnTo>
                <a:cubicBezTo>
                  <a:pt x="306075" y="0"/>
                  <a:pt x="320420" y="14346"/>
                  <a:pt x="320420" y="32042"/>
                </a:cubicBezTo>
                <a:lnTo>
                  <a:pt x="320420" y="288378"/>
                </a:lnTo>
                <a:cubicBezTo>
                  <a:pt x="320420" y="306075"/>
                  <a:pt x="306075" y="320420"/>
                  <a:pt x="288378" y="320420"/>
                </a:cubicBezTo>
                <a:lnTo>
                  <a:pt x="32042" y="320420"/>
                </a:lnTo>
                <a:cubicBezTo>
                  <a:pt x="14346" y="320420"/>
                  <a:pt x="0" y="306075"/>
                  <a:pt x="0" y="288378"/>
                </a:cubicBezTo>
                <a:lnTo>
                  <a:pt x="0" y="32042"/>
                </a:lnTo>
                <a:cubicBezTo>
                  <a:pt x="0" y="14358"/>
                  <a:pt x="14358" y="0"/>
                  <a:pt x="32042" y="0"/>
                </a:cubicBezTo>
                <a:close/>
              </a:path>
            </a:pathLst>
          </a:custGeom>
          <a:solidFill>
            <a:srgbClr val="7A6250"/>
          </a:solidFill>
          <a:ln/>
        </p:spPr>
      </p:sp>
      <p:sp>
        <p:nvSpPr>
          <p:cNvPr id="3" name="Text 1"/>
          <p:cNvSpPr/>
          <p:nvPr/>
        </p:nvSpPr>
        <p:spPr>
          <a:xfrm>
            <a:off x="437449" y="368484"/>
            <a:ext cx="168221" cy="224294"/>
          </a:xfrm>
          <a:prstGeom prst="rect">
            <a:avLst/>
          </a:prstGeom>
          <a:noFill/>
          <a:ln/>
        </p:spPr>
        <p:txBody>
          <a:bodyPr wrap="square" lIns="0" tIns="0" rIns="0" bIns="0" rtlCol="0" anchor="ctr"/>
          <a:lstStyle/>
          <a:p>
            <a:pPr>
              <a:lnSpc>
                <a:spcPct val="120000"/>
              </a:lnSpc>
            </a:pPr>
            <a:r>
              <a:rPr lang="en-US" sz="1261" b="1" dirty="0">
                <a:solidFill>
                  <a:srgbClr val="F8F6F2"/>
                </a:solidFill>
                <a:latin typeface="Oranienbaum" pitchFamily="34" charset="0"/>
                <a:ea typeface="Oranienbaum" pitchFamily="34" charset="-122"/>
                <a:cs typeface="Oranienbaum" pitchFamily="34" charset="-120"/>
              </a:rPr>
              <a:t>8</a:t>
            </a:r>
            <a:endParaRPr lang="en-US" sz="1600" dirty="0"/>
          </a:p>
        </p:txBody>
      </p:sp>
      <p:sp>
        <p:nvSpPr>
          <p:cNvPr id="4" name="Text 2"/>
          <p:cNvSpPr/>
          <p:nvPr/>
        </p:nvSpPr>
        <p:spPr>
          <a:xfrm>
            <a:off x="736967" y="320420"/>
            <a:ext cx="4742223" cy="320420"/>
          </a:xfrm>
          <a:prstGeom prst="rect">
            <a:avLst/>
          </a:prstGeom>
          <a:noFill/>
          <a:ln/>
        </p:spPr>
        <p:txBody>
          <a:bodyPr wrap="square" lIns="0" tIns="0" rIns="0" bIns="0" rtlCol="0" anchor="ctr"/>
          <a:lstStyle/>
          <a:p>
            <a:pPr>
              <a:lnSpc>
                <a:spcPct val="90000"/>
              </a:lnSpc>
            </a:pPr>
            <a:r>
              <a:rPr lang="en-US" sz="2271" b="1" dirty="0">
                <a:solidFill>
                  <a:srgbClr val="3A4D39"/>
                </a:solidFill>
                <a:latin typeface="Oranienbaum" pitchFamily="34" charset="0"/>
                <a:ea typeface="Oranienbaum" pitchFamily="34" charset="-122"/>
                <a:cs typeface="Oranienbaum" pitchFamily="34" charset="-120"/>
              </a:rPr>
              <a:t>Monitoring and Reporting Framework</a:t>
            </a:r>
            <a:endParaRPr lang="en-US" sz="1600" dirty="0"/>
          </a:p>
        </p:txBody>
      </p:sp>
      <p:sp>
        <p:nvSpPr>
          <p:cNvPr id="5" name="Shape 3"/>
          <p:cNvSpPr/>
          <p:nvPr/>
        </p:nvSpPr>
        <p:spPr>
          <a:xfrm>
            <a:off x="320420" y="704925"/>
            <a:ext cx="640841" cy="32042"/>
          </a:xfrm>
          <a:custGeom>
            <a:avLst/>
            <a:gdLst/>
            <a:ahLst/>
            <a:cxnLst/>
            <a:rect l="l" t="t" r="r" b="b"/>
            <a:pathLst>
              <a:path w="640841" h="32042">
                <a:moveTo>
                  <a:pt x="0" y="0"/>
                </a:moveTo>
                <a:lnTo>
                  <a:pt x="640841" y="0"/>
                </a:lnTo>
                <a:lnTo>
                  <a:pt x="640841" y="32042"/>
                </a:lnTo>
                <a:lnTo>
                  <a:pt x="0" y="32042"/>
                </a:lnTo>
                <a:lnTo>
                  <a:pt x="0" y="0"/>
                </a:lnTo>
                <a:close/>
              </a:path>
            </a:pathLst>
          </a:custGeom>
          <a:solidFill>
            <a:srgbClr val="BCA37F"/>
          </a:solidFill>
          <a:ln/>
        </p:spPr>
      </p:sp>
      <p:sp>
        <p:nvSpPr>
          <p:cNvPr id="6" name="Shape 4"/>
          <p:cNvSpPr/>
          <p:nvPr/>
        </p:nvSpPr>
        <p:spPr>
          <a:xfrm>
            <a:off x="320420" y="881156"/>
            <a:ext cx="5711495" cy="4245572"/>
          </a:xfrm>
          <a:custGeom>
            <a:avLst/>
            <a:gdLst/>
            <a:ahLst/>
            <a:cxnLst/>
            <a:rect l="l" t="t" r="r" b="b"/>
            <a:pathLst>
              <a:path w="5711495" h="4245572">
                <a:moveTo>
                  <a:pt x="32042" y="0"/>
                </a:moveTo>
                <a:lnTo>
                  <a:pt x="5679453" y="0"/>
                </a:lnTo>
                <a:cubicBezTo>
                  <a:pt x="5697150" y="0"/>
                  <a:pt x="5711495" y="14346"/>
                  <a:pt x="5711495" y="32042"/>
                </a:cubicBezTo>
                <a:lnTo>
                  <a:pt x="5711495" y="4181506"/>
                </a:lnTo>
                <a:cubicBezTo>
                  <a:pt x="5711495" y="4216888"/>
                  <a:pt x="5682812" y="4245572"/>
                  <a:pt x="5647430" y="4245572"/>
                </a:cubicBezTo>
                <a:lnTo>
                  <a:pt x="64066" y="4245572"/>
                </a:lnTo>
                <a:cubicBezTo>
                  <a:pt x="28683" y="4245572"/>
                  <a:pt x="0" y="4216888"/>
                  <a:pt x="0" y="4181506"/>
                </a:cubicBezTo>
                <a:lnTo>
                  <a:pt x="0" y="32042"/>
                </a:lnTo>
                <a:cubicBezTo>
                  <a:pt x="0" y="14358"/>
                  <a:pt x="14358" y="0"/>
                  <a:pt x="32042" y="0"/>
                </a:cubicBezTo>
                <a:close/>
              </a:path>
            </a:pathLst>
          </a:custGeom>
          <a:solidFill>
            <a:srgbClr val="FFFFFF"/>
          </a:solidFill>
          <a:ln/>
          <a:effectLst>
            <a:outerShdw sx="100000" sy="100000" kx="0" ky="0" algn="bl" rotWithShape="0" blurRad="24032" dist="8011" dir="5400000">
              <a:srgbClr val="000000">
                <a:alpha val="10196"/>
              </a:srgbClr>
            </a:outerShdw>
          </a:effectLst>
        </p:spPr>
      </p:sp>
      <p:sp>
        <p:nvSpPr>
          <p:cNvPr id="7" name="Shape 5"/>
          <p:cNvSpPr/>
          <p:nvPr/>
        </p:nvSpPr>
        <p:spPr>
          <a:xfrm>
            <a:off x="320420" y="881156"/>
            <a:ext cx="5711495" cy="32042"/>
          </a:xfrm>
          <a:custGeom>
            <a:avLst/>
            <a:gdLst/>
            <a:ahLst/>
            <a:cxnLst/>
            <a:rect l="l" t="t" r="r" b="b"/>
            <a:pathLst>
              <a:path w="5711495" h="32042">
                <a:moveTo>
                  <a:pt x="32042" y="0"/>
                </a:moveTo>
                <a:lnTo>
                  <a:pt x="5679453" y="0"/>
                </a:lnTo>
                <a:cubicBezTo>
                  <a:pt x="5697150" y="0"/>
                  <a:pt x="5711495" y="14346"/>
                  <a:pt x="5711495" y="32042"/>
                </a:cubicBezTo>
                <a:lnTo>
                  <a:pt x="5711495" y="32042"/>
                </a:lnTo>
                <a:lnTo>
                  <a:pt x="0" y="32042"/>
                </a:lnTo>
                <a:lnTo>
                  <a:pt x="0" y="32042"/>
                </a:lnTo>
                <a:cubicBezTo>
                  <a:pt x="0" y="14358"/>
                  <a:pt x="14358" y="0"/>
                  <a:pt x="32042" y="0"/>
                </a:cubicBezTo>
                <a:close/>
              </a:path>
            </a:pathLst>
          </a:custGeom>
          <a:solidFill>
            <a:srgbClr val="3A4D39"/>
          </a:solidFill>
          <a:ln/>
        </p:spPr>
      </p:sp>
      <p:sp>
        <p:nvSpPr>
          <p:cNvPr id="8" name="Shape 6"/>
          <p:cNvSpPr/>
          <p:nvPr/>
        </p:nvSpPr>
        <p:spPr>
          <a:xfrm>
            <a:off x="458602" y="1057388"/>
            <a:ext cx="180237" cy="160210"/>
          </a:xfrm>
          <a:custGeom>
            <a:avLst/>
            <a:gdLst/>
            <a:ahLst/>
            <a:cxnLst/>
            <a:rect l="l" t="t" r="r" b="b"/>
            <a:pathLst>
              <a:path w="180237" h="160210">
                <a:moveTo>
                  <a:pt x="90118" y="10013"/>
                </a:moveTo>
                <a:cubicBezTo>
                  <a:pt x="64835" y="10013"/>
                  <a:pt x="44590" y="21528"/>
                  <a:pt x="29852" y="35234"/>
                </a:cubicBezTo>
                <a:cubicBezTo>
                  <a:pt x="15207" y="48845"/>
                  <a:pt x="5413" y="65085"/>
                  <a:pt x="751" y="76256"/>
                </a:cubicBezTo>
                <a:cubicBezTo>
                  <a:pt x="-282" y="78728"/>
                  <a:pt x="-282" y="81482"/>
                  <a:pt x="751" y="83954"/>
                </a:cubicBezTo>
                <a:cubicBezTo>
                  <a:pt x="5413" y="95125"/>
                  <a:pt x="15207" y="111396"/>
                  <a:pt x="29852" y="124977"/>
                </a:cubicBezTo>
                <a:cubicBezTo>
                  <a:pt x="44590" y="138651"/>
                  <a:pt x="64835" y="150197"/>
                  <a:pt x="90118" y="150197"/>
                </a:cubicBezTo>
                <a:cubicBezTo>
                  <a:pt x="115401" y="150197"/>
                  <a:pt x="135647" y="138682"/>
                  <a:pt x="150385" y="124977"/>
                </a:cubicBezTo>
                <a:cubicBezTo>
                  <a:pt x="165029" y="111365"/>
                  <a:pt x="174823" y="95125"/>
                  <a:pt x="179486" y="83954"/>
                </a:cubicBezTo>
                <a:cubicBezTo>
                  <a:pt x="180518" y="81482"/>
                  <a:pt x="180518" y="78728"/>
                  <a:pt x="179486" y="76256"/>
                </a:cubicBezTo>
                <a:cubicBezTo>
                  <a:pt x="174823" y="65085"/>
                  <a:pt x="165029" y="48814"/>
                  <a:pt x="150385" y="35234"/>
                </a:cubicBezTo>
                <a:cubicBezTo>
                  <a:pt x="135647" y="21560"/>
                  <a:pt x="115401" y="10013"/>
                  <a:pt x="90118" y="10013"/>
                </a:cubicBezTo>
                <a:close/>
                <a:moveTo>
                  <a:pt x="45059" y="80105"/>
                </a:moveTo>
                <a:cubicBezTo>
                  <a:pt x="45059" y="55236"/>
                  <a:pt x="65249" y="35046"/>
                  <a:pt x="90118" y="35046"/>
                </a:cubicBezTo>
                <a:cubicBezTo>
                  <a:pt x="114987" y="35046"/>
                  <a:pt x="135177" y="55236"/>
                  <a:pt x="135177" y="80105"/>
                </a:cubicBezTo>
                <a:cubicBezTo>
                  <a:pt x="135177" y="104974"/>
                  <a:pt x="114987" y="125164"/>
                  <a:pt x="90118" y="125164"/>
                </a:cubicBezTo>
                <a:cubicBezTo>
                  <a:pt x="65249" y="125164"/>
                  <a:pt x="45059" y="104974"/>
                  <a:pt x="45059" y="80105"/>
                </a:cubicBezTo>
                <a:close/>
                <a:moveTo>
                  <a:pt x="90118" y="60079"/>
                </a:moveTo>
                <a:cubicBezTo>
                  <a:pt x="90118" y="71125"/>
                  <a:pt x="81138" y="80105"/>
                  <a:pt x="70092" y="80105"/>
                </a:cubicBezTo>
                <a:cubicBezTo>
                  <a:pt x="66494" y="80105"/>
                  <a:pt x="63114" y="79166"/>
                  <a:pt x="60173" y="77477"/>
                </a:cubicBezTo>
                <a:cubicBezTo>
                  <a:pt x="59860" y="80887"/>
                  <a:pt x="60141" y="84392"/>
                  <a:pt x="61080" y="87865"/>
                </a:cubicBezTo>
                <a:cubicBezTo>
                  <a:pt x="65367" y="103886"/>
                  <a:pt x="81857" y="113399"/>
                  <a:pt x="97878" y="109112"/>
                </a:cubicBezTo>
                <a:cubicBezTo>
                  <a:pt x="113899" y="104825"/>
                  <a:pt x="123412" y="88335"/>
                  <a:pt x="119125" y="72314"/>
                </a:cubicBezTo>
                <a:cubicBezTo>
                  <a:pt x="115308" y="58014"/>
                  <a:pt x="101759" y="48908"/>
                  <a:pt x="87490" y="50160"/>
                </a:cubicBezTo>
                <a:cubicBezTo>
                  <a:pt x="89148" y="53070"/>
                  <a:pt x="90118" y="56449"/>
                  <a:pt x="90118" y="60079"/>
                </a:cubicBezTo>
                <a:close/>
              </a:path>
            </a:pathLst>
          </a:custGeom>
          <a:solidFill>
            <a:srgbClr val="3A4D39"/>
          </a:solidFill>
          <a:ln/>
        </p:spPr>
      </p:sp>
      <p:sp>
        <p:nvSpPr>
          <p:cNvPr id="9" name="Text 7"/>
          <p:cNvSpPr/>
          <p:nvPr/>
        </p:nvSpPr>
        <p:spPr>
          <a:xfrm>
            <a:off x="648852" y="1025346"/>
            <a:ext cx="5335001" cy="224294"/>
          </a:xfrm>
          <a:prstGeom prst="rect">
            <a:avLst/>
          </a:prstGeom>
          <a:noFill/>
          <a:ln/>
        </p:spPr>
        <p:txBody>
          <a:bodyPr wrap="square" lIns="0" tIns="0" rIns="0" bIns="0" rtlCol="0" anchor="ctr"/>
          <a:lstStyle/>
          <a:p>
            <a:pPr>
              <a:lnSpc>
                <a:spcPct val="120000"/>
              </a:lnSpc>
            </a:pPr>
            <a:r>
              <a:rPr lang="en-US" sz="1261" b="1" dirty="0">
                <a:solidFill>
                  <a:srgbClr val="3A4D39"/>
                </a:solidFill>
                <a:latin typeface="Unna" pitchFamily="34" charset="0"/>
                <a:ea typeface="Unna" pitchFamily="34" charset="-122"/>
                <a:cs typeface="Unna" pitchFamily="34" charset="-120"/>
              </a:rPr>
              <a:t>Monitoring Partner Obligations</a:t>
            </a:r>
            <a:endParaRPr lang="en-US" sz="1600" dirty="0"/>
          </a:p>
        </p:txBody>
      </p:sp>
      <p:sp>
        <p:nvSpPr>
          <p:cNvPr id="10" name="Shape 8"/>
          <p:cNvSpPr/>
          <p:nvPr/>
        </p:nvSpPr>
        <p:spPr>
          <a:xfrm>
            <a:off x="448589" y="1345766"/>
            <a:ext cx="5455159" cy="833093"/>
          </a:xfrm>
          <a:custGeom>
            <a:avLst/>
            <a:gdLst/>
            <a:ahLst/>
            <a:cxnLst/>
            <a:rect l="l" t="t" r="r" b="b"/>
            <a:pathLst>
              <a:path w="5455159" h="833093">
                <a:moveTo>
                  <a:pt x="64082" y="0"/>
                </a:moveTo>
                <a:lnTo>
                  <a:pt x="5391077" y="0"/>
                </a:lnTo>
                <a:cubicBezTo>
                  <a:pt x="5426469" y="0"/>
                  <a:pt x="5455159" y="28690"/>
                  <a:pt x="5455159" y="64082"/>
                </a:cubicBezTo>
                <a:lnTo>
                  <a:pt x="5455159" y="769012"/>
                </a:lnTo>
                <a:cubicBezTo>
                  <a:pt x="5455159" y="804403"/>
                  <a:pt x="5426469" y="833093"/>
                  <a:pt x="5391077" y="833093"/>
                </a:cubicBezTo>
                <a:lnTo>
                  <a:pt x="64082" y="833093"/>
                </a:lnTo>
                <a:cubicBezTo>
                  <a:pt x="28690" y="833093"/>
                  <a:pt x="0" y="804403"/>
                  <a:pt x="0" y="769012"/>
                </a:cubicBezTo>
                <a:lnTo>
                  <a:pt x="0" y="64082"/>
                </a:lnTo>
                <a:cubicBezTo>
                  <a:pt x="0" y="28714"/>
                  <a:pt x="28714" y="0"/>
                  <a:pt x="64082" y="0"/>
                </a:cubicBezTo>
                <a:close/>
              </a:path>
            </a:pathLst>
          </a:custGeom>
          <a:solidFill>
            <a:srgbClr val="F8F6F2"/>
          </a:solidFill>
          <a:ln/>
        </p:spPr>
      </p:sp>
      <p:sp>
        <p:nvSpPr>
          <p:cNvPr id="11" name="Shape 9"/>
          <p:cNvSpPr/>
          <p:nvPr/>
        </p:nvSpPr>
        <p:spPr>
          <a:xfrm>
            <a:off x="568746" y="1473934"/>
            <a:ext cx="112147" cy="128168"/>
          </a:xfrm>
          <a:custGeom>
            <a:avLst/>
            <a:gdLst/>
            <a:ahLst/>
            <a:cxnLst/>
            <a:rect l="l" t="t" r="r" b="b"/>
            <a:pathLst>
              <a:path w="112147" h="128168">
                <a:moveTo>
                  <a:pt x="32042" y="0"/>
                </a:moveTo>
                <a:cubicBezTo>
                  <a:pt x="36473" y="0"/>
                  <a:pt x="40053" y="3580"/>
                  <a:pt x="40053" y="8011"/>
                </a:cubicBezTo>
                <a:lnTo>
                  <a:pt x="40053" y="16021"/>
                </a:lnTo>
                <a:lnTo>
                  <a:pt x="72095" y="16021"/>
                </a:lnTo>
                <a:lnTo>
                  <a:pt x="72095" y="8011"/>
                </a:lnTo>
                <a:cubicBezTo>
                  <a:pt x="72095" y="3580"/>
                  <a:pt x="75674" y="0"/>
                  <a:pt x="80105" y="0"/>
                </a:cubicBezTo>
                <a:cubicBezTo>
                  <a:pt x="84536" y="0"/>
                  <a:pt x="88116" y="3580"/>
                  <a:pt x="88116" y="8011"/>
                </a:cubicBezTo>
                <a:lnTo>
                  <a:pt x="88116" y="16021"/>
                </a:lnTo>
                <a:lnTo>
                  <a:pt x="96126" y="16021"/>
                </a:lnTo>
                <a:cubicBezTo>
                  <a:pt x="104963" y="16021"/>
                  <a:pt x="112147" y="23205"/>
                  <a:pt x="112147" y="32042"/>
                </a:cubicBezTo>
                <a:lnTo>
                  <a:pt x="112147" y="104137"/>
                </a:lnTo>
                <a:cubicBezTo>
                  <a:pt x="112147" y="112973"/>
                  <a:pt x="104963" y="120158"/>
                  <a:pt x="96126" y="120158"/>
                </a:cubicBezTo>
                <a:lnTo>
                  <a:pt x="16021" y="120158"/>
                </a:lnTo>
                <a:cubicBezTo>
                  <a:pt x="7184" y="120158"/>
                  <a:pt x="0" y="112973"/>
                  <a:pt x="0" y="104137"/>
                </a:cubicBezTo>
                <a:lnTo>
                  <a:pt x="0" y="32042"/>
                </a:lnTo>
                <a:cubicBezTo>
                  <a:pt x="0" y="23205"/>
                  <a:pt x="7184" y="16021"/>
                  <a:pt x="16021" y="16021"/>
                </a:cubicBezTo>
                <a:lnTo>
                  <a:pt x="24032" y="16021"/>
                </a:lnTo>
                <a:lnTo>
                  <a:pt x="24032" y="8011"/>
                </a:lnTo>
                <a:cubicBezTo>
                  <a:pt x="24032" y="3580"/>
                  <a:pt x="27611" y="0"/>
                  <a:pt x="32042" y="0"/>
                </a:cubicBezTo>
                <a:close/>
                <a:moveTo>
                  <a:pt x="16021" y="60079"/>
                </a:moveTo>
                <a:lnTo>
                  <a:pt x="16021" y="68089"/>
                </a:lnTo>
                <a:cubicBezTo>
                  <a:pt x="16021" y="70292"/>
                  <a:pt x="17823" y="72095"/>
                  <a:pt x="20026" y="72095"/>
                </a:cubicBezTo>
                <a:lnTo>
                  <a:pt x="28037" y="72095"/>
                </a:lnTo>
                <a:cubicBezTo>
                  <a:pt x="30240" y="72095"/>
                  <a:pt x="32042" y="70292"/>
                  <a:pt x="32042" y="68089"/>
                </a:cubicBezTo>
                <a:lnTo>
                  <a:pt x="32042" y="60079"/>
                </a:lnTo>
                <a:cubicBezTo>
                  <a:pt x="32042" y="57876"/>
                  <a:pt x="30240" y="56074"/>
                  <a:pt x="28037" y="56074"/>
                </a:cubicBezTo>
                <a:lnTo>
                  <a:pt x="20026" y="56074"/>
                </a:lnTo>
                <a:cubicBezTo>
                  <a:pt x="17823" y="56074"/>
                  <a:pt x="16021" y="57876"/>
                  <a:pt x="16021" y="60079"/>
                </a:cubicBezTo>
                <a:close/>
                <a:moveTo>
                  <a:pt x="48063" y="60079"/>
                </a:moveTo>
                <a:lnTo>
                  <a:pt x="48063" y="68089"/>
                </a:lnTo>
                <a:cubicBezTo>
                  <a:pt x="48063" y="70292"/>
                  <a:pt x="49865" y="72095"/>
                  <a:pt x="52068" y="72095"/>
                </a:cubicBezTo>
                <a:lnTo>
                  <a:pt x="60079" y="72095"/>
                </a:lnTo>
                <a:cubicBezTo>
                  <a:pt x="62282" y="72095"/>
                  <a:pt x="64084" y="70292"/>
                  <a:pt x="64084" y="68089"/>
                </a:cubicBezTo>
                <a:lnTo>
                  <a:pt x="64084" y="60079"/>
                </a:lnTo>
                <a:cubicBezTo>
                  <a:pt x="64084" y="57876"/>
                  <a:pt x="62282" y="56074"/>
                  <a:pt x="60079" y="56074"/>
                </a:cubicBezTo>
                <a:lnTo>
                  <a:pt x="52068" y="56074"/>
                </a:lnTo>
                <a:cubicBezTo>
                  <a:pt x="49865" y="56074"/>
                  <a:pt x="48063" y="57876"/>
                  <a:pt x="48063" y="60079"/>
                </a:cubicBezTo>
                <a:close/>
                <a:moveTo>
                  <a:pt x="84110" y="56074"/>
                </a:moveTo>
                <a:cubicBezTo>
                  <a:pt x="81907" y="56074"/>
                  <a:pt x="80105" y="57876"/>
                  <a:pt x="80105" y="60079"/>
                </a:cubicBezTo>
                <a:lnTo>
                  <a:pt x="80105" y="68089"/>
                </a:lnTo>
                <a:cubicBezTo>
                  <a:pt x="80105" y="70292"/>
                  <a:pt x="81907" y="72095"/>
                  <a:pt x="84110" y="72095"/>
                </a:cubicBezTo>
                <a:lnTo>
                  <a:pt x="92121" y="72095"/>
                </a:lnTo>
                <a:cubicBezTo>
                  <a:pt x="94324" y="72095"/>
                  <a:pt x="96126" y="70292"/>
                  <a:pt x="96126" y="68089"/>
                </a:cubicBezTo>
                <a:lnTo>
                  <a:pt x="96126" y="60079"/>
                </a:lnTo>
                <a:cubicBezTo>
                  <a:pt x="96126" y="57876"/>
                  <a:pt x="94324" y="56074"/>
                  <a:pt x="92121" y="56074"/>
                </a:cubicBezTo>
                <a:lnTo>
                  <a:pt x="84110" y="56074"/>
                </a:lnTo>
                <a:close/>
                <a:moveTo>
                  <a:pt x="16021" y="92121"/>
                </a:moveTo>
                <a:lnTo>
                  <a:pt x="16021" y="100131"/>
                </a:lnTo>
                <a:cubicBezTo>
                  <a:pt x="16021" y="102334"/>
                  <a:pt x="17823" y="104137"/>
                  <a:pt x="20026" y="104137"/>
                </a:cubicBezTo>
                <a:lnTo>
                  <a:pt x="28037" y="104137"/>
                </a:lnTo>
                <a:cubicBezTo>
                  <a:pt x="30240" y="104137"/>
                  <a:pt x="32042" y="102334"/>
                  <a:pt x="32042" y="100131"/>
                </a:cubicBezTo>
                <a:lnTo>
                  <a:pt x="32042" y="92121"/>
                </a:lnTo>
                <a:cubicBezTo>
                  <a:pt x="32042" y="89918"/>
                  <a:pt x="30240" y="88116"/>
                  <a:pt x="28037" y="88116"/>
                </a:cubicBezTo>
                <a:lnTo>
                  <a:pt x="20026" y="88116"/>
                </a:lnTo>
                <a:cubicBezTo>
                  <a:pt x="17823" y="88116"/>
                  <a:pt x="16021" y="89918"/>
                  <a:pt x="16021" y="92121"/>
                </a:cubicBezTo>
                <a:close/>
                <a:moveTo>
                  <a:pt x="52068" y="88116"/>
                </a:moveTo>
                <a:cubicBezTo>
                  <a:pt x="49865" y="88116"/>
                  <a:pt x="48063" y="89918"/>
                  <a:pt x="48063" y="92121"/>
                </a:cubicBezTo>
                <a:lnTo>
                  <a:pt x="48063" y="100131"/>
                </a:lnTo>
                <a:cubicBezTo>
                  <a:pt x="48063" y="102334"/>
                  <a:pt x="49865" y="104137"/>
                  <a:pt x="52068" y="104137"/>
                </a:cubicBezTo>
                <a:lnTo>
                  <a:pt x="60079" y="104137"/>
                </a:lnTo>
                <a:cubicBezTo>
                  <a:pt x="62282" y="104137"/>
                  <a:pt x="64084" y="102334"/>
                  <a:pt x="64084" y="100131"/>
                </a:cubicBezTo>
                <a:lnTo>
                  <a:pt x="64084" y="92121"/>
                </a:lnTo>
                <a:cubicBezTo>
                  <a:pt x="64084" y="89918"/>
                  <a:pt x="62282" y="88116"/>
                  <a:pt x="60079" y="88116"/>
                </a:cubicBezTo>
                <a:lnTo>
                  <a:pt x="52068" y="88116"/>
                </a:lnTo>
                <a:close/>
                <a:moveTo>
                  <a:pt x="80105" y="92121"/>
                </a:moveTo>
                <a:lnTo>
                  <a:pt x="80105" y="100131"/>
                </a:lnTo>
                <a:cubicBezTo>
                  <a:pt x="80105" y="102334"/>
                  <a:pt x="81907" y="104137"/>
                  <a:pt x="84110" y="104137"/>
                </a:cubicBezTo>
                <a:lnTo>
                  <a:pt x="92121" y="104137"/>
                </a:lnTo>
                <a:cubicBezTo>
                  <a:pt x="94324" y="104137"/>
                  <a:pt x="96126" y="102334"/>
                  <a:pt x="96126" y="100131"/>
                </a:cubicBezTo>
                <a:lnTo>
                  <a:pt x="96126" y="92121"/>
                </a:lnTo>
                <a:cubicBezTo>
                  <a:pt x="96126" y="89918"/>
                  <a:pt x="94324" y="88116"/>
                  <a:pt x="92121" y="88116"/>
                </a:cubicBezTo>
                <a:lnTo>
                  <a:pt x="84110" y="88116"/>
                </a:lnTo>
                <a:cubicBezTo>
                  <a:pt x="81907" y="88116"/>
                  <a:pt x="80105" y="89918"/>
                  <a:pt x="80105" y="92121"/>
                </a:cubicBezTo>
                <a:close/>
              </a:path>
            </a:pathLst>
          </a:custGeom>
          <a:solidFill>
            <a:srgbClr val="3A4D39"/>
          </a:solidFill>
          <a:ln/>
        </p:spPr>
      </p:sp>
      <p:sp>
        <p:nvSpPr>
          <p:cNvPr id="12" name="Text 10"/>
          <p:cNvSpPr/>
          <p:nvPr/>
        </p:nvSpPr>
        <p:spPr>
          <a:xfrm>
            <a:off x="769009" y="1441892"/>
            <a:ext cx="921209" cy="192252"/>
          </a:xfrm>
          <a:prstGeom prst="rect">
            <a:avLst/>
          </a:prstGeom>
          <a:noFill/>
          <a:ln/>
        </p:spPr>
        <p:txBody>
          <a:bodyPr wrap="square" lIns="0" tIns="0" rIns="0" bIns="0" rtlCol="0" anchor="ctr"/>
          <a:lstStyle/>
          <a:p>
            <a:pPr>
              <a:lnSpc>
                <a:spcPct val="130000"/>
              </a:lnSpc>
            </a:pPr>
            <a:r>
              <a:rPr lang="en-US" sz="1009" b="1" dirty="0">
                <a:solidFill>
                  <a:srgbClr val="3A4D39"/>
                </a:solidFill>
                <a:latin typeface="Unna" pitchFamily="34" charset="0"/>
                <a:ea typeface="Unna" pitchFamily="34" charset="-122"/>
                <a:cs typeface="Unna" pitchFamily="34" charset="-120"/>
              </a:rPr>
              <a:t>Visit Frequency</a:t>
            </a:r>
            <a:endParaRPr lang="en-US" sz="1600" dirty="0"/>
          </a:p>
        </p:txBody>
      </p:sp>
      <p:sp>
        <p:nvSpPr>
          <p:cNvPr id="13" name="Text 11"/>
          <p:cNvSpPr/>
          <p:nvPr/>
        </p:nvSpPr>
        <p:spPr>
          <a:xfrm>
            <a:off x="544715" y="1698229"/>
            <a:ext cx="5326991" cy="384505"/>
          </a:xfrm>
          <a:prstGeom prst="rect">
            <a:avLst/>
          </a:prstGeom>
          <a:noFill/>
          <a:ln/>
        </p:spPr>
        <p:txBody>
          <a:bodyPr wrap="square" lIns="0" tIns="0" rIns="0" bIns="0" rtlCol="0" anchor="ctr"/>
          <a:lstStyle/>
          <a:p>
            <a:pPr>
              <a:lnSpc>
                <a:spcPct val="130000"/>
              </a:lnSpc>
            </a:pPr>
            <a:r>
              <a:rPr lang="en-US" sz="1009" dirty="0">
                <a:solidFill>
                  <a:srgbClr val="2C2C2C"/>
                </a:solidFill>
                <a:latin typeface="Quattrocento Sans" pitchFamily="34" charset="0"/>
                <a:ea typeface="Quattrocento Sans" pitchFamily="34" charset="-122"/>
                <a:cs typeface="Quattrocento Sans" pitchFamily="34" charset="-120"/>
              </a:rPr>
              <a:t>Mandatory bi-weekly visits throughout the 8-month season (minimum 16 visits per Monitoring Partner)</a:t>
            </a:r>
            <a:endParaRPr lang="en-US" sz="1600" dirty="0"/>
          </a:p>
        </p:txBody>
      </p:sp>
      <p:sp>
        <p:nvSpPr>
          <p:cNvPr id="14" name="Shape 12"/>
          <p:cNvSpPr/>
          <p:nvPr/>
        </p:nvSpPr>
        <p:spPr>
          <a:xfrm>
            <a:off x="448589" y="2274986"/>
            <a:ext cx="5455159" cy="640841"/>
          </a:xfrm>
          <a:custGeom>
            <a:avLst/>
            <a:gdLst/>
            <a:ahLst/>
            <a:cxnLst/>
            <a:rect l="l" t="t" r="r" b="b"/>
            <a:pathLst>
              <a:path w="5455159" h="640841">
                <a:moveTo>
                  <a:pt x="64084" y="0"/>
                </a:moveTo>
                <a:lnTo>
                  <a:pt x="5391075" y="0"/>
                </a:lnTo>
                <a:cubicBezTo>
                  <a:pt x="5426468" y="0"/>
                  <a:pt x="5455159" y="28691"/>
                  <a:pt x="5455159" y="64084"/>
                </a:cubicBezTo>
                <a:lnTo>
                  <a:pt x="5455159" y="576757"/>
                </a:lnTo>
                <a:cubicBezTo>
                  <a:pt x="5455159" y="612150"/>
                  <a:pt x="5426468" y="640841"/>
                  <a:pt x="5391075" y="640841"/>
                </a:cubicBezTo>
                <a:lnTo>
                  <a:pt x="64084" y="640841"/>
                </a:lnTo>
                <a:cubicBezTo>
                  <a:pt x="28691" y="640841"/>
                  <a:pt x="0" y="612150"/>
                  <a:pt x="0" y="576757"/>
                </a:cubicBezTo>
                <a:lnTo>
                  <a:pt x="0" y="64084"/>
                </a:lnTo>
                <a:cubicBezTo>
                  <a:pt x="0" y="28715"/>
                  <a:pt x="28715" y="0"/>
                  <a:pt x="64084" y="0"/>
                </a:cubicBezTo>
                <a:close/>
              </a:path>
            </a:pathLst>
          </a:custGeom>
          <a:solidFill>
            <a:srgbClr val="F8F6F2"/>
          </a:solidFill>
          <a:ln/>
        </p:spPr>
      </p:sp>
      <p:sp>
        <p:nvSpPr>
          <p:cNvPr id="15" name="Shape 13"/>
          <p:cNvSpPr/>
          <p:nvPr/>
        </p:nvSpPr>
        <p:spPr>
          <a:xfrm>
            <a:off x="560736" y="2403154"/>
            <a:ext cx="128168" cy="128168"/>
          </a:xfrm>
          <a:custGeom>
            <a:avLst/>
            <a:gdLst/>
            <a:ahLst/>
            <a:cxnLst/>
            <a:rect l="l" t="t" r="r" b="b"/>
            <a:pathLst>
              <a:path w="128168" h="128168">
                <a:moveTo>
                  <a:pt x="64084" y="0"/>
                </a:moveTo>
                <a:cubicBezTo>
                  <a:pt x="99453" y="0"/>
                  <a:pt x="128168" y="28715"/>
                  <a:pt x="128168" y="64084"/>
                </a:cubicBezTo>
                <a:cubicBezTo>
                  <a:pt x="128168" y="99453"/>
                  <a:pt x="99453" y="128168"/>
                  <a:pt x="64084" y="128168"/>
                </a:cubicBezTo>
                <a:cubicBezTo>
                  <a:pt x="28715" y="128168"/>
                  <a:pt x="0" y="99453"/>
                  <a:pt x="0" y="64084"/>
                </a:cubicBezTo>
                <a:cubicBezTo>
                  <a:pt x="0" y="28715"/>
                  <a:pt x="28715" y="0"/>
                  <a:pt x="64084" y="0"/>
                </a:cubicBezTo>
                <a:close/>
                <a:moveTo>
                  <a:pt x="58076" y="30039"/>
                </a:moveTo>
                <a:lnTo>
                  <a:pt x="58076" y="64084"/>
                </a:lnTo>
                <a:cubicBezTo>
                  <a:pt x="58076" y="66087"/>
                  <a:pt x="59078" y="67964"/>
                  <a:pt x="60755" y="69091"/>
                </a:cubicBezTo>
                <a:lnTo>
                  <a:pt x="84786" y="85112"/>
                </a:lnTo>
                <a:cubicBezTo>
                  <a:pt x="87540" y="86964"/>
                  <a:pt x="91270" y="86213"/>
                  <a:pt x="93122" y="83434"/>
                </a:cubicBezTo>
                <a:cubicBezTo>
                  <a:pt x="94975" y="80656"/>
                  <a:pt x="94224" y="76951"/>
                  <a:pt x="91445" y="75099"/>
                </a:cubicBezTo>
                <a:lnTo>
                  <a:pt x="70092" y="60880"/>
                </a:lnTo>
                <a:lnTo>
                  <a:pt x="70092" y="30039"/>
                </a:lnTo>
                <a:cubicBezTo>
                  <a:pt x="70092" y="26710"/>
                  <a:pt x="67413" y="24032"/>
                  <a:pt x="64084" y="24032"/>
                </a:cubicBezTo>
                <a:cubicBezTo>
                  <a:pt x="60755" y="24032"/>
                  <a:pt x="58076" y="26710"/>
                  <a:pt x="58076" y="30039"/>
                </a:cubicBezTo>
                <a:close/>
              </a:path>
            </a:pathLst>
          </a:custGeom>
          <a:solidFill>
            <a:srgbClr val="7A6250"/>
          </a:solidFill>
          <a:ln/>
        </p:spPr>
      </p:sp>
      <p:sp>
        <p:nvSpPr>
          <p:cNvPr id="16" name="Text 14"/>
          <p:cNvSpPr/>
          <p:nvPr/>
        </p:nvSpPr>
        <p:spPr>
          <a:xfrm>
            <a:off x="769009" y="2371112"/>
            <a:ext cx="833093" cy="192252"/>
          </a:xfrm>
          <a:prstGeom prst="rect">
            <a:avLst/>
          </a:prstGeom>
          <a:noFill/>
          <a:ln/>
        </p:spPr>
        <p:txBody>
          <a:bodyPr wrap="square" lIns="0" tIns="0" rIns="0" bIns="0" rtlCol="0" anchor="ctr"/>
          <a:lstStyle/>
          <a:p>
            <a:pPr>
              <a:lnSpc>
                <a:spcPct val="130000"/>
              </a:lnSpc>
            </a:pPr>
            <a:r>
              <a:rPr lang="en-US" sz="1009" b="1" dirty="0">
                <a:solidFill>
                  <a:srgbClr val="3A4D39"/>
                </a:solidFill>
                <a:latin typeface="Unna" pitchFamily="34" charset="0"/>
                <a:ea typeface="Unna" pitchFamily="34" charset="-122"/>
                <a:cs typeface="Unna" pitchFamily="34" charset="-120"/>
              </a:rPr>
              <a:t>Visit Duration</a:t>
            </a:r>
            <a:endParaRPr lang="en-US" sz="1600" dirty="0"/>
          </a:p>
        </p:txBody>
      </p:sp>
      <p:sp>
        <p:nvSpPr>
          <p:cNvPr id="17" name="Text 15"/>
          <p:cNvSpPr/>
          <p:nvPr/>
        </p:nvSpPr>
        <p:spPr>
          <a:xfrm>
            <a:off x="544715" y="2627448"/>
            <a:ext cx="5326991" cy="192252"/>
          </a:xfrm>
          <a:prstGeom prst="rect">
            <a:avLst/>
          </a:prstGeom>
          <a:noFill/>
          <a:ln/>
        </p:spPr>
        <p:txBody>
          <a:bodyPr wrap="square" lIns="0" tIns="0" rIns="0" bIns="0" rtlCol="0" anchor="ctr"/>
          <a:lstStyle/>
          <a:p>
            <a:pPr>
              <a:lnSpc>
                <a:spcPct val="130000"/>
              </a:lnSpc>
            </a:pPr>
            <a:r>
              <a:rPr lang="en-US" sz="1009" dirty="0">
                <a:solidFill>
                  <a:srgbClr val="2C2C2C"/>
                </a:solidFill>
                <a:latin typeface="Quattrocento Sans" pitchFamily="34" charset="0"/>
                <a:ea typeface="Quattrocento Sans" pitchFamily="34" charset="-122"/>
                <a:cs typeface="Quattrocento Sans" pitchFamily="34" charset="-120"/>
              </a:rPr>
              <a:t>Minimum 4 hours per visit to allow comprehensive assessment of operations</a:t>
            </a:r>
            <a:endParaRPr lang="en-US" sz="1600" dirty="0"/>
          </a:p>
        </p:txBody>
      </p:sp>
      <p:sp>
        <p:nvSpPr>
          <p:cNvPr id="18" name="Shape 16"/>
          <p:cNvSpPr/>
          <p:nvPr/>
        </p:nvSpPr>
        <p:spPr>
          <a:xfrm>
            <a:off x="448589" y="3011953"/>
            <a:ext cx="5455159" cy="1538018"/>
          </a:xfrm>
          <a:custGeom>
            <a:avLst/>
            <a:gdLst/>
            <a:ahLst/>
            <a:cxnLst/>
            <a:rect l="l" t="t" r="r" b="b"/>
            <a:pathLst>
              <a:path w="5455159" h="1538018">
                <a:moveTo>
                  <a:pt x="64089" y="0"/>
                </a:moveTo>
                <a:lnTo>
                  <a:pt x="5391070" y="0"/>
                </a:lnTo>
                <a:cubicBezTo>
                  <a:pt x="5426465" y="0"/>
                  <a:pt x="5455159" y="28694"/>
                  <a:pt x="5455159" y="64089"/>
                </a:cubicBezTo>
                <a:lnTo>
                  <a:pt x="5455159" y="1473929"/>
                </a:lnTo>
                <a:cubicBezTo>
                  <a:pt x="5455159" y="1509325"/>
                  <a:pt x="5426465" y="1538018"/>
                  <a:pt x="5391070" y="1538018"/>
                </a:cubicBezTo>
                <a:lnTo>
                  <a:pt x="64089" y="1538018"/>
                </a:lnTo>
                <a:cubicBezTo>
                  <a:pt x="28694" y="1538018"/>
                  <a:pt x="0" y="1509325"/>
                  <a:pt x="0" y="1473929"/>
                </a:cubicBezTo>
                <a:lnTo>
                  <a:pt x="0" y="64089"/>
                </a:lnTo>
                <a:cubicBezTo>
                  <a:pt x="0" y="28717"/>
                  <a:pt x="28717" y="0"/>
                  <a:pt x="64089" y="0"/>
                </a:cubicBezTo>
                <a:close/>
              </a:path>
            </a:pathLst>
          </a:custGeom>
          <a:solidFill>
            <a:srgbClr val="F8F6F2"/>
          </a:solidFill>
          <a:ln/>
        </p:spPr>
      </p:sp>
      <p:sp>
        <p:nvSpPr>
          <p:cNvPr id="19" name="Shape 17"/>
          <p:cNvSpPr/>
          <p:nvPr/>
        </p:nvSpPr>
        <p:spPr>
          <a:xfrm>
            <a:off x="560736" y="3140121"/>
            <a:ext cx="128168" cy="128168"/>
          </a:xfrm>
          <a:custGeom>
            <a:avLst/>
            <a:gdLst/>
            <a:ahLst/>
            <a:cxnLst/>
            <a:rect l="l" t="t" r="r" b="b"/>
            <a:pathLst>
              <a:path w="128168" h="128168">
                <a:moveTo>
                  <a:pt x="33494" y="9087"/>
                </a:moveTo>
                <a:cubicBezTo>
                  <a:pt x="36223" y="10989"/>
                  <a:pt x="36873" y="14744"/>
                  <a:pt x="34971" y="17448"/>
                </a:cubicBezTo>
                <a:lnTo>
                  <a:pt x="20952" y="37474"/>
                </a:lnTo>
                <a:cubicBezTo>
                  <a:pt x="19926" y="38926"/>
                  <a:pt x="18324" y="39852"/>
                  <a:pt x="16547" y="40002"/>
                </a:cubicBezTo>
                <a:cubicBezTo>
                  <a:pt x="14769" y="40153"/>
                  <a:pt x="13017" y="39552"/>
                  <a:pt x="11765" y="38300"/>
                </a:cubicBezTo>
                <a:lnTo>
                  <a:pt x="1752" y="28287"/>
                </a:lnTo>
                <a:cubicBezTo>
                  <a:pt x="-576" y="25934"/>
                  <a:pt x="-576" y="22129"/>
                  <a:pt x="1752" y="19776"/>
                </a:cubicBezTo>
                <a:cubicBezTo>
                  <a:pt x="4080" y="17423"/>
                  <a:pt x="7910" y="17448"/>
                  <a:pt x="10263" y="19776"/>
                </a:cubicBezTo>
                <a:lnTo>
                  <a:pt x="15220" y="24732"/>
                </a:lnTo>
                <a:lnTo>
                  <a:pt x="25133" y="10564"/>
                </a:lnTo>
                <a:cubicBezTo>
                  <a:pt x="27035" y="7835"/>
                  <a:pt x="30790" y="7184"/>
                  <a:pt x="33494" y="9087"/>
                </a:cubicBezTo>
                <a:close/>
                <a:moveTo>
                  <a:pt x="33494" y="49139"/>
                </a:moveTo>
                <a:cubicBezTo>
                  <a:pt x="36223" y="51042"/>
                  <a:pt x="36873" y="54797"/>
                  <a:pt x="34971" y="57500"/>
                </a:cubicBezTo>
                <a:lnTo>
                  <a:pt x="20952" y="77527"/>
                </a:lnTo>
                <a:cubicBezTo>
                  <a:pt x="19926" y="78979"/>
                  <a:pt x="18324" y="79905"/>
                  <a:pt x="16547" y="80055"/>
                </a:cubicBezTo>
                <a:cubicBezTo>
                  <a:pt x="14769" y="80205"/>
                  <a:pt x="13017" y="79604"/>
                  <a:pt x="11765" y="78353"/>
                </a:cubicBezTo>
                <a:lnTo>
                  <a:pt x="1752" y="68340"/>
                </a:lnTo>
                <a:cubicBezTo>
                  <a:pt x="-601" y="65987"/>
                  <a:pt x="-601" y="62182"/>
                  <a:pt x="1752" y="59854"/>
                </a:cubicBezTo>
                <a:cubicBezTo>
                  <a:pt x="4105" y="57525"/>
                  <a:pt x="7910" y="57500"/>
                  <a:pt x="10238" y="59854"/>
                </a:cubicBezTo>
                <a:lnTo>
                  <a:pt x="15195" y="64810"/>
                </a:lnTo>
                <a:lnTo>
                  <a:pt x="25108" y="50641"/>
                </a:lnTo>
                <a:cubicBezTo>
                  <a:pt x="27010" y="47913"/>
                  <a:pt x="30765" y="47262"/>
                  <a:pt x="33469" y="49165"/>
                </a:cubicBezTo>
                <a:close/>
                <a:moveTo>
                  <a:pt x="56074" y="24032"/>
                </a:moveTo>
                <a:cubicBezTo>
                  <a:pt x="56074" y="19601"/>
                  <a:pt x="59653" y="16021"/>
                  <a:pt x="64084" y="16021"/>
                </a:cubicBezTo>
                <a:lnTo>
                  <a:pt x="120158" y="16021"/>
                </a:lnTo>
                <a:cubicBezTo>
                  <a:pt x="124589" y="16021"/>
                  <a:pt x="128168" y="19601"/>
                  <a:pt x="128168" y="24032"/>
                </a:cubicBezTo>
                <a:cubicBezTo>
                  <a:pt x="128168" y="28462"/>
                  <a:pt x="124589" y="32042"/>
                  <a:pt x="120158" y="32042"/>
                </a:cubicBezTo>
                <a:lnTo>
                  <a:pt x="64084" y="32042"/>
                </a:lnTo>
                <a:cubicBezTo>
                  <a:pt x="59653" y="32042"/>
                  <a:pt x="56074" y="28462"/>
                  <a:pt x="56074" y="24032"/>
                </a:cubicBezTo>
                <a:close/>
                <a:moveTo>
                  <a:pt x="56074" y="64084"/>
                </a:moveTo>
                <a:cubicBezTo>
                  <a:pt x="56074" y="59653"/>
                  <a:pt x="59653" y="56074"/>
                  <a:pt x="64084" y="56074"/>
                </a:cubicBezTo>
                <a:lnTo>
                  <a:pt x="120158" y="56074"/>
                </a:lnTo>
                <a:cubicBezTo>
                  <a:pt x="124589" y="56074"/>
                  <a:pt x="128168" y="59653"/>
                  <a:pt x="128168" y="64084"/>
                </a:cubicBezTo>
                <a:cubicBezTo>
                  <a:pt x="128168" y="68515"/>
                  <a:pt x="124589" y="72095"/>
                  <a:pt x="120158" y="72095"/>
                </a:cubicBezTo>
                <a:lnTo>
                  <a:pt x="64084" y="72095"/>
                </a:lnTo>
                <a:cubicBezTo>
                  <a:pt x="59653" y="72095"/>
                  <a:pt x="56074" y="68515"/>
                  <a:pt x="56074" y="64084"/>
                </a:cubicBezTo>
                <a:close/>
                <a:moveTo>
                  <a:pt x="40053" y="104137"/>
                </a:moveTo>
                <a:cubicBezTo>
                  <a:pt x="40053" y="99706"/>
                  <a:pt x="43632" y="96126"/>
                  <a:pt x="48063" y="96126"/>
                </a:cubicBezTo>
                <a:lnTo>
                  <a:pt x="120158" y="96126"/>
                </a:lnTo>
                <a:cubicBezTo>
                  <a:pt x="124589" y="96126"/>
                  <a:pt x="128168" y="99706"/>
                  <a:pt x="128168" y="104137"/>
                </a:cubicBezTo>
                <a:cubicBezTo>
                  <a:pt x="128168" y="108567"/>
                  <a:pt x="124589" y="112147"/>
                  <a:pt x="120158" y="112147"/>
                </a:cubicBezTo>
                <a:lnTo>
                  <a:pt x="48063" y="112147"/>
                </a:lnTo>
                <a:cubicBezTo>
                  <a:pt x="43632" y="112147"/>
                  <a:pt x="40053" y="108567"/>
                  <a:pt x="40053" y="104137"/>
                </a:cubicBezTo>
                <a:close/>
                <a:moveTo>
                  <a:pt x="16021" y="94124"/>
                </a:moveTo>
                <a:cubicBezTo>
                  <a:pt x="21547" y="94124"/>
                  <a:pt x="26034" y="98610"/>
                  <a:pt x="26034" y="104137"/>
                </a:cubicBezTo>
                <a:cubicBezTo>
                  <a:pt x="26034" y="109663"/>
                  <a:pt x="21547" y="114150"/>
                  <a:pt x="16021" y="114150"/>
                </a:cubicBezTo>
                <a:cubicBezTo>
                  <a:pt x="10495" y="114150"/>
                  <a:pt x="6008" y="109663"/>
                  <a:pt x="6008" y="104137"/>
                </a:cubicBezTo>
                <a:cubicBezTo>
                  <a:pt x="6008" y="98610"/>
                  <a:pt x="10495" y="94124"/>
                  <a:pt x="16021" y="94124"/>
                </a:cubicBezTo>
                <a:close/>
              </a:path>
            </a:pathLst>
          </a:custGeom>
          <a:solidFill>
            <a:srgbClr val="3A4D39"/>
          </a:solidFill>
          <a:ln/>
        </p:spPr>
      </p:sp>
      <p:sp>
        <p:nvSpPr>
          <p:cNvPr id="20" name="Text 18"/>
          <p:cNvSpPr/>
          <p:nvPr/>
        </p:nvSpPr>
        <p:spPr>
          <a:xfrm>
            <a:off x="769009" y="3108079"/>
            <a:ext cx="1057388" cy="192252"/>
          </a:xfrm>
          <a:prstGeom prst="rect">
            <a:avLst/>
          </a:prstGeom>
          <a:noFill/>
          <a:ln/>
        </p:spPr>
        <p:txBody>
          <a:bodyPr wrap="square" lIns="0" tIns="0" rIns="0" bIns="0" rtlCol="0" anchor="ctr"/>
          <a:lstStyle/>
          <a:p>
            <a:pPr>
              <a:lnSpc>
                <a:spcPct val="130000"/>
              </a:lnSpc>
            </a:pPr>
            <a:r>
              <a:rPr lang="en-US" sz="1009" b="1" dirty="0">
                <a:solidFill>
                  <a:srgbClr val="3A4D39"/>
                </a:solidFill>
                <a:latin typeface="Unna" pitchFamily="34" charset="0"/>
                <a:ea typeface="Unna" pitchFamily="34" charset="-122"/>
                <a:cs typeface="Unna" pitchFamily="34" charset="-120"/>
              </a:rPr>
              <a:t>Assessment Areas</a:t>
            </a:r>
            <a:endParaRPr lang="en-US" sz="1600" dirty="0"/>
          </a:p>
        </p:txBody>
      </p:sp>
      <p:sp>
        <p:nvSpPr>
          <p:cNvPr id="21" name="Text 19"/>
          <p:cNvSpPr/>
          <p:nvPr/>
        </p:nvSpPr>
        <p:spPr>
          <a:xfrm>
            <a:off x="544715" y="3364415"/>
            <a:ext cx="5326991" cy="192252"/>
          </a:xfrm>
          <a:prstGeom prst="rect">
            <a:avLst/>
          </a:prstGeom>
          <a:noFill/>
          <a:ln/>
        </p:spPr>
        <p:txBody>
          <a:bodyPr wrap="square" lIns="0" tIns="0" rIns="0" bIns="0" rtlCol="0" anchor="ctr"/>
          <a:lstStyle/>
          <a:p>
            <a:pPr>
              <a:lnSpc>
                <a:spcPct val="130000"/>
              </a:lnSpc>
            </a:pPr>
            <a:r>
              <a:rPr lang="en-US" sz="1009" dirty="0">
                <a:solidFill>
                  <a:srgbClr val="2C2C2C"/>
                </a:solidFill>
                <a:latin typeface="Quattrocento Sans" pitchFamily="34" charset="0"/>
                <a:ea typeface="Quattrocento Sans" pitchFamily="34" charset="-122"/>
                <a:cs typeface="Quattrocento Sans" pitchFamily="34" charset="-120"/>
              </a:rPr>
              <a:t>• Staff attendance and work performance</a:t>
            </a:r>
            <a:endParaRPr lang="en-US" sz="1600" dirty="0"/>
          </a:p>
        </p:txBody>
      </p:sp>
      <p:sp>
        <p:nvSpPr>
          <p:cNvPr id="22" name="Text 20"/>
          <p:cNvSpPr/>
          <p:nvPr/>
        </p:nvSpPr>
        <p:spPr>
          <a:xfrm>
            <a:off x="544715" y="3588710"/>
            <a:ext cx="5326991" cy="192252"/>
          </a:xfrm>
          <a:prstGeom prst="rect">
            <a:avLst/>
          </a:prstGeom>
          <a:noFill/>
          <a:ln/>
        </p:spPr>
        <p:txBody>
          <a:bodyPr wrap="square" lIns="0" tIns="0" rIns="0" bIns="0" rtlCol="0" anchor="ctr"/>
          <a:lstStyle/>
          <a:p>
            <a:pPr>
              <a:lnSpc>
                <a:spcPct val="130000"/>
              </a:lnSpc>
            </a:pPr>
            <a:r>
              <a:rPr lang="en-US" sz="1009" dirty="0">
                <a:solidFill>
                  <a:srgbClr val="2C2C2C"/>
                </a:solidFill>
                <a:latin typeface="Quattrocento Sans" pitchFamily="34" charset="0"/>
                <a:ea typeface="Quattrocento Sans" pitchFamily="34" charset="-122"/>
                <a:cs typeface="Quattrocento Sans" pitchFamily="34" charset="-120"/>
              </a:rPr>
              <a:t>• Task completion verification</a:t>
            </a:r>
            <a:endParaRPr lang="en-US" sz="1600" dirty="0"/>
          </a:p>
        </p:txBody>
      </p:sp>
      <p:sp>
        <p:nvSpPr>
          <p:cNvPr id="23" name="Text 21"/>
          <p:cNvSpPr/>
          <p:nvPr/>
        </p:nvSpPr>
        <p:spPr>
          <a:xfrm>
            <a:off x="544715" y="3813004"/>
            <a:ext cx="5326991" cy="192252"/>
          </a:xfrm>
          <a:prstGeom prst="rect">
            <a:avLst/>
          </a:prstGeom>
          <a:noFill/>
          <a:ln/>
        </p:spPr>
        <p:txBody>
          <a:bodyPr wrap="square" lIns="0" tIns="0" rIns="0" bIns="0" rtlCol="0" anchor="ctr"/>
          <a:lstStyle/>
          <a:p>
            <a:pPr>
              <a:lnSpc>
                <a:spcPct val="130000"/>
              </a:lnSpc>
            </a:pPr>
            <a:r>
              <a:rPr lang="en-US" sz="1009" dirty="0">
                <a:solidFill>
                  <a:srgbClr val="2C2C2C"/>
                </a:solidFill>
                <a:latin typeface="Quattrocento Sans" pitchFamily="34" charset="0"/>
                <a:ea typeface="Quattrocento Sans" pitchFamily="34" charset="-122"/>
                <a:cs typeface="Quattrocento Sans" pitchFamily="34" charset="-120"/>
              </a:rPr>
              <a:t>• Crop health and growth assessment</a:t>
            </a:r>
            <a:endParaRPr lang="en-US" sz="1600" dirty="0"/>
          </a:p>
        </p:txBody>
      </p:sp>
      <p:sp>
        <p:nvSpPr>
          <p:cNvPr id="24" name="Text 22"/>
          <p:cNvSpPr/>
          <p:nvPr/>
        </p:nvSpPr>
        <p:spPr>
          <a:xfrm>
            <a:off x="544715" y="4037298"/>
            <a:ext cx="5326991" cy="192252"/>
          </a:xfrm>
          <a:prstGeom prst="rect">
            <a:avLst/>
          </a:prstGeom>
          <a:noFill/>
          <a:ln/>
        </p:spPr>
        <p:txBody>
          <a:bodyPr wrap="square" lIns="0" tIns="0" rIns="0" bIns="0" rtlCol="0" anchor="ctr"/>
          <a:lstStyle/>
          <a:p>
            <a:pPr>
              <a:lnSpc>
                <a:spcPct val="130000"/>
              </a:lnSpc>
            </a:pPr>
            <a:r>
              <a:rPr lang="en-US" sz="1009" dirty="0">
                <a:solidFill>
                  <a:srgbClr val="2C2C2C"/>
                </a:solidFill>
                <a:latin typeface="Quattrocento Sans" pitchFamily="34" charset="0"/>
                <a:ea typeface="Quattrocento Sans" pitchFamily="34" charset="-122"/>
                <a:cs typeface="Quattrocento Sans" pitchFamily="34" charset="-120"/>
              </a:rPr>
              <a:t>• Facility maintenance and cleanliness</a:t>
            </a:r>
            <a:endParaRPr lang="en-US" sz="1600" dirty="0"/>
          </a:p>
        </p:txBody>
      </p:sp>
      <p:sp>
        <p:nvSpPr>
          <p:cNvPr id="25" name="Text 23"/>
          <p:cNvSpPr/>
          <p:nvPr/>
        </p:nvSpPr>
        <p:spPr>
          <a:xfrm>
            <a:off x="544715" y="4261593"/>
            <a:ext cx="5326991" cy="192252"/>
          </a:xfrm>
          <a:prstGeom prst="rect">
            <a:avLst/>
          </a:prstGeom>
          <a:noFill/>
          <a:ln/>
        </p:spPr>
        <p:txBody>
          <a:bodyPr wrap="square" lIns="0" tIns="0" rIns="0" bIns="0" rtlCol="0" anchor="ctr"/>
          <a:lstStyle/>
          <a:p>
            <a:pPr>
              <a:lnSpc>
                <a:spcPct val="130000"/>
              </a:lnSpc>
            </a:pPr>
            <a:r>
              <a:rPr lang="en-US" sz="1009" dirty="0">
                <a:solidFill>
                  <a:srgbClr val="2C2C2C"/>
                </a:solidFill>
                <a:latin typeface="Quattrocento Sans" pitchFamily="34" charset="0"/>
                <a:ea typeface="Quattrocento Sans" pitchFamily="34" charset="-122"/>
                <a:cs typeface="Quattrocento Sans" pitchFamily="34" charset="-120"/>
              </a:rPr>
              <a:t>• Input usage and inventory verification</a:t>
            </a:r>
            <a:endParaRPr lang="en-US" sz="1600" dirty="0"/>
          </a:p>
        </p:txBody>
      </p:sp>
      <p:sp>
        <p:nvSpPr>
          <p:cNvPr id="26" name="Shape 24"/>
          <p:cNvSpPr/>
          <p:nvPr/>
        </p:nvSpPr>
        <p:spPr>
          <a:xfrm>
            <a:off x="6159083" y="881156"/>
            <a:ext cx="5711495" cy="4245572"/>
          </a:xfrm>
          <a:custGeom>
            <a:avLst/>
            <a:gdLst/>
            <a:ahLst/>
            <a:cxnLst/>
            <a:rect l="l" t="t" r="r" b="b"/>
            <a:pathLst>
              <a:path w="5711495" h="4245572">
                <a:moveTo>
                  <a:pt x="32042" y="0"/>
                </a:moveTo>
                <a:lnTo>
                  <a:pt x="5679453" y="0"/>
                </a:lnTo>
                <a:cubicBezTo>
                  <a:pt x="5697150" y="0"/>
                  <a:pt x="5711495" y="14346"/>
                  <a:pt x="5711495" y="32042"/>
                </a:cubicBezTo>
                <a:lnTo>
                  <a:pt x="5711495" y="4181506"/>
                </a:lnTo>
                <a:cubicBezTo>
                  <a:pt x="5711495" y="4216888"/>
                  <a:pt x="5682812" y="4245572"/>
                  <a:pt x="5647430" y="4245572"/>
                </a:cubicBezTo>
                <a:lnTo>
                  <a:pt x="64066" y="4245572"/>
                </a:lnTo>
                <a:cubicBezTo>
                  <a:pt x="28683" y="4245572"/>
                  <a:pt x="0" y="4216888"/>
                  <a:pt x="0" y="4181506"/>
                </a:cubicBezTo>
                <a:lnTo>
                  <a:pt x="0" y="32042"/>
                </a:lnTo>
                <a:cubicBezTo>
                  <a:pt x="0" y="14358"/>
                  <a:pt x="14358" y="0"/>
                  <a:pt x="32042" y="0"/>
                </a:cubicBezTo>
                <a:close/>
              </a:path>
            </a:pathLst>
          </a:custGeom>
          <a:solidFill>
            <a:srgbClr val="FFFFFF"/>
          </a:solidFill>
          <a:ln/>
          <a:effectLst>
            <a:outerShdw sx="100000" sy="100000" kx="0" ky="0" algn="bl" rotWithShape="0" blurRad="24032" dist="8011" dir="5400000">
              <a:srgbClr val="000000">
                <a:alpha val="10196"/>
              </a:srgbClr>
            </a:outerShdw>
          </a:effectLst>
        </p:spPr>
      </p:sp>
      <p:sp>
        <p:nvSpPr>
          <p:cNvPr id="27" name="Shape 25"/>
          <p:cNvSpPr/>
          <p:nvPr/>
        </p:nvSpPr>
        <p:spPr>
          <a:xfrm>
            <a:off x="6159083" y="881156"/>
            <a:ext cx="5711495" cy="32042"/>
          </a:xfrm>
          <a:custGeom>
            <a:avLst/>
            <a:gdLst/>
            <a:ahLst/>
            <a:cxnLst/>
            <a:rect l="l" t="t" r="r" b="b"/>
            <a:pathLst>
              <a:path w="5711495" h="32042">
                <a:moveTo>
                  <a:pt x="32042" y="0"/>
                </a:moveTo>
                <a:lnTo>
                  <a:pt x="5679453" y="0"/>
                </a:lnTo>
                <a:cubicBezTo>
                  <a:pt x="5697150" y="0"/>
                  <a:pt x="5711495" y="14346"/>
                  <a:pt x="5711495" y="32042"/>
                </a:cubicBezTo>
                <a:lnTo>
                  <a:pt x="5711495" y="32042"/>
                </a:lnTo>
                <a:lnTo>
                  <a:pt x="0" y="32042"/>
                </a:lnTo>
                <a:lnTo>
                  <a:pt x="0" y="32042"/>
                </a:lnTo>
                <a:cubicBezTo>
                  <a:pt x="0" y="14358"/>
                  <a:pt x="14358" y="0"/>
                  <a:pt x="32042" y="0"/>
                </a:cubicBezTo>
                <a:close/>
              </a:path>
            </a:pathLst>
          </a:custGeom>
          <a:solidFill>
            <a:srgbClr val="7A6250"/>
          </a:solidFill>
          <a:ln/>
        </p:spPr>
      </p:sp>
      <p:sp>
        <p:nvSpPr>
          <p:cNvPr id="28" name="Shape 26"/>
          <p:cNvSpPr/>
          <p:nvPr/>
        </p:nvSpPr>
        <p:spPr>
          <a:xfrm>
            <a:off x="6327304" y="1057388"/>
            <a:ext cx="120158" cy="160210"/>
          </a:xfrm>
          <a:custGeom>
            <a:avLst/>
            <a:gdLst/>
            <a:ahLst/>
            <a:cxnLst/>
            <a:rect l="l" t="t" r="r" b="b"/>
            <a:pathLst>
              <a:path w="120158" h="160210">
                <a:moveTo>
                  <a:pt x="0" y="20026"/>
                </a:moveTo>
                <a:cubicBezTo>
                  <a:pt x="0" y="8981"/>
                  <a:pt x="8981" y="0"/>
                  <a:pt x="20026" y="0"/>
                </a:cubicBezTo>
                <a:lnTo>
                  <a:pt x="66806" y="0"/>
                </a:lnTo>
                <a:cubicBezTo>
                  <a:pt x="72126" y="0"/>
                  <a:pt x="77226" y="2097"/>
                  <a:pt x="80981" y="5851"/>
                </a:cubicBezTo>
                <a:lnTo>
                  <a:pt x="114306" y="39208"/>
                </a:lnTo>
                <a:cubicBezTo>
                  <a:pt x="118061" y="42963"/>
                  <a:pt x="120158" y="48063"/>
                  <a:pt x="120158" y="53383"/>
                </a:cubicBezTo>
                <a:lnTo>
                  <a:pt x="120158" y="140184"/>
                </a:lnTo>
                <a:cubicBezTo>
                  <a:pt x="120158" y="151230"/>
                  <a:pt x="111177" y="160210"/>
                  <a:pt x="100131" y="160210"/>
                </a:cubicBezTo>
                <a:lnTo>
                  <a:pt x="20026" y="160210"/>
                </a:lnTo>
                <a:cubicBezTo>
                  <a:pt x="8981" y="160210"/>
                  <a:pt x="0" y="151230"/>
                  <a:pt x="0" y="140184"/>
                </a:cubicBezTo>
                <a:lnTo>
                  <a:pt x="0" y="20026"/>
                </a:lnTo>
                <a:close/>
                <a:moveTo>
                  <a:pt x="65085" y="18305"/>
                </a:moveTo>
                <a:lnTo>
                  <a:pt x="65085" y="47562"/>
                </a:lnTo>
                <a:cubicBezTo>
                  <a:pt x="65085" y="51724"/>
                  <a:pt x="68434" y="55072"/>
                  <a:pt x="72595" y="55072"/>
                </a:cubicBezTo>
                <a:lnTo>
                  <a:pt x="101852" y="55072"/>
                </a:lnTo>
                <a:lnTo>
                  <a:pt x="65085" y="18305"/>
                </a:lnTo>
                <a:close/>
                <a:moveTo>
                  <a:pt x="37549" y="80105"/>
                </a:moveTo>
                <a:cubicBezTo>
                  <a:pt x="33388" y="80105"/>
                  <a:pt x="30039" y="83453"/>
                  <a:pt x="30039" y="87615"/>
                </a:cubicBezTo>
                <a:cubicBezTo>
                  <a:pt x="30039" y="91777"/>
                  <a:pt x="33388" y="95125"/>
                  <a:pt x="37549" y="95125"/>
                </a:cubicBezTo>
                <a:lnTo>
                  <a:pt x="82608" y="95125"/>
                </a:lnTo>
                <a:cubicBezTo>
                  <a:pt x="86770" y="95125"/>
                  <a:pt x="90118" y="91777"/>
                  <a:pt x="90118" y="87615"/>
                </a:cubicBezTo>
                <a:cubicBezTo>
                  <a:pt x="90118" y="83453"/>
                  <a:pt x="86770" y="80105"/>
                  <a:pt x="82608" y="80105"/>
                </a:cubicBezTo>
                <a:lnTo>
                  <a:pt x="37549" y="80105"/>
                </a:lnTo>
                <a:close/>
                <a:moveTo>
                  <a:pt x="37549" y="110145"/>
                </a:moveTo>
                <a:cubicBezTo>
                  <a:pt x="33388" y="110145"/>
                  <a:pt x="30039" y="113493"/>
                  <a:pt x="30039" y="117654"/>
                </a:cubicBezTo>
                <a:cubicBezTo>
                  <a:pt x="30039" y="121816"/>
                  <a:pt x="33388" y="125164"/>
                  <a:pt x="37549" y="125164"/>
                </a:cubicBezTo>
                <a:lnTo>
                  <a:pt x="82608" y="125164"/>
                </a:lnTo>
                <a:cubicBezTo>
                  <a:pt x="86770" y="125164"/>
                  <a:pt x="90118" y="121816"/>
                  <a:pt x="90118" y="117654"/>
                </a:cubicBezTo>
                <a:cubicBezTo>
                  <a:pt x="90118" y="113493"/>
                  <a:pt x="86770" y="110145"/>
                  <a:pt x="82608" y="110145"/>
                </a:cubicBezTo>
                <a:lnTo>
                  <a:pt x="37549" y="110145"/>
                </a:lnTo>
                <a:close/>
              </a:path>
            </a:pathLst>
          </a:custGeom>
          <a:solidFill>
            <a:srgbClr val="7A6250"/>
          </a:solidFill>
          <a:ln/>
        </p:spPr>
      </p:sp>
      <p:sp>
        <p:nvSpPr>
          <p:cNvPr id="29" name="Text 27"/>
          <p:cNvSpPr/>
          <p:nvPr/>
        </p:nvSpPr>
        <p:spPr>
          <a:xfrm>
            <a:off x="6487514" y="1025346"/>
            <a:ext cx="5335001" cy="224294"/>
          </a:xfrm>
          <a:prstGeom prst="rect">
            <a:avLst/>
          </a:prstGeom>
          <a:noFill/>
          <a:ln/>
        </p:spPr>
        <p:txBody>
          <a:bodyPr wrap="square" lIns="0" tIns="0" rIns="0" bIns="0" rtlCol="0" anchor="ctr"/>
          <a:lstStyle/>
          <a:p>
            <a:pPr>
              <a:lnSpc>
                <a:spcPct val="120000"/>
              </a:lnSpc>
            </a:pPr>
            <a:r>
              <a:rPr lang="en-US" sz="1261" b="1" dirty="0">
                <a:solidFill>
                  <a:srgbClr val="3A4D39"/>
                </a:solidFill>
                <a:latin typeface="Unna" pitchFamily="34" charset="0"/>
                <a:ea typeface="Unna" pitchFamily="34" charset="-122"/>
                <a:cs typeface="Unna" pitchFamily="34" charset="-120"/>
              </a:rPr>
              <a:t>Reporting Requirements</a:t>
            </a:r>
            <a:endParaRPr lang="en-US" sz="1600" dirty="0"/>
          </a:p>
        </p:txBody>
      </p:sp>
      <p:sp>
        <p:nvSpPr>
          <p:cNvPr id="30" name="Shape 28"/>
          <p:cNvSpPr/>
          <p:nvPr/>
        </p:nvSpPr>
        <p:spPr>
          <a:xfrm>
            <a:off x="6303272" y="1345766"/>
            <a:ext cx="5439138" cy="1794355"/>
          </a:xfrm>
          <a:custGeom>
            <a:avLst/>
            <a:gdLst/>
            <a:ahLst/>
            <a:cxnLst/>
            <a:rect l="l" t="t" r="r" b="b"/>
            <a:pathLst>
              <a:path w="5439138" h="1794355">
                <a:moveTo>
                  <a:pt x="32042" y="0"/>
                </a:moveTo>
                <a:lnTo>
                  <a:pt x="5375062" y="0"/>
                </a:lnTo>
                <a:cubicBezTo>
                  <a:pt x="5410450" y="0"/>
                  <a:pt x="5439138" y="28688"/>
                  <a:pt x="5439138" y="64076"/>
                </a:cubicBezTo>
                <a:lnTo>
                  <a:pt x="5439138" y="1730278"/>
                </a:lnTo>
                <a:cubicBezTo>
                  <a:pt x="5439138" y="1765667"/>
                  <a:pt x="5410450" y="1794355"/>
                  <a:pt x="5375062" y="1794355"/>
                </a:cubicBezTo>
                <a:lnTo>
                  <a:pt x="32042" y="1794355"/>
                </a:lnTo>
                <a:cubicBezTo>
                  <a:pt x="14346" y="1794355"/>
                  <a:pt x="0" y="1780009"/>
                  <a:pt x="0" y="1762313"/>
                </a:cubicBezTo>
                <a:lnTo>
                  <a:pt x="0" y="32042"/>
                </a:lnTo>
                <a:cubicBezTo>
                  <a:pt x="0" y="14358"/>
                  <a:pt x="14358" y="0"/>
                  <a:pt x="32042" y="0"/>
                </a:cubicBezTo>
                <a:close/>
              </a:path>
            </a:pathLst>
          </a:custGeom>
          <a:solidFill>
            <a:srgbClr val="F8F6F2"/>
          </a:solidFill>
          <a:ln/>
        </p:spPr>
      </p:sp>
      <p:sp>
        <p:nvSpPr>
          <p:cNvPr id="31" name="Shape 29"/>
          <p:cNvSpPr/>
          <p:nvPr/>
        </p:nvSpPr>
        <p:spPr>
          <a:xfrm>
            <a:off x="6303272" y="1345766"/>
            <a:ext cx="32042" cy="1794355"/>
          </a:xfrm>
          <a:custGeom>
            <a:avLst/>
            <a:gdLst/>
            <a:ahLst/>
            <a:cxnLst/>
            <a:rect l="l" t="t" r="r" b="b"/>
            <a:pathLst>
              <a:path w="32042" h="1794355">
                <a:moveTo>
                  <a:pt x="32042" y="0"/>
                </a:moveTo>
                <a:lnTo>
                  <a:pt x="32042" y="0"/>
                </a:lnTo>
                <a:lnTo>
                  <a:pt x="32042" y="1794355"/>
                </a:lnTo>
                <a:lnTo>
                  <a:pt x="32042" y="1794355"/>
                </a:lnTo>
                <a:cubicBezTo>
                  <a:pt x="14346" y="1794355"/>
                  <a:pt x="0" y="1780009"/>
                  <a:pt x="0" y="1762313"/>
                </a:cubicBezTo>
                <a:lnTo>
                  <a:pt x="0" y="32042"/>
                </a:lnTo>
                <a:cubicBezTo>
                  <a:pt x="0" y="14358"/>
                  <a:pt x="14358" y="0"/>
                  <a:pt x="32042" y="0"/>
                </a:cubicBezTo>
                <a:close/>
              </a:path>
            </a:pathLst>
          </a:custGeom>
          <a:solidFill>
            <a:srgbClr val="3A4D39"/>
          </a:solidFill>
          <a:ln/>
        </p:spPr>
      </p:sp>
      <p:sp>
        <p:nvSpPr>
          <p:cNvPr id="32" name="Text 30"/>
          <p:cNvSpPr/>
          <p:nvPr/>
        </p:nvSpPr>
        <p:spPr>
          <a:xfrm>
            <a:off x="6415419" y="1441892"/>
            <a:ext cx="5294949" cy="192252"/>
          </a:xfrm>
          <a:prstGeom prst="rect">
            <a:avLst/>
          </a:prstGeom>
          <a:noFill/>
          <a:ln/>
        </p:spPr>
        <p:txBody>
          <a:bodyPr wrap="square" lIns="0" tIns="0" rIns="0" bIns="0" rtlCol="0" anchor="ctr"/>
          <a:lstStyle/>
          <a:p>
            <a:pPr>
              <a:lnSpc>
                <a:spcPct val="130000"/>
              </a:lnSpc>
            </a:pPr>
            <a:r>
              <a:rPr lang="en-US" sz="1009" b="1" dirty="0">
                <a:solidFill>
                  <a:srgbClr val="3A4D39"/>
                </a:solidFill>
                <a:latin typeface="Unna" pitchFamily="34" charset="0"/>
                <a:ea typeface="Unna" pitchFamily="34" charset="-122"/>
                <a:cs typeface="Unna" pitchFamily="34" charset="-120"/>
              </a:rPr>
              <a:t>Post-Visit Reports</a:t>
            </a:r>
            <a:endParaRPr lang="en-US" sz="1600" dirty="0"/>
          </a:p>
        </p:txBody>
      </p:sp>
      <p:sp>
        <p:nvSpPr>
          <p:cNvPr id="33" name="Text 31"/>
          <p:cNvSpPr/>
          <p:nvPr/>
        </p:nvSpPr>
        <p:spPr>
          <a:xfrm>
            <a:off x="6415419" y="1698229"/>
            <a:ext cx="5294949" cy="192252"/>
          </a:xfrm>
          <a:prstGeom prst="rect">
            <a:avLst/>
          </a:prstGeom>
          <a:noFill/>
          <a:ln/>
        </p:spPr>
        <p:txBody>
          <a:bodyPr wrap="square" lIns="0" tIns="0" rIns="0" bIns="0" rtlCol="0" anchor="ctr"/>
          <a:lstStyle/>
          <a:p>
            <a:pPr>
              <a:lnSpc>
                <a:spcPct val="130000"/>
              </a:lnSpc>
            </a:pPr>
            <a:r>
              <a:rPr lang="en-US" sz="1009" dirty="0">
                <a:solidFill>
                  <a:srgbClr val="2C2C2C"/>
                </a:solidFill>
                <a:latin typeface="Quattrocento Sans" pitchFamily="34" charset="0"/>
                <a:ea typeface="Quattrocento Sans" pitchFamily="34" charset="-122"/>
                <a:cs typeface="Quattrocento Sans" pitchFamily="34" charset="-120"/>
              </a:rPr>
              <a:t>Within 48 hours of each visit, Monitoring Partners must submit written report including:</a:t>
            </a:r>
            <a:endParaRPr lang="en-US" sz="1600" dirty="0"/>
          </a:p>
        </p:txBody>
      </p:sp>
      <p:sp>
        <p:nvSpPr>
          <p:cNvPr id="34" name="Text 32"/>
          <p:cNvSpPr/>
          <p:nvPr/>
        </p:nvSpPr>
        <p:spPr>
          <a:xfrm>
            <a:off x="6415419" y="1954565"/>
            <a:ext cx="5294949" cy="192252"/>
          </a:xfrm>
          <a:prstGeom prst="rect">
            <a:avLst/>
          </a:prstGeom>
          <a:noFill/>
          <a:ln/>
        </p:spPr>
        <p:txBody>
          <a:bodyPr wrap="square" lIns="0" tIns="0" rIns="0" bIns="0" rtlCol="0" anchor="ctr"/>
          <a:lstStyle/>
          <a:p>
            <a:pPr>
              <a:lnSpc>
                <a:spcPct val="130000"/>
              </a:lnSpc>
            </a:pPr>
            <a:r>
              <a:rPr lang="en-US" sz="1009" dirty="0">
                <a:solidFill>
                  <a:srgbClr val="2C2C2C"/>
                </a:solidFill>
                <a:latin typeface="Quattrocento Sans" pitchFamily="34" charset="0"/>
                <a:ea typeface="Quattrocento Sans" pitchFamily="34" charset="-122"/>
                <a:cs typeface="Quattrocento Sans" pitchFamily="34" charset="-120"/>
              </a:rPr>
              <a:t>• Date, time, and duration of visit</a:t>
            </a:r>
            <a:endParaRPr lang="en-US" sz="1600" dirty="0"/>
          </a:p>
        </p:txBody>
      </p:sp>
      <p:sp>
        <p:nvSpPr>
          <p:cNvPr id="35" name="Text 33"/>
          <p:cNvSpPr/>
          <p:nvPr/>
        </p:nvSpPr>
        <p:spPr>
          <a:xfrm>
            <a:off x="6415419" y="2178859"/>
            <a:ext cx="5294949" cy="192252"/>
          </a:xfrm>
          <a:prstGeom prst="rect">
            <a:avLst/>
          </a:prstGeom>
          <a:noFill/>
          <a:ln/>
        </p:spPr>
        <p:txBody>
          <a:bodyPr wrap="square" lIns="0" tIns="0" rIns="0" bIns="0" rtlCol="0" anchor="ctr"/>
          <a:lstStyle/>
          <a:p>
            <a:pPr>
              <a:lnSpc>
                <a:spcPct val="130000"/>
              </a:lnSpc>
            </a:pPr>
            <a:r>
              <a:rPr lang="en-US" sz="1009" dirty="0">
                <a:solidFill>
                  <a:srgbClr val="2C2C2C"/>
                </a:solidFill>
                <a:latin typeface="Quattrocento Sans" pitchFamily="34" charset="0"/>
                <a:ea typeface="Quattrocento Sans" pitchFamily="34" charset="-122"/>
                <a:cs typeface="Quattrocento Sans" pitchFamily="34" charset="-120"/>
              </a:rPr>
              <a:t>• Staff observed and tasks being performed</a:t>
            </a:r>
            <a:endParaRPr lang="en-US" sz="1600" dirty="0"/>
          </a:p>
        </p:txBody>
      </p:sp>
      <p:sp>
        <p:nvSpPr>
          <p:cNvPr id="36" name="Text 34"/>
          <p:cNvSpPr/>
          <p:nvPr/>
        </p:nvSpPr>
        <p:spPr>
          <a:xfrm>
            <a:off x="6415419" y="2403154"/>
            <a:ext cx="5294949" cy="192252"/>
          </a:xfrm>
          <a:prstGeom prst="rect">
            <a:avLst/>
          </a:prstGeom>
          <a:noFill/>
          <a:ln/>
        </p:spPr>
        <p:txBody>
          <a:bodyPr wrap="square" lIns="0" tIns="0" rIns="0" bIns="0" rtlCol="0" anchor="ctr"/>
          <a:lstStyle/>
          <a:p>
            <a:pPr>
              <a:lnSpc>
                <a:spcPct val="130000"/>
              </a:lnSpc>
            </a:pPr>
            <a:r>
              <a:rPr lang="en-US" sz="1009" dirty="0">
                <a:solidFill>
                  <a:srgbClr val="2C2C2C"/>
                </a:solidFill>
                <a:latin typeface="Quattrocento Sans" pitchFamily="34" charset="0"/>
                <a:ea typeface="Quattrocento Sans" pitchFamily="34" charset="-122"/>
                <a:cs typeface="Quattrocento Sans" pitchFamily="34" charset="-120"/>
              </a:rPr>
              <a:t>• Crop condition observations</a:t>
            </a:r>
            <a:endParaRPr lang="en-US" sz="1600" dirty="0"/>
          </a:p>
        </p:txBody>
      </p:sp>
      <p:sp>
        <p:nvSpPr>
          <p:cNvPr id="37" name="Text 35"/>
          <p:cNvSpPr/>
          <p:nvPr/>
        </p:nvSpPr>
        <p:spPr>
          <a:xfrm>
            <a:off x="6415419" y="2627448"/>
            <a:ext cx="5294949" cy="192252"/>
          </a:xfrm>
          <a:prstGeom prst="rect">
            <a:avLst/>
          </a:prstGeom>
          <a:noFill/>
          <a:ln/>
        </p:spPr>
        <p:txBody>
          <a:bodyPr wrap="square" lIns="0" tIns="0" rIns="0" bIns="0" rtlCol="0" anchor="ctr"/>
          <a:lstStyle/>
          <a:p>
            <a:pPr>
              <a:lnSpc>
                <a:spcPct val="130000"/>
              </a:lnSpc>
            </a:pPr>
            <a:r>
              <a:rPr lang="en-US" sz="1009" dirty="0">
                <a:solidFill>
                  <a:srgbClr val="2C2C2C"/>
                </a:solidFill>
                <a:latin typeface="Quattrocento Sans" pitchFamily="34" charset="0"/>
                <a:ea typeface="Quattrocento Sans" pitchFamily="34" charset="-122"/>
                <a:cs typeface="Quattrocento Sans" pitchFamily="34" charset="-120"/>
              </a:rPr>
              <a:t>• Issues or concerns identified</a:t>
            </a:r>
            <a:endParaRPr lang="en-US" sz="1600" dirty="0"/>
          </a:p>
        </p:txBody>
      </p:sp>
      <p:sp>
        <p:nvSpPr>
          <p:cNvPr id="38" name="Text 36"/>
          <p:cNvSpPr/>
          <p:nvPr/>
        </p:nvSpPr>
        <p:spPr>
          <a:xfrm>
            <a:off x="6415419" y="2851742"/>
            <a:ext cx="5294949" cy="192252"/>
          </a:xfrm>
          <a:prstGeom prst="rect">
            <a:avLst/>
          </a:prstGeom>
          <a:noFill/>
          <a:ln/>
        </p:spPr>
        <p:txBody>
          <a:bodyPr wrap="square" lIns="0" tIns="0" rIns="0" bIns="0" rtlCol="0" anchor="ctr"/>
          <a:lstStyle/>
          <a:p>
            <a:pPr>
              <a:lnSpc>
                <a:spcPct val="130000"/>
              </a:lnSpc>
            </a:pPr>
            <a:r>
              <a:rPr lang="en-US" sz="1009" dirty="0">
                <a:solidFill>
                  <a:srgbClr val="2C2C2C"/>
                </a:solidFill>
                <a:latin typeface="Quattrocento Sans" pitchFamily="34" charset="0"/>
                <a:ea typeface="Quattrocento Sans" pitchFamily="34" charset="-122"/>
                <a:cs typeface="Quattrocento Sans" pitchFamily="34" charset="-120"/>
              </a:rPr>
              <a:t>• Recommendations for improvement</a:t>
            </a:r>
            <a:endParaRPr lang="en-US" sz="1600" dirty="0"/>
          </a:p>
        </p:txBody>
      </p:sp>
      <p:sp>
        <p:nvSpPr>
          <p:cNvPr id="39" name="Shape 37"/>
          <p:cNvSpPr/>
          <p:nvPr/>
        </p:nvSpPr>
        <p:spPr>
          <a:xfrm>
            <a:off x="6303272" y="3236247"/>
            <a:ext cx="5439138" cy="833093"/>
          </a:xfrm>
          <a:custGeom>
            <a:avLst/>
            <a:gdLst/>
            <a:ahLst/>
            <a:cxnLst/>
            <a:rect l="l" t="t" r="r" b="b"/>
            <a:pathLst>
              <a:path w="5439138" h="833093">
                <a:moveTo>
                  <a:pt x="32042" y="0"/>
                </a:moveTo>
                <a:lnTo>
                  <a:pt x="5375056" y="0"/>
                </a:lnTo>
                <a:cubicBezTo>
                  <a:pt x="5410448" y="0"/>
                  <a:pt x="5439138" y="28690"/>
                  <a:pt x="5439138" y="64082"/>
                </a:cubicBezTo>
                <a:lnTo>
                  <a:pt x="5439138" y="769012"/>
                </a:lnTo>
                <a:cubicBezTo>
                  <a:pt x="5439138" y="804403"/>
                  <a:pt x="5410448" y="833093"/>
                  <a:pt x="5375056" y="833093"/>
                </a:cubicBezTo>
                <a:lnTo>
                  <a:pt x="32042" y="833093"/>
                </a:lnTo>
                <a:cubicBezTo>
                  <a:pt x="14346" y="833093"/>
                  <a:pt x="0" y="818748"/>
                  <a:pt x="0" y="801051"/>
                </a:cubicBezTo>
                <a:lnTo>
                  <a:pt x="0" y="32042"/>
                </a:lnTo>
                <a:cubicBezTo>
                  <a:pt x="0" y="14358"/>
                  <a:pt x="14358" y="0"/>
                  <a:pt x="32042" y="0"/>
                </a:cubicBezTo>
                <a:close/>
              </a:path>
            </a:pathLst>
          </a:custGeom>
          <a:solidFill>
            <a:srgbClr val="F8F6F2"/>
          </a:solidFill>
          <a:ln/>
        </p:spPr>
      </p:sp>
      <p:sp>
        <p:nvSpPr>
          <p:cNvPr id="40" name="Shape 38"/>
          <p:cNvSpPr/>
          <p:nvPr/>
        </p:nvSpPr>
        <p:spPr>
          <a:xfrm>
            <a:off x="6303272" y="3236247"/>
            <a:ext cx="32042" cy="833093"/>
          </a:xfrm>
          <a:custGeom>
            <a:avLst/>
            <a:gdLst/>
            <a:ahLst/>
            <a:cxnLst/>
            <a:rect l="l" t="t" r="r" b="b"/>
            <a:pathLst>
              <a:path w="32042" h="833093">
                <a:moveTo>
                  <a:pt x="32042" y="0"/>
                </a:moveTo>
                <a:lnTo>
                  <a:pt x="32042" y="0"/>
                </a:lnTo>
                <a:lnTo>
                  <a:pt x="32042" y="833093"/>
                </a:lnTo>
                <a:lnTo>
                  <a:pt x="32042" y="833093"/>
                </a:lnTo>
                <a:cubicBezTo>
                  <a:pt x="14346" y="833093"/>
                  <a:pt x="0" y="818748"/>
                  <a:pt x="0" y="801051"/>
                </a:cubicBezTo>
                <a:lnTo>
                  <a:pt x="0" y="32042"/>
                </a:lnTo>
                <a:cubicBezTo>
                  <a:pt x="0" y="14358"/>
                  <a:pt x="14358" y="0"/>
                  <a:pt x="32042" y="0"/>
                </a:cubicBezTo>
                <a:close/>
              </a:path>
            </a:pathLst>
          </a:custGeom>
          <a:solidFill>
            <a:srgbClr val="7A6250"/>
          </a:solidFill>
          <a:ln/>
        </p:spPr>
      </p:sp>
      <p:sp>
        <p:nvSpPr>
          <p:cNvPr id="41" name="Text 39"/>
          <p:cNvSpPr/>
          <p:nvPr/>
        </p:nvSpPr>
        <p:spPr>
          <a:xfrm>
            <a:off x="6415419" y="3332373"/>
            <a:ext cx="5294949" cy="192252"/>
          </a:xfrm>
          <a:prstGeom prst="rect">
            <a:avLst/>
          </a:prstGeom>
          <a:noFill/>
          <a:ln/>
        </p:spPr>
        <p:txBody>
          <a:bodyPr wrap="square" lIns="0" tIns="0" rIns="0" bIns="0" rtlCol="0" anchor="ctr"/>
          <a:lstStyle/>
          <a:p>
            <a:pPr>
              <a:lnSpc>
                <a:spcPct val="130000"/>
              </a:lnSpc>
            </a:pPr>
            <a:r>
              <a:rPr lang="en-US" sz="1009" b="1" dirty="0">
                <a:solidFill>
                  <a:srgbClr val="3A4D39"/>
                </a:solidFill>
                <a:latin typeface="Unna" pitchFamily="34" charset="0"/>
                <a:ea typeface="Unna" pitchFamily="34" charset="-122"/>
                <a:cs typeface="Unna" pitchFamily="34" charset="-120"/>
              </a:rPr>
              <a:t>Quarterly Financial Reports</a:t>
            </a:r>
            <a:endParaRPr lang="en-US" sz="1600" dirty="0"/>
          </a:p>
        </p:txBody>
      </p:sp>
      <p:sp>
        <p:nvSpPr>
          <p:cNvPr id="42" name="Text 40"/>
          <p:cNvSpPr/>
          <p:nvPr/>
        </p:nvSpPr>
        <p:spPr>
          <a:xfrm>
            <a:off x="6415419" y="3588710"/>
            <a:ext cx="5294949" cy="384505"/>
          </a:xfrm>
          <a:prstGeom prst="rect">
            <a:avLst/>
          </a:prstGeom>
          <a:noFill/>
          <a:ln/>
        </p:spPr>
        <p:txBody>
          <a:bodyPr wrap="square" lIns="0" tIns="0" rIns="0" bIns="0" rtlCol="0" anchor="ctr"/>
          <a:lstStyle/>
          <a:p>
            <a:pPr>
              <a:lnSpc>
                <a:spcPct val="130000"/>
              </a:lnSpc>
            </a:pPr>
            <a:r>
              <a:rPr lang="en-US" sz="1009" dirty="0">
                <a:solidFill>
                  <a:srgbClr val="2C2C2C"/>
                </a:solidFill>
                <a:latin typeface="Quattrocento Sans" pitchFamily="34" charset="0"/>
                <a:ea typeface="Quattrocento Sans" pitchFamily="34" charset="-122"/>
                <a:cs typeface="Quattrocento Sans" pitchFamily="34" charset="-120"/>
              </a:rPr>
              <a:t>Wilshire Farms to provide comprehensive quarterly reports showing all expenses, revenues, cash position, and variance analysis within 15 days of quarter end.</a:t>
            </a:r>
            <a:endParaRPr lang="en-US" sz="1600" dirty="0"/>
          </a:p>
        </p:txBody>
      </p:sp>
      <p:sp>
        <p:nvSpPr>
          <p:cNvPr id="43" name="Shape 41"/>
          <p:cNvSpPr/>
          <p:nvPr/>
        </p:nvSpPr>
        <p:spPr>
          <a:xfrm>
            <a:off x="6303272" y="4165466"/>
            <a:ext cx="5439138" cy="833093"/>
          </a:xfrm>
          <a:custGeom>
            <a:avLst/>
            <a:gdLst/>
            <a:ahLst/>
            <a:cxnLst/>
            <a:rect l="l" t="t" r="r" b="b"/>
            <a:pathLst>
              <a:path w="5439138" h="833093">
                <a:moveTo>
                  <a:pt x="32042" y="0"/>
                </a:moveTo>
                <a:lnTo>
                  <a:pt x="5375056" y="0"/>
                </a:lnTo>
                <a:cubicBezTo>
                  <a:pt x="5410448" y="0"/>
                  <a:pt x="5439138" y="28690"/>
                  <a:pt x="5439138" y="64082"/>
                </a:cubicBezTo>
                <a:lnTo>
                  <a:pt x="5439138" y="769012"/>
                </a:lnTo>
                <a:cubicBezTo>
                  <a:pt x="5439138" y="804403"/>
                  <a:pt x="5410448" y="833093"/>
                  <a:pt x="5375056" y="833093"/>
                </a:cubicBezTo>
                <a:lnTo>
                  <a:pt x="32042" y="833093"/>
                </a:lnTo>
                <a:cubicBezTo>
                  <a:pt x="14346" y="833093"/>
                  <a:pt x="0" y="818748"/>
                  <a:pt x="0" y="801051"/>
                </a:cubicBezTo>
                <a:lnTo>
                  <a:pt x="0" y="32042"/>
                </a:lnTo>
                <a:cubicBezTo>
                  <a:pt x="0" y="14358"/>
                  <a:pt x="14358" y="0"/>
                  <a:pt x="32042" y="0"/>
                </a:cubicBezTo>
                <a:close/>
              </a:path>
            </a:pathLst>
          </a:custGeom>
          <a:solidFill>
            <a:srgbClr val="F8F6F2"/>
          </a:solidFill>
          <a:ln/>
        </p:spPr>
      </p:sp>
      <p:sp>
        <p:nvSpPr>
          <p:cNvPr id="44" name="Shape 42"/>
          <p:cNvSpPr/>
          <p:nvPr/>
        </p:nvSpPr>
        <p:spPr>
          <a:xfrm>
            <a:off x="6303272" y="4165466"/>
            <a:ext cx="32042" cy="833093"/>
          </a:xfrm>
          <a:custGeom>
            <a:avLst/>
            <a:gdLst/>
            <a:ahLst/>
            <a:cxnLst/>
            <a:rect l="l" t="t" r="r" b="b"/>
            <a:pathLst>
              <a:path w="32042" h="833093">
                <a:moveTo>
                  <a:pt x="32042" y="0"/>
                </a:moveTo>
                <a:lnTo>
                  <a:pt x="32042" y="0"/>
                </a:lnTo>
                <a:lnTo>
                  <a:pt x="32042" y="833093"/>
                </a:lnTo>
                <a:lnTo>
                  <a:pt x="32042" y="833093"/>
                </a:lnTo>
                <a:cubicBezTo>
                  <a:pt x="14346" y="833093"/>
                  <a:pt x="0" y="818748"/>
                  <a:pt x="0" y="801051"/>
                </a:cubicBezTo>
                <a:lnTo>
                  <a:pt x="0" y="32042"/>
                </a:lnTo>
                <a:cubicBezTo>
                  <a:pt x="0" y="14358"/>
                  <a:pt x="14358" y="0"/>
                  <a:pt x="32042" y="0"/>
                </a:cubicBezTo>
                <a:close/>
              </a:path>
            </a:pathLst>
          </a:custGeom>
          <a:solidFill>
            <a:srgbClr val="3A4D39"/>
          </a:solidFill>
          <a:ln/>
        </p:spPr>
      </p:sp>
      <p:sp>
        <p:nvSpPr>
          <p:cNvPr id="45" name="Text 43"/>
          <p:cNvSpPr/>
          <p:nvPr/>
        </p:nvSpPr>
        <p:spPr>
          <a:xfrm>
            <a:off x="6415419" y="4261593"/>
            <a:ext cx="5294949" cy="192252"/>
          </a:xfrm>
          <a:prstGeom prst="rect">
            <a:avLst/>
          </a:prstGeom>
          <a:noFill/>
          <a:ln/>
        </p:spPr>
        <p:txBody>
          <a:bodyPr wrap="square" lIns="0" tIns="0" rIns="0" bIns="0" rtlCol="0" anchor="ctr"/>
          <a:lstStyle/>
          <a:p>
            <a:pPr>
              <a:lnSpc>
                <a:spcPct val="130000"/>
              </a:lnSpc>
            </a:pPr>
            <a:r>
              <a:rPr lang="en-US" sz="1009" b="1" dirty="0">
                <a:solidFill>
                  <a:srgbClr val="3A4D39"/>
                </a:solidFill>
                <a:latin typeface="Unna" pitchFamily="34" charset="0"/>
                <a:ea typeface="Unna" pitchFamily="34" charset="-122"/>
                <a:cs typeface="Unna" pitchFamily="34" charset="-120"/>
              </a:rPr>
              <a:t>Annual Comprehensive Report</a:t>
            </a:r>
            <a:endParaRPr lang="en-US" sz="1600" dirty="0"/>
          </a:p>
        </p:txBody>
      </p:sp>
      <p:sp>
        <p:nvSpPr>
          <p:cNvPr id="46" name="Text 44"/>
          <p:cNvSpPr/>
          <p:nvPr/>
        </p:nvSpPr>
        <p:spPr>
          <a:xfrm>
            <a:off x="6415419" y="4517929"/>
            <a:ext cx="5294949" cy="384505"/>
          </a:xfrm>
          <a:prstGeom prst="rect">
            <a:avLst/>
          </a:prstGeom>
          <a:noFill/>
          <a:ln/>
        </p:spPr>
        <p:txBody>
          <a:bodyPr wrap="square" lIns="0" tIns="0" rIns="0" bIns="0" rtlCol="0" anchor="ctr"/>
          <a:lstStyle/>
          <a:p>
            <a:pPr>
              <a:lnSpc>
                <a:spcPct val="130000"/>
              </a:lnSpc>
            </a:pPr>
            <a:r>
              <a:rPr lang="en-US" sz="1009" dirty="0">
                <a:solidFill>
                  <a:srgbClr val="2C2C2C"/>
                </a:solidFill>
                <a:latin typeface="Quattrocento Sans" pitchFamily="34" charset="0"/>
                <a:ea typeface="Quattrocento Sans" pitchFamily="34" charset="-122"/>
                <a:cs typeface="Quattrocento Sans" pitchFamily="34" charset="-120"/>
              </a:rPr>
              <a:t>Complete financial statements, operational summary, production metrics, lessons learned, and recommendations for future seasons.</a:t>
            </a:r>
            <a:endParaRPr lang="en-US" sz="1600" dirty="0"/>
          </a:p>
        </p:txBody>
      </p:sp>
      <p:sp>
        <p:nvSpPr>
          <p:cNvPr id="47" name="Shape 45"/>
          <p:cNvSpPr/>
          <p:nvPr/>
        </p:nvSpPr>
        <p:spPr>
          <a:xfrm>
            <a:off x="320420" y="5222854"/>
            <a:ext cx="3788972" cy="1057388"/>
          </a:xfrm>
          <a:custGeom>
            <a:avLst/>
            <a:gdLst/>
            <a:ahLst/>
            <a:cxnLst/>
            <a:rect l="l" t="t" r="r" b="b"/>
            <a:pathLst>
              <a:path w="3788972" h="1057388">
                <a:moveTo>
                  <a:pt x="64088" y="0"/>
                </a:moveTo>
                <a:lnTo>
                  <a:pt x="3724884" y="0"/>
                </a:lnTo>
                <a:cubicBezTo>
                  <a:pt x="3760279" y="0"/>
                  <a:pt x="3788972" y="28693"/>
                  <a:pt x="3788972" y="64088"/>
                </a:cubicBezTo>
                <a:lnTo>
                  <a:pt x="3788972" y="993299"/>
                </a:lnTo>
                <a:cubicBezTo>
                  <a:pt x="3788972" y="1028694"/>
                  <a:pt x="3760279" y="1057388"/>
                  <a:pt x="3724884" y="1057388"/>
                </a:cubicBezTo>
                <a:lnTo>
                  <a:pt x="64088" y="1057388"/>
                </a:lnTo>
                <a:cubicBezTo>
                  <a:pt x="28693" y="1057388"/>
                  <a:pt x="0" y="1028694"/>
                  <a:pt x="0" y="993299"/>
                </a:cubicBezTo>
                <a:lnTo>
                  <a:pt x="0" y="64088"/>
                </a:lnTo>
                <a:cubicBezTo>
                  <a:pt x="0" y="28717"/>
                  <a:pt x="28717" y="0"/>
                  <a:pt x="64088" y="0"/>
                </a:cubicBezTo>
                <a:close/>
              </a:path>
            </a:pathLst>
          </a:custGeom>
          <a:solidFill>
            <a:srgbClr val="3A4D39"/>
          </a:solidFill>
          <a:ln/>
        </p:spPr>
      </p:sp>
      <p:sp>
        <p:nvSpPr>
          <p:cNvPr id="48" name="Shape 46"/>
          <p:cNvSpPr/>
          <p:nvPr/>
        </p:nvSpPr>
        <p:spPr>
          <a:xfrm>
            <a:off x="2117028" y="5318980"/>
            <a:ext cx="192252" cy="192252"/>
          </a:xfrm>
          <a:custGeom>
            <a:avLst/>
            <a:gdLst/>
            <a:ahLst/>
            <a:cxnLst/>
            <a:rect l="l" t="t" r="r" b="b"/>
            <a:pathLst>
              <a:path w="192252" h="192252">
                <a:moveTo>
                  <a:pt x="96126" y="192252"/>
                </a:moveTo>
                <a:cubicBezTo>
                  <a:pt x="149180" y="192252"/>
                  <a:pt x="192252" y="149180"/>
                  <a:pt x="192252" y="96126"/>
                </a:cubicBezTo>
                <a:cubicBezTo>
                  <a:pt x="192252" y="43073"/>
                  <a:pt x="149180" y="0"/>
                  <a:pt x="96126" y="0"/>
                </a:cubicBezTo>
                <a:cubicBezTo>
                  <a:pt x="43073" y="0"/>
                  <a:pt x="0" y="43073"/>
                  <a:pt x="0" y="96126"/>
                </a:cubicBezTo>
                <a:cubicBezTo>
                  <a:pt x="0" y="149180"/>
                  <a:pt x="43073" y="192252"/>
                  <a:pt x="96126" y="192252"/>
                </a:cubicBezTo>
                <a:close/>
                <a:moveTo>
                  <a:pt x="96126" y="51067"/>
                </a:moveTo>
                <a:cubicBezTo>
                  <a:pt x="101120" y="51067"/>
                  <a:pt x="105138" y="55085"/>
                  <a:pt x="105138" y="60079"/>
                </a:cubicBezTo>
                <a:lnTo>
                  <a:pt x="105138" y="102134"/>
                </a:lnTo>
                <a:cubicBezTo>
                  <a:pt x="105138" y="107128"/>
                  <a:pt x="101120" y="111146"/>
                  <a:pt x="96126" y="111146"/>
                </a:cubicBezTo>
                <a:cubicBezTo>
                  <a:pt x="91132" y="111146"/>
                  <a:pt x="87114" y="107128"/>
                  <a:pt x="87114" y="102134"/>
                </a:cubicBezTo>
                <a:lnTo>
                  <a:pt x="87114" y="60079"/>
                </a:lnTo>
                <a:cubicBezTo>
                  <a:pt x="87114" y="55085"/>
                  <a:pt x="91132" y="51067"/>
                  <a:pt x="96126" y="51067"/>
                </a:cubicBezTo>
                <a:close/>
                <a:moveTo>
                  <a:pt x="86100" y="132173"/>
                </a:moveTo>
                <a:cubicBezTo>
                  <a:pt x="85872" y="128452"/>
                  <a:pt x="87728" y="124911"/>
                  <a:pt x="90918" y="122982"/>
                </a:cubicBezTo>
                <a:cubicBezTo>
                  <a:pt x="94109" y="121052"/>
                  <a:pt x="98106" y="121052"/>
                  <a:pt x="101296" y="122982"/>
                </a:cubicBezTo>
                <a:cubicBezTo>
                  <a:pt x="104486" y="124911"/>
                  <a:pt x="106342" y="128452"/>
                  <a:pt x="106114" y="132173"/>
                </a:cubicBezTo>
                <a:cubicBezTo>
                  <a:pt x="106342" y="135895"/>
                  <a:pt x="104486" y="139435"/>
                  <a:pt x="101296" y="141365"/>
                </a:cubicBezTo>
                <a:cubicBezTo>
                  <a:pt x="98106" y="143295"/>
                  <a:pt x="94109" y="143295"/>
                  <a:pt x="90918" y="141365"/>
                </a:cubicBezTo>
                <a:cubicBezTo>
                  <a:pt x="87728" y="139435"/>
                  <a:pt x="85872" y="135895"/>
                  <a:pt x="86100" y="132173"/>
                </a:cubicBezTo>
                <a:close/>
              </a:path>
            </a:pathLst>
          </a:custGeom>
          <a:solidFill>
            <a:srgbClr val="BCA37F"/>
          </a:solidFill>
          <a:ln/>
        </p:spPr>
      </p:sp>
      <p:sp>
        <p:nvSpPr>
          <p:cNvPr id="49" name="Text 47"/>
          <p:cNvSpPr/>
          <p:nvPr/>
        </p:nvSpPr>
        <p:spPr>
          <a:xfrm>
            <a:off x="384505" y="5575317"/>
            <a:ext cx="3660804" cy="192252"/>
          </a:xfrm>
          <a:prstGeom prst="rect">
            <a:avLst/>
          </a:prstGeom>
          <a:noFill/>
          <a:ln/>
        </p:spPr>
        <p:txBody>
          <a:bodyPr wrap="square" lIns="0" tIns="0" rIns="0" bIns="0" rtlCol="0" anchor="ctr"/>
          <a:lstStyle/>
          <a:p>
            <a:pPr algn="ctr">
              <a:lnSpc>
                <a:spcPct val="130000"/>
              </a:lnSpc>
            </a:pPr>
            <a:r>
              <a:rPr lang="en-US" sz="1009" b="1" dirty="0">
                <a:solidFill>
                  <a:srgbClr val="F8F6F2"/>
                </a:solidFill>
                <a:latin typeface="Unna" pitchFamily="34" charset="0"/>
                <a:ea typeface="Unna" pitchFamily="34" charset="-122"/>
                <a:cs typeface="Unna" pitchFamily="34" charset="-120"/>
              </a:rPr>
              <a:t>Emergency Notifications</a:t>
            </a:r>
            <a:endParaRPr lang="en-US" sz="1600" dirty="0"/>
          </a:p>
        </p:txBody>
      </p:sp>
      <p:sp>
        <p:nvSpPr>
          <p:cNvPr id="50" name="Text 48"/>
          <p:cNvSpPr/>
          <p:nvPr/>
        </p:nvSpPr>
        <p:spPr>
          <a:xfrm>
            <a:off x="384505" y="5799611"/>
            <a:ext cx="3660804" cy="384505"/>
          </a:xfrm>
          <a:prstGeom prst="rect">
            <a:avLst/>
          </a:prstGeom>
          <a:noFill/>
          <a:ln/>
        </p:spPr>
        <p:txBody>
          <a:bodyPr wrap="square" lIns="0" tIns="0" rIns="0" bIns="0" rtlCol="0" anchor="ctr"/>
          <a:lstStyle/>
          <a:p>
            <a:pPr algn="ctr">
              <a:lnSpc>
                <a:spcPct val="130000"/>
              </a:lnSpc>
            </a:pPr>
            <a:r>
              <a:rPr lang="en-US" sz="1009" dirty="0">
                <a:solidFill>
                  <a:srgbClr val="F8F6F2"/>
                </a:solidFill>
                <a:latin typeface="Quattrocento Sans" pitchFamily="34" charset="0"/>
                <a:ea typeface="Quattrocento Sans" pitchFamily="34" charset="-122"/>
                <a:cs typeface="Quattrocento Sans" pitchFamily="34" charset="-120"/>
              </a:rPr>
              <a:t>Immediate notification to all partners for crop disease outbreaks, equipment failures, or other critical issues</a:t>
            </a:r>
            <a:endParaRPr lang="en-US" sz="1600" dirty="0"/>
          </a:p>
        </p:txBody>
      </p:sp>
      <p:sp>
        <p:nvSpPr>
          <p:cNvPr id="51" name="Shape 49"/>
          <p:cNvSpPr/>
          <p:nvPr/>
        </p:nvSpPr>
        <p:spPr>
          <a:xfrm>
            <a:off x="4202140" y="5222854"/>
            <a:ext cx="3788972" cy="1057388"/>
          </a:xfrm>
          <a:custGeom>
            <a:avLst/>
            <a:gdLst/>
            <a:ahLst/>
            <a:cxnLst/>
            <a:rect l="l" t="t" r="r" b="b"/>
            <a:pathLst>
              <a:path w="3788972" h="1057388">
                <a:moveTo>
                  <a:pt x="64088" y="0"/>
                </a:moveTo>
                <a:lnTo>
                  <a:pt x="3724884" y="0"/>
                </a:lnTo>
                <a:cubicBezTo>
                  <a:pt x="3760279" y="0"/>
                  <a:pt x="3788972" y="28693"/>
                  <a:pt x="3788972" y="64088"/>
                </a:cubicBezTo>
                <a:lnTo>
                  <a:pt x="3788972" y="993299"/>
                </a:lnTo>
                <a:cubicBezTo>
                  <a:pt x="3788972" y="1028694"/>
                  <a:pt x="3760279" y="1057388"/>
                  <a:pt x="3724884" y="1057388"/>
                </a:cubicBezTo>
                <a:lnTo>
                  <a:pt x="64088" y="1057388"/>
                </a:lnTo>
                <a:cubicBezTo>
                  <a:pt x="28693" y="1057388"/>
                  <a:pt x="0" y="1028694"/>
                  <a:pt x="0" y="993299"/>
                </a:cubicBezTo>
                <a:lnTo>
                  <a:pt x="0" y="64088"/>
                </a:lnTo>
                <a:cubicBezTo>
                  <a:pt x="0" y="28717"/>
                  <a:pt x="28717" y="0"/>
                  <a:pt x="64088" y="0"/>
                </a:cubicBezTo>
                <a:close/>
              </a:path>
            </a:pathLst>
          </a:custGeom>
          <a:solidFill>
            <a:srgbClr val="7A6250"/>
          </a:solidFill>
          <a:ln/>
        </p:spPr>
      </p:sp>
      <p:sp>
        <p:nvSpPr>
          <p:cNvPr id="52" name="Shape 50"/>
          <p:cNvSpPr/>
          <p:nvPr/>
        </p:nvSpPr>
        <p:spPr>
          <a:xfrm>
            <a:off x="5974841" y="5318980"/>
            <a:ext cx="240315" cy="192252"/>
          </a:xfrm>
          <a:custGeom>
            <a:avLst/>
            <a:gdLst/>
            <a:ahLst/>
            <a:cxnLst/>
            <a:rect l="l" t="t" r="r" b="b"/>
            <a:pathLst>
              <a:path w="240315" h="192252">
                <a:moveTo>
                  <a:pt x="120158" y="6008"/>
                </a:moveTo>
                <a:cubicBezTo>
                  <a:pt x="141711" y="6008"/>
                  <a:pt x="159209" y="23506"/>
                  <a:pt x="159209" y="45059"/>
                </a:cubicBezTo>
                <a:cubicBezTo>
                  <a:pt x="159209" y="66612"/>
                  <a:pt x="141711" y="84110"/>
                  <a:pt x="120158" y="84110"/>
                </a:cubicBezTo>
                <a:cubicBezTo>
                  <a:pt x="98605" y="84110"/>
                  <a:pt x="81106" y="66612"/>
                  <a:pt x="81106" y="45059"/>
                </a:cubicBezTo>
                <a:cubicBezTo>
                  <a:pt x="81106" y="23506"/>
                  <a:pt x="98605" y="6008"/>
                  <a:pt x="120158" y="6008"/>
                </a:cubicBezTo>
                <a:close/>
                <a:moveTo>
                  <a:pt x="36047" y="33043"/>
                </a:moveTo>
                <a:cubicBezTo>
                  <a:pt x="50969" y="33043"/>
                  <a:pt x="63083" y="45158"/>
                  <a:pt x="63083" y="60079"/>
                </a:cubicBezTo>
                <a:cubicBezTo>
                  <a:pt x="63083" y="75000"/>
                  <a:pt x="50969" y="87114"/>
                  <a:pt x="36047" y="87114"/>
                </a:cubicBezTo>
                <a:cubicBezTo>
                  <a:pt x="21126" y="87114"/>
                  <a:pt x="9012" y="75000"/>
                  <a:pt x="9012" y="60079"/>
                </a:cubicBezTo>
                <a:cubicBezTo>
                  <a:pt x="9012" y="45158"/>
                  <a:pt x="21126" y="33043"/>
                  <a:pt x="36047" y="33043"/>
                </a:cubicBezTo>
                <a:close/>
                <a:moveTo>
                  <a:pt x="0" y="156205"/>
                </a:moveTo>
                <a:cubicBezTo>
                  <a:pt x="0" y="129658"/>
                  <a:pt x="21516" y="108142"/>
                  <a:pt x="48063" y="108142"/>
                </a:cubicBezTo>
                <a:cubicBezTo>
                  <a:pt x="52869" y="108142"/>
                  <a:pt x="57525" y="108855"/>
                  <a:pt x="61919" y="110170"/>
                </a:cubicBezTo>
                <a:cubicBezTo>
                  <a:pt x="49565" y="123988"/>
                  <a:pt x="42055" y="142237"/>
                  <a:pt x="42055" y="162213"/>
                </a:cubicBezTo>
                <a:lnTo>
                  <a:pt x="42055" y="168221"/>
                </a:lnTo>
                <a:cubicBezTo>
                  <a:pt x="42055" y="172501"/>
                  <a:pt x="42956" y="176557"/>
                  <a:pt x="44571" y="180237"/>
                </a:cubicBezTo>
                <a:lnTo>
                  <a:pt x="12016" y="180237"/>
                </a:lnTo>
                <a:cubicBezTo>
                  <a:pt x="5370" y="180237"/>
                  <a:pt x="0" y="174867"/>
                  <a:pt x="0" y="168221"/>
                </a:cubicBezTo>
                <a:lnTo>
                  <a:pt x="0" y="156205"/>
                </a:lnTo>
                <a:close/>
                <a:moveTo>
                  <a:pt x="195744" y="180237"/>
                </a:moveTo>
                <a:cubicBezTo>
                  <a:pt x="197359" y="176557"/>
                  <a:pt x="198260" y="172501"/>
                  <a:pt x="198260" y="168221"/>
                </a:cubicBezTo>
                <a:lnTo>
                  <a:pt x="198260" y="162213"/>
                </a:lnTo>
                <a:cubicBezTo>
                  <a:pt x="198260" y="142237"/>
                  <a:pt x="190750" y="123988"/>
                  <a:pt x="178397" y="110170"/>
                </a:cubicBezTo>
                <a:cubicBezTo>
                  <a:pt x="182790" y="108855"/>
                  <a:pt x="187446" y="108142"/>
                  <a:pt x="192252" y="108142"/>
                </a:cubicBezTo>
                <a:cubicBezTo>
                  <a:pt x="218800" y="108142"/>
                  <a:pt x="240315" y="129658"/>
                  <a:pt x="240315" y="156205"/>
                </a:cubicBezTo>
                <a:lnTo>
                  <a:pt x="240315" y="168221"/>
                </a:lnTo>
                <a:cubicBezTo>
                  <a:pt x="240315" y="174867"/>
                  <a:pt x="234946" y="180237"/>
                  <a:pt x="228300" y="180237"/>
                </a:cubicBezTo>
                <a:lnTo>
                  <a:pt x="195744" y="180237"/>
                </a:lnTo>
                <a:close/>
                <a:moveTo>
                  <a:pt x="177233" y="60079"/>
                </a:moveTo>
                <a:cubicBezTo>
                  <a:pt x="177233" y="45158"/>
                  <a:pt x="189347" y="33043"/>
                  <a:pt x="204268" y="33043"/>
                </a:cubicBezTo>
                <a:cubicBezTo>
                  <a:pt x="219189" y="33043"/>
                  <a:pt x="231304" y="45158"/>
                  <a:pt x="231304" y="60079"/>
                </a:cubicBezTo>
                <a:cubicBezTo>
                  <a:pt x="231304" y="75000"/>
                  <a:pt x="219189" y="87114"/>
                  <a:pt x="204268" y="87114"/>
                </a:cubicBezTo>
                <a:cubicBezTo>
                  <a:pt x="189347" y="87114"/>
                  <a:pt x="177233" y="75000"/>
                  <a:pt x="177233" y="60079"/>
                </a:cubicBezTo>
                <a:close/>
                <a:moveTo>
                  <a:pt x="60079" y="162213"/>
                </a:moveTo>
                <a:cubicBezTo>
                  <a:pt x="60079" y="129019"/>
                  <a:pt x="86964" y="102134"/>
                  <a:pt x="120158" y="102134"/>
                </a:cubicBezTo>
                <a:cubicBezTo>
                  <a:pt x="153351" y="102134"/>
                  <a:pt x="180237" y="129019"/>
                  <a:pt x="180237" y="162213"/>
                </a:cubicBezTo>
                <a:lnTo>
                  <a:pt x="180237" y="168221"/>
                </a:lnTo>
                <a:cubicBezTo>
                  <a:pt x="180237" y="174867"/>
                  <a:pt x="174867" y="180237"/>
                  <a:pt x="168221" y="180237"/>
                </a:cubicBezTo>
                <a:lnTo>
                  <a:pt x="72095" y="180237"/>
                </a:lnTo>
                <a:cubicBezTo>
                  <a:pt x="65448" y="180237"/>
                  <a:pt x="60079" y="174867"/>
                  <a:pt x="60079" y="168221"/>
                </a:cubicBezTo>
                <a:lnTo>
                  <a:pt x="60079" y="162213"/>
                </a:lnTo>
                <a:close/>
              </a:path>
            </a:pathLst>
          </a:custGeom>
          <a:solidFill>
            <a:srgbClr val="BCA37F"/>
          </a:solidFill>
          <a:ln/>
        </p:spPr>
      </p:sp>
      <p:sp>
        <p:nvSpPr>
          <p:cNvPr id="53" name="Text 51"/>
          <p:cNvSpPr/>
          <p:nvPr/>
        </p:nvSpPr>
        <p:spPr>
          <a:xfrm>
            <a:off x="4266224" y="5575317"/>
            <a:ext cx="3660804" cy="192252"/>
          </a:xfrm>
          <a:prstGeom prst="rect">
            <a:avLst/>
          </a:prstGeom>
          <a:noFill/>
          <a:ln/>
        </p:spPr>
        <p:txBody>
          <a:bodyPr wrap="square" lIns="0" tIns="0" rIns="0" bIns="0" rtlCol="0" anchor="ctr"/>
          <a:lstStyle/>
          <a:p>
            <a:pPr algn="ctr">
              <a:lnSpc>
                <a:spcPct val="130000"/>
              </a:lnSpc>
            </a:pPr>
            <a:r>
              <a:rPr lang="en-US" sz="1009" b="1" dirty="0">
                <a:solidFill>
                  <a:srgbClr val="F8F6F2"/>
                </a:solidFill>
                <a:latin typeface="Unna" pitchFamily="34" charset="0"/>
                <a:ea typeface="Unna" pitchFamily="34" charset="-122"/>
                <a:cs typeface="Unna" pitchFamily="34" charset="-120"/>
              </a:rPr>
              <a:t>Partner Meetings</a:t>
            </a:r>
            <a:endParaRPr lang="en-US" sz="1600" dirty="0"/>
          </a:p>
        </p:txBody>
      </p:sp>
      <p:sp>
        <p:nvSpPr>
          <p:cNvPr id="54" name="Text 52"/>
          <p:cNvSpPr/>
          <p:nvPr/>
        </p:nvSpPr>
        <p:spPr>
          <a:xfrm>
            <a:off x="4266224" y="5799611"/>
            <a:ext cx="3660804" cy="384505"/>
          </a:xfrm>
          <a:prstGeom prst="rect">
            <a:avLst/>
          </a:prstGeom>
          <a:noFill/>
          <a:ln/>
        </p:spPr>
        <p:txBody>
          <a:bodyPr wrap="square" lIns="0" tIns="0" rIns="0" bIns="0" rtlCol="0" anchor="ctr"/>
          <a:lstStyle/>
          <a:p>
            <a:pPr algn="ctr">
              <a:lnSpc>
                <a:spcPct val="130000"/>
              </a:lnSpc>
            </a:pPr>
            <a:r>
              <a:rPr lang="en-US" sz="1009" dirty="0">
                <a:solidFill>
                  <a:srgbClr val="F8F6F2"/>
                </a:solidFill>
                <a:latin typeface="Quattrocento Sans" pitchFamily="34" charset="0"/>
                <a:ea typeface="Quattrocento Sans" pitchFamily="34" charset="-122"/>
                <a:cs typeface="Quattrocento Sans" pitchFamily="34" charset="-120"/>
              </a:rPr>
              <a:t>Monthly conference calls or in-person meetings to discuss reports, address concerns, and make collaborative decisions</a:t>
            </a:r>
            <a:endParaRPr lang="en-US" sz="1600" dirty="0"/>
          </a:p>
        </p:txBody>
      </p:sp>
      <p:sp>
        <p:nvSpPr>
          <p:cNvPr id="55" name="Shape 53"/>
          <p:cNvSpPr/>
          <p:nvPr/>
        </p:nvSpPr>
        <p:spPr>
          <a:xfrm>
            <a:off x="8083984" y="5222854"/>
            <a:ext cx="3788972" cy="1057388"/>
          </a:xfrm>
          <a:custGeom>
            <a:avLst/>
            <a:gdLst/>
            <a:ahLst/>
            <a:cxnLst/>
            <a:rect l="l" t="t" r="r" b="b"/>
            <a:pathLst>
              <a:path w="3788972" h="1057388">
                <a:moveTo>
                  <a:pt x="64088" y="0"/>
                </a:moveTo>
                <a:lnTo>
                  <a:pt x="3724884" y="0"/>
                </a:lnTo>
                <a:cubicBezTo>
                  <a:pt x="3760279" y="0"/>
                  <a:pt x="3788972" y="28693"/>
                  <a:pt x="3788972" y="64088"/>
                </a:cubicBezTo>
                <a:lnTo>
                  <a:pt x="3788972" y="993299"/>
                </a:lnTo>
                <a:cubicBezTo>
                  <a:pt x="3788972" y="1028694"/>
                  <a:pt x="3760279" y="1057388"/>
                  <a:pt x="3724884" y="1057388"/>
                </a:cubicBezTo>
                <a:lnTo>
                  <a:pt x="64088" y="1057388"/>
                </a:lnTo>
                <a:cubicBezTo>
                  <a:pt x="28693" y="1057388"/>
                  <a:pt x="0" y="1028694"/>
                  <a:pt x="0" y="993299"/>
                </a:cubicBezTo>
                <a:lnTo>
                  <a:pt x="0" y="64088"/>
                </a:lnTo>
                <a:cubicBezTo>
                  <a:pt x="0" y="28717"/>
                  <a:pt x="28717" y="0"/>
                  <a:pt x="64088" y="0"/>
                </a:cubicBezTo>
                <a:close/>
              </a:path>
            </a:pathLst>
          </a:custGeom>
          <a:solidFill>
            <a:srgbClr val="3A4D39"/>
          </a:solidFill>
          <a:ln/>
        </p:spPr>
      </p:sp>
      <p:sp>
        <p:nvSpPr>
          <p:cNvPr id="56" name="Shape 54"/>
          <p:cNvSpPr/>
          <p:nvPr/>
        </p:nvSpPr>
        <p:spPr>
          <a:xfrm>
            <a:off x="9904748" y="5318980"/>
            <a:ext cx="144189" cy="192252"/>
          </a:xfrm>
          <a:custGeom>
            <a:avLst/>
            <a:gdLst/>
            <a:ahLst/>
            <a:cxnLst/>
            <a:rect l="l" t="t" r="r" b="b"/>
            <a:pathLst>
              <a:path w="144189" h="192252">
                <a:moveTo>
                  <a:pt x="63608" y="3530"/>
                </a:moveTo>
                <a:cubicBezTo>
                  <a:pt x="68302" y="-1164"/>
                  <a:pt x="75925" y="-1164"/>
                  <a:pt x="80618" y="3530"/>
                </a:cubicBezTo>
                <a:lnTo>
                  <a:pt x="128681" y="51593"/>
                </a:lnTo>
                <a:cubicBezTo>
                  <a:pt x="132136" y="55047"/>
                  <a:pt x="133150" y="60191"/>
                  <a:pt x="131272" y="64697"/>
                </a:cubicBezTo>
                <a:cubicBezTo>
                  <a:pt x="129395" y="69203"/>
                  <a:pt x="125002" y="72095"/>
                  <a:pt x="120158" y="72095"/>
                </a:cubicBezTo>
                <a:lnTo>
                  <a:pt x="96126" y="72095"/>
                </a:lnTo>
                <a:lnTo>
                  <a:pt x="96126" y="132173"/>
                </a:lnTo>
                <a:cubicBezTo>
                  <a:pt x="96126" y="165367"/>
                  <a:pt x="69241" y="192252"/>
                  <a:pt x="36047" y="192252"/>
                </a:cubicBezTo>
                <a:lnTo>
                  <a:pt x="12016" y="192252"/>
                </a:lnTo>
                <a:cubicBezTo>
                  <a:pt x="5370" y="192252"/>
                  <a:pt x="0" y="186883"/>
                  <a:pt x="0" y="180237"/>
                </a:cubicBezTo>
                <a:lnTo>
                  <a:pt x="0" y="156205"/>
                </a:lnTo>
                <a:cubicBezTo>
                  <a:pt x="0" y="149559"/>
                  <a:pt x="5370" y="144189"/>
                  <a:pt x="12016" y="144189"/>
                </a:cubicBezTo>
                <a:lnTo>
                  <a:pt x="36047" y="144189"/>
                </a:lnTo>
                <a:cubicBezTo>
                  <a:pt x="42694" y="144189"/>
                  <a:pt x="48063" y="138820"/>
                  <a:pt x="48063" y="132173"/>
                </a:cubicBezTo>
                <a:lnTo>
                  <a:pt x="48063" y="72095"/>
                </a:lnTo>
                <a:lnTo>
                  <a:pt x="24032" y="72095"/>
                </a:lnTo>
                <a:cubicBezTo>
                  <a:pt x="19188" y="72095"/>
                  <a:pt x="14794" y="69166"/>
                  <a:pt x="12917" y="64660"/>
                </a:cubicBezTo>
                <a:cubicBezTo>
                  <a:pt x="11039" y="60154"/>
                  <a:pt x="12091" y="55010"/>
                  <a:pt x="15508" y="51555"/>
                </a:cubicBezTo>
                <a:lnTo>
                  <a:pt x="63571" y="3492"/>
                </a:lnTo>
                <a:close/>
              </a:path>
            </a:pathLst>
          </a:custGeom>
          <a:solidFill>
            <a:srgbClr val="BCA37F"/>
          </a:solidFill>
          <a:ln/>
        </p:spPr>
      </p:sp>
      <p:sp>
        <p:nvSpPr>
          <p:cNvPr id="57" name="Text 55"/>
          <p:cNvSpPr/>
          <p:nvPr/>
        </p:nvSpPr>
        <p:spPr>
          <a:xfrm>
            <a:off x="8148068" y="5575317"/>
            <a:ext cx="3660804" cy="192252"/>
          </a:xfrm>
          <a:prstGeom prst="rect">
            <a:avLst/>
          </a:prstGeom>
          <a:noFill/>
          <a:ln/>
        </p:spPr>
        <p:txBody>
          <a:bodyPr wrap="square" lIns="0" tIns="0" rIns="0" bIns="0" rtlCol="0" anchor="ctr"/>
          <a:lstStyle/>
          <a:p>
            <a:pPr algn="ctr">
              <a:lnSpc>
                <a:spcPct val="130000"/>
              </a:lnSpc>
            </a:pPr>
            <a:r>
              <a:rPr lang="en-US" sz="1009" b="1" dirty="0">
                <a:solidFill>
                  <a:srgbClr val="F8F6F2"/>
                </a:solidFill>
                <a:latin typeface="Unna" pitchFamily="34" charset="0"/>
                <a:ea typeface="Unna" pitchFamily="34" charset="-122"/>
                <a:cs typeface="Unna" pitchFamily="34" charset="-120"/>
              </a:rPr>
              <a:t>Escalation Procedures</a:t>
            </a:r>
            <a:endParaRPr lang="en-US" sz="1600" dirty="0"/>
          </a:p>
        </p:txBody>
      </p:sp>
      <p:sp>
        <p:nvSpPr>
          <p:cNvPr id="58" name="Text 56"/>
          <p:cNvSpPr/>
          <p:nvPr/>
        </p:nvSpPr>
        <p:spPr>
          <a:xfrm>
            <a:off x="8148068" y="5799611"/>
            <a:ext cx="3660804" cy="384505"/>
          </a:xfrm>
          <a:prstGeom prst="rect">
            <a:avLst/>
          </a:prstGeom>
          <a:noFill/>
          <a:ln/>
        </p:spPr>
        <p:txBody>
          <a:bodyPr wrap="square" lIns="0" tIns="0" rIns="0" bIns="0" rtlCol="0" anchor="ctr"/>
          <a:lstStyle/>
          <a:p>
            <a:pPr algn="ctr">
              <a:lnSpc>
                <a:spcPct val="130000"/>
              </a:lnSpc>
            </a:pPr>
            <a:r>
              <a:rPr lang="en-US" sz="1009" dirty="0">
                <a:solidFill>
                  <a:srgbClr val="F8F6F2"/>
                </a:solidFill>
                <a:latin typeface="Quattrocento Sans" pitchFamily="34" charset="0"/>
                <a:ea typeface="Quattrocento Sans" pitchFamily="34" charset="-122"/>
                <a:cs typeface="Quattrocento Sans" pitchFamily="34" charset="-120"/>
              </a:rPr>
              <a:t>Clear process for elevating unresolved issues from Monitoring Partners to all partners for collective decision-making</a:t>
            </a:r>
            <a:endParaRPr lang="en-US" sz="1600" dirty="0"/>
          </a:p>
        </p:txBody>
      </p:sp>
    </p:spTree>
  </p:cSld>
  <p:clrMapOvr>
    <a:masterClrMapping/>
  </p:clrMapOvr>
  <p:transition>
    <p:fade/>
    <p:spd val="med"/>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6F2"/>
        </a:solidFill>
      </p:bgPr>
    </p:bg>
    <p:spTree>
      <p:nvGrpSpPr>
        <p:cNvPr id="1" name=""/>
        <p:cNvGrpSpPr/>
        <p:nvPr/>
      </p:nvGrpSpPr>
      <p:grpSpPr>
        <a:xfrm>
          <a:off x="0" y="0"/>
          <a:ext cx="0" cy="0"/>
          <a:chOff x="0" y="0"/>
          <a:chExt cx="0" cy="0"/>
        </a:xfrm>
      </p:grpSpPr>
      <p:sp>
        <p:nvSpPr>
          <p:cNvPr id="2" name="Shape 0"/>
          <p:cNvSpPr/>
          <p:nvPr/>
        </p:nvSpPr>
        <p:spPr>
          <a:xfrm>
            <a:off x="319790" y="319790"/>
            <a:ext cx="319790" cy="319790"/>
          </a:xfrm>
          <a:custGeom>
            <a:avLst/>
            <a:gdLst/>
            <a:ahLst/>
            <a:cxnLst/>
            <a:rect l="l" t="t" r="r" b="b"/>
            <a:pathLst>
              <a:path w="319790" h="319790">
                <a:moveTo>
                  <a:pt x="31979" y="0"/>
                </a:moveTo>
                <a:lnTo>
                  <a:pt x="287811" y="0"/>
                </a:lnTo>
                <a:cubicBezTo>
                  <a:pt x="305473" y="0"/>
                  <a:pt x="319790" y="14317"/>
                  <a:pt x="319790" y="31979"/>
                </a:cubicBezTo>
                <a:lnTo>
                  <a:pt x="319790" y="287811"/>
                </a:lnTo>
                <a:cubicBezTo>
                  <a:pt x="319790" y="305473"/>
                  <a:pt x="305473" y="319790"/>
                  <a:pt x="287811" y="319790"/>
                </a:cubicBezTo>
                <a:lnTo>
                  <a:pt x="31979" y="319790"/>
                </a:lnTo>
                <a:cubicBezTo>
                  <a:pt x="14317" y="319790"/>
                  <a:pt x="0" y="305473"/>
                  <a:pt x="0" y="287811"/>
                </a:cubicBezTo>
                <a:lnTo>
                  <a:pt x="0" y="31979"/>
                </a:lnTo>
                <a:cubicBezTo>
                  <a:pt x="0" y="14329"/>
                  <a:pt x="14329" y="0"/>
                  <a:pt x="31979" y="0"/>
                </a:cubicBezTo>
                <a:close/>
              </a:path>
            </a:pathLst>
          </a:custGeom>
          <a:solidFill>
            <a:srgbClr val="3A4D39"/>
          </a:solidFill>
          <a:ln/>
        </p:spPr>
      </p:sp>
      <p:sp>
        <p:nvSpPr>
          <p:cNvPr id="3" name="Text 1"/>
          <p:cNvSpPr/>
          <p:nvPr/>
        </p:nvSpPr>
        <p:spPr>
          <a:xfrm>
            <a:off x="437838" y="367759"/>
            <a:ext cx="159895" cy="223853"/>
          </a:xfrm>
          <a:prstGeom prst="rect">
            <a:avLst/>
          </a:prstGeom>
          <a:noFill/>
          <a:ln/>
        </p:spPr>
        <p:txBody>
          <a:bodyPr wrap="square" lIns="0" tIns="0" rIns="0" bIns="0" rtlCol="0" anchor="ctr"/>
          <a:lstStyle/>
          <a:p>
            <a:pPr>
              <a:lnSpc>
                <a:spcPct val="120000"/>
              </a:lnSpc>
            </a:pPr>
            <a:r>
              <a:rPr lang="en-US" sz="1259" b="1" dirty="0">
                <a:solidFill>
                  <a:srgbClr val="F8F6F2"/>
                </a:solidFill>
                <a:latin typeface="Oranienbaum" pitchFamily="34" charset="0"/>
                <a:ea typeface="Oranienbaum" pitchFamily="34" charset="-122"/>
                <a:cs typeface="Oranienbaum" pitchFamily="34" charset="-120"/>
              </a:rPr>
              <a:t>9</a:t>
            </a:r>
            <a:endParaRPr lang="en-US" sz="1600" dirty="0"/>
          </a:p>
        </p:txBody>
      </p:sp>
      <p:sp>
        <p:nvSpPr>
          <p:cNvPr id="4" name="Text 2"/>
          <p:cNvSpPr/>
          <p:nvPr/>
        </p:nvSpPr>
        <p:spPr>
          <a:xfrm>
            <a:off x="735517" y="319790"/>
            <a:ext cx="4149277" cy="319790"/>
          </a:xfrm>
          <a:prstGeom prst="rect">
            <a:avLst/>
          </a:prstGeom>
          <a:noFill/>
          <a:ln/>
        </p:spPr>
        <p:txBody>
          <a:bodyPr wrap="square" lIns="0" tIns="0" rIns="0" bIns="0" rtlCol="0" anchor="ctr"/>
          <a:lstStyle/>
          <a:p>
            <a:pPr>
              <a:lnSpc>
                <a:spcPct val="90000"/>
              </a:lnSpc>
            </a:pPr>
            <a:r>
              <a:rPr lang="en-US" sz="2266" b="1" dirty="0">
                <a:solidFill>
                  <a:srgbClr val="3A4D39"/>
                </a:solidFill>
                <a:latin typeface="Oranienbaum" pitchFamily="34" charset="0"/>
                <a:ea typeface="Oranienbaum" pitchFamily="34" charset="-122"/>
                <a:cs typeface="Oranienbaum" pitchFamily="34" charset="-120"/>
              </a:rPr>
              <a:t>Governance and Decision Making</a:t>
            </a:r>
            <a:endParaRPr lang="en-US" sz="1600" dirty="0"/>
          </a:p>
        </p:txBody>
      </p:sp>
      <p:sp>
        <p:nvSpPr>
          <p:cNvPr id="5" name="Shape 3"/>
          <p:cNvSpPr/>
          <p:nvPr/>
        </p:nvSpPr>
        <p:spPr>
          <a:xfrm>
            <a:off x="319790" y="703538"/>
            <a:ext cx="639580" cy="31979"/>
          </a:xfrm>
          <a:custGeom>
            <a:avLst/>
            <a:gdLst/>
            <a:ahLst/>
            <a:cxnLst/>
            <a:rect l="l" t="t" r="r" b="b"/>
            <a:pathLst>
              <a:path w="639580" h="31979">
                <a:moveTo>
                  <a:pt x="0" y="0"/>
                </a:moveTo>
                <a:lnTo>
                  <a:pt x="639580" y="0"/>
                </a:lnTo>
                <a:lnTo>
                  <a:pt x="639580" y="31979"/>
                </a:lnTo>
                <a:lnTo>
                  <a:pt x="0" y="31979"/>
                </a:lnTo>
                <a:lnTo>
                  <a:pt x="0" y="0"/>
                </a:lnTo>
                <a:close/>
              </a:path>
            </a:pathLst>
          </a:custGeom>
          <a:solidFill>
            <a:srgbClr val="BCA37F"/>
          </a:solidFill>
          <a:ln/>
        </p:spPr>
      </p:sp>
      <p:sp>
        <p:nvSpPr>
          <p:cNvPr id="6" name="Shape 4"/>
          <p:cNvSpPr/>
          <p:nvPr/>
        </p:nvSpPr>
        <p:spPr>
          <a:xfrm>
            <a:off x="335780" y="863433"/>
            <a:ext cx="11536430" cy="3613629"/>
          </a:xfrm>
          <a:custGeom>
            <a:avLst/>
            <a:gdLst/>
            <a:ahLst/>
            <a:cxnLst/>
            <a:rect l="l" t="t" r="r" b="b"/>
            <a:pathLst>
              <a:path w="11536430" h="3613629">
                <a:moveTo>
                  <a:pt x="31979" y="0"/>
                </a:moveTo>
                <a:lnTo>
                  <a:pt x="11472469" y="0"/>
                </a:lnTo>
                <a:cubicBezTo>
                  <a:pt x="11507794" y="0"/>
                  <a:pt x="11536430" y="28636"/>
                  <a:pt x="11536430" y="63961"/>
                </a:cubicBezTo>
                <a:lnTo>
                  <a:pt x="11536430" y="3549668"/>
                </a:lnTo>
                <a:cubicBezTo>
                  <a:pt x="11536430" y="3584992"/>
                  <a:pt x="11507794" y="3613629"/>
                  <a:pt x="11472469" y="3613629"/>
                </a:cubicBezTo>
                <a:lnTo>
                  <a:pt x="31979" y="3613629"/>
                </a:lnTo>
                <a:cubicBezTo>
                  <a:pt x="14317" y="3613629"/>
                  <a:pt x="0" y="3599311"/>
                  <a:pt x="0" y="3581650"/>
                </a:cubicBezTo>
                <a:lnTo>
                  <a:pt x="0" y="31979"/>
                </a:lnTo>
                <a:cubicBezTo>
                  <a:pt x="0" y="14329"/>
                  <a:pt x="14329" y="0"/>
                  <a:pt x="31979" y="0"/>
                </a:cubicBezTo>
                <a:close/>
              </a:path>
            </a:pathLst>
          </a:custGeom>
          <a:solidFill>
            <a:srgbClr val="FFFFFF"/>
          </a:solidFill>
          <a:ln/>
          <a:effectLst>
            <a:outerShdw sx="100000" sy="100000" kx="0" ky="0" algn="bl" rotWithShape="0" blurRad="23984" dist="7995" dir="5400000">
              <a:srgbClr val="000000">
                <a:alpha val="10196"/>
              </a:srgbClr>
            </a:outerShdw>
          </a:effectLst>
        </p:spPr>
      </p:sp>
      <p:sp>
        <p:nvSpPr>
          <p:cNvPr id="7" name="Shape 5"/>
          <p:cNvSpPr/>
          <p:nvPr/>
        </p:nvSpPr>
        <p:spPr>
          <a:xfrm>
            <a:off x="335780" y="863433"/>
            <a:ext cx="31979" cy="3613629"/>
          </a:xfrm>
          <a:custGeom>
            <a:avLst/>
            <a:gdLst/>
            <a:ahLst/>
            <a:cxnLst/>
            <a:rect l="l" t="t" r="r" b="b"/>
            <a:pathLst>
              <a:path w="31979" h="3613629">
                <a:moveTo>
                  <a:pt x="31979" y="0"/>
                </a:moveTo>
                <a:lnTo>
                  <a:pt x="31979" y="0"/>
                </a:lnTo>
                <a:lnTo>
                  <a:pt x="31979" y="3613629"/>
                </a:lnTo>
                <a:lnTo>
                  <a:pt x="31979" y="3613629"/>
                </a:lnTo>
                <a:cubicBezTo>
                  <a:pt x="14317" y="3613629"/>
                  <a:pt x="0" y="3599311"/>
                  <a:pt x="0" y="3581650"/>
                </a:cubicBezTo>
                <a:lnTo>
                  <a:pt x="0" y="31979"/>
                </a:lnTo>
                <a:cubicBezTo>
                  <a:pt x="0" y="14329"/>
                  <a:pt x="14329" y="0"/>
                  <a:pt x="31979" y="0"/>
                </a:cubicBezTo>
                <a:close/>
              </a:path>
            </a:pathLst>
          </a:custGeom>
          <a:solidFill>
            <a:srgbClr val="3A4D39"/>
          </a:solidFill>
          <a:ln/>
        </p:spPr>
      </p:sp>
      <p:sp>
        <p:nvSpPr>
          <p:cNvPr id="8" name="Shape 6"/>
          <p:cNvSpPr/>
          <p:nvPr/>
        </p:nvSpPr>
        <p:spPr>
          <a:xfrm>
            <a:off x="499672" y="1023329"/>
            <a:ext cx="159895" cy="159895"/>
          </a:xfrm>
          <a:custGeom>
            <a:avLst/>
            <a:gdLst/>
            <a:ahLst/>
            <a:cxnLst/>
            <a:rect l="l" t="t" r="r" b="b"/>
            <a:pathLst>
              <a:path w="159895" h="159895">
                <a:moveTo>
                  <a:pt x="59961" y="19987"/>
                </a:moveTo>
                <a:cubicBezTo>
                  <a:pt x="59961" y="14459"/>
                  <a:pt x="64426" y="9993"/>
                  <a:pt x="69954" y="9993"/>
                </a:cubicBezTo>
                <a:lnTo>
                  <a:pt x="89941" y="9993"/>
                </a:lnTo>
                <a:cubicBezTo>
                  <a:pt x="95469" y="9993"/>
                  <a:pt x="99934" y="14459"/>
                  <a:pt x="99934" y="19987"/>
                </a:cubicBezTo>
                <a:lnTo>
                  <a:pt x="99934" y="39974"/>
                </a:lnTo>
                <a:cubicBezTo>
                  <a:pt x="99934" y="45501"/>
                  <a:pt x="95469" y="49967"/>
                  <a:pt x="89941" y="49967"/>
                </a:cubicBezTo>
                <a:lnTo>
                  <a:pt x="87443" y="49967"/>
                </a:lnTo>
                <a:lnTo>
                  <a:pt x="87443" y="69954"/>
                </a:lnTo>
                <a:lnTo>
                  <a:pt x="124918" y="69954"/>
                </a:lnTo>
                <a:cubicBezTo>
                  <a:pt x="137347" y="69954"/>
                  <a:pt x="147403" y="80010"/>
                  <a:pt x="147403" y="92439"/>
                </a:cubicBezTo>
                <a:lnTo>
                  <a:pt x="147403" y="109928"/>
                </a:lnTo>
                <a:lnTo>
                  <a:pt x="149902" y="109928"/>
                </a:lnTo>
                <a:cubicBezTo>
                  <a:pt x="155429" y="109928"/>
                  <a:pt x="159895" y="114394"/>
                  <a:pt x="159895" y="119921"/>
                </a:cubicBezTo>
                <a:lnTo>
                  <a:pt x="159895" y="139908"/>
                </a:lnTo>
                <a:cubicBezTo>
                  <a:pt x="159895" y="145436"/>
                  <a:pt x="155429" y="149902"/>
                  <a:pt x="149902" y="149902"/>
                </a:cubicBezTo>
                <a:lnTo>
                  <a:pt x="129915" y="149902"/>
                </a:lnTo>
                <a:cubicBezTo>
                  <a:pt x="124387" y="149902"/>
                  <a:pt x="119921" y="145436"/>
                  <a:pt x="119921" y="139908"/>
                </a:cubicBezTo>
                <a:lnTo>
                  <a:pt x="119921" y="119921"/>
                </a:lnTo>
                <a:cubicBezTo>
                  <a:pt x="119921" y="114394"/>
                  <a:pt x="124387" y="109928"/>
                  <a:pt x="129915" y="109928"/>
                </a:cubicBezTo>
                <a:lnTo>
                  <a:pt x="132413" y="109928"/>
                </a:lnTo>
                <a:lnTo>
                  <a:pt x="132413" y="92439"/>
                </a:lnTo>
                <a:cubicBezTo>
                  <a:pt x="132413" y="88286"/>
                  <a:pt x="129072" y="84944"/>
                  <a:pt x="124918" y="84944"/>
                </a:cubicBezTo>
                <a:lnTo>
                  <a:pt x="87443" y="84944"/>
                </a:lnTo>
                <a:lnTo>
                  <a:pt x="87443" y="109928"/>
                </a:lnTo>
                <a:lnTo>
                  <a:pt x="89941" y="109928"/>
                </a:lnTo>
                <a:cubicBezTo>
                  <a:pt x="95469" y="109928"/>
                  <a:pt x="99934" y="114394"/>
                  <a:pt x="99934" y="119921"/>
                </a:cubicBezTo>
                <a:lnTo>
                  <a:pt x="99934" y="139908"/>
                </a:lnTo>
                <a:cubicBezTo>
                  <a:pt x="99934" y="145436"/>
                  <a:pt x="95469" y="149902"/>
                  <a:pt x="89941" y="149902"/>
                </a:cubicBezTo>
                <a:lnTo>
                  <a:pt x="69954" y="149902"/>
                </a:lnTo>
                <a:cubicBezTo>
                  <a:pt x="64426" y="149902"/>
                  <a:pt x="59961" y="145436"/>
                  <a:pt x="59961" y="139908"/>
                </a:cubicBezTo>
                <a:lnTo>
                  <a:pt x="59961" y="119921"/>
                </a:lnTo>
                <a:cubicBezTo>
                  <a:pt x="59961" y="114394"/>
                  <a:pt x="64426" y="109928"/>
                  <a:pt x="69954" y="109928"/>
                </a:cubicBezTo>
                <a:lnTo>
                  <a:pt x="72452" y="109928"/>
                </a:lnTo>
                <a:lnTo>
                  <a:pt x="72452" y="84944"/>
                </a:lnTo>
                <a:lnTo>
                  <a:pt x="34977" y="84944"/>
                </a:lnTo>
                <a:cubicBezTo>
                  <a:pt x="30824" y="84944"/>
                  <a:pt x="27482" y="88286"/>
                  <a:pt x="27482" y="92439"/>
                </a:cubicBezTo>
                <a:lnTo>
                  <a:pt x="27482" y="109928"/>
                </a:lnTo>
                <a:lnTo>
                  <a:pt x="29980" y="109928"/>
                </a:lnTo>
                <a:cubicBezTo>
                  <a:pt x="35508" y="109928"/>
                  <a:pt x="39974" y="114394"/>
                  <a:pt x="39974" y="119921"/>
                </a:cubicBezTo>
                <a:lnTo>
                  <a:pt x="39974" y="139908"/>
                </a:lnTo>
                <a:cubicBezTo>
                  <a:pt x="39974" y="145436"/>
                  <a:pt x="35508" y="149902"/>
                  <a:pt x="29980" y="149902"/>
                </a:cubicBezTo>
                <a:lnTo>
                  <a:pt x="9993" y="149902"/>
                </a:lnTo>
                <a:cubicBezTo>
                  <a:pt x="4466" y="149902"/>
                  <a:pt x="0" y="145436"/>
                  <a:pt x="0" y="139908"/>
                </a:cubicBezTo>
                <a:lnTo>
                  <a:pt x="0" y="119921"/>
                </a:lnTo>
                <a:cubicBezTo>
                  <a:pt x="0" y="114394"/>
                  <a:pt x="4466" y="109928"/>
                  <a:pt x="9993" y="109928"/>
                </a:cubicBezTo>
                <a:lnTo>
                  <a:pt x="12492" y="109928"/>
                </a:lnTo>
                <a:lnTo>
                  <a:pt x="12492" y="92439"/>
                </a:lnTo>
                <a:cubicBezTo>
                  <a:pt x="12492" y="80010"/>
                  <a:pt x="22548" y="69954"/>
                  <a:pt x="34977" y="69954"/>
                </a:cubicBezTo>
                <a:lnTo>
                  <a:pt x="72452" y="69954"/>
                </a:lnTo>
                <a:lnTo>
                  <a:pt x="72452" y="49967"/>
                </a:lnTo>
                <a:lnTo>
                  <a:pt x="69954" y="49967"/>
                </a:lnTo>
                <a:cubicBezTo>
                  <a:pt x="64426" y="49967"/>
                  <a:pt x="59961" y="45501"/>
                  <a:pt x="59961" y="39974"/>
                </a:cubicBezTo>
                <a:lnTo>
                  <a:pt x="59961" y="19987"/>
                </a:lnTo>
                <a:close/>
              </a:path>
            </a:pathLst>
          </a:custGeom>
          <a:solidFill>
            <a:srgbClr val="3A4D39"/>
          </a:solidFill>
          <a:ln/>
        </p:spPr>
      </p:sp>
      <p:sp>
        <p:nvSpPr>
          <p:cNvPr id="9" name="Text 7"/>
          <p:cNvSpPr/>
          <p:nvPr/>
        </p:nvSpPr>
        <p:spPr>
          <a:xfrm>
            <a:off x="679554" y="991350"/>
            <a:ext cx="11144687" cy="223853"/>
          </a:xfrm>
          <a:prstGeom prst="rect">
            <a:avLst/>
          </a:prstGeom>
          <a:noFill/>
          <a:ln/>
        </p:spPr>
        <p:txBody>
          <a:bodyPr wrap="square" lIns="0" tIns="0" rIns="0" bIns="0" rtlCol="0" anchor="ctr"/>
          <a:lstStyle/>
          <a:p>
            <a:pPr>
              <a:lnSpc>
                <a:spcPct val="120000"/>
              </a:lnSpc>
            </a:pPr>
            <a:r>
              <a:rPr lang="en-US" sz="1259" b="1" dirty="0">
                <a:solidFill>
                  <a:srgbClr val="3A4D39"/>
                </a:solidFill>
                <a:latin typeface="Unna" pitchFamily="34" charset="0"/>
                <a:ea typeface="Unna" pitchFamily="34" charset="-122"/>
                <a:cs typeface="Unna" pitchFamily="34" charset="-120"/>
              </a:rPr>
              <a:t>Tiered Decision-Making Structure</a:t>
            </a:r>
            <a:endParaRPr lang="en-US" sz="1600" dirty="0"/>
          </a:p>
        </p:txBody>
      </p:sp>
      <p:sp>
        <p:nvSpPr>
          <p:cNvPr id="10" name="Shape 8"/>
          <p:cNvSpPr/>
          <p:nvPr/>
        </p:nvSpPr>
        <p:spPr>
          <a:xfrm>
            <a:off x="479685" y="1327129"/>
            <a:ext cx="3669592" cy="3022017"/>
          </a:xfrm>
          <a:custGeom>
            <a:avLst/>
            <a:gdLst/>
            <a:ahLst/>
            <a:cxnLst/>
            <a:rect l="l" t="t" r="r" b="b"/>
            <a:pathLst>
              <a:path w="3669592" h="3022017">
                <a:moveTo>
                  <a:pt x="31979" y="0"/>
                </a:moveTo>
                <a:lnTo>
                  <a:pt x="3637613" y="0"/>
                </a:lnTo>
                <a:cubicBezTo>
                  <a:pt x="3655275" y="0"/>
                  <a:pt x="3669592" y="14317"/>
                  <a:pt x="3669592" y="31979"/>
                </a:cubicBezTo>
                <a:lnTo>
                  <a:pt x="3669592" y="2958071"/>
                </a:lnTo>
                <a:cubicBezTo>
                  <a:pt x="3669592" y="2993388"/>
                  <a:pt x="3640963" y="3022017"/>
                  <a:pt x="3605646" y="3022017"/>
                </a:cubicBezTo>
                <a:lnTo>
                  <a:pt x="63946" y="3022017"/>
                </a:lnTo>
                <a:cubicBezTo>
                  <a:pt x="28630" y="3022017"/>
                  <a:pt x="0" y="2993388"/>
                  <a:pt x="0" y="2958071"/>
                </a:cubicBezTo>
                <a:lnTo>
                  <a:pt x="0" y="31979"/>
                </a:lnTo>
                <a:cubicBezTo>
                  <a:pt x="0" y="14329"/>
                  <a:pt x="14329" y="0"/>
                  <a:pt x="31979" y="0"/>
                </a:cubicBezTo>
                <a:close/>
              </a:path>
            </a:pathLst>
          </a:custGeom>
          <a:solidFill>
            <a:srgbClr val="F8F6F2"/>
          </a:solidFill>
          <a:ln/>
        </p:spPr>
      </p:sp>
      <p:sp>
        <p:nvSpPr>
          <p:cNvPr id="11" name="Shape 9"/>
          <p:cNvSpPr/>
          <p:nvPr/>
        </p:nvSpPr>
        <p:spPr>
          <a:xfrm>
            <a:off x="479685" y="1327129"/>
            <a:ext cx="3669592" cy="31979"/>
          </a:xfrm>
          <a:custGeom>
            <a:avLst/>
            <a:gdLst/>
            <a:ahLst/>
            <a:cxnLst/>
            <a:rect l="l" t="t" r="r" b="b"/>
            <a:pathLst>
              <a:path w="3669592" h="31979">
                <a:moveTo>
                  <a:pt x="31979" y="0"/>
                </a:moveTo>
                <a:lnTo>
                  <a:pt x="3637613" y="0"/>
                </a:lnTo>
                <a:cubicBezTo>
                  <a:pt x="3655275" y="0"/>
                  <a:pt x="3669592" y="14317"/>
                  <a:pt x="3669592" y="31979"/>
                </a:cubicBezTo>
                <a:lnTo>
                  <a:pt x="3669592" y="31979"/>
                </a:lnTo>
                <a:lnTo>
                  <a:pt x="0" y="31979"/>
                </a:lnTo>
                <a:lnTo>
                  <a:pt x="0" y="31979"/>
                </a:lnTo>
                <a:cubicBezTo>
                  <a:pt x="0" y="14329"/>
                  <a:pt x="14329" y="0"/>
                  <a:pt x="31979" y="0"/>
                </a:cubicBezTo>
                <a:close/>
              </a:path>
            </a:pathLst>
          </a:custGeom>
          <a:solidFill>
            <a:srgbClr val="3A4D39"/>
          </a:solidFill>
          <a:ln/>
        </p:spPr>
      </p:sp>
      <p:sp>
        <p:nvSpPr>
          <p:cNvPr id="12" name="Shape 10"/>
          <p:cNvSpPr/>
          <p:nvPr/>
        </p:nvSpPr>
        <p:spPr>
          <a:xfrm>
            <a:off x="2091003" y="1439056"/>
            <a:ext cx="447706" cy="447706"/>
          </a:xfrm>
          <a:custGeom>
            <a:avLst/>
            <a:gdLst/>
            <a:ahLst/>
            <a:cxnLst/>
            <a:rect l="l" t="t" r="r" b="b"/>
            <a:pathLst>
              <a:path w="447706" h="447706">
                <a:moveTo>
                  <a:pt x="223853" y="0"/>
                </a:moveTo>
                <a:lnTo>
                  <a:pt x="223853" y="0"/>
                </a:lnTo>
                <a:cubicBezTo>
                  <a:pt x="347484" y="0"/>
                  <a:pt x="447706" y="100222"/>
                  <a:pt x="447706" y="223853"/>
                </a:cubicBezTo>
                <a:lnTo>
                  <a:pt x="447706" y="223853"/>
                </a:lnTo>
                <a:cubicBezTo>
                  <a:pt x="447706" y="347484"/>
                  <a:pt x="347484" y="447706"/>
                  <a:pt x="223853" y="447706"/>
                </a:cubicBezTo>
                <a:lnTo>
                  <a:pt x="223853" y="447706"/>
                </a:lnTo>
                <a:cubicBezTo>
                  <a:pt x="100222" y="447706"/>
                  <a:pt x="0" y="347484"/>
                  <a:pt x="0" y="223853"/>
                </a:cubicBezTo>
                <a:lnTo>
                  <a:pt x="0" y="223853"/>
                </a:lnTo>
                <a:cubicBezTo>
                  <a:pt x="0" y="100222"/>
                  <a:pt x="100222" y="0"/>
                  <a:pt x="223853" y="0"/>
                </a:cubicBezTo>
                <a:close/>
              </a:path>
            </a:pathLst>
          </a:custGeom>
          <a:solidFill>
            <a:srgbClr val="3A4D39"/>
          </a:solidFill>
          <a:ln/>
        </p:spPr>
      </p:sp>
      <p:sp>
        <p:nvSpPr>
          <p:cNvPr id="13" name="Shape 11"/>
          <p:cNvSpPr/>
          <p:nvPr/>
        </p:nvSpPr>
        <p:spPr>
          <a:xfrm>
            <a:off x="2214922" y="1582961"/>
            <a:ext cx="199869" cy="159895"/>
          </a:xfrm>
          <a:custGeom>
            <a:avLst/>
            <a:gdLst/>
            <a:ahLst/>
            <a:cxnLst/>
            <a:rect l="l" t="t" r="r" b="b"/>
            <a:pathLst>
              <a:path w="199869" h="159895">
                <a:moveTo>
                  <a:pt x="129884" y="65738"/>
                </a:moveTo>
                <a:cubicBezTo>
                  <a:pt x="133694" y="64708"/>
                  <a:pt x="137691" y="66519"/>
                  <a:pt x="139409" y="70048"/>
                </a:cubicBezTo>
                <a:lnTo>
                  <a:pt x="145217" y="81790"/>
                </a:lnTo>
                <a:cubicBezTo>
                  <a:pt x="148434" y="82227"/>
                  <a:pt x="151588" y="83102"/>
                  <a:pt x="154555" y="84320"/>
                </a:cubicBezTo>
                <a:lnTo>
                  <a:pt x="165485" y="77043"/>
                </a:lnTo>
                <a:cubicBezTo>
                  <a:pt x="168764" y="74857"/>
                  <a:pt x="173105" y="75294"/>
                  <a:pt x="175885" y="78074"/>
                </a:cubicBezTo>
                <a:lnTo>
                  <a:pt x="181881" y="84070"/>
                </a:lnTo>
                <a:cubicBezTo>
                  <a:pt x="184660" y="86849"/>
                  <a:pt x="185097" y="91221"/>
                  <a:pt x="182911" y="94469"/>
                </a:cubicBezTo>
                <a:lnTo>
                  <a:pt x="175635" y="105368"/>
                </a:lnTo>
                <a:cubicBezTo>
                  <a:pt x="176228" y="106836"/>
                  <a:pt x="176759" y="108366"/>
                  <a:pt x="177196" y="109959"/>
                </a:cubicBezTo>
                <a:cubicBezTo>
                  <a:pt x="177633" y="111552"/>
                  <a:pt x="177915" y="113113"/>
                  <a:pt x="178133" y="114706"/>
                </a:cubicBezTo>
                <a:lnTo>
                  <a:pt x="189907" y="120515"/>
                </a:lnTo>
                <a:cubicBezTo>
                  <a:pt x="193436" y="122264"/>
                  <a:pt x="195247" y="126261"/>
                  <a:pt x="194216" y="130040"/>
                </a:cubicBezTo>
                <a:lnTo>
                  <a:pt x="192030" y="138222"/>
                </a:lnTo>
                <a:cubicBezTo>
                  <a:pt x="191000" y="142001"/>
                  <a:pt x="187471" y="144561"/>
                  <a:pt x="183536" y="144312"/>
                </a:cubicBezTo>
                <a:lnTo>
                  <a:pt x="170419" y="143468"/>
                </a:lnTo>
                <a:cubicBezTo>
                  <a:pt x="168452" y="145998"/>
                  <a:pt x="166172" y="148340"/>
                  <a:pt x="163580" y="150339"/>
                </a:cubicBezTo>
                <a:lnTo>
                  <a:pt x="164423" y="163424"/>
                </a:lnTo>
                <a:cubicBezTo>
                  <a:pt x="164673" y="167359"/>
                  <a:pt x="162112" y="170919"/>
                  <a:pt x="158334" y="171918"/>
                </a:cubicBezTo>
                <a:lnTo>
                  <a:pt x="150151" y="174105"/>
                </a:lnTo>
                <a:cubicBezTo>
                  <a:pt x="146341" y="175135"/>
                  <a:pt x="142375" y="173324"/>
                  <a:pt x="140626" y="169795"/>
                </a:cubicBezTo>
                <a:lnTo>
                  <a:pt x="134818" y="158053"/>
                </a:lnTo>
                <a:cubicBezTo>
                  <a:pt x="131601" y="157615"/>
                  <a:pt x="128447" y="156741"/>
                  <a:pt x="125480" y="155523"/>
                </a:cubicBezTo>
                <a:lnTo>
                  <a:pt x="114550" y="162799"/>
                </a:lnTo>
                <a:cubicBezTo>
                  <a:pt x="111271" y="164985"/>
                  <a:pt x="106930" y="164548"/>
                  <a:pt x="104150" y="161769"/>
                </a:cubicBezTo>
                <a:lnTo>
                  <a:pt x="98154" y="155773"/>
                </a:lnTo>
                <a:cubicBezTo>
                  <a:pt x="95375" y="152993"/>
                  <a:pt x="94938" y="148652"/>
                  <a:pt x="97124" y="145373"/>
                </a:cubicBezTo>
                <a:lnTo>
                  <a:pt x="104400" y="134443"/>
                </a:lnTo>
                <a:cubicBezTo>
                  <a:pt x="103807" y="132975"/>
                  <a:pt x="103276" y="131445"/>
                  <a:pt x="102839" y="129852"/>
                </a:cubicBezTo>
                <a:cubicBezTo>
                  <a:pt x="102402" y="128260"/>
                  <a:pt x="102120" y="126667"/>
                  <a:pt x="101902" y="125105"/>
                </a:cubicBezTo>
                <a:lnTo>
                  <a:pt x="90128" y="119297"/>
                </a:lnTo>
                <a:cubicBezTo>
                  <a:pt x="86599" y="117548"/>
                  <a:pt x="84819" y="113550"/>
                  <a:pt x="85819" y="109772"/>
                </a:cubicBezTo>
                <a:lnTo>
                  <a:pt x="88005" y="101590"/>
                </a:lnTo>
                <a:cubicBezTo>
                  <a:pt x="89035" y="97811"/>
                  <a:pt x="92564" y="95250"/>
                  <a:pt x="96499" y="95500"/>
                </a:cubicBezTo>
                <a:lnTo>
                  <a:pt x="109584" y="96343"/>
                </a:lnTo>
                <a:cubicBezTo>
                  <a:pt x="111552" y="93813"/>
                  <a:pt x="113832" y="91471"/>
                  <a:pt x="116424" y="89473"/>
                </a:cubicBezTo>
                <a:lnTo>
                  <a:pt x="115580" y="76419"/>
                </a:lnTo>
                <a:cubicBezTo>
                  <a:pt x="115331" y="72484"/>
                  <a:pt x="117891" y="68924"/>
                  <a:pt x="121670" y="67924"/>
                </a:cubicBezTo>
                <a:lnTo>
                  <a:pt x="129852" y="65738"/>
                </a:lnTo>
                <a:close/>
                <a:moveTo>
                  <a:pt x="140033" y="106180"/>
                </a:moveTo>
                <a:cubicBezTo>
                  <a:pt x="132449" y="106189"/>
                  <a:pt x="126299" y="112353"/>
                  <a:pt x="126308" y="119937"/>
                </a:cubicBezTo>
                <a:cubicBezTo>
                  <a:pt x="126316" y="127521"/>
                  <a:pt x="132480" y="133671"/>
                  <a:pt x="140064" y="133662"/>
                </a:cubicBezTo>
                <a:cubicBezTo>
                  <a:pt x="147648" y="133654"/>
                  <a:pt x="153798" y="127490"/>
                  <a:pt x="153790" y="119906"/>
                </a:cubicBezTo>
                <a:cubicBezTo>
                  <a:pt x="153781" y="112322"/>
                  <a:pt x="147617" y="106172"/>
                  <a:pt x="140033" y="106180"/>
                </a:cubicBezTo>
                <a:close/>
                <a:moveTo>
                  <a:pt x="70235" y="-14209"/>
                </a:moveTo>
                <a:lnTo>
                  <a:pt x="78417" y="-12023"/>
                </a:lnTo>
                <a:cubicBezTo>
                  <a:pt x="82196" y="-10993"/>
                  <a:pt x="84757" y="-7433"/>
                  <a:pt x="84507" y="-3529"/>
                </a:cubicBezTo>
                <a:lnTo>
                  <a:pt x="83664" y="9525"/>
                </a:lnTo>
                <a:cubicBezTo>
                  <a:pt x="86256" y="11524"/>
                  <a:pt x="88536" y="13835"/>
                  <a:pt x="90503" y="16395"/>
                </a:cubicBezTo>
                <a:lnTo>
                  <a:pt x="103620" y="15552"/>
                </a:lnTo>
                <a:cubicBezTo>
                  <a:pt x="107523" y="15302"/>
                  <a:pt x="111083" y="17863"/>
                  <a:pt x="112114" y="21642"/>
                </a:cubicBezTo>
                <a:lnTo>
                  <a:pt x="114300" y="29824"/>
                </a:lnTo>
                <a:cubicBezTo>
                  <a:pt x="115299" y="33603"/>
                  <a:pt x="113519" y="37600"/>
                  <a:pt x="109990" y="39349"/>
                </a:cubicBezTo>
                <a:lnTo>
                  <a:pt x="98217" y="45158"/>
                </a:lnTo>
                <a:cubicBezTo>
                  <a:pt x="97998" y="46751"/>
                  <a:pt x="97686" y="48343"/>
                  <a:pt x="97280" y="49905"/>
                </a:cubicBezTo>
                <a:cubicBezTo>
                  <a:pt x="96874" y="51466"/>
                  <a:pt x="96312" y="53028"/>
                  <a:pt x="95718" y="54495"/>
                </a:cubicBezTo>
                <a:lnTo>
                  <a:pt x="102995" y="65426"/>
                </a:lnTo>
                <a:cubicBezTo>
                  <a:pt x="105181" y="68705"/>
                  <a:pt x="104744" y="73046"/>
                  <a:pt x="101964" y="75825"/>
                </a:cubicBezTo>
                <a:lnTo>
                  <a:pt x="95968" y="81821"/>
                </a:lnTo>
                <a:cubicBezTo>
                  <a:pt x="93189" y="84601"/>
                  <a:pt x="88848" y="85038"/>
                  <a:pt x="85569" y="82852"/>
                </a:cubicBezTo>
                <a:lnTo>
                  <a:pt x="74639" y="75575"/>
                </a:lnTo>
                <a:cubicBezTo>
                  <a:pt x="71672" y="76793"/>
                  <a:pt x="68518" y="77668"/>
                  <a:pt x="65301" y="78105"/>
                </a:cubicBezTo>
                <a:lnTo>
                  <a:pt x="59492" y="89847"/>
                </a:lnTo>
                <a:cubicBezTo>
                  <a:pt x="57743" y="93376"/>
                  <a:pt x="53746" y="95156"/>
                  <a:pt x="49967" y="94157"/>
                </a:cubicBezTo>
                <a:lnTo>
                  <a:pt x="41785" y="91971"/>
                </a:lnTo>
                <a:cubicBezTo>
                  <a:pt x="37975" y="90940"/>
                  <a:pt x="35445" y="87380"/>
                  <a:pt x="35695" y="83476"/>
                </a:cubicBezTo>
                <a:lnTo>
                  <a:pt x="36539" y="70391"/>
                </a:lnTo>
                <a:cubicBezTo>
                  <a:pt x="33946" y="68393"/>
                  <a:pt x="31667" y="66082"/>
                  <a:pt x="29699" y="63521"/>
                </a:cubicBezTo>
                <a:lnTo>
                  <a:pt x="16583" y="64364"/>
                </a:lnTo>
                <a:cubicBezTo>
                  <a:pt x="12679" y="64614"/>
                  <a:pt x="9119" y="62053"/>
                  <a:pt x="8088" y="58274"/>
                </a:cubicBezTo>
                <a:lnTo>
                  <a:pt x="5902" y="50092"/>
                </a:lnTo>
                <a:cubicBezTo>
                  <a:pt x="4903" y="46313"/>
                  <a:pt x="6683" y="42316"/>
                  <a:pt x="10212" y="40567"/>
                </a:cubicBezTo>
                <a:lnTo>
                  <a:pt x="21986" y="34758"/>
                </a:lnTo>
                <a:cubicBezTo>
                  <a:pt x="22204" y="33166"/>
                  <a:pt x="22516" y="31604"/>
                  <a:pt x="22922" y="30012"/>
                </a:cubicBezTo>
                <a:cubicBezTo>
                  <a:pt x="23360" y="28419"/>
                  <a:pt x="23859" y="26889"/>
                  <a:pt x="24484" y="25421"/>
                </a:cubicBezTo>
                <a:lnTo>
                  <a:pt x="17207" y="14522"/>
                </a:lnTo>
                <a:cubicBezTo>
                  <a:pt x="15021" y="11243"/>
                  <a:pt x="15459" y="6902"/>
                  <a:pt x="18238" y="4122"/>
                </a:cubicBezTo>
                <a:lnTo>
                  <a:pt x="24234" y="-1874"/>
                </a:lnTo>
                <a:cubicBezTo>
                  <a:pt x="27014" y="-4653"/>
                  <a:pt x="31354" y="-5090"/>
                  <a:pt x="34634" y="-2904"/>
                </a:cubicBezTo>
                <a:lnTo>
                  <a:pt x="45564" y="4372"/>
                </a:lnTo>
                <a:cubicBezTo>
                  <a:pt x="48531" y="3154"/>
                  <a:pt x="51685" y="2280"/>
                  <a:pt x="54901" y="1843"/>
                </a:cubicBezTo>
                <a:lnTo>
                  <a:pt x="60710" y="-9900"/>
                </a:lnTo>
                <a:cubicBezTo>
                  <a:pt x="62459" y="-13429"/>
                  <a:pt x="66425" y="-15209"/>
                  <a:pt x="70235" y="-14209"/>
                </a:cubicBezTo>
                <a:close/>
                <a:moveTo>
                  <a:pt x="60086" y="26233"/>
                </a:moveTo>
                <a:cubicBezTo>
                  <a:pt x="52502" y="26233"/>
                  <a:pt x="46345" y="32390"/>
                  <a:pt x="46345" y="39974"/>
                </a:cubicBezTo>
                <a:cubicBezTo>
                  <a:pt x="46345" y="47558"/>
                  <a:pt x="52502" y="53715"/>
                  <a:pt x="60086" y="53715"/>
                </a:cubicBezTo>
                <a:cubicBezTo>
                  <a:pt x="67669" y="53715"/>
                  <a:pt x="73827" y="47558"/>
                  <a:pt x="73827" y="39974"/>
                </a:cubicBezTo>
                <a:cubicBezTo>
                  <a:pt x="73827" y="32390"/>
                  <a:pt x="67669" y="26233"/>
                  <a:pt x="60086" y="26233"/>
                </a:cubicBezTo>
                <a:close/>
              </a:path>
            </a:pathLst>
          </a:custGeom>
          <a:solidFill>
            <a:srgbClr val="F8F6F2"/>
          </a:solidFill>
          <a:ln/>
        </p:spPr>
      </p:sp>
      <p:sp>
        <p:nvSpPr>
          <p:cNvPr id="14" name="Text 12"/>
          <p:cNvSpPr/>
          <p:nvPr/>
        </p:nvSpPr>
        <p:spPr>
          <a:xfrm>
            <a:off x="539646" y="1950720"/>
            <a:ext cx="3549671" cy="223853"/>
          </a:xfrm>
          <a:prstGeom prst="rect">
            <a:avLst/>
          </a:prstGeom>
          <a:noFill/>
          <a:ln/>
        </p:spPr>
        <p:txBody>
          <a:bodyPr wrap="square" lIns="0" tIns="0" rIns="0" bIns="0" rtlCol="0" anchor="ctr"/>
          <a:lstStyle/>
          <a:p>
            <a:pPr algn="ctr">
              <a:lnSpc>
                <a:spcPct val="130000"/>
              </a:lnSpc>
            </a:pPr>
            <a:r>
              <a:rPr lang="en-US" sz="1133" b="1" dirty="0">
                <a:solidFill>
                  <a:srgbClr val="3A4D39"/>
                </a:solidFill>
                <a:latin typeface="Unna" pitchFamily="34" charset="0"/>
                <a:ea typeface="Unna" pitchFamily="34" charset="-122"/>
                <a:cs typeface="Unna" pitchFamily="34" charset="-120"/>
              </a:rPr>
              <a:t>Operational Decisions</a:t>
            </a:r>
            <a:endParaRPr lang="en-US" sz="1600" dirty="0"/>
          </a:p>
        </p:txBody>
      </p:sp>
      <p:sp>
        <p:nvSpPr>
          <p:cNvPr id="15" name="Text 13"/>
          <p:cNvSpPr/>
          <p:nvPr/>
        </p:nvSpPr>
        <p:spPr>
          <a:xfrm>
            <a:off x="543643" y="2270510"/>
            <a:ext cx="3541676" cy="191874"/>
          </a:xfrm>
          <a:prstGeom prst="rect">
            <a:avLst/>
          </a:prstGeom>
          <a:noFill/>
          <a:ln/>
        </p:spPr>
        <p:txBody>
          <a:bodyPr wrap="square" lIns="0" tIns="0" rIns="0" bIns="0" rtlCol="0" anchor="ctr"/>
          <a:lstStyle/>
          <a:p>
            <a:pPr algn="ctr">
              <a:lnSpc>
                <a:spcPct val="120000"/>
              </a:lnSpc>
            </a:pPr>
            <a:r>
              <a:rPr lang="en-US" sz="1007" dirty="0">
                <a:solidFill>
                  <a:srgbClr val="2C2C2C"/>
                </a:solidFill>
                <a:latin typeface="Quattrocento Sans" pitchFamily="34" charset="0"/>
                <a:ea typeface="Quattrocento Sans" pitchFamily="34" charset="-122"/>
                <a:cs typeface="Quattrocento Sans" pitchFamily="34" charset="-120"/>
              </a:rPr>
              <a:t>Day-to-day farming activities</a:t>
            </a:r>
            <a:endParaRPr lang="en-US" sz="1600" dirty="0"/>
          </a:p>
        </p:txBody>
      </p:sp>
      <p:sp>
        <p:nvSpPr>
          <p:cNvPr id="16" name="Text 14"/>
          <p:cNvSpPr/>
          <p:nvPr/>
        </p:nvSpPr>
        <p:spPr>
          <a:xfrm>
            <a:off x="575622" y="2526342"/>
            <a:ext cx="3541676" cy="191874"/>
          </a:xfrm>
          <a:prstGeom prst="rect">
            <a:avLst/>
          </a:prstGeom>
          <a:noFill/>
          <a:ln/>
        </p:spPr>
        <p:txBody>
          <a:bodyPr wrap="square" lIns="0" tIns="0" rIns="0" bIns="0" rtlCol="0" anchor="ctr"/>
          <a:lstStyle/>
          <a:p>
            <a:pPr>
              <a:lnSpc>
                <a:spcPct val="120000"/>
              </a:lnSpc>
            </a:pPr>
            <a:r>
              <a:rPr lang="en-US" sz="1007" dirty="0">
                <a:solidFill>
                  <a:srgbClr val="2C2C2C"/>
                </a:solidFill>
                <a:latin typeface="Quattrocento Sans" pitchFamily="34" charset="0"/>
                <a:ea typeface="Quattrocento Sans" pitchFamily="34" charset="-122"/>
                <a:cs typeface="Quattrocento Sans" pitchFamily="34" charset="-120"/>
              </a:rPr>
              <a:t>• Watering schedules</a:t>
            </a:r>
            <a:endParaRPr lang="en-US" sz="1600" dirty="0"/>
          </a:p>
        </p:txBody>
      </p:sp>
      <p:sp>
        <p:nvSpPr>
          <p:cNvPr id="17" name="Text 15"/>
          <p:cNvSpPr/>
          <p:nvPr/>
        </p:nvSpPr>
        <p:spPr>
          <a:xfrm>
            <a:off x="575622" y="2750195"/>
            <a:ext cx="3541676" cy="191874"/>
          </a:xfrm>
          <a:prstGeom prst="rect">
            <a:avLst/>
          </a:prstGeom>
          <a:noFill/>
          <a:ln/>
        </p:spPr>
        <p:txBody>
          <a:bodyPr wrap="square" lIns="0" tIns="0" rIns="0" bIns="0" rtlCol="0" anchor="ctr"/>
          <a:lstStyle/>
          <a:p>
            <a:pPr>
              <a:lnSpc>
                <a:spcPct val="120000"/>
              </a:lnSpc>
            </a:pPr>
            <a:r>
              <a:rPr lang="en-US" sz="1007" dirty="0">
                <a:solidFill>
                  <a:srgbClr val="2C2C2C"/>
                </a:solidFill>
                <a:latin typeface="Quattrocento Sans" pitchFamily="34" charset="0"/>
                <a:ea typeface="Quattrocento Sans" pitchFamily="34" charset="-122"/>
                <a:cs typeface="Quattrocento Sans" pitchFamily="34" charset="-120"/>
              </a:rPr>
              <a:t>• Feeding regimes</a:t>
            </a:r>
            <a:endParaRPr lang="en-US" sz="1600" dirty="0"/>
          </a:p>
        </p:txBody>
      </p:sp>
      <p:sp>
        <p:nvSpPr>
          <p:cNvPr id="18" name="Text 16"/>
          <p:cNvSpPr/>
          <p:nvPr/>
        </p:nvSpPr>
        <p:spPr>
          <a:xfrm>
            <a:off x="575622" y="2974049"/>
            <a:ext cx="3541676" cy="191874"/>
          </a:xfrm>
          <a:prstGeom prst="rect">
            <a:avLst/>
          </a:prstGeom>
          <a:noFill/>
          <a:ln/>
        </p:spPr>
        <p:txBody>
          <a:bodyPr wrap="square" lIns="0" tIns="0" rIns="0" bIns="0" rtlCol="0" anchor="ctr"/>
          <a:lstStyle/>
          <a:p>
            <a:pPr>
              <a:lnSpc>
                <a:spcPct val="120000"/>
              </a:lnSpc>
            </a:pPr>
            <a:r>
              <a:rPr lang="en-US" sz="1007" dirty="0">
                <a:solidFill>
                  <a:srgbClr val="2C2C2C"/>
                </a:solidFill>
                <a:latin typeface="Quattrocento Sans" pitchFamily="34" charset="0"/>
                <a:ea typeface="Quattrocento Sans" pitchFamily="34" charset="-122"/>
                <a:cs typeface="Quattrocento Sans" pitchFamily="34" charset="-120"/>
              </a:rPr>
              <a:t>• Pruning techniques</a:t>
            </a:r>
            <a:endParaRPr lang="en-US" sz="1600" dirty="0"/>
          </a:p>
        </p:txBody>
      </p:sp>
      <p:sp>
        <p:nvSpPr>
          <p:cNvPr id="19" name="Text 17"/>
          <p:cNvSpPr/>
          <p:nvPr/>
        </p:nvSpPr>
        <p:spPr>
          <a:xfrm>
            <a:off x="575622" y="3197902"/>
            <a:ext cx="3541676" cy="191874"/>
          </a:xfrm>
          <a:prstGeom prst="rect">
            <a:avLst/>
          </a:prstGeom>
          <a:noFill/>
          <a:ln/>
        </p:spPr>
        <p:txBody>
          <a:bodyPr wrap="square" lIns="0" tIns="0" rIns="0" bIns="0" rtlCol="0" anchor="ctr"/>
          <a:lstStyle/>
          <a:p>
            <a:pPr>
              <a:lnSpc>
                <a:spcPct val="120000"/>
              </a:lnSpc>
            </a:pPr>
            <a:r>
              <a:rPr lang="en-US" sz="1007" dirty="0">
                <a:solidFill>
                  <a:srgbClr val="2C2C2C"/>
                </a:solidFill>
                <a:latin typeface="Quattrocento Sans" pitchFamily="34" charset="0"/>
                <a:ea typeface="Quattrocento Sans" pitchFamily="34" charset="-122"/>
                <a:cs typeface="Quattrocento Sans" pitchFamily="34" charset="-120"/>
              </a:rPr>
              <a:t>• Pest treatment timing</a:t>
            </a:r>
            <a:endParaRPr lang="en-US" sz="1600" dirty="0"/>
          </a:p>
        </p:txBody>
      </p:sp>
      <p:sp>
        <p:nvSpPr>
          <p:cNvPr id="20" name="Text 18"/>
          <p:cNvSpPr/>
          <p:nvPr/>
        </p:nvSpPr>
        <p:spPr>
          <a:xfrm>
            <a:off x="575622" y="3421755"/>
            <a:ext cx="3541676" cy="191874"/>
          </a:xfrm>
          <a:prstGeom prst="rect">
            <a:avLst/>
          </a:prstGeom>
          <a:noFill/>
          <a:ln/>
        </p:spPr>
        <p:txBody>
          <a:bodyPr wrap="square" lIns="0" tIns="0" rIns="0" bIns="0" rtlCol="0" anchor="ctr"/>
          <a:lstStyle/>
          <a:p>
            <a:pPr>
              <a:lnSpc>
                <a:spcPct val="120000"/>
              </a:lnSpc>
            </a:pPr>
            <a:r>
              <a:rPr lang="en-US" sz="1007" dirty="0">
                <a:solidFill>
                  <a:srgbClr val="2C2C2C"/>
                </a:solidFill>
                <a:latin typeface="Quattrocento Sans" pitchFamily="34" charset="0"/>
                <a:ea typeface="Quattrocento Sans" pitchFamily="34" charset="-122"/>
                <a:cs typeface="Quattrocento Sans" pitchFamily="34" charset="-120"/>
              </a:rPr>
              <a:t>• Staff task assignments</a:t>
            </a:r>
            <a:endParaRPr lang="en-US" sz="1600" dirty="0"/>
          </a:p>
        </p:txBody>
      </p:sp>
      <p:sp>
        <p:nvSpPr>
          <p:cNvPr id="21" name="Shape 19"/>
          <p:cNvSpPr/>
          <p:nvPr/>
        </p:nvSpPr>
        <p:spPr>
          <a:xfrm>
            <a:off x="575622" y="3709566"/>
            <a:ext cx="3477718" cy="319790"/>
          </a:xfrm>
          <a:custGeom>
            <a:avLst/>
            <a:gdLst/>
            <a:ahLst/>
            <a:cxnLst/>
            <a:rect l="l" t="t" r="r" b="b"/>
            <a:pathLst>
              <a:path w="3477718" h="319790">
                <a:moveTo>
                  <a:pt x="31979" y="0"/>
                </a:moveTo>
                <a:lnTo>
                  <a:pt x="3445739" y="0"/>
                </a:lnTo>
                <a:cubicBezTo>
                  <a:pt x="3463401" y="0"/>
                  <a:pt x="3477718" y="14317"/>
                  <a:pt x="3477718" y="31979"/>
                </a:cubicBezTo>
                <a:lnTo>
                  <a:pt x="3477718" y="287811"/>
                </a:lnTo>
                <a:cubicBezTo>
                  <a:pt x="3477718" y="305473"/>
                  <a:pt x="3463401" y="319790"/>
                  <a:pt x="3445739" y="319790"/>
                </a:cubicBezTo>
                <a:lnTo>
                  <a:pt x="31979" y="319790"/>
                </a:lnTo>
                <a:cubicBezTo>
                  <a:pt x="14317" y="319790"/>
                  <a:pt x="0" y="305473"/>
                  <a:pt x="0" y="287811"/>
                </a:cubicBezTo>
                <a:lnTo>
                  <a:pt x="0" y="31979"/>
                </a:lnTo>
                <a:cubicBezTo>
                  <a:pt x="0" y="14329"/>
                  <a:pt x="14329" y="0"/>
                  <a:pt x="31979" y="0"/>
                </a:cubicBezTo>
                <a:close/>
              </a:path>
            </a:pathLst>
          </a:custGeom>
          <a:solidFill>
            <a:srgbClr val="3A4D39"/>
          </a:solidFill>
          <a:ln/>
        </p:spPr>
      </p:sp>
      <p:sp>
        <p:nvSpPr>
          <p:cNvPr id="22" name="Text 20"/>
          <p:cNvSpPr/>
          <p:nvPr/>
        </p:nvSpPr>
        <p:spPr>
          <a:xfrm>
            <a:off x="607601" y="3773524"/>
            <a:ext cx="3413760" cy="191874"/>
          </a:xfrm>
          <a:prstGeom prst="rect">
            <a:avLst/>
          </a:prstGeom>
          <a:noFill/>
          <a:ln/>
        </p:spPr>
        <p:txBody>
          <a:bodyPr wrap="square" lIns="0" tIns="0" rIns="0" bIns="0" rtlCol="0" anchor="ctr"/>
          <a:lstStyle/>
          <a:p>
            <a:pPr algn="ctr">
              <a:lnSpc>
                <a:spcPct val="120000"/>
              </a:lnSpc>
            </a:pPr>
            <a:r>
              <a:rPr lang="en-US" sz="1007" b="1" dirty="0">
                <a:solidFill>
                  <a:srgbClr val="F8F6F2"/>
                </a:solidFill>
                <a:latin typeface="Quattrocento Sans" pitchFamily="34" charset="0"/>
                <a:ea typeface="Quattrocento Sans" pitchFamily="34" charset="-122"/>
                <a:cs typeface="Quattrocento Sans" pitchFamily="34" charset="-120"/>
              </a:rPr>
              <a:t>Wilshire Farms Only</a:t>
            </a:r>
            <a:endParaRPr lang="en-US" sz="1600" dirty="0"/>
          </a:p>
        </p:txBody>
      </p:sp>
      <p:sp>
        <p:nvSpPr>
          <p:cNvPr id="23" name="Shape 21"/>
          <p:cNvSpPr/>
          <p:nvPr/>
        </p:nvSpPr>
        <p:spPr>
          <a:xfrm>
            <a:off x="4278068" y="1327129"/>
            <a:ext cx="3669592" cy="3022017"/>
          </a:xfrm>
          <a:custGeom>
            <a:avLst/>
            <a:gdLst/>
            <a:ahLst/>
            <a:cxnLst/>
            <a:rect l="l" t="t" r="r" b="b"/>
            <a:pathLst>
              <a:path w="3669592" h="3022017">
                <a:moveTo>
                  <a:pt x="31979" y="0"/>
                </a:moveTo>
                <a:lnTo>
                  <a:pt x="3637613" y="0"/>
                </a:lnTo>
                <a:cubicBezTo>
                  <a:pt x="3655275" y="0"/>
                  <a:pt x="3669592" y="14317"/>
                  <a:pt x="3669592" y="31979"/>
                </a:cubicBezTo>
                <a:lnTo>
                  <a:pt x="3669592" y="2958071"/>
                </a:lnTo>
                <a:cubicBezTo>
                  <a:pt x="3669592" y="2993388"/>
                  <a:pt x="3640963" y="3022017"/>
                  <a:pt x="3605646" y="3022017"/>
                </a:cubicBezTo>
                <a:lnTo>
                  <a:pt x="63946" y="3022017"/>
                </a:lnTo>
                <a:cubicBezTo>
                  <a:pt x="28630" y="3022017"/>
                  <a:pt x="0" y="2993388"/>
                  <a:pt x="0" y="2958071"/>
                </a:cubicBezTo>
                <a:lnTo>
                  <a:pt x="0" y="31979"/>
                </a:lnTo>
                <a:cubicBezTo>
                  <a:pt x="0" y="14329"/>
                  <a:pt x="14329" y="0"/>
                  <a:pt x="31979" y="0"/>
                </a:cubicBezTo>
                <a:close/>
              </a:path>
            </a:pathLst>
          </a:custGeom>
          <a:solidFill>
            <a:srgbClr val="F8F6F2"/>
          </a:solidFill>
          <a:ln/>
        </p:spPr>
      </p:sp>
      <p:sp>
        <p:nvSpPr>
          <p:cNvPr id="24" name="Shape 22"/>
          <p:cNvSpPr/>
          <p:nvPr/>
        </p:nvSpPr>
        <p:spPr>
          <a:xfrm>
            <a:off x="4278068" y="1327129"/>
            <a:ext cx="3669592" cy="31979"/>
          </a:xfrm>
          <a:custGeom>
            <a:avLst/>
            <a:gdLst/>
            <a:ahLst/>
            <a:cxnLst/>
            <a:rect l="l" t="t" r="r" b="b"/>
            <a:pathLst>
              <a:path w="3669592" h="31979">
                <a:moveTo>
                  <a:pt x="31979" y="0"/>
                </a:moveTo>
                <a:lnTo>
                  <a:pt x="3637613" y="0"/>
                </a:lnTo>
                <a:cubicBezTo>
                  <a:pt x="3655275" y="0"/>
                  <a:pt x="3669592" y="14317"/>
                  <a:pt x="3669592" y="31979"/>
                </a:cubicBezTo>
                <a:lnTo>
                  <a:pt x="3669592" y="31979"/>
                </a:lnTo>
                <a:lnTo>
                  <a:pt x="0" y="31979"/>
                </a:lnTo>
                <a:lnTo>
                  <a:pt x="0" y="31979"/>
                </a:lnTo>
                <a:cubicBezTo>
                  <a:pt x="0" y="14329"/>
                  <a:pt x="14329" y="0"/>
                  <a:pt x="31979" y="0"/>
                </a:cubicBezTo>
                <a:close/>
              </a:path>
            </a:pathLst>
          </a:custGeom>
          <a:solidFill>
            <a:srgbClr val="7A6250"/>
          </a:solidFill>
          <a:ln/>
        </p:spPr>
      </p:sp>
      <p:sp>
        <p:nvSpPr>
          <p:cNvPr id="25" name="Shape 23"/>
          <p:cNvSpPr/>
          <p:nvPr/>
        </p:nvSpPr>
        <p:spPr>
          <a:xfrm>
            <a:off x="5889386" y="1439056"/>
            <a:ext cx="447706" cy="447706"/>
          </a:xfrm>
          <a:custGeom>
            <a:avLst/>
            <a:gdLst/>
            <a:ahLst/>
            <a:cxnLst/>
            <a:rect l="l" t="t" r="r" b="b"/>
            <a:pathLst>
              <a:path w="447706" h="447706">
                <a:moveTo>
                  <a:pt x="223853" y="0"/>
                </a:moveTo>
                <a:lnTo>
                  <a:pt x="223853" y="0"/>
                </a:lnTo>
                <a:cubicBezTo>
                  <a:pt x="347484" y="0"/>
                  <a:pt x="447706" y="100222"/>
                  <a:pt x="447706" y="223853"/>
                </a:cubicBezTo>
                <a:lnTo>
                  <a:pt x="447706" y="223853"/>
                </a:lnTo>
                <a:cubicBezTo>
                  <a:pt x="447706" y="347484"/>
                  <a:pt x="347484" y="447706"/>
                  <a:pt x="223853" y="447706"/>
                </a:cubicBezTo>
                <a:lnTo>
                  <a:pt x="223853" y="447706"/>
                </a:lnTo>
                <a:cubicBezTo>
                  <a:pt x="100222" y="447706"/>
                  <a:pt x="0" y="347484"/>
                  <a:pt x="0" y="223853"/>
                </a:cubicBezTo>
                <a:lnTo>
                  <a:pt x="0" y="223853"/>
                </a:lnTo>
                <a:cubicBezTo>
                  <a:pt x="0" y="100222"/>
                  <a:pt x="100222" y="0"/>
                  <a:pt x="223853" y="0"/>
                </a:cubicBezTo>
                <a:close/>
              </a:path>
            </a:pathLst>
          </a:custGeom>
          <a:solidFill>
            <a:srgbClr val="7A6250"/>
          </a:solidFill>
          <a:ln/>
        </p:spPr>
      </p:sp>
      <p:sp>
        <p:nvSpPr>
          <p:cNvPr id="26" name="Shape 24"/>
          <p:cNvSpPr/>
          <p:nvPr/>
        </p:nvSpPr>
        <p:spPr>
          <a:xfrm>
            <a:off x="6063271" y="1582961"/>
            <a:ext cx="99934" cy="159895"/>
          </a:xfrm>
          <a:custGeom>
            <a:avLst/>
            <a:gdLst/>
            <a:ahLst/>
            <a:cxnLst/>
            <a:rect l="l" t="t" r="r" b="b"/>
            <a:pathLst>
              <a:path w="99934" h="159895">
                <a:moveTo>
                  <a:pt x="42472" y="7495"/>
                </a:moveTo>
                <a:cubicBezTo>
                  <a:pt x="42472" y="3342"/>
                  <a:pt x="45814" y="0"/>
                  <a:pt x="49967" y="0"/>
                </a:cubicBezTo>
                <a:cubicBezTo>
                  <a:pt x="54121" y="0"/>
                  <a:pt x="57462" y="3342"/>
                  <a:pt x="57462" y="7495"/>
                </a:cubicBezTo>
                <a:lnTo>
                  <a:pt x="57462" y="19987"/>
                </a:lnTo>
                <a:lnTo>
                  <a:pt x="74951" y="19987"/>
                </a:lnTo>
                <a:cubicBezTo>
                  <a:pt x="80478" y="19987"/>
                  <a:pt x="84944" y="24453"/>
                  <a:pt x="84944" y="29980"/>
                </a:cubicBezTo>
                <a:cubicBezTo>
                  <a:pt x="84944" y="35508"/>
                  <a:pt x="80478" y="39974"/>
                  <a:pt x="74951" y="39974"/>
                </a:cubicBezTo>
                <a:lnTo>
                  <a:pt x="39068" y="39974"/>
                </a:lnTo>
                <a:cubicBezTo>
                  <a:pt x="31292" y="39974"/>
                  <a:pt x="24984" y="46282"/>
                  <a:pt x="24984" y="54058"/>
                </a:cubicBezTo>
                <a:cubicBezTo>
                  <a:pt x="24984" y="61085"/>
                  <a:pt x="30136" y="67019"/>
                  <a:pt x="37069" y="68018"/>
                </a:cubicBezTo>
                <a:lnTo>
                  <a:pt x="65676" y="72109"/>
                </a:lnTo>
                <a:cubicBezTo>
                  <a:pt x="82477" y="74514"/>
                  <a:pt x="94938" y="88879"/>
                  <a:pt x="94938" y="105837"/>
                </a:cubicBezTo>
                <a:cubicBezTo>
                  <a:pt x="94938" y="124668"/>
                  <a:pt x="79666" y="139908"/>
                  <a:pt x="60866" y="139908"/>
                </a:cubicBezTo>
                <a:lnTo>
                  <a:pt x="57462" y="139908"/>
                </a:lnTo>
                <a:lnTo>
                  <a:pt x="57462" y="152400"/>
                </a:lnTo>
                <a:cubicBezTo>
                  <a:pt x="57462" y="156554"/>
                  <a:pt x="54121" y="159895"/>
                  <a:pt x="49967" y="159895"/>
                </a:cubicBezTo>
                <a:cubicBezTo>
                  <a:pt x="45814" y="159895"/>
                  <a:pt x="42472" y="156554"/>
                  <a:pt x="42472" y="152400"/>
                </a:cubicBezTo>
                <a:lnTo>
                  <a:pt x="42472" y="139908"/>
                </a:lnTo>
                <a:lnTo>
                  <a:pt x="19987" y="139908"/>
                </a:lnTo>
                <a:cubicBezTo>
                  <a:pt x="14459" y="139908"/>
                  <a:pt x="9993" y="135442"/>
                  <a:pt x="9993" y="129915"/>
                </a:cubicBezTo>
                <a:cubicBezTo>
                  <a:pt x="9993" y="124387"/>
                  <a:pt x="14459" y="119921"/>
                  <a:pt x="19987" y="119921"/>
                </a:cubicBezTo>
                <a:lnTo>
                  <a:pt x="60866" y="119921"/>
                </a:lnTo>
                <a:cubicBezTo>
                  <a:pt x="68642" y="119921"/>
                  <a:pt x="74951" y="113613"/>
                  <a:pt x="74951" y="105837"/>
                </a:cubicBezTo>
                <a:cubicBezTo>
                  <a:pt x="74951" y="98810"/>
                  <a:pt x="69798" y="92877"/>
                  <a:pt x="62865" y="91877"/>
                </a:cubicBezTo>
                <a:lnTo>
                  <a:pt x="34259" y="87786"/>
                </a:lnTo>
                <a:cubicBezTo>
                  <a:pt x="17457" y="85413"/>
                  <a:pt x="4997" y="71016"/>
                  <a:pt x="4997" y="54058"/>
                </a:cubicBezTo>
                <a:cubicBezTo>
                  <a:pt x="4997" y="35258"/>
                  <a:pt x="20268" y="19987"/>
                  <a:pt x="39068" y="19987"/>
                </a:cubicBezTo>
                <a:lnTo>
                  <a:pt x="42472" y="19987"/>
                </a:lnTo>
                <a:lnTo>
                  <a:pt x="42472" y="7495"/>
                </a:lnTo>
                <a:close/>
              </a:path>
            </a:pathLst>
          </a:custGeom>
          <a:solidFill>
            <a:srgbClr val="F8F6F2"/>
          </a:solidFill>
          <a:ln/>
        </p:spPr>
      </p:sp>
      <p:sp>
        <p:nvSpPr>
          <p:cNvPr id="27" name="Text 25"/>
          <p:cNvSpPr/>
          <p:nvPr/>
        </p:nvSpPr>
        <p:spPr>
          <a:xfrm>
            <a:off x="4338029" y="1950720"/>
            <a:ext cx="3549671" cy="223853"/>
          </a:xfrm>
          <a:prstGeom prst="rect">
            <a:avLst/>
          </a:prstGeom>
          <a:noFill/>
          <a:ln/>
        </p:spPr>
        <p:txBody>
          <a:bodyPr wrap="square" lIns="0" tIns="0" rIns="0" bIns="0" rtlCol="0" anchor="ctr"/>
          <a:lstStyle/>
          <a:p>
            <a:pPr algn="ctr">
              <a:lnSpc>
                <a:spcPct val="130000"/>
              </a:lnSpc>
            </a:pPr>
            <a:r>
              <a:rPr lang="en-US" sz="1133" b="1" dirty="0">
                <a:solidFill>
                  <a:srgbClr val="3A4D39"/>
                </a:solidFill>
                <a:latin typeface="Unna" pitchFamily="34" charset="0"/>
                <a:ea typeface="Unna" pitchFamily="34" charset="-122"/>
                <a:cs typeface="Unna" pitchFamily="34" charset="-120"/>
              </a:rPr>
              <a:t>Financial Decisions</a:t>
            </a:r>
            <a:endParaRPr lang="en-US" sz="1600" dirty="0"/>
          </a:p>
        </p:txBody>
      </p:sp>
      <p:sp>
        <p:nvSpPr>
          <p:cNvPr id="28" name="Text 26"/>
          <p:cNvSpPr/>
          <p:nvPr/>
        </p:nvSpPr>
        <p:spPr>
          <a:xfrm>
            <a:off x="4342026" y="2270510"/>
            <a:ext cx="3541676" cy="191874"/>
          </a:xfrm>
          <a:prstGeom prst="rect">
            <a:avLst/>
          </a:prstGeom>
          <a:noFill/>
          <a:ln/>
        </p:spPr>
        <p:txBody>
          <a:bodyPr wrap="square" lIns="0" tIns="0" rIns="0" bIns="0" rtlCol="0" anchor="ctr"/>
          <a:lstStyle/>
          <a:p>
            <a:pPr algn="ctr">
              <a:lnSpc>
                <a:spcPct val="120000"/>
              </a:lnSpc>
            </a:pPr>
            <a:r>
              <a:rPr lang="en-US" sz="1007" dirty="0">
                <a:solidFill>
                  <a:srgbClr val="2C2C2C"/>
                </a:solidFill>
                <a:latin typeface="Quattrocento Sans" pitchFamily="34" charset="0"/>
                <a:ea typeface="Quattrocento Sans" pitchFamily="34" charset="-122"/>
                <a:cs typeface="Quattrocento Sans" pitchFamily="34" charset="-120"/>
              </a:rPr>
              <a:t>Below threshold: Wilshire Farms</a:t>
            </a:r>
            <a:endParaRPr lang="en-US" sz="1600" dirty="0"/>
          </a:p>
        </p:txBody>
      </p:sp>
      <p:sp>
        <p:nvSpPr>
          <p:cNvPr id="29" name="Text 27"/>
          <p:cNvSpPr/>
          <p:nvPr/>
        </p:nvSpPr>
        <p:spPr>
          <a:xfrm>
            <a:off x="4342026" y="2526342"/>
            <a:ext cx="3541676" cy="191874"/>
          </a:xfrm>
          <a:prstGeom prst="rect">
            <a:avLst/>
          </a:prstGeom>
          <a:noFill/>
          <a:ln/>
        </p:spPr>
        <p:txBody>
          <a:bodyPr wrap="square" lIns="0" tIns="0" rIns="0" bIns="0" rtlCol="0" anchor="ctr"/>
          <a:lstStyle/>
          <a:p>
            <a:pPr algn="ctr">
              <a:lnSpc>
                <a:spcPct val="120000"/>
              </a:lnSpc>
            </a:pPr>
            <a:r>
              <a:rPr lang="en-US" sz="1007" dirty="0">
                <a:solidFill>
                  <a:srgbClr val="2C2C2C"/>
                </a:solidFill>
                <a:latin typeface="Quattrocento Sans" pitchFamily="34" charset="0"/>
                <a:ea typeface="Quattrocento Sans" pitchFamily="34" charset="-122"/>
                <a:cs typeface="Quattrocento Sans" pitchFamily="34" charset="-120"/>
              </a:rPr>
              <a:t>Above threshold: Partner approval</a:t>
            </a:r>
            <a:endParaRPr lang="en-US" sz="1600" dirty="0"/>
          </a:p>
        </p:txBody>
      </p:sp>
      <p:sp>
        <p:nvSpPr>
          <p:cNvPr id="30" name="Text 28"/>
          <p:cNvSpPr/>
          <p:nvPr/>
        </p:nvSpPr>
        <p:spPr>
          <a:xfrm>
            <a:off x="4374005" y="2782174"/>
            <a:ext cx="3541676" cy="191874"/>
          </a:xfrm>
          <a:prstGeom prst="rect">
            <a:avLst/>
          </a:prstGeom>
          <a:noFill/>
          <a:ln/>
        </p:spPr>
        <p:txBody>
          <a:bodyPr wrap="square" lIns="0" tIns="0" rIns="0" bIns="0" rtlCol="0" anchor="ctr"/>
          <a:lstStyle/>
          <a:p>
            <a:pPr>
              <a:lnSpc>
                <a:spcPct val="120000"/>
              </a:lnSpc>
            </a:pPr>
            <a:r>
              <a:rPr lang="en-US" sz="1007" dirty="0">
                <a:solidFill>
                  <a:srgbClr val="2C2C2C"/>
                </a:solidFill>
                <a:latin typeface="Quattrocento Sans" pitchFamily="34" charset="0"/>
                <a:ea typeface="Quattrocento Sans" pitchFamily="34" charset="-122"/>
                <a:cs typeface="Quattrocento Sans" pitchFamily="34" charset="-120"/>
              </a:rPr>
              <a:t>• Routine expenses (&lt;$500)</a:t>
            </a:r>
            <a:endParaRPr lang="en-US" sz="1600" dirty="0"/>
          </a:p>
        </p:txBody>
      </p:sp>
      <p:sp>
        <p:nvSpPr>
          <p:cNvPr id="31" name="Text 29"/>
          <p:cNvSpPr/>
          <p:nvPr/>
        </p:nvSpPr>
        <p:spPr>
          <a:xfrm>
            <a:off x="4374005" y="3006028"/>
            <a:ext cx="3541676" cy="191874"/>
          </a:xfrm>
          <a:prstGeom prst="rect">
            <a:avLst/>
          </a:prstGeom>
          <a:noFill/>
          <a:ln/>
        </p:spPr>
        <p:txBody>
          <a:bodyPr wrap="square" lIns="0" tIns="0" rIns="0" bIns="0" rtlCol="0" anchor="ctr"/>
          <a:lstStyle/>
          <a:p>
            <a:pPr>
              <a:lnSpc>
                <a:spcPct val="120000"/>
              </a:lnSpc>
            </a:pPr>
            <a:r>
              <a:rPr lang="en-US" sz="1007" dirty="0">
                <a:solidFill>
                  <a:srgbClr val="2C2C2C"/>
                </a:solidFill>
                <a:latin typeface="Quattrocento Sans" pitchFamily="34" charset="0"/>
                <a:ea typeface="Quattrocento Sans" pitchFamily="34" charset="-122"/>
                <a:cs typeface="Quattrocento Sans" pitchFamily="34" charset="-120"/>
              </a:rPr>
              <a:t>• Major purchases (&gt;$500)</a:t>
            </a:r>
            <a:endParaRPr lang="en-US" sz="1600" dirty="0"/>
          </a:p>
        </p:txBody>
      </p:sp>
      <p:sp>
        <p:nvSpPr>
          <p:cNvPr id="32" name="Text 30"/>
          <p:cNvSpPr/>
          <p:nvPr/>
        </p:nvSpPr>
        <p:spPr>
          <a:xfrm>
            <a:off x="4374005" y="3229881"/>
            <a:ext cx="3541676" cy="191874"/>
          </a:xfrm>
          <a:prstGeom prst="rect">
            <a:avLst/>
          </a:prstGeom>
          <a:noFill/>
          <a:ln/>
        </p:spPr>
        <p:txBody>
          <a:bodyPr wrap="square" lIns="0" tIns="0" rIns="0" bIns="0" rtlCol="0" anchor="ctr"/>
          <a:lstStyle/>
          <a:p>
            <a:pPr>
              <a:lnSpc>
                <a:spcPct val="120000"/>
              </a:lnSpc>
            </a:pPr>
            <a:r>
              <a:rPr lang="en-US" sz="1007" dirty="0">
                <a:solidFill>
                  <a:srgbClr val="2C2C2C"/>
                </a:solidFill>
                <a:latin typeface="Quattrocento Sans" pitchFamily="34" charset="0"/>
                <a:ea typeface="Quattrocento Sans" pitchFamily="34" charset="-122"/>
                <a:cs typeface="Quattrocento Sans" pitchFamily="34" charset="-120"/>
              </a:rPr>
              <a:t>• Budget modifications</a:t>
            </a:r>
            <a:endParaRPr lang="en-US" sz="1600" dirty="0"/>
          </a:p>
        </p:txBody>
      </p:sp>
      <p:sp>
        <p:nvSpPr>
          <p:cNvPr id="33" name="Text 31"/>
          <p:cNvSpPr/>
          <p:nvPr/>
        </p:nvSpPr>
        <p:spPr>
          <a:xfrm>
            <a:off x="4374005" y="3453734"/>
            <a:ext cx="3541676" cy="191874"/>
          </a:xfrm>
          <a:prstGeom prst="rect">
            <a:avLst/>
          </a:prstGeom>
          <a:noFill/>
          <a:ln/>
        </p:spPr>
        <p:txBody>
          <a:bodyPr wrap="square" lIns="0" tIns="0" rIns="0" bIns="0" rtlCol="0" anchor="ctr"/>
          <a:lstStyle/>
          <a:p>
            <a:pPr>
              <a:lnSpc>
                <a:spcPct val="120000"/>
              </a:lnSpc>
            </a:pPr>
            <a:r>
              <a:rPr lang="en-US" sz="1007" dirty="0">
                <a:solidFill>
                  <a:srgbClr val="2C2C2C"/>
                </a:solidFill>
                <a:latin typeface="Quattrocento Sans" pitchFamily="34" charset="0"/>
                <a:ea typeface="Quattrocento Sans" pitchFamily="34" charset="-122"/>
                <a:cs typeface="Quattrocento Sans" pitchFamily="34" charset="-120"/>
              </a:rPr>
              <a:t>• Emergency spending</a:t>
            </a:r>
            <a:endParaRPr lang="en-US" sz="1600" dirty="0"/>
          </a:p>
        </p:txBody>
      </p:sp>
      <p:sp>
        <p:nvSpPr>
          <p:cNvPr id="34" name="Shape 32"/>
          <p:cNvSpPr/>
          <p:nvPr/>
        </p:nvSpPr>
        <p:spPr>
          <a:xfrm>
            <a:off x="4374005" y="3741545"/>
            <a:ext cx="3477718" cy="319790"/>
          </a:xfrm>
          <a:custGeom>
            <a:avLst/>
            <a:gdLst/>
            <a:ahLst/>
            <a:cxnLst/>
            <a:rect l="l" t="t" r="r" b="b"/>
            <a:pathLst>
              <a:path w="3477718" h="319790">
                <a:moveTo>
                  <a:pt x="31979" y="0"/>
                </a:moveTo>
                <a:lnTo>
                  <a:pt x="3445739" y="0"/>
                </a:lnTo>
                <a:cubicBezTo>
                  <a:pt x="3463401" y="0"/>
                  <a:pt x="3477718" y="14317"/>
                  <a:pt x="3477718" y="31979"/>
                </a:cubicBezTo>
                <a:lnTo>
                  <a:pt x="3477718" y="287811"/>
                </a:lnTo>
                <a:cubicBezTo>
                  <a:pt x="3477718" y="305473"/>
                  <a:pt x="3463401" y="319790"/>
                  <a:pt x="3445739" y="319790"/>
                </a:cubicBezTo>
                <a:lnTo>
                  <a:pt x="31979" y="319790"/>
                </a:lnTo>
                <a:cubicBezTo>
                  <a:pt x="14317" y="319790"/>
                  <a:pt x="0" y="305473"/>
                  <a:pt x="0" y="287811"/>
                </a:cubicBezTo>
                <a:lnTo>
                  <a:pt x="0" y="31979"/>
                </a:lnTo>
                <a:cubicBezTo>
                  <a:pt x="0" y="14329"/>
                  <a:pt x="14329" y="0"/>
                  <a:pt x="31979" y="0"/>
                </a:cubicBezTo>
                <a:close/>
              </a:path>
            </a:pathLst>
          </a:custGeom>
          <a:solidFill>
            <a:srgbClr val="7A6250"/>
          </a:solidFill>
          <a:ln/>
        </p:spPr>
      </p:sp>
      <p:sp>
        <p:nvSpPr>
          <p:cNvPr id="35" name="Text 33"/>
          <p:cNvSpPr/>
          <p:nvPr/>
        </p:nvSpPr>
        <p:spPr>
          <a:xfrm>
            <a:off x="4405984" y="3805503"/>
            <a:ext cx="3413760" cy="191874"/>
          </a:xfrm>
          <a:prstGeom prst="rect">
            <a:avLst/>
          </a:prstGeom>
          <a:noFill/>
          <a:ln/>
        </p:spPr>
        <p:txBody>
          <a:bodyPr wrap="square" lIns="0" tIns="0" rIns="0" bIns="0" rtlCol="0" anchor="ctr"/>
          <a:lstStyle/>
          <a:p>
            <a:pPr algn="ctr">
              <a:lnSpc>
                <a:spcPct val="120000"/>
              </a:lnSpc>
            </a:pPr>
            <a:r>
              <a:rPr lang="en-US" sz="1007" b="1" dirty="0">
                <a:solidFill>
                  <a:srgbClr val="F8F6F2"/>
                </a:solidFill>
                <a:latin typeface="Quattrocento Sans" pitchFamily="34" charset="0"/>
                <a:ea typeface="Quattrocento Sans" pitchFamily="34" charset="-122"/>
                <a:cs typeface="Quattrocento Sans" pitchFamily="34" charset="-120"/>
              </a:rPr>
              <a:t>Threshold: $500</a:t>
            </a:r>
            <a:endParaRPr lang="en-US" sz="1600" dirty="0"/>
          </a:p>
        </p:txBody>
      </p:sp>
      <p:sp>
        <p:nvSpPr>
          <p:cNvPr id="36" name="Shape 34"/>
          <p:cNvSpPr/>
          <p:nvPr/>
        </p:nvSpPr>
        <p:spPr>
          <a:xfrm>
            <a:off x="8076450" y="1327129"/>
            <a:ext cx="3669592" cy="3022017"/>
          </a:xfrm>
          <a:custGeom>
            <a:avLst/>
            <a:gdLst/>
            <a:ahLst/>
            <a:cxnLst/>
            <a:rect l="l" t="t" r="r" b="b"/>
            <a:pathLst>
              <a:path w="3669592" h="3022017">
                <a:moveTo>
                  <a:pt x="31979" y="0"/>
                </a:moveTo>
                <a:lnTo>
                  <a:pt x="3637613" y="0"/>
                </a:lnTo>
                <a:cubicBezTo>
                  <a:pt x="3655275" y="0"/>
                  <a:pt x="3669592" y="14317"/>
                  <a:pt x="3669592" y="31979"/>
                </a:cubicBezTo>
                <a:lnTo>
                  <a:pt x="3669592" y="2958071"/>
                </a:lnTo>
                <a:cubicBezTo>
                  <a:pt x="3669592" y="2993388"/>
                  <a:pt x="3640963" y="3022017"/>
                  <a:pt x="3605646" y="3022017"/>
                </a:cubicBezTo>
                <a:lnTo>
                  <a:pt x="63946" y="3022017"/>
                </a:lnTo>
                <a:cubicBezTo>
                  <a:pt x="28630" y="3022017"/>
                  <a:pt x="0" y="2993388"/>
                  <a:pt x="0" y="2958071"/>
                </a:cubicBezTo>
                <a:lnTo>
                  <a:pt x="0" y="31979"/>
                </a:lnTo>
                <a:cubicBezTo>
                  <a:pt x="0" y="14329"/>
                  <a:pt x="14329" y="0"/>
                  <a:pt x="31979" y="0"/>
                </a:cubicBezTo>
                <a:close/>
              </a:path>
            </a:pathLst>
          </a:custGeom>
          <a:solidFill>
            <a:srgbClr val="F8F6F2"/>
          </a:solidFill>
          <a:ln/>
        </p:spPr>
      </p:sp>
      <p:sp>
        <p:nvSpPr>
          <p:cNvPr id="37" name="Shape 35"/>
          <p:cNvSpPr/>
          <p:nvPr/>
        </p:nvSpPr>
        <p:spPr>
          <a:xfrm>
            <a:off x="8076450" y="1327129"/>
            <a:ext cx="3669592" cy="31979"/>
          </a:xfrm>
          <a:custGeom>
            <a:avLst/>
            <a:gdLst/>
            <a:ahLst/>
            <a:cxnLst/>
            <a:rect l="l" t="t" r="r" b="b"/>
            <a:pathLst>
              <a:path w="3669592" h="31979">
                <a:moveTo>
                  <a:pt x="31979" y="0"/>
                </a:moveTo>
                <a:lnTo>
                  <a:pt x="3637613" y="0"/>
                </a:lnTo>
                <a:cubicBezTo>
                  <a:pt x="3655275" y="0"/>
                  <a:pt x="3669592" y="14317"/>
                  <a:pt x="3669592" y="31979"/>
                </a:cubicBezTo>
                <a:lnTo>
                  <a:pt x="3669592" y="31979"/>
                </a:lnTo>
                <a:lnTo>
                  <a:pt x="0" y="31979"/>
                </a:lnTo>
                <a:lnTo>
                  <a:pt x="0" y="31979"/>
                </a:lnTo>
                <a:cubicBezTo>
                  <a:pt x="0" y="14329"/>
                  <a:pt x="14329" y="0"/>
                  <a:pt x="31979" y="0"/>
                </a:cubicBezTo>
                <a:close/>
              </a:path>
            </a:pathLst>
          </a:custGeom>
          <a:solidFill>
            <a:srgbClr val="3A4D39"/>
          </a:solidFill>
          <a:ln/>
        </p:spPr>
      </p:sp>
      <p:sp>
        <p:nvSpPr>
          <p:cNvPr id="38" name="Shape 36"/>
          <p:cNvSpPr/>
          <p:nvPr/>
        </p:nvSpPr>
        <p:spPr>
          <a:xfrm>
            <a:off x="9687768" y="1439056"/>
            <a:ext cx="447706" cy="447706"/>
          </a:xfrm>
          <a:custGeom>
            <a:avLst/>
            <a:gdLst/>
            <a:ahLst/>
            <a:cxnLst/>
            <a:rect l="l" t="t" r="r" b="b"/>
            <a:pathLst>
              <a:path w="447706" h="447706">
                <a:moveTo>
                  <a:pt x="223853" y="0"/>
                </a:moveTo>
                <a:lnTo>
                  <a:pt x="223853" y="0"/>
                </a:lnTo>
                <a:cubicBezTo>
                  <a:pt x="347484" y="0"/>
                  <a:pt x="447706" y="100222"/>
                  <a:pt x="447706" y="223853"/>
                </a:cubicBezTo>
                <a:lnTo>
                  <a:pt x="447706" y="223853"/>
                </a:lnTo>
                <a:cubicBezTo>
                  <a:pt x="447706" y="347484"/>
                  <a:pt x="347484" y="447706"/>
                  <a:pt x="223853" y="447706"/>
                </a:cubicBezTo>
                <a:lnTo>
                  <a:pt x="223853" y="447706"/>
                </a:lnTo>
                <a:cubicBezTo>
                  <a:pt x="100222" y="447706"/>
                  <a:pt x="0" y="347484"/>
                  <a:pt x="0" y="223853"/>
                </a:cubicBezTo>
                <a:lnTo>
                  <a:pt x="0" y="223853"/>
                </a:lnTo>
                <a:cubicBezTo>
                  <a:pt x="0" y="100222"/>
                  <a:pt x="100222" y="0"/>
                  <a:pt x="223853" y="0"/>
                </a:cubicBezTo>
                <a:close/>
              </a:path>
            </a:pathLst>
          </a:custGeom>
          <a:solidFill>
            <a:srgbClr val="3A4D39"/>
          </a:solidFill>
          <a:ln/>
        </p:spPr>
      </p:sp>
      <p:sp>
        <p:nvSpPr>
          <p:cNvPr id="39" name="Shape 37"/>
          <p:cNvSpPr/>
          <p:nvPr/>
        </p:nvSpPr>
        <p:spPr>
          <a:xfrm>
            <a:off x="9831674" y="1582961"/>
            <a:ext cx="159895" cy="159895"/>
          </a:xfrm>
          <a:custGeom>
            <a:avLst/>
            <a:gdLst/>
            <a:ahLst/>
            <a:cxnLst/>
            <a:rect l="l" t="t" r="r" b="b"/>
            <a:pathLst>
              <a:path w="159895" h="159895">
                <a:moveTo>
                  <a:pt x="52466" y="17489"/>
                </a:moveTo>
                <a:lnTo>
                  <a:pt x="52466" y="29980"/>
                </a:lnTo>
                <a:lnTo>
                  <a:pt x="28075" y="29980"/>
                </a:lnTo>
                <a:cubicBezTo>
                  <a:pt x="23610" y="29980"/>
                  <a:pt x="19987" y="33603"/>
                  <a:pt x="19987" y="38069"/>
                </a:cubicBezTo>
                <a:cubicBezTo>
                  <a:pt x="19987" y="39318"/>
                  <a:pt x="20268" y="40567"/>
                  <a:pt x="20830" y="41691"/>
                </a:cubicBezTo>
                <a:lnTo>
                  <a:pt x="31261" y="62553"/>
                </a:lnTo>
                <a:cubicBezTo>
                  <a:pt x="27701" y="63115"/>
                  <a:pt x="24952" y="66207"/>
                  <a:pt x="24952" y="69954"/>
                </a:cubicBezTo>
                <a:cubicBezTo>
                  <a:pt x="24952" y="74108"/>
                  <a:pt x="28294" y="77449"/>
                  <a:pt x="32447" y="77449"/>
                </a:cubicBezTo>
                <a:lnTo>
                  <a:pt x="34196" y="77449"/>
                </a:lnTo>
                <a:lnTo>
                  <a:pt x="29949" y="119921"/>
                </a:lnTo>
                <a:lnTo>
                  <a:pt x="12398" y="141876"/>
                </a:lnTo>
                <a:cubicBezTo>
                  <a:pt x="10837" y="143843"/>
                  <a:pt x="9962" y="146279"/>
                  <a:pt x="9962" y="148809"/>
                </a:cubicBezTo>
                <a:cubicBezTo>
                  <a:pt x="9962" y="154930"/>
                  <a:pt x="14928" y="159895"/>
                  <a:pt x="21049" y="159895"/>
                </a:cubicBezTo>
                <a:lnTo>
                  <a:pt x="98779" y="159895"/>
                </a:lnTo>
                <a:cubicBezTo>
                  <a:pt x="104900" y="159895"/>
                  <a:pt x="109865" y="154930"/>
                  <a:pt x="109865" y="148809"/>
                </a:cubicBezTo>
                <a:cubicBezTo>
                  <a:pt x="109865" y="146279"/>
                  <a:pt x="109022" y="143843"/>
                  <a:pt x="107430" y="141876"/>
                </a:cubicBezTo>
                <a:lnTo>
                  <a:pt x="89941" y="119921"/>
                </a:lnTo>
                <a:lnTo>
                  <a:pt x="85694" y="77449"/>
                </a:lnTo>
                <a:lnTo>
                  <a:pt x="87443" y="77449"/>
                </a:lnTo>
                <a:cubicBezTo>
                  <a:pt x="91596" y="77449"/>
                  <a:pt x="94938" y="74108"/>
                  <a:pt x="94938" y="69954"/>
                </a:cubicBezTo>
                <a:cubicBezTo>
                  <a:pt x="94938" y="66238"/>
                  <a:pt x="92221" y="63115"/>
                  <a:pt x="88629" y="62553"/>
                </a:cubicBezTo>
                <a:lnTo>
                  <a:pt x="99060" y="41691"/>
                </a:lnTo>
                <a:cubicBezTo>
                  <a:pt x="99622" y="40567"/>
                  <a:pt x="99903" y="39318"/>
                  <a:pt x="99903" y="38069"/>
                </a:cubicBezTo>
                <a:cubicBezTo>
                  <a:pt x="99903" y="33603"/>
                  <a:pt x="96281" y="29980"/>
                  <a:pt x="91815" y="29980"/>
                </a:cubicBezTo>
                <a:lnTo>
                  <a:pt x="67425" y="29980"/>
                </a:lnTo>
                <a:lnTo>
                  <a:pt x="67425" y="17489"/>
                </a:lnTo>
                <a:lnTo>
                  <a:pt x="72421" y="17489"/>
                </a:lnTo>
                <a:cubicBezTo>
                  <a:pt x="76575" y="17489"/>
                  <a:pt x="79916" y="14147"/>
                  <a:pt x="79916" y="9993"/>
                </a:cubicBezTo>
                <a:cubicBezTo>
                  <a:pt x="79916" y="5840"/>
                  <a:pt x="76606" y="2498"/>
                  <a:pt x="72452" y="2498"/>
                </a:cubicBezTo>
                <a:lnTo>
                  <a:pt x="67456" y="2498"/>
                </a:lnTo>
                <a:lnTo>
                  <a:pt x="67456" y="-2498"/>
                </a:lnTo>
                <a:cubicBezTo>
                  <a:pt x="67456" y="-6652"/>
                  <a:pt x="64114" y="-9993"/>
                  <a:pt x="59961" y="-9993"/>
                </a:cubicBezTo>
                <a:cubicBezTo>
                  <a:pt x="55807" y="-9993"/>
                  <a:pt x="52466" y="-6652"/>
                  <a:pt x="52466" y="-2498"/>
                </a:cubicBezTo>
                <a:lnTo>
                  <a:pt x="52466" y="2498"/>
                </a:lnTo>
                <a:lnTo>
                  <a:pt x="47469" y="2498"/>
                </a:lnTo>
                <a:cubicBezTo>
                  <a:pt x="43315" y="2498"/>
                  <a:pt x="39974" y="5840"/>
                  <a:pt x="39974" y="9993"/>
                </a:cubicBezTo>
                <a:cubicBezTo>
                  <a:pt x="39974" y="14147"/>
                  <a:pt x="43315" y="17489"/>
                  <a:pt x="47469" y="17489"/>
                </a:cubicBezTo>
                <a:lnTo>
                  <a:pt x="52466" y="17489"/>
                </a:lnTo>
                <a:close/>
                <a:moveTo>
                  <a:pt x="101746" y="87318"/>
                </a:moveTo>
                <a:lnTo>
                  <a:pt x="104400" y="114019"/>
                </a:lnTo>
                <a:lnTo>
                  <a:pt x="119203" y="132507"/>
                </a:lnTo>
                <a:lnTo>
                  <a:pt x="120515" y="134287"/>
                </a:lnTo>
                <a:cubicBezTo>
                  <a:pt x="123388" y="138565"/>
                  <a:pt x="124918" y="143625"/>
                  <a:pt x="124918" y="148809"/>
                </a:cubicBezTo>
                <a:cubicBezTo>
                  <a:pt x="124918" y="152775"/>
                  <a:pt x="124044" y="156554"/>
                  <a:pt x="122451" y="159895"/>
                </a:cubicBezTo>
                <a:lnTo>
                  <a:pt x="148403" y="159895"/>
                </a:lnTo>
                <a:cubicBezTo>
                  <a:pt x="154742" y="159895"/>
                  <a:pt x="159895" y="154742"/>
                  <a:pt x="159895" y="148403"/>
                </a:cubicBezTo>
                <a:cubicBezTo>
                  <a:pt x="159895" y="146123"/>
                  <a:pt x="159208" y="143906"/>
                  <a:pt x="157959" y="142032"/>
                </a:cubicBezTo>
                <a:lnTo>
                  <a:pt x="149902" y="129946"/>
                </a:lnTo>
                <a:lnTo>
                  <a:pt x="149902" y="109959"/>
                </a:lnTo>
                <a:lnTo>
                  <a:pt x="154055" y="105806"/>
                </a:lnTo>
                <a:cubicBezTo>
                  <a:pt x="157803" y="102058"/>
                  <a:pt x="159895" y="96968"/>
                  <a:pt x="159895" y="91659"/>
                </a:cubicBezTo>
                <a:lnTo>
                  <a:pt x="159895" y="59961"/>
                </a:lnTo>
                <a:cubicBezTo>
                  <a:pt x="159895" y="54433"/>
                  <a:pt x="155429" y="49967"/>
                  <a:pt x="149902" y="49967"/>
                </a:cubicBezTo>
                <a:cubicBezTo>
                  <a:pt x="144374" y="49967"/>
                  <a:pt x="139908" y="54433"/>
                  <a:pt x="139908" y="59961"/>
                </a:cubicBezTo>
                <a:lnTo>
                  <a:pt x="139908" y="64957"/>
                </a:lnTo>
                <a:lnTo>
                  <a:pt x="129915" y="64957"/>
                </a:lnTo>
                <a:lnTo>
                  <a:pt x="129915" y="59961"/>
                </a:lnTo>
                <a:cubicBezTo>
                  <a:pt x="129915" y="54433"/>
                  <a:pt x="125449" y="49967"/>
                  <a:pt x="119921" y="49967"/>
                </a:cubicBezTo>
                <a:cubicBezTo>
                  <a:pt x="114394" y="49967"/>
                  <a:pt x="109928" y="54433"/>
                  <a:pt x="109928" y="59961"/>
                </a:cubicBezTo>
                <a:lnTo>
                  <a:pt x="109928" y="69954"/>
                </a:lnTo>
                <a:cubicBezTo>
                  <a:pt x="109928" y="76950"/>
                  <a:pt x="106742" y="83195"/>
                  <a:pt x="101746" y="87318"/>
                </a:cubicBezTo>
                <a:close/>
              </a:path>
            </a:pathLst>
          </a:custGeom>
          <a:solidFill>
            <a:srgbClr val="F8F6F2"/>
          </a:solidFill>
          <a:ln/>
        </p:spPr>
      </p:sp>
      <p:sp>
        <p:nvSpPr>
          <p:cNvPr id="40" name="Text 38"/>
          <p:cNvSpPr/>
          <p:nvPr/>
        </p:nvSpPr>
        <p:spPr>
          <a:xfrm>
            <a:off x="8136411" y="1950720"/>
            <a:ext cx="3549671" cy="223853"/>
          </a:xfrm>
          <a:prstGeom prst="rect">
            <a:avLst/>
          </a:prstGeom>
          <a:noFill/>
          <a:ln/>
        </p:spPr>
        <p:txBody>
          <a:bodyPr wrap="square" lIns="0" tIns="0" rIns="0" bIns="0" rtlCol="0" anchor="ctr"/>
          <a:lstStyle/>
          <a:p>
            <a:pPr algn="ctr">
              <a:lnSpc>
                <a:spcPct val="130000"/>
              </a:lnSpc>
            </a:pPr>
            <a:r>
              <a:rPr lang="en-US" sz="1133" b="1" dirty="0">
                <a:solidFill>
                  <a:srgbClr val="3A4D39"/>
                </a:solidFill>
                <a:latin typeface="Unna" pitchFamily="34" charset="0"/>
                <a:ea typeface="Unna" pitchFamily="34" charset="-122"/>
                <a:cs typeface="Unna" pitchFamily="34" charset="-120"/>
              </a:rPr>
              <a:t>Strategic Decisions</a:t>
            </a:r>
            <a:endParaRPr lang="en-US" sz="1600" dirty="0"/>
          </a:p>
        </p:txBody>
      </p:sp>
      <p:sp>
        <p:nvSpPr>
          <p:cNvPr id="41" name="Text 39"/>
          <p:cNvSpPr/>
          <p:nvPr/>
        </p:nvSpPr>
        <p:spPr>
          <a:xfrm>
            <a:off x="8140409" y="2270510"/>
            <a:ext cx="3541676" cy="191874"/>
          </a:xfrm>
          <a:prstGeom prst="rect">
            <a:avLst/>
          </a:prstGeom>
          <a:noFill/>
          <a:ln/>
        </p:spPr>
        <p:txBody>
          <a:bodyPr wrap="square" lIns="0" tIns="0" rIns="0" bIns="0" rtlCol="0" anchor="ctr"/>
          <a:lstStyle/>
          <a:p>
            <a:pPr algn="ctr">
              <a:lnSpc>
                <a:spcPct val="120000"/>
              </a:lnSpc>
            </a:pPr>
            <a:r>
              <a:rPr lang="en-US" sz="1007" dirty="0">
                <a:solidFill>
                  <a:srgbClr val="2C2C2C"/>
                </a:solidFill>
                <a:latin typeface="Quattrocento Sans" pitchFamily="34" charset="0"/>
                <a:ea typeface="Quattrocento Sans" pitchFamily="34" charset="-122"/>
                <a:cs typeface="Quattrocento Sans" pitchFamily="34" charset="-120"/>
              </a:rPr>
              <a:t>Major partnership matters</a:t>
            </a:r>
            <a:endParaRPr lang="en-US" sz="1600" dirty="0"/>
          </a:p>
        </p:txBody>
      </p:sp>
      <p:sp>
        <p:nvSpPr>
          <p:cNvPr id="42" name="Text 40"/>
          <p:cNvSpPr/>
          <p:nvPr/>
        </p:nvSpPr>
        <p:spPr>
          <a:xfrm>
            <a:off x="8172388" y="2526342"/>
            <a:ext cx="3541676" cy="191874"/>
          </a:xfrm>
          <a:prstGeom prst="rect">
            <a:avLst/>
          </a:prstGeom>
          <a:noFill/>
          <a:ln/>
        </p:spPr>
        <p:txBody>
          <a:bodyPr wrap="square" lIns="0" tIns="0" rIns="0" bIns="0" rtlCol="0" anchor="ctr"/>
          <a:lstStyle/>
          <a:p>
            <a:pPr>
              <a:lnSpc>
                <a:spcPct val="120000"/>
              </a:lnSpc>
            </a:pPr>
            <a:r>
              <a:rPr lang="en-US" sz="1007" dirty="0">
                <a:solidFill>
                  <a:srgbClr val="2C2C2C"/>
                </a:solidFill>
                <a:latin typeface="Quattrocento Sans" pitchFamily="34" charset="0"/>
                <a:ea typeface="Quattrocento Sans" pitchFamily="34" charset="-122"/>
                <a:cs typeface="Quattrocento Sans" pitchFamily="34" charset="-120"/>
              </a:rPr>
              <a:t>• Crop selection changes</a:t>
            </a:r>
            <a:endParaRPr lang="en-US" sz="1600" dirty="0"/>
          </a:p>
        </p:txBody>
      </p:sp>
      <p:sp>
        <p:nvSpPr>
          <p:cNvPr id="43" name="Text 41"/>
          <p:cNvSpPr/>
          <p:nvPr/>
        </p:nvSpPr>
        <p:spPr>
          <a:xfrm>
            <a:off x="8172388" y="2750195"/>
            <a:ext cx="3541676" cy="191874"/>
          </a:xfrm>
          <a:prstGeom prst="rect">
            <a:avLst/>
          </a:prstGeom>
          <a:noFill/>
          <a:ln/>
        </p:spPr>
        <p:txBody>
          <a:bodyPr wrap="square" lIns="0" tIns="0" rIns="0" bIns="0" rtlCol="0" anchor="ctr"/>
          <a:lstStyle/>
          <a:p>
            <a:pPr>
              <a:lnSpc>
                <a:spcPct val="120000"/>
              </a:lnSpc>
            </a:pPr>
            <a:r>
              <a:rPr lang="en-US" sz="1007" dirty="0">
                <a:solidFill>
                  <a:srgbClr val="2C2C2C"/>
                </a:solidFill>
                <a:latin typeface="Quattrocento Sans" pitchFamily="34" charset="0"/>
                <a:ea typeface="Quattrocento Sans" pitchFamily="34" charset="-122"/>
                <a:cs typeface="Quattrocento Sans" pitchFamily="34" charset="-120"/>
              </a:rPr>
              <a:t>• Capital expenditures</a:t>
            </a:r>
            <a:endParaRPr lang="en-US" sz="1600" dirty="0"/>
          </a:p>
        </p:txBody>
      </p:sp>
      <p:sp>
        <p:nvSpPr>
          <p:cNvPr id="44" name="Text 42"/>
          <p:cNvSpPr/>
          <p:nvPr/>
        </p:nvSpPr>
        <p:spPr>
          <a:xfrm>
            <a:off x="8172388" y="2974049"/>
            <a:ext cx="3541676" cy="191874"/>
          </a:xfrm>
          <a:prstGeom prst="rect">
            <a:avLst/>
          </a:prstGeom>
          <a:noFill/>
          <a:ln/>
        </p:spPr>
        <p:txBody>
          <a:bodyPr wrap="square" lIns="0" tIns="0" rIns="0" bIns="0" rtlCol="0" anchor="ctr"/>
          <a:lstStyle/>
          <a:p>
            <a:pPr>
              <a:lnSpc>
                <a:spcPct val="120000"/>
              </a:lnSpc>
            </a:pPr>
            <a:r>
              <a:rPr lang="en-US" sz="1007" dirty="0">
                <a:solidFill>
                  <a:srgbClr val="2C2C2C"/>
                </a:solidFill>
                <a:latin typeface="Quattrocento Sans" pitchFamily="34" charset="0"/>
                <a:ea typeface="Quattrocento Sans" pitchFamily="34" charset="-122"/>
                <a:cs typeface="Quattrocento Sans" pitchFamily="34" charset="-120"/>
              </a:rPr>
              <a:t>• Contract modifications</a:t>
            </a:r>
            <a:endParaRPr lang="en-US" sz="1600" dirty="0"/>
          </a:p>
        </p:txBody>
      </p:sp>
      <p:sp>
        <p:nvSpPr>
          <p:cNvPr id="45" name="Text 43"/>
          <p:cNvSpPr/>
          <p:nvPr/>
        </p:nvSpPr>
        <p:spPr>
          <a:xfrm>
            <a:off x="8172388" y="3197902"/>
            <a:ext cx="3541676" cy="191874"/>
          </a:xfrm>
          <a:prstGeom prst="rect">
            <a:avLst/>
          </a:prstGeom>
          <a:noFill/>
          <a:ln/>
        </p:spPr>
        <p:txBody>
          <a:bodyPr wrap="square" lIns="0" tIns="0" rIns="0" bIns="0" rtlCol="0" anchor="ctr"/>
          <a:lstStyle/>
          <a:p>
            <a:pPr>
              <a:lnSpc>
                <a:spcPct val="120000"/>
              </a:lnSpc>
            </a:pPr>
            <a:r>
              <a:rPr lang="en-US" sz="1007" dirty="0">
                <a:solidFill>
                  <a:srgbClr val="2C2C2C"/>
                </a:solidFill>
                <a:latin typeface="Quattrocento Sans" pitchFamily="34" charset="0"/>
                <a:ea typeface="Quattrocento Sans" pitchFamily="34" charset="-122"/>
                <a:cs typeface="Quattrocento Sans" pitchFamily="34" charset="-120"/>
              </a:rPr>
              <a:t>• New partner admission</a:t>
            </a:r>
            <a:endParaRPr lang="en-US" sz="1600" dirty="0"/>
          </a:p>
        </p:txBody>
      </p:sp>
      <p:sp>
        <p:nvSpPr>
          <p:cNvPr id="46" name="Text 44"/>
          <p:cNvSpPr/>
          <p:nvPr/>
        </p:nvSpPr>
        <p:spPr>
          <a:xfrm>
            <a:off x="8172388" y="3421755"/>
            <a:ext cx="3541676" cy="191874"/>
          </a:xfrm>
          <a:prstGeom prst="rect">
            <a:avLst/>
          </a:prstGeom>
          <a:noFill/>
          <a:ln/>
        </p:spPr>
        <p:txBody>
          <a:bodyPr wrap="square" lIns="0" tIns="0" rIns="0" bIns="0" rtlCol="0" anchor="ctr"/>
          <a:lstStyle/>
          <a:p>
            <a:pPr>
              <a:lnSpc>
                <a:spcPct val="120000"/>
              </a:lnSpc>
            </a:pPr>
            <a:r>
              <a:rPr lang="en-US" sz="1007" dirty="0">
                <a:solidFill>
                  <a:srgbClr val="2C2C2C"/>
                </a:solidFill>
                <a:latin typeface="Quattrocento Sans" pitchFamily="34" charset="0"/>
                <a:ea typeface="Quattrocento Sans" pitchFamily="34" charset="-122"/>
                <a:cs typeface="Quattrocento Sans" pitchFamily="34" charset="-120"/>
              </a:rPr>
              <a:t>• Early termination</a:t>
            </a:r>
            <a:endParaRPr lang="en-US" sz="1600" dirty="0"/>
          </a:p>
        </p:txBody>
      </p:sp>
      <p:sp>
        <p:nvSpPr>
          <p:cNvPr id="47" name="Text 45"/>
          <p:cNvSpPr/>
          <p:nvPr/>
        </p:nvSpPr>
        <p:spPr>
          <a:xfrm>
            <a:off x="8172388" y="3645608"/>
            <a:ext cx="3541676" cy="191874"/>
          </a:xfrm>
          <a:prstGeom prst="rect">
            <a:avLst/>
          </a:prstGeom>
          <a:noFill/>
          <a:ln/>
        </p:spPr>
        <p:txBody>
          <a:bodyPr wrap="square" lIns="0" tIns="0" rIns="0" bIns="0" rtlCol="0" anchor="ctr"/>
          <a:lstStyle/>
          <a:p>
            <a:pPr>
              <a:lnSpc>
                <a:spcPct val="120000"/>
              </a:lnSpc>
            </a:pPr>
            <a:r>
              <a:rPr lang="en-US" sz="1007" dirty="0">
                <a:solidFill>
                  <a:srgbClr val="2C2C2C"/>
                </a:solidFill>
                <a:latin typeface="Quattrocento Sans" pitchFamily="34" charset="0"/>
                <a:ea typeface="Quattrocento Sans" pitchFamily="34" charset="-122"/>
                <a:cs typeface="Quattrocento Sans" pitchFamily="34" charset="-120"/>
              </a:rPr>
              <a:t>• MOU amendments</a:t>
            </a:r>
            <a:endParaRPr lang="en-US" sz="1600" dirty="0"/>
          </a:p>
        </p:txBody>
      </p:sp>
      <p:sp>
        <p:nvSpPr>
          <p:cNvPr id="48" name="Shape 46"/>
          <p:cNvSpPr/>
          <p:nvPr/>
        </p:nvSpPr>
        <p:spPr>
          <a:xfrm>
            <a:off x="8172388" y="3933419"/>
            <a:ext cx="3477718" cy="319790"/>
          </a:xfrm>
          <a:custGeom>
            <a:avLst/>
            <a:gdLst/>
            <a:ahLst/>
            <a:cxnLst/>
            <a:rect l="l" t="t" r="r" b="b"/>
            <a:pathLst>
              <a:path w="3477718" h="319790">
                <a:moveTo>
                  <a:pt x="31979" y="0"/>
                </a:moveTo>
                <a:lnTo>
                  <a:pt x="3445739" y="0"/>
                </a:lnTo>
                <a:cubicBezTo>
                  <a:pt x="3463401" y="0"/>
                  <a:pt x="3477718" y="14317"/>
                  <a:pt x="3477718" y="31979"/>
                </a:cubicBezTo>
                <a:lnTo>
                  <a:pt x="3477718" y="287811"/>
                </a:lnTo>
                <a:cubicBezTo>
                  <a:pt x="3477718" y="305473"/>
                  <a:pt x="3463401" y="319790"/>
                  <a:pt x="3445739" y="319790"/>
                </a:cubicBezTo>
                <a:lnTo>
                  <a:pt x="31979" y="319790"/>
                </a:lnTo>
                <a:cubicBezTo>
                  <a:pt x="14317" y="319790"/>
                  <a:pt x="0" y="305473"/>
                  <a:pt x="0" y="287811"/>
                </a:cubicBezTo>
                <a:lnTo>
                  <a:pt x="0" y="31979"/>
                </a:lnTo>
                <a:cubicBezTo>
                  <a:pt x="0" y="14329"/>
                  <a:pt x="14329" y="0"/>
                  <a:pt x="31979" y="0"/>
                </a:cubicBezTo>
                <a:close/>
              </a:path>
            </a:pathLst>
          </a:custGeom>
          <a:solidFill>
            <a:srgbClr val="3A4D39"/>
          </a:solidFill>
          <a:ln/>
        </p:spPr>
      </p:sp>
      <p:sp>
        <p:nvSpPr>
          <p:cNvPr id="49" name="Text 47"/>
          <p:cNvSpPr/>
          <p:nvPr/>
        </p:nvSpPr>
        <p:spPr>
          <a:xfrm>
            <a:off x="8204367" y="3997377"/>
            <a:ext cx="3413760" cy="191874"/>
          </a:xfrm>
          <a:prstGeom prst="rect">
            <a:avLst/>
          </a:prstGeom>
          <a:noFill/>
          <a:ln/>
        </p:spPr>
        <p:txBody>
          <a:bodyPr wrap="square" lIns="0" tIns="0" rIns="0" bIns="0" rtlCol="0" anchor="ctr"/>
          <a:lstStyle/>
          <a:p>
            <a:pPr algn="ctr">
              <a:lnSpc>
                <a:spcPct val="120000"/>
              </a:lnSpc>
            </a:pPr>
            <a:r>
              <a:rPr lang="en-US" sz="1007" b="1" dirty="0">
                <a:solidFill>
                  <a:srgbClr val="F8F6F2"/>
                </a:solidFill>
                <a:latin typeface="Quattrocento Sans" pitchFamily="34" charset="0"/>
                <a:ea typeface="Quattrocento Sans" pitchFamily="34" charset="-122"/>
                <a:cs typeface="Quattrocento Sans" pitchFamily="34" charset="-120"/>
              </a:rPr>
              <a:t>Unanimous Consent</a:t>
            </a:r>
            <a:endParaRPr lang="en-US" sz="1600" dirty="0"/>
          </a:p>
        </p:txBody>
      </p:sp>
      <p:sp>
        <p:nvSpPr>
          <p:cNvPr id="50" name="Shape 48"/>
          <p:cNvSpPr/>
          <p:nvPr/>
        </p:nvSpPr>
        <p:spPr>
          <a:xfrm>
            <a:off x="335780" y="4572999"/>
            <a:ext cx="5700260" cy="1343119"/>
          </a:xfrm>
          <a:custGeom>
            <a:avLst/>
            <a:gdLst/>
            <a:ahLst/>
            <a:cxnLst/>
            <a:rect l="l" t="t" r="r" b="b"/>
            <a:pathLst>
              <a:path w="5700260" h="1343119">
                <a:moveTo>
                  <a:pt x="31979" y="0"/>
                </a:moveTo>
                <a:lnTo>
                  <a:pt x="5636300" y="0"/>
                </a:lnTo>
                <a:cubicBezTo>
                  <a:pt x="5671624" y="0"/>
                  <a:pt x="5700260" y="28636"/>
                  <a:pt x="5700260" y="63959"/>
                </a:cubicBezTo>
                <a:lnTo>
                  <a:pt x="5700260" y="1279159"/>
                </a:lnTo>
                <a:cubicBezTo>
                  <a:pt x="5700260" y="1314483"/>
                  <a:pt x="5671624" y="1343119"/>
                  <a:pt x="5636300" y="1343119"/>
                </a:cubicBezTo>
                <a:lnTo>
                  <a:pt x="31979" y="1343119"/>
                </a:lnTo>
                <a:cubicBezTo>
                  <a:pt x="14317" y="1343119"/>
                  <a:pt x="0" y="1328801"/>
                  <a:pt x="0" y="1311140"/>
                </a:cubicBezTo>
                <a:lnTo>
                  <a:pt x="0" y="31979"/>
                </a:lnTo>
                <a:cubicBezTo>
                  <a:pt x="0" y="14329"/>
                  <a:pt x="14329" y="0"/>
                  <a:pt x="31979" y="0"/>
                </a:cubicBezTo>
                <a:close/>
              </a:path>
            </a:pathLst>
          </a:custGeom>
          <a:solidFill>
            <a:srgbClr val="FFFFFF"/>
          </a:solidFill>
          <a:ln/>
          <a:effectLst>
            <a:outerShdw sx="100000" sy="100000" kx="0" ky="0" algn="bl" rotWithShape="0" blurRad="23984" dist="7995" dir="5400000">
              <a:srgbClr val="000000">
                <a:alpha val="10196"/>
              </a:srgbClr>
            </a:outerShdw>
          </a:effectLst>
        </p:spPr>
      </p:sp>
      <p:sp>
        <p:nvSpPr>
          <p:cNvPr id="51" name="Shape 49"/>
          <p:cNvSpPr/>
          <p:nvPr/>
        </p:nvSpPr>
        <p:spPr>
          <a:xfrm>
            <a:off x="335780" y="4572999"/>
            <a:ext cx="31979" cy="1343119"/>
          </a:xfrm>
          <a:custGeom>
            <a:avLst/>
            <a:gdLst/>
            <a:ahLst/>
            <a:cxnLst/>
            <a:rect l="l" t="t" r="r" b="b"/>
            <a:pathLst>
              <a:path w="31979" h="1343119">
                <a:moveTo>
                  <a:pt x="31979" y="0"/>
                </a:moveTo>
                <a:lnTo>
                  <a:pt x="31979" y="0"/>
                </a:lnTo>
                <a:lnTo>
                  <a:pt x="31979" y="1343119"/>
                </a:lnTo>
                <a:lnTo>
                  <a:pt x="31979" y="1343119"/>
                </a:lnTo>
                <a:cubicBezTo>
                  <a:pt x="14317" y="1343119"/>
                  <a:pt x="0" y="1328801"/>
                  <a:pt x="0" y="1311140"/>
                </a:cubicBezTo>
                <a:lnTo>
                  <a:pt x="0" y="31979"/>
                </a:lnTo>
                <a:cubicBezTo>
                  <a:pt x="0" y="14329"/>
                  <a:pt x="14329" y="0"/>
                  <a:pt x="31979" y="0"/>
                </a:cubicBezTo>
                <a:close/>
              </a:path>
            </a:pathLst>
          </a:custGeom>
          <a:solidFill>
            <a:srgbClr val="7A6250"/>
          </a:solidFill>
          <a:ln/>
        </p:spPr>
      </p:sp>
      <p:sp>
        <p:nvSpPr>
          <p:cNvPr id="52" name="Shape 50"/>
          <p:cNvSpPr/>
          <p:nvPr/>
        </p:nvSpPr>
        <p:spPr>
          <a:xfrm>
            <a:off x="458699" y="4708910"/>
            <a:ext cx="161894" cy="143906"/>
          </a:xfrm>
          <a:custGeom>
            <a:avLst/>
            <a:gdLst/>
            <a:ahLst/>
            <a:cxnLst/>
            <a:rect l="l" t="t" r="r" b="b"/>
            <a:pathLst>
              <a:path w="161894" h="143906">
                <a:moveTo>
                  <a:pt x="26982" y="26982"/>
                </a:moveTo>
                <a:cubicBezTo>
                  <a:pt x="26982" y="17061"/>
                  <a:pt x="35049" y="8994"/>
                  <a:pt x="44970" y="8994"/>
                </a:cubicBezTo>
                <a:lnTo>
                  <a:pt x="116923" y="8994"/>
                </a:lnTo>
                <a:cubicBezTo>
                  <a:pt x="126845" y="8994"/>
                  <a:pt x="134911" y="17061"/>
                  <a:pt x="134911" y="26982"/>
                </a:cubicBezTo>
                <a:lnTo>
                  <a:pt x="134911" y="89941"/>
                </a:lnTo>
                <a:cubicBezTo>
                  <a:pt x="134911" y="99863"/>
                  <a:pt x="126845" y="107929"/>
                  <a:pt x="116923" y="107929"/>
                </a:cubicBezTo>
                <a:lnTo>
                  <a:pt x="44970" y="107929"/>
                </a:lnTo>
                <a:cubicBezTo>
                  <a:pt x="35049" y="107929"/>
                  <a:pt x="26982" y="99863"/>
                  <a:pt x="26982" y="89941"/>
                </a:cubicBezTo>
                <a:lnTo>
                  <a:pt x="26982" y="26982"/>
                </a:lnTo>
                <a:close/>
                <a:moveTo>
                  <a:pt x="102505" y="32491"/>
                </a:moveTo>
                <a:cubicBezTo>
                  <a:pt x="99357" y="30524"/>
                  <a:pt x="95197" y="31479"/>
                  <a:pt x="93201" y="34627"/>
                </a:cubicBezTo>
                <a:lnTo>
                  <a:pt x="75944" y="62256"/>
                </a:lnTo>
                <a:lnTo>
                  <a:pt x="68355" y="52138"/>
                </a:lnTo>
                <a:cubicBezTo>
                  <a:pt x="66107" y="49158"/>
                  <a:pt x="61891" y="48540"/>
                  <a:pt x="58911" y="50789"/>
                </a:cubicBezTo>
                <a:cubicBezTo>
                  <a:pt x="55932" y="53037"/>
                  <a:pt x="55314" y="57253"/>
                  <a:pt x="57562" y="60232"/>
                </a:cubicBezTo>
                <a:lnTo>
                  <a:pt x="71053" y="78221"/>
                </a:lnTo>
                <a:cubicBezTo>
                  <a:pt x="72374" y="79991"/>
                  <a:pt x="74510" y="81003"/>
                  <a:pt x="76731" y="80919"/>
                </a:cubicBezTo>
                <a:cubicBezTo>
                  <a:pt x="78951" y="80834"/>
                  <a:pt x="80975" y="79654"/>
                  <a:pt x="82155" y="77743"/>
                </a:cubicBezTo>
                <a:lnTo>
                  <a:pt x="104641" y="41766"/>
                </a:lnTo>
                <a:cubicBezTo>
                  <a:pt x="106608" y="38618"/>
                  <a:pt x="105653" y="34459"/>
                  <a:pt x="102505" y="32463"/>
                </a:cubicBezTo>
                <a:close/>
                <a:moveTo>
                  <a:pt x="13491" y="87692"/>
                </a:moveTo>
                <a:lnTo>
                  <a:pt x="13491" y="116923"/>
                </a:lnTo>
                <a:cubicBezTo>
                  <a:pt x="13491" y="119397"/>
                  <a:pt x="15515" y="121420"/>
                  <a:pt x="17988" y="121420"/>
                </a:cubicBezTo>
                <a:lnTo>
                  <a:pt x="143906" y="121420"/>
                </a:lnTo>
                <a:cubicBezTo>
                  <a:pt x="146379" y="121420"/>
                  <a:pt x="148403" y="119397"/>
                  <a:pt x="148403" y="116923"/>
                </a:cubicBezTo>
                <a:lnTo>
                  <a:pt x="148403" y="87692"/>
                </a:lnTo>
                <a:cubicBezTo>
                  <a:pt x="148403" y="83954"/>
                  <a:pt x="151410" y="80947"/>
                  <a:pt x="155148" y="80947"/>
                </a:cubicBezTo>
                <a:cubicBezTo>
                  <a:pt x="158886" y="80947"/>
                  <a:pt x="161894" y="83954"/>
                  <a:pt x="161894" y="87692"/>
                </a:cubicBezTo>
                <a:lnTo>
                  <a:pt x="161894" y="116923"/>
                </a:lnTo>
                <a:cubicBezTo>
                  <a:pt x="161894" y="126845"/>
                  <a:pt x="153827" y="134911"/>
                  <a:pt x="143906" y="134911"/>
                </a:cubicBezTo>
                <a:lnTo>
                  <a:pt x="17988" y="134911"/>
                </a:lnTo>
                <a:cubicBezTo>
                  <a:pt x="8067" y="134911"/>
                  <a:pt x="0" y="126845"/>
                  <a:pt x="0" y="116923"/>
                </a:cubicBezTo>
                <a:lnTo>
                  <a:pt x="0" y="87692"/>
                </a:lnTo>
                <a:cubicBezTo>
                  <a:pt x="0" y="83954"/>
                  <a:pt x="3007" y="80947"/>
                  <a:pt x="6746" y="80947"/>
                </a:cubicBezTo>
                <a:cubicBezTo>
                  <a:pt x="10484" y="80947"/>
                  <a:pt x="13491" y="83954"/>
                  <a:pt x="13491" y="87692"/>
                </a:cubicBezTo>
                <a:close/>
              </a:path>
            </a:pathLst>
          </a:custGeom>
          <a:solidFill>
            <a:srgbClr val="7A6250"/>
          </a:solidFill>
          <a:ln/>
        </p:spPr>
      </p:sp>
      <p:sp>
        <p:nvSpPr>
          <p:cNvPr id="53" name="Text 51"/>
          <p:cNvSpPr/>
          <p:nvPr/>
        </p:nvSpPr>
        <p:spPr>
          <a:xfrm>
            <a:off x="631586" y="4668936"/>
            <a:ext cx="5380470" cy="223853"/>
          </a:xfrm>
          <a:prstGeom prst="rect">
            <a:avLst/>
          </a:prstGeom>
          <a:noFill/>
          <a:ln/>
        </p:spPr>
        <p:txBody>
          <a:bodyPr wrap="square" lIns="0" tIns="0" rIns="0" bIns="0" rtlCol="0" anchor="ctr"/>
          <a:lstStyle/>
          <a:p>
            <a:pPr>
              <a:lnSpc>
                <a:spcPct val="130000"/>
              </a:lnSpc>
            </a:pPr>
            <a:r>
              <a:rPr lang="en-US" sz="1133" b="1" dirty="0">
                <a:solidFill>
                  <a:srgbClr val="3A4D39"/>
                </a:solidFill>
                <a:latin typeface="Unna" pitchFamily="34" charset="0"/>
                <a:ea typeface="Unna" pitchFamily="34" charset="-122"/>
                <a:cs typeface="Unna" pitchFamily="34" charset="-120"/>
              </a:rPr>
              <a:t>Voting Rights</a:t>
            </a:r>
            <a:endParaRPr lang="en-US" sz="1600" dirty="0"/>
          </a:p>
        </p:txBody>
      </p:sp>
      <p:sp>
        <p:nvSpPr>
          <p:cNvPr id="54" name="Text 52"/>
          <p:cNvSpPr/>
          <p:nvPr/>
        </p:nvSpPr>
        <p:spPr>
          <a:xfrm>
            <a:off x="447706" y="4956748"/>
            <a:ext cx="5556354" cy="191874"/>
          </a:xfrm>
          <a:prstGeom prst="rect">
            <a:avLst/>
          </a:prstGeom>
          <a:noFill/>
          <a:ln/>
        </p:spPr>
        <p:txBody>
          <a:bodyPr wrap="square" lIns="0" tIns="0" rIns="0" bIns="0" rtlCol="0" anchor="ctr"/>
          <a:lstStyle/>
          <a:p>
            <a:pPr>
              <a:lnSpc>
                <a:spcPct val="120000"/>
              </a:lnSpc>
            </a:pPr>
            <a:r>
              <a:rPr lang="en-US" sz="1007" dirty="0">
                <a:solidFill>
                  <a:srgbClr val="2C2C2C"/>
                </a:solidFill>
                <a:latin typeface="Quattrocento Sans" pitchFamily="34" charset="0"/>
                <a:ea typeface="Quattrocento Sans" pitchFamily="34" charset="-122"/>
                <a:cs typeface="Quattrocento Sans" pitchFamily="34" charset="-120"/>
              </a:rPr>
              <a:t>Voting rights proportional to ownership percentage on matters requiring partner approval.</a:t>
            </a:r>
            <a:endParaRPr lang="en-US" sz="1600" dirty="0"/>
          </a:p>
        </p:txBody>
      </p:sp>
      <p:sp>
        <p:nvSpPr>
          <p:cNvPr id="55" name="Shape 53"/>
          <p:cNvSpPr/>
          <p:nvPr/>
        </p:nvSpPr>
        <p:spPr>
          <a:xfrm>
            <a:off x="447706" y="5212580"/>
            <a:ext cx="5492396" cy="319790"/>
          </a:xfrm>
          <a:custGeom>
            <a:avLst/>
            <a:gdLst/>
            <a:ahLst/>
            <a:cxnLst/>
            <a:rect l="l" t="t" r="r" b="b"/>
            <a:pathLst>
              <a:path w="5492396" h="319790">
                <a:moveTo>
                  <a:pt x="31979" y="0"/>
                </a:moveTo>
                <a:lnTo>
                  <a:pt x="5460417" y="0"/>
                </a:lnTo>
                <a:cubicBezTo>
                  <a:pt x="5478079" y="0"/>
                  <a:pt x="5492396" y="14317"/>
                  <a:pt x="5492396" y="31979"/>
                </a:cubicBezTo>
                <a:lnTo>
                  <a:pt x="5492396" y="287811"/>
                </a:lnTo>
                <a:cubicBezTo>
                  <a:pt x="5492396" y="305473"/>
                  <a:pt x="5478079" y="319790"/>
                  <a:pt x="5460417" y="319790"/>
                </a:cubicBezTo>
                <a:lnTo>
                  <a:pt x="31979" y="319790"/>
                </a:lnTo>
                <a:cubicBezTo>
                  <a:pt x="14317" y="319790"/>
                  <a:pt x="0" y="305473"/>
                  <a:pt x="0" y="287811"/>
                </a:cubicBezTo>
                <a:lnTo>
                  <a:pt x="0" y="31979"/>
                </a:lnTo>
                <a:cubicBezTo>
                  <a:pt x="0" y="14329"/>
                  <a:pt x="14329" y="0"/>
                  <a:pt x="31979" y="0"/>
                </a:cubicBezTo>
                <a:close/>
              </a:path>
            </a:pathLst>
          </a:custGeom>
          <a:solidFill>
            <a:srgbClr val="F8F6F2"/>
          </a:solidFill>
          <a:ln/>
        </p:spPr>
      </p:sp>
      <p:sp>
        <p:nvSpPr>
          <p:cNvPr id="56" name="Text 54"/>
          <p:cNvSpPr/>
          <p:nvPr/>
        </p:nvSpPr>
        <p:spPr>
          <a:xfrm>
            <a:off x="511664" y="5276538"/>
            <a:ext cx="5428438" cy="191874"/>
          </a:xfrm>
          <a:prstGeom prst="rect">
            <a:avLst/>
          </a:prstGeom>
          <a:noFill/>
          <a:ln/>
        </p:spPr>
        <p:txBody>
          <a:bodyPr wrap="square" lIns="0" tIns="0" rIns="0" bIns="0" rtlCol="0" anchor="ctr"/>
          <a:lstStyle/>
          <a:p>
            <a:pPr>
              <a:lnSpc>
                <a:spcPct val="120000"/>
              </a:lnSpc>
            </a:pPr>
            <a:r>
              <a:rPr lang="en-US" sz="1007" b="1" dirty="0">
                <a:solidFill>
                  <a:srgbClr val="2C2C2C"/>
                </a:solidFill>
                <a:latin typeface="Quattrocento Sans" pitchFamily="34" charset="0"/>
                <a:ea typeface="Quattrocento Sans" pitchFamily="34" charset="-122"/>
                <a:cs typeface="Quattrocento Sans" pitchFamily="34" charset="-120"/>
              </a:rPr>
              <a:t>Example:</a:t>
            </a:r>
            <a:pPr>
              <a:lnSpc>
                <a:spcPct val="120000"/>
              </a:lnSpc>
            </a:pPr>
            <a:r>
              <a:rPr lang="en-US" sz="1007" dirty="0">
                <a:solidFill>
                  <a:srgbClr val="2C2C2C"/>
                </a:solidFill>
                <a:latin typeface="Quattrocento Sans" pitchFamily="34" charset="0"/>
                <a:ea typeface="Quattrocento Sans" pitchFamily="34" charset="-122"/>
                <a:cs typeface="Quattrocento Sans" pitchFamily="34" charset="-120"/>
              </a:rPr>
              <a:t> Partner with 20% ownership has 20% voting weight</a:t>
            </a:r>
            <a:endParaRPr lang="en-US" sz="1600" dirty="0"/>
          </a:p>
        </p:txBody>
      </p:sp>
      <p:sp>
        <p:nvSpPr>
          <p:cNvPr id="57" name="Shape 55"/>
          <p:cNvSpPr/>
          <p:nvPr/>
        </p:nvSpPr>
        <p:spPr>
          <a:xfrm>
            <a:off x="6177197" y="4572999"/>
            <a:ext cx="5700260" cy="1343119"/>
          </a:xfrm>
          <a:custGeom>
            <a:avLst/>
            <a:gdLst/>
            <a:ahLst/>
            <a:cxnLst/>
            <a:rect l="l" t="t" r="r" b="b"/>
            <a:pathLst>
              <a:path w="5700260" h="1343119">
                <a:moveTo>
                  <a:pt x="31979" y="0"/>
                </a:moveTo>
                <a:lnTo>
                  <a:pt x="5636300" y="0"/>
                </a:lnTo>
                <a:cubicBezTo>
                  <a:pt x="5671624" y="0"/>
                  <a:pt x="5700260" y="28636"/>
                  <a:pt x="5700260" y="63959"/>
                </a:cubicBezTo>
                <a:lnTo>
                  <a:pt x="5700260" y="1279159"/>
                </a:lnTo>
                <a:cubicBezTo>
                  <a:pt x="5700260" y="1314483"/>
                  <a:pt x="5671624" y="1343119"/>
                  <a:pt x="5636300" y="1343119"/>
                </a:cubicBezTo>
                <a:lnTo>
                  <a:pt x="31979" y="1343119"/>
                </a:lnTo>
                <a:cubicBezTo>
                  <a:pt x="14317" y="1343119"/>
                  <a:pt x="0" y="1328801"/>
                  <a:pt x="0" y="1311140"/>
                </a:cubicBezTo>
                <a:lnTo>
                  <a:pt x="0" y="31979"/>
                </a:lnTo>
                <a:cubicBezTo>
                  <a:pt x="0" y="14329"/>
                  <a:pt x="14329" y="0"/>
                  <a:pt x="31979" y="0"/>
                </a:cubicBezTo>
                <a:close/>
              </a:path>
            </a:pathLst>
          </a:custGeom>
          <a:solidFill>
            <a:srgbClr val="FFFFFF"/>
          </a:solidFill>
          <a:ln/>
          <a:effectLst>
            <a:outerShdw sx="100000" sy="100000" kx="0" ky="0" algn="bl" rotWithShape="0" blurRad="23984" dist="7995" dir="5400000">
              <a:srgbClr val="000000">
                <a:alpha val="10196"/>
              </a:srgbClr>
            </a:outerShdw>
          </a:effectLst>
        </p:spPr>
      </p:sp>
      <p:sp>
        <p:nvSpPr>
          <p:cNvPr id="58" name="Shape 56"/>
          <p:cNvSpPr/>
          <p:nvPr/>
        </p:nvSpPr>
        <p:spPr>
          <a:xfrm>
            <a:off x="6177197" y="4572999"/>
            <a:ext cx="31979" cy="1343119"/>
          </a:xfrm>
          <a:custGeom>
            <a:avLst/>
            <a:gdLst/>
            <a:ahLst/>
            <a:cxnLst/>
            <a:rect l="l" t="t" r="r" b="b"/>
            <a:pathLst>
              <a:path w="31979" h="1343119">
                <a:moveTo>
                  <a:pt x="31979" y="0"/>
                </a:moveTo>
                <a:lnTo>
                  <a:pt x="31979" y="0"/>
                </a:lnTo>
                <a:lnTo>
                  <a:pt x="31979" y="1343119"/>
                </a:lnTo>
                <a:lnTo>
                  <a:pt x="31979" y="1343119"/>
                </a:lnTo>
                <a:cubicBezTo>
                  <a:pt x="14317" y="1343119"/>
                  <a:pt x="0" y="1328801"/>
                  <a:pt x="0" y="1311140"/>
                </a:cubicBezTo>
                <a:lnTo>
                  <a:pt x="0" y="31979"/>
                </a:lnTo>
                <a:cubicBezTo>
                  <a:pt x="0" y="14329"/>
                  <a:pt x="14329" y="0"/>
                  <a:pt x="31979" y="0"/>
                </a:cubicBezTo>
                <a:close/>
              </a:path>
            </a:pathLst>
          </a:custGeom>
          <a:solidFill>
            <a:srgbClr val="3A4D39"/>
          </a:solidFill>
          <a:ln/>
        </p:spPr>
      </p:sp>
      <p:sp>
        <p:nvSpPr>
          <p:cNvPr id="59" name="Shape 57"/>
          <p:cNvSpPr/>
          <p:nvPr/>
        </p:nvSpPr>
        <p:spPr>
          <a:xfrm>
            <a:off x="6309110" y="4708910"/>
            <a:ext cx="143906" cy="143906"/>
          </a:xfrm>
          <a:custGeom>
            <a:avLst/>
            <a:gdLst/>
            <a:ahLst/>
            <a:cxnLst/>
            <a:rect l="l" t="t" r="r" b="b"/>
            <a:pathLst>
              <a:path w="143906" h="143906">
                <a:moveTo>
                  <a:pt x="80947" y="8994"/>
                </a:moveTo>
                <a:cubicBezTo>
                  <a:pt x="80947" y="4019"/>
                  <a:pt x="76928" y="0"/>
                  <a:pt x="71953" y="0"/>
                </a:cubicBezTo>
                <a:cubicBezTo>
                  <a:pt x="66978" y="0"/>
                  <a:pt x="62959" y="4019"/>
                  <a:pt x="62959" y="8994"/>
                </a:cubicBezTo>
                <a:lnTo>
                  <a:pt x="62959" y="67456"/>
                </a:lnTo>
                <a:cubicBezTo>
                  <a:pt x="62959" y="69929"/>
                  <a:pt x="60935" y="71953"/>
                  <a:pt x="58462" y="71953"/>
                </a:cubicBezTo>
                <a:cubicBezTo>
                  <a:pt x="55988" y="71953"/>
                  <a:pt x="53965" y="69929"/>
                  <a:pt x="53965" y="67456"/>
                </a:cubicBezTo>
                <a:lnTo>
                  <a:pt x="53965" y="17988"/>
                </a:lnTo>
                <a:cubicBezTo>
                  <a:pt x="53965" y="13013"/>
                  <a:pt x="49945" y="8994"/>
                  <a:pt x="44970" y="8994"/>
                </a:cubicBezTo>
                <a:cubicBezTo>
                  <a:pt x="39996" y="8994"/>
                  <a:pt x="35976" y="13013"/>
                  <a:pt x="35976" y="17988"/>
                </a:cubicBezTo>
                <a:lnTo>
                  <a:pt x="35976" y="94438"/>
                </a:lnTo>
                <a:cubicBezTo>
                  <a:pt x="35976" y="94860"/>
                  <a:pt x="35976" y="95309"/>
                  <a:pt x="36004" y="95731"/>
                </a:cubicBezTo>
                <a:lnTo>
                  <a:pt x="19000" y="79542"/>
                </a:lnTo>
                <a:cubicBezTo>
                  <a:pt x="14503" y="75269"/>
                  <a:pt x="7392" y="75438"/>
                  <a:pt x="3092" y="79935"/>
                </a:cubicBezTo>
                <a:cubicBezTo>
                  <a:pt x="-1209" y="84432"/>
                  <a:pt x="-1012" y="91543"/>
                  <a:pt x="3485" y="95843"/>
                </a:cubicBezTo>
                <a:lnTo>
                  <a:pt x="35077" y="125917"/>
                </a:lnTo>
                <a:cubicBezTo>
                  <a:pt x="47191" y="137469"/>
                  <a:pt x="63296" y="143906"/>
                  <a:pt x="80047" y="143906"/>
                </a:cubicBezTo>
                <a:lnTo>
                  <a:pt x="85444" y="143906"/>
                </a:lnTo>
                <a:cubicBezTo>
                  <a:pt x="112764" y="143906"/>
                  <a:pt x="134911" y="121758"/>
                  <a:pt x="134911" y="94438"/>
                </a:cubicBezTo>
                <a:lnTo>
                  <a:pt x="134911" y="35976"/>
                </a:lnTo>
                <a:cubicBezTo>
                  <a:pt x="134911" y="31002"/>
                  <a:pt x="130892" y="26982"/>
                  <a:pt x="125917" y="26982"/>
                </a:cubicBezTo>
                <a:cubicBezTo>
                  <a:pt x="120943" y="26982"/>
                  <a:pt x="116923" y="31002"/>
                  <a:pt x="116923" y="35976"/>
                </a:cubicBezTo>
                <a:lnTo>
                  <a:pt x="116923" y="67456"/>
                </a:lnTo>
                <a:cubicBezTo>
                  <a:pt x="116923" y="69929"/>
                  <a:pt x="114900" y="71953"/>
                  <a:pt x="112426" y="71953"/>
                </a:cubicBezTo>
                <a:cubicBezTo>
                  <a:pt x="109953" y="71953"/>
                  <a:pt x="107929" y="69929"/>
                  <a:pt x="107929" y="67456"/>
                </a:cubicBezTo>
                <a:lnTo>
                  <a:pt x="107929" y="17988"/>
                </a:lnTo>
                <a:cubicBezTo>
                  <a:pt x="107929" y="13013"/>
                  <a:pt x="103910" y="8994"/>
                  <a:pt x="98935" y="8994"/>
                </a:cubicBezTo>
                <a:cubicBezTo>
                  <a:pt x="93960" y="8994"/>
                  <a:pt x="89941" y="13013"/>
                  <a:pt x="89941" y="17988"/>
                </a:cubicBezTo>
                <a:lnTo>
                  <a:pt x="89941" y="67456"/>
                </a:lnTo>
                <a:cubicBezTo>
                  <a:pt x="89941" y="69929"/>
                  <a:pt x="87917" y="71953"/>
                  <a:pt x="85444" y="71953"/>
                </a:cubicBezTo>
                <a:cubicBezTo>
                  <a:pt x="82971" y="71953"/>
                  <a:pt x="80947" y="69929"/>
                  <a:pt x="80947" y="67456"/>
                </a:cubicBezTo>
                <a:lnTo>
                  <a:pt x="80947" y="8994"/>
                </a:lnTo>
                <a:close/>
              </a:path>
            </a:pathLst>
          </a:custGeom>
          <a:solidFill>
            <a:srgbClr val="3A4D39"/>
          </a:solidFill>
          <a:ln/>
        </p:spPr>
      </p:sp>
      <p:sp>
        <p:nvSpPr>
          <p:cNvPr id="60" name="Text 58"/>
          <p:cNvSpPr/>
          <p:nvPr/>
        </p:nvSpPr>
        <p:spPr>
          <a:xfrm>
            <a:off x="6473003" y="4668936"/>
            <a:ext cx="5380470" cy="223853"/>
          </a:xfrm>
          <a:prstGeom prst="rect">
            <a:avLst/>
          </a:prstGeom>
          <a:noFill/>
          <a:ln/>
        </p:spPr>
        <p:txBody>
          <a:bodyPr wrap="square" lIns="0" tIns="0" rIns="0" bIns="0" rtlCol="0" anchor="ctr"/>
          <a:lstStyle/>
          <a:p>
            <a:pPr>
              <a:lnSpc>
                <a:spcPct val="130000"/>
              </a:lnSpc>
            </a:pPr>
            <a:r>
              <a:rPr lang="en-US" sz="1133" b="1" dirty="0">
                <a:solidFill>
                  <a:srgbClr val="3A4D39"/>
                </a:solidFill>
                <a:latin typeface="Unna" pitchFamily="34" charset="0"/>
                <a:ea typeface="Unna" pitchFamily="34" charset="-122"/>
                <a:cs typeface="Unna" pitchFamily="34" charset="-120"/>
              </a:rPr>
              <a:t>Meeting Requirements</a:t>
            </a:r>
            <a:endParaRPr lang="en-US" sz="1600" dirty="0"/>
          </a:p>
        </p:txBody>
      </p:sp>
      <p:sp>
        <p:nvSpPr>
          <p:cNvPr id="61" name="Text 59"/>
          <p:cNvSpPr/>
          <p:nvPr/>
        </p:nvSpPr>
        <p:spPr>
          <a:xfrm>
            <a:off x="6289123" y="4956748"/>
            <a:ext cx="5556354" cy="191874"/>
          </a:xfrm>
          <a:prstGeom prst="rect">
            <a:avLst/>
          </a:prstGeom>
          <a:noFill/>
          <a:ln/>
        </p:spPr>
        <p:txBody>
          <a:bodyPr wrap="square" lIns="0" tIns="0" rIns="0" bIns="0" rtlCol="0" anchor="ctr"/>
          <a:lstStyle/>
          <a:p>
            <a:pPr>
              <a:lnSpc>
                <a:spcPct val="120000"/>
              </a:lnSpc>
            </a:pPr>
            <a:r>
              <a:rPr lang="en-US" sz="1007" dirty="0">
                <a:solidFill>
                  <a:srgbClr val="2C2C2C"/>
                </a:solidFill>
                <a:latin typeface="Quattrocento Sans" pitchFamily="34" charset="0"/>
                <a:ea typeface="Quattrocento Sans" pitchFamily="34" charset="-122"/>
                <a:cs typeface="Quattrocento Sans" pitchFamily="34" charset="-120"/>
              </a:rPr>
              <a:t>• Quorum: Partners representing 60% of ownership</a:t>
            </a:r>
            <a:endParaRPr lang="en-US" sz="1600" dirty="0"/>
          </a:p>
        </p:txBody>
      </p:sp>
      <p:sp>
        <p:nvSpPr>
          <p:cNvPr id="62" name="Text 60"/>
          <p:cNvSpPr/>
          <p:nvPr/>
        </p:nvSpPr>
        <p:spPr>
          <a:xfrm>
            <a:off x="6289123" y="5180601"/>
            <a:ext cx="5556354" cy="191874"/>
          </a:xfrm>
          <a:prstGeom prst="rect">
            <a:avLst/>
          </a:prstGeom>
          <a:noFill/>
          <a:ln/>
        </p:spPr>
        <p:txBody>
          <a:bodyPr wrap="square" lIns="0" tIns="0" rIns="0" bIns="0" rtlCol="0" anchor="ctr"/>
          <a:lstStyle/>
          <a:p>
            <a:pPr>
              <a:lnSpc>
                <a:spcPct val="120000"/>
              </a:lnSpc>
            </a:pPr>
            <a:r>
              <a:rPr lang="en-US" sz="1007" dirty="0">
                <a:solidFill>
                  <a:srgbClr val="2C2C2C"/>
                </a:solidFill>
                <a:latin typeface="Quattrocento Sans" pitchFamily="34" charset="0"/>
                <a:ea typeface="Quattrocento Sans" pitchFamily="34" charset="-122"/>
                <a:cs typeface="Quattrocento Sans" pitchFamily="34" charset="-120"/>
              </a:rPr>
              <a:t>• Proxy voting permitted with written authorization</a:t>
            </a:r>
            <a:endParaRPr lang="en-US" sz="1600" dirty="0"/>
          </a:p>
        </p:txBody>
      </p:sp>
      <p:sp>
        <p:nvSpPr>
          <p:cNvPr id="63" name="Text 61"/>
          <p:cNvSpPr/>
          <p:nvPr/>
        </p:nvSpPr>
        <p:spPr>
          <a:xfrm>
            <a:off x="6289123" y="5404454"/>
            <a:ext cx="5556354" cy="191874"/>
          </a:xfrm>
          <a:prstGeom prst="rect">
            <a:avLst/>
          </a:prstGeom>
          <a:noFill/>
          <a:ln/>
        </p:spPr>
        <p:txBody>
          <a:bodyPr wrap="square" lIns="0" tIns="0" rIns="0" bIns="0" rtlCol="0" anchor="ctr"/>
          <a:lstStyle/>
          <a:p>
            <a:pPr>
              <a:lnSpc>
                <a:spcPct val="120000"/>
              </a:lnSpc>
            </a:pPr>
            <a:r>
              <a:rPr lang="en-US" sz="1007" dirty="0">
                <a:solidFill>
                  <a:srgbClr val="2C2C2C"/>
                </a:solidFill>
                <a:latin typeface="Quattrocento Sans" pitchFamily="34" charset="0"/>
                <a:ea typeface="Quattrocento Sans" pitchFamily="34" charset="-122"/>
                <a:cs typeface="Quattrocento Sans" pitchFamily="34" charset="-120"/>
              </a:rPr>
              <a:t>• 7 days advance notice for formal meetings</a:t>
            </a:r>
            <a:endParaRPr lang="en-US" sz="1600" dirty="0"/>
          </a:p>
        </p:txBody>
      </p:sp>
      <p:sp>
        <p:nvSpPr>
          <p:cNvPr id="64" name="Text 62"/>
          <p:cNvSpPr/>
          <p:nvPr/>
        </p:nvSpPr>
        <p:spPr>
          <a:xfrm>
            <a:off x="6289123" y="5628307"/>
            <a:ext cx="5556354" cy="191874"/>
          </a:xfrm>
          <a:prstGeom prst="rect">
            <a:avLst/>
          </a:prstGeom>
          <a:noFill/>
          <a:ln/>
        </p:spPr>
        <p:txBody>
          <a:bodyPr wrap="square" lIns="0" tIns="0" rIns="0" bIns="0" rtlCol="0" anchor="ctr"/>
          <a:lstStyle/>
          <a:p>
            <a:pPr>
              <a:lnSpc>
                <a:spcPct val="120000"/>
              </a:lnSpc>
            </a:pPr>
            <a:r>
              <a:rPr lang="en-US" sz="1007" dirty="0">
                <a:solidFill>
                  <a:srgbClr val="2C2C2C"/>
                </a:solidFill>
                <a:latin typeface="Quattrocento Sans" pitchFamily="34" charset="0"/>
                <a:ea typeface="Quattrocento Sans" pitchFamily="34" charset="-122"/>
                <a:cs typeface="Quattrocento Sans" pitchFamily="34" charset="-120"/>
              </a:rPr>
              <a:t>• Minutes documented and distributed within 5 days</a:t>
            </a:r>
            <a:endParaRPr lang="en-US" sz="1600" dirty="0"/>
          </a:p>
        </p:txBody>
      </p:sp>
      <p:sp>
        <p:nvSpPr>
          <p:cNvPr id="65" name="Shape 63"/>
          <p:cNvSpPr/>
          <p:nvPr/>
        </p:nvSpPr>
        <p:spPr>
          <a:xfrm>
            <a:off x="323788" y="6016052"/>
            <a:ext cx="11544425" cy="839449"/>
          </a:xfrm>
          <a:custGeom>
            <a:avLst/>
            <a:gdLst/>
            <a:ahLst/>
            <a:cxnLst/>
            <a:rect l="l" t="t" r="r" b="b"/>
            <a:pathLst>
              <a:path w="11544425" h="839449">
                <a:moveTo>
                  <a:pt x="63958" y="0"/>
                </a:moveTo>
                <a:lnTo>
                  <a:pt x="11480467" y="0"/>
                </a:lnTo>
                <a:cubicBezTo>
                  <a:pt x="11515790" y="0"/>
                  <a:pt x="11544425" y="28635"/>
                  <a:pt x="11544425" y="63958"/>
                </a:cubicBezTo>
                <a:lnTo>
                  <a:pt x="11544425" y="775492"/>
                </a:lnTo>
                <a:cubicBezTo>
                  <a:pt x="11544425" y="810814"/>
                  <a:pt x="11515790" y="839449"/>
                  <a:pt x="11480467" y="839449"/>
                </a:cubicBezTo>
                <a:lnTo>
                  <a:pt x="63958" y="839449"/>
                </a:lnTo>
                <a:cubicBezTo>
                  <a:pt x="28635" y="839449"/>
                  <a:pt x="0" y="810814"/>
                  <a:pt x="0" y="775492"/>
                </a:cubicBezTo>
                <a:lnTo>
                  <a:pt x="0" y="63958"/>
                </a:lnTo>
                <a:cubicBezTo>
                  <a:pt x="0" y="28658"/>
                  <a:pt x="28658" y="0"/>
                  <a:pt x="63958" y="0"/>
                </a:cubicBezTo>
                <a:close/>
              </a:path>
            </a:pathLst>
          </a:custGeom>
          <a:solidFill>
            <a:srgbClr val="BCA37F"/>
          </a:solidFill>
          <a:ln w="12700">
            <a:solidFill>
              <a:srgbClr val="BCA37F"/>
            </a:solidFill>
            <a:prstDash val="solid"/>
          </a:ln>
        </p:spPr>
      </p:sp>
      <p:sp>
        <p:nvSpPr>
          <p:cNvPr id="66" name="Shape 64"/>
          <p:cNvSpPr/>
          <p:nvPr/>
        </p:nvSpPr>
        <p:spPr>
          <a:xfrm>
            <a:off x="411730" y="6147966"/>
            <a:ext cx="159895" cy="159895"/>
          </a:xfrm>
          <a:custGeom>
            <a:avLst/>
            <a:gdLst/>
            <a:ahLst/>
            <a:cxnLst/>
            <a:rect l="l" t="t" r="r" b="b"/>
            <a:pathLst>
              <a:path w="159895" h="159895">
                <a:moveTo>
                  <a:pt x="79948" y="0"/>
                </a:moveTo>
                <a:cubicBezTo>
                  <a:pt x="84538" y="0"/>
                  <a:pt x="88754" y="2530"/>
                  <a:pt x="90940" y="6558"/>
                </a:cubicBezTo>
                <a:lnTo>
                  <a:pt x="158396" y="131476"/>
                </a:lnTo>
                <a:cubicBezTo>
                  <a:pt x="160488" y="135349"/>
                  <a:pt x="160395" y="140033"/>
                  <a:pt x="158146" y="143812"/>
                </a:cubicBezTo>
                <a:cubicBezTo>
                  <a:pt x="155898" y="147591"/>
                  <a:pt x="151807" y="149902"/>
                  <a:pt x="147403" y="149902"/>
                </a:cubicBezTo>
                <a:lnTo>
                  <a:pt x="12492" y="149902"/>
                </a:lnTo>
                <a:cubicBezTo>
                  <a:pt x="8088" y="149902"/>
                  <a:pt x="4029" y="147591"/>
                  <a:pt x="1749" y="143812"/>
                </a:cubicBezTo>
                <a:cubicBezTo>
                  <a:pt x="-531" y="140033"/>
                  <a:pt x="-593" y="135349"/>
                  <a:pt x="1499" y="131476"/>
                </a:cubicBezTo>
                <a:lnTo>
                  <a:pt x="68955" y="6558"/>
                </a:lnTo>
                <a:cubicBezTo>
                  <a:pt x="71141" y="2530"/>
                  <a:pt x="75357" y="0"/>
                  <a:pt x="79948" y="0"/>
                </a:cubicBezTo>
                <a:close/>
                <a:moveTo>
                  <a:pt x="79948" y="52466"/>
                </a:moveTo>
                <a:cubicBezTo>
                  <a:pt x="75794" y="52466"/>
                  <a:pt x="72452" y="55807"/>
                  <a:pt x="72452" y="59961"/>
                </a:cubicBezTo>
                <a:lnTo>
                  <a:pt x="72452" y="94938"/>
                </a:lnTo>
                <a:cubicBezTo>
                  <a:pt x="72452" y="99091"/>
                  <a:pt x="75794" y="102433"/>
                  <a:pt x="79948" y="102433"/>
                </a:cubicBezTo>
                <a:cubicBezTo>
                  <a:pt x="84101" y="102433"/>
                  <a:pt x="87443" y="99091"/>
                  <a:pt x="87443" y="94938"/>
                </a:cubicBezTo>
                <a:lnTo>
                  <a:pt x="87443" y="59961"/>
                </a:lnTo>
                <a:cubicBezTo>
                  <a:pt x="87443" y="55807"/>
                  <a:pt x="84101" y="52466"/>
                  <a:pt x="79948" y="52466"/>
                </a:cubicBezTo>
                <a:close/>
                <a:moveTo>
                  <a:pt x="88286" y="119921"/>
                </a:moveTo>
                <a:cubicBezTo>
                  <a:pt x="88476" y="116826"/>
                  <a:pt x="86932" y="113882"/>
                  <a:pt x="84279" y="112277"/>
                </a:cubicBezTo>
                <a:cubicBezTo>
                  <a:pt x="81626" y="110672"/>
                  <a:pt x="78301" y="110672"/>
                  <a:pt x="75648" y="112277"/>
                </a:cubicBezTo>
                <a:cubicBezTo>
                  <a:pt x="72994" y="113882"/>
                  <a:pt x="71451" y="116826"/>
                  <a:pt x="71640" y="119921"/>
                </a:cubicBezTo>
                <a:cubicBezTo>
                  <a:pt x="71451" y="123016"/>
                  <a:pt x="72994" y="125961"/>
                  <a:pt x="75648" y="127566"/>
                </a:cubicBezTo>
                <a:cubicBezTo>
                  <a:pt x="78301" y="129171"/>
                  <a:pt x="81626" y="129171"/>
                  <a:pt x="84279" y="127566"/>
                </a:cubicBezTo>
                <a:cubicBezTo>
                  <a:pt x="86932" y="125961"/>
                  <a:pt x="88476" y="123016"/>
                  <a:pt x="88286" y="119921"/>
                </a:cubicBezTo>
                <a:close/>
              </a:path>
            </a:pathLst>
          </a:custGeom>
          <a:solidFill>
            <a:srgbClr val="7A6250"/>
          </a:solidFill>
          <a:ln/>
        </p:spPr>
      </p:sp>
      <p:sp>
        <p:nvSpPr>
          <p:cNvPr id="67" name="Text 65"/>
          <p:cNvSpPr/>
          <p:nvPr/>
        </p:nvSpPr>
        <p:spPr>
          <a:xfrm>
            <a:off x="652322" y="6115987"/>
            <a:ext cx="11192656" cy="223853"/>
          </a:xfrm>
          <a:prstGeom prst="rect">
            <a:avLst/>
          </a:prstGeom>
          <a:noFill/>
          <a:ln/>
        </p:spPr>
        <p:txBody>
          <a:bodyPr wrap="square" lIns="0" tIns="0" rIns="0" bIns="0" rtlCol="0" anchor="ctr"/>
          <a:lstStyle/>
          <a:p>
            <a:pPr>
              <a:lnSpc>
                <a:spcPct val="130000"/>
              </a:lnSpc>
            </a:pPr>
            <a:r>
              <a:rPr lang="en-US" sz="1133" b="1" dirty="0">
                <a:solidFill>
                  <a:srgbClr val="3A4D39"/>
                </a:solidFill>
                <a:latin typeface="Unna" pitchFamily="34" charset="0"/>
                <a:ea typeface="Unna" pitchFamily="34" charset="-122"/>
                <a:cs typeface="Unna" pitchFamily="34" charset="-120"/>
              </a:rPr>
              <a:t>Conflict of Interest</a:t>
            </a:r>
            <a:endParaRPr lang="en-US" sz="1600" dirty="0"/>
          </a:p>
        </p:txBody>
      </p:sp>
      <p:sp>
        <p:nvSpPr>
          <p:cNvPr id="68" name="Text 66"/>
          <p:cNvSpPr/>
          <p:nvPr/>
        </p:nvSpPr>
        <p:spPr>
          <a:xfrm>
            <a:off x="652322" y="6371819"/>
            <a:ext cx="11184661" cy="383748"/>
          </a:xfrm>
          <a:prstGeom prst="rect">
            <a:avLst/>
          </a:prstGeom>
          <a:noFill/>
          <a:ln/>
        </p:spPr>
        <p:txBody>
          <a:bodyPr wrap="square" lIns="0" tIns="0" rIns="0" bIns="0" rtlCol="0" anchor="ctr"/>
          <a:lstStyle/>
          <a:p>
            <a:pPr>
              <a:lnSpc>
                <a:spcPct val="120000"/>
              </a:lnSpc>
            </a:pPr>
            <a:r>
              <a:rPr lang="en-US" sz="1007" dirty="0">
                <a:solidFill>
                  <a:srgbClr val="2C2C2C"/>
                </a:solidFill>
                <a:latin typeface="Quattrocento Sans" pitchFamily="34" charset="0"/>
                <a:ea typeface="Quattrocento Sans" pitchFamily="34" charset="-122"/>
                <a:cs typeface="Quattrocento Sans" pitchFamily="34" charset="-120"/>
              </a:rPr>
              <a:t>All partners must disclose any actual or potential conflicts of interest. Partners with conflicts must recuse themselves from related voting decisions. Wilshire Farms must disclose any related-party transactions (e.g., purchasing supplies from affiliated businesses) and obtain partner approval where required.</a:t>
            </a:r>
            <a:endParaRPr lang="en-US" sz="1600" dirty="0"/>
          </a:p>
        </p:txBody>
      </p:sp>
    </p:spTree>
  </p:cSld>
  <p:clrMapOvr>
    <a:masterClrMapping/>
  </p:clrMapOvr>
  <p:transition>
    <p:fade/>
    <p:spd val="med"/>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6F2"/>
        </a:solidFill>
      </p:bgPr>
    </p:bg>
    <p:spTree>
      <p:nvGrpSpPr>
        <p:cNvPr id="1" name=""/>
        <p:cNvGrpSpPr/>
        <p:nvPr/>
      </p:nvGrpSpPr>
      <p:grpSpPr>
        <a:xfrm>
          <a:off x="0" y="0"/>
          <a:ext cx="0" cy="0"/>
          <a:chOff x="0" y="0"/>
          <a:chExt cx="0" cy="0"/>
        </a:xfrm>
      </p:grpSpPr>
      <p:sp>
        <p:nvSpPr>
          <p:cNvPr id="2" name="Shape 0"/>
          <p:cNvSpPr/>
          <p:nvPr/>
        </p:nvSpPr>
        <p:spPr>
          <a:xfrm>
            <a:off x="381000" y="381000"/>
            <a:ext cx="381000" cy="381000"/>
          </a:xfrm>
          <a:custGeom>
            <a:avLst/>
            <a:gdLst/>
            <a:ahLst/>
            <a:cxnLst/>
            <a:rect l="l" t="t" r="r" b="b"/>
            <a:pathLst>
              <a:path w="381000" h="381000">
                <a:moveTo>
                  <a:pt x="38100" y="0"/>
                </a:moveTo>
                <a:lnTo>
                  <a:pt x="342900" y="0"/>
                </a:lnTo>
                <a:cubicBezTo>
                  <a:pt x="363928" y="0"/>
                  <a:pt x="381000" y="17072"/>
                  <a:pt x="381000" y="38100"/>
                </a:cubicBezTo>
                <a:lnTo>
                  <a:pt x="381000" y="342900"/>
                </a:lnTo>
                <a:cubicBezTo>
                  <a:pt x="381000" y="363928"/>
                  <a:pt x="363928" y="381000"/>
                  <a:pt x="342900" y="381000"/>
                </a:cubicBezTo>
                <a:lnTo>
                  <a:pt x="38100" y="381000"/>
                </a:lnTo>
                <a:cubicBezTo>
                  <a:pt x="17072" y="381000"/>
                  <a:pt x="0" y="363928"/>
                  <a:pt x="0" y="342900"/>
                </a:cubicBezTo>
                <a:lnTo>
                  <a:pt x="0" y="38100"/>
                </a:lnTo>
                <a:cubicBezTo>
                  <a:pt x="0" y="17072"/>
                  <a:pt x="17072" y="0"/>
                  <a:pt x="38100" y="0"/>
                </a:cubicBezTo>
                <a:close/>
              </a:path>
            </a:pathLst>
          </a:custGeom>
          <a:solidFill>
            <a:srgbClr val="7A6250"/>
          </a:solidFill>
          <a:ln/>
        </p:spPr>
      </p:sp>
      <p:sp>
        <p:nvSpPr>
          <p:cNvPr id="3" name="Text 1"/>
          <p:cNvSpPr/>
          <p:nvPr/>
        </p:nvSpPr>
        <p:spPr>
          <a:xfrm>
            <a:off x="489049" y="438150"/>
            <a:ext cx="257175" cy="266700"/>
          </a:xfrm>
          <a:prstGeom prst="rect">
            <a:avLst/>
          </a:prstGeom>
          <a:noFill/>
          <a:ln/>
        </p:spPr>
        <p:txBody>
          <a:bodyPr wrap="square" lIns="0" tIns="0" rIns="0" bIns="0" rtlCol="0" anchor="ctr"/>
          <a:lstStyle/>
          <a:p>
            <a:pPr>
              <a:lnSpc>
                <a:spcPct val="120000"/>
              </a:lnSpc>
            </a:pPr>
            <a:r>
              <a:rPr lang="en-US" sz="1500" b="1" dirty="0">
                <a:solidFill>
                  <a:srgbClr val="F8F6F2"/>
                </a:solidFill>
                <a:latin typeface="Oranienbaum" pitchFamily="34" charset="0"/>
                <a:ea typeface="Oranienbaum" pitchFamily="34" charset="-122"/>
                <a:cs typeface="Oranienbaum" pitchFamily="34" charset="-120"/>
              </a:rPr>
              <a:t>10</a:t>
            </a:r>
            <a:endParaRPr lang="en-US" sz="1600" dirty="0"/>
          </a:p>
        </p:txBody>
      </p:sp>
      <p:sp>
        <p:nvSpPr>
          <p:cNvPr id="4" name="Text 2"/>
          <p:cNvSpPr/>
          <p:nvPr/>
        </p:nvSpPr>
        <p:spPr>
          <a:xfrm>
            <a:off x="876300" y="381000"/>
            <a:ext cx="4676775" cy="381000"/>
          </a:xfrm>
          <a:prstGeom prst="rect">
            <a:avLst/>
          </a:prstGeom>
          <a:noFill/>
          <a:ln/>
        </p:spPr>
        <p:txBody>
          <a:bodyPr wrap="square" lIns="0" tIns="0" rIns="0" bIns="0" rtlCol="0" anchor="ctr"/>
          <a:lstStyle/>
          <a:p>
            <a:pPr>
              <a:lnSpc>
                <a:spcPct val="90000"/>
              </a:lnSpc>
            </a:pPr>
            <a:r>
              <a:rPr lang="en-US" sz="2700" b="1" dirty="0">
                <a:solidFill>
                  <a:srgbClr val="3A4D39"/>
                </a:solidFill>
                <a:latin typeface="Oranienbaum" pitchFamily="34" charset="0"/>
                <a:ea typeface="Oranienbaum" pitchFamily="34" charset="-122"/>
                <a:cs typeface="Oranienbaum" pitchFamily="34" charset="-120"/>
              </a:rPr>
              <a:t>Risk Management and Liability</a:t>
            </a:r>
            <a:endParaRPr lang="en-US" sz="1600" dirty="0"/>
          </a:p>
        </p:txBody>
      </p:sp>
      <p:sp>
        <p:nvSpPr>
          <p:cNvPr id="5" name="Shape 3"/>
          <p:cNvSpPr/>
          <p:nvPr/>
        </p:nvSpPr>
        <p:spPr>
          <a:xfrm>
            <a:off x="381000" y="83820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BCA37F"/>
          </a:solidFill>
          <a:ln/>
        </p:spPr>
      </p:sp>
      <p:sp>
        <p:nvSpPr>
          <p:cNvPr id="6" name="Shape 4"/>
          <p:cNvSpPr/>
          <p:nvPr/>
        </p:nvSpPr>
        <p:spPr>
          <a:xfrm>
            <a:off x="381000" y="1047750"/>
            <a:ext cx="5638800" cy="3829050"/>
          </a:xfrm>
          <a:custGeom>
            <a:avLst/>
            <a:gdLst/>
            <a:ahLst/>
            <a:cxnLst/>
            <a:rect l="l" t="t" r="r" b="b"/>
            <a:pathLst>
              <a:path w="5638800" h="3829050">
                <a:moveTo>
                  <a:pt x="38100" y="0"/>
                </a:moveTo>
                <a:lnTo>
                  <a:pt x="5600700" y="0"/>
                </a:lnTo>
                <a:cubicBezTo>
                  <a:pt x="5621728" y="0"/>
                  <a:pt x="5638800" y="17072"/>
                  <a:pt x="5638800" y="38100"/>
                </a:cubicBezTo>
                <a:lnTo>
                  <a:pt x="5638800" y="3752852"/>
                </a:lnTo>
                <a:cubicBezTo>
                  <a:pt x="5638800" y="3794935"/>
                  <a:pt x="5604685" y="3829050"/>
                  <a:pt x="5562602" y="3829050"/>
                </a:cubicBezTo>
                <a:lnTo>
                  <a:pt x="76198" y="3829050"/>
                </a:lnTo>
                <a:cubicBezTo>
                  <a:pt x="34115" y="3829050"/>
                  <a:pt x="0" y="3794935"/>
                  <a:pt x="0" y="3752852"/>
                </a:cubicBezTo>
                <a:lnTo>
                  <a:pt x="0" y="38100"/>
                </a:lnTo>
                <a:cubicBezTo>
                  <a:pt x="0" y="17072"/>
                  <a:pt x="17072" y="0"/>
                  <a:pt x="38100" y="0"/>
                </a:cubicBezTo>
                <a:close/>
              </a:path>
            </a:pathLst>
          </a:custGeom>
          <a:solidFill>
            <a:srgbClr val="FFFFFF"/>
          </a:solidFill>
          <a:ln/>
          <a:effectLst>
            <a:outerShdw sx="100000" sy="100000" kx="0" ky="0" algn="bl" rotWithShape="0" blurRad="28575" dist="9525" dir="5400000">
              <a:srgbClr val="000000">
                <a:alpha val="10196"/>
              </a:srgbClr>
            </a:outerShdw>
          </a:effectLst>
        </p:spPr>
      </p:sp>
      <p:sp>
        <p:nvSpPr>
          <p:cNvPr id="7" name="Shape 5"/>
          <p:cNvSpPr/>
          <p:nvPr/>
        </p:nvSpPr>
        <p:spPr>
          <a:xfrm>
            <a:off x="381000" y="1047750"/>
            <a:ext cx="5638800" cy="38100"/>
          </a:xfrm>
          <a:custGeom>
            <a:avLst/>
            <a:gdLst/>
            <a:ahLst/>
            <a:cxnLst/>
            <a:rect l="l" t="t" r="r" b="b"/>
            <a:pathLst>
              <a:path w="5638800" h="38100">
                <a:moveTo>
                  <a:pt x="38100" y="0"/>
                </a:moveTo>
                <a:lnTo>
                  <a:pt x="5600700" y="0"/>
                </a:lnTo>
                <a:cubicBezTo>
                  <a:pt x="5621728" y="0"/>
                  <a:pt x="5638800" y="17072"/>
                  <a:pt x="5638800" y="38100"/>
                </a:cubicBezTo>
                <a:lnTo>
                  <a:pt x="5638800" y="38100"/>
                </a:lnTo>
                <a:lnTo>
                  <a:pt x="0" y="38100"/>
                </a:lnTo>
                <a:lnTo>
                  <a:pt x="0" y="38100"/>
                </a:lnTo>
                <a:cubicBezTo>
                  <a:pt x="0" y="17072"/>
                  <a:pt x="17072" y="0"/>
                  <a:pt x="38100" y="0"/>
                </a:cubicBezTo>
                <a:close/>
              </a:path>
            </a:pathLst>
          </a:custGeom>
          <a:solidFill>
            <a:srgbClr val="3A4D39"/>
          </a:solidFill>
          <a:ln/>
        </p:spPr>
      </p:sp>
      <p:sp>
        <p:nvSpPr>
          <p:cNvPr id="8" name="Shape 6"/>
          <p:cNvSpPr/>
          <p:nvPr/>
        </p:nvSpPr>
        <p:spPr>
          <a:xfrm>
            <a:off x="557213" y="1257300"/>
            <a:ext cx="190500" cy="190500"/>
          </a:xfrm>
          <a:custGeom>
            <a:avLst/>
            <a:gdLst/>
            <a:ahLst/>
            <a:cxnLst/>
            <a:rect l="l" t="t" r="r" b="b"/>
            <a:pathLst>
              <a:path w="190500" h="190500">
                <a:moveTo>
                  <a:pt x="35719" y="119063"/>
                </a:moveTo>
                <a:cubicBezTo>
                  <a:pt x="15999" y="119063"/>
                  <a:pt x="0" y="103063"/>
                  <a:pt x="0" y="83344"/>
                </a:cubicBezTo>
                <a:cubicBezTo>
                  <a:pt x="0" y="67531"/>
                  <a:pt x="10269" y="54099"/>
                  <a:pt x="24519" y="49411"/>
                </a:cubicBezTo>
                <a:cubicBezTo>
                  <a:pt x="24036" y="46918"/>
                  <a:pt x="23812" y="44314"/>
                  <a:pt x="23812" y="41672"/>
                </a:cubicBezTo>
                <a:cubicBezTo>
                  <a:pt x="23812" y="18641"/>
                  <a:pt x="42453" y="0"/>
                  <a:pt x="65484" y="0"/>
                </a:cubicBezTo>
                <a:cubicBezTo>
                  <a:pt x="81521" y="0"/>
                  <a:pt x="95436" y="9041"/>
                  <a:pt x="102394" y="22324"/>
                </a:cubicBezTo>
                <a:cubicBezTo>
                  <a:pt x="107863" y="15962"/>
                  <a:pt x="115974" y="11906"/>
                  <a:pt x="125016" y="11906"/>
                </a:cubicBezTo>
                <a:cubicBezTo>
                  <a:pt x="141461" y="11906"/>
                  <a:pt x="154781" y="25226"/>
                  <a:pt x="154781" y="41672"/>
                </a:cubicBezTo>
                <a:cubicBezTo>
                  <a:pt x="154781" y="43718"/>
                  <a:pt x="154558" y="45690"/>
                  <a:pt x="154186" y="47625"/>
                </a:cubicBezTo>
                <a:cubicBezTo>
                  <a:pt x="154372" y="47625"/>
                  <a:pt x="154595" y="47625"/>
                  <a:pt x="154781" y="47625"/>
                </a:cubicBezTo>
                <a:cubicBezTo>
                  <a:pt x="174501" y="47625"/>
                  <a:pt x="190500" y="63624"/>
                  <a:pt x="190500" y="83344"/>
                </a:cubicBezTo>
                <a:cubicBezTo>
                  <a:pt x="190500" y="103063"/>
                  <a:pt x="174501" y="119063"/>
                  <a:pt x="154781" y="119063"/>
                </a:cubicBezTo>
                <a:lnTo>
                  <a:pt x="35719" y="119063"/>
                </a:lnTo>
                <a:close/>
                <a:moveTo>
                  <a:pt x="38249" y="148679"/>
                </a:moveTo>
                <a:lnTo>
                  <a:pt x="26343" y="184398"/>
                </a:lnTo>
                <a:cubicBezTo>
                  <a:pt x="24780" y="189086"/>
                  <a:pt x="19720" y="191616"/>
                  <a:pt x="15032" y="190054"/>
                </a:cubicBezTo>
                <a:cubicBezTo>
                  <a:pt x="10344" y="188491"/>
                  <a:pt x="7813" y="183431"/>
                  <a:pt x="9376" y="178743"/>
                </a:cubicBezTo>
                <a:lnTo>
                  <a:pt x="21282" y="143024"/>
                </a:lnTo>
                <a:cubicBezTo>
                  <a:pt x="22845" y="138336"/>
                  <a:pt x="27905" y="135806"/>
                  <a:pt x="32593" y="137368"/>
                </a:cubicBezTo>
                <a:cubicBezTo>
                  <a:pt x="37281" y="138931"/>
                  <a:pt x="39812" y="143991"/>
                  <a:pt x="38249" y="148679"/>
                </a:cubicBezTo>
                <a:close/>
                <a:moveTo>
                  <a:pt x="82897" y="148679"/>
                </a:moveTo>
                <a:lnTo>
                  <a:pt x="70991" y="184398"/>
                </a:lnTo>
                <a:cubicBezTo>
                  <a:pt x="69428" y="189086"/>
                  <a:pt x="64368" y="191616"/>
                  <a:pt x="59680" y="190054"/>
                </a:cubicBezTo>
                <a:cubicBezTo>
                  <a:pt x="54992" y="188491"/>
                  <a:pt x="52462" y="183431"/>
                  <a:pt x="54025" y="178743"/>
                </a:cubicBezTo>
                <a:lnTo>
                  <a:pt x="65931" y="143024"/>
                </a:lnTo>
                <a:cubicBezTo>
                  <a:pt x="67494" y="138336"/>
                  <a:pt x="72554" y="135806"/>
                  <a:pt x="77242" y="137368"/>
                </a:cubicBezTo>
                <a:cubicBezTo>
                  <a:pt x="81930" y="138931"/>
                  <a:pt x="84460" y="143991"/>
                  <a:pt x="82897" y="148679"/>
                </a:cubicBezTo>
                <a:close/>
                <a:moveTo>
                  <a:pt x="124569" y="148679"/>
                </a:moveTo>
                <a:lnTo>
                  <a:pt x="112663" y="184398"/>
                </a:lnTo>
                <a:cubicBezTo>
                  <a:pt x="111100" y="189086"/>
                  <a:pt x="106040" y="191616"/>
                  <a:pt x="101352" y="190054"/>
                </a:cubicBezTo>
                <a:cubicBezTo>
                  <a:pt x="96664" y="188491"/>
                  <a:pt x="94134" y="183431"/>
                  <a:pt x="95696" y="178743"/>
                </a:cubicBezTo>
                <a:lnTo>
                  <a:pt x="107603" y="143024"/>
                </a:lnTo>
                <a:cubicBezTo>
                  <a:pt x="109165" y="138336"/>
                  <a:pt x="114226" y="135806"/>
                  <a:pt x="118914" y="137368"/>
                </a:cubicBezTo>
                <a:cubicBezTo>
                  <a:pt x="123602" y="138931"/>
                  <a:pt x="126132" y="143991"/>
                  <a:pt x="124569" y="148679"/>
                </a:cubicBezTo>
                <a:close/>
                <a:moveTo>
                  <a:pt x="169218" y="148679"/>
                </a:moveTo>
                <a:lnTo>
                  <a:pt x="157311" y="184398"/>
                </a:lnTo>
                <a:cubicBezTo>
                  <a:pt x="155749" y="189086"/>
                  <a:pt x="150688" y="191616"/>
                  <a:pt x="146000" y="190054"/>
                </a:cubicBezTo>
                <a:cubicBezTo>
                  <a:pt x="141312" y="188491"/>
                  <a:pt x="138782" y="183431"/>
                  <a:pt x="140345" y="178743"/>
                </a:cubicBezTo>
                <a:lnTo>
                  <a:pt x="152251" y="143024"/>
                </a:lnTo>
                <a:cubicBezTo>
                  <a:pt x="153814" y="138336"/>
                  <a:pt x="158874" y="135806"/>
                  <a:pt x="163562" y="137368"/>
                </a:cubicBezTo>
                <a:cubicBezTo>
                  <a:pt x="168250" y="138931"/>
                  <a:pt x="170780" y="143991"/>
                  <a:pt x="169218" y="148679"/>
                </a:cubicBezTo>
                <a:close/>
              </a:path>
            </a:pathLst>
          </a:custGeom>
          <a:solidFill>
            <a:srgbClr val="3A4D39"/>
          </a:solidFill>
          <a:ln/>
        </p:spPr>
      </p:sp>
      <p:sp>
        <p:nvSpPr>
          <p:cNvPr id="9" name="Text 7"/>
          <p:cNvSpPr/>
          <p:nvPr/>
        </p:nvSpPr>
        <p:spPr>
          <a:xfrm>
            <a:off x="771525" y="1219200"/>
            <a:ext cx="5191125" cy="266700"/>
          </a:xfrm>
          <a:prstGeom prst="rect">
            <a:avLst/>
          </a:prstGeom>
          <a:noFill/>
          <a:ln/>
        </p:spPr>
        <p:txBody>
          <a:bodyPr wrap="square" lIns="0" tIns="0" rIns="0" bIns="0" rtlCol="0" anchor="ctr"/>
          <a:lstStyle/>
          <a:p>
            <a:pPr>
              <a:lnSpc>
                <a:spcPct val="120000"/>
              </a:lnSpc>
            </a:pPr>
            <a:r>
              <a:rPr lang="en-US" sz="1500" b="1" dirty="0">
                <a:solidFill>
                  <a:srgbClr val="3A4D39"/>
                </a:solidFill>
                <a:latin typeface="Unna" pitchFamily="34" charset="0"/>
                <a:ea typeface="Unna" pitchFamily="34" charset="-122"/>
                <a:cs typeface="Unna" pitchFamily="34" charset="-120"/>
              </a:rPr>
              <a:t>Force Majeure Provisions</a:t>
            </a:r>
            <a:endParaRPr lang="en-US" sz="1600" dirty="0"/>
          </a:p>
        </p:txBody>
      </p:sp>
      <p:sp>
        <p:nvSpPr>
          <p:cNvPr id="10" name="Text 8"/>
          <p:cNvSpPr/>
          <p:nvPr/>
        </p:nvSpPr>
        <p:spPr>
          <a:xfrm>
            <a:off x="533400" y="1600200"/>
            <a:ext cx="5410200" cy="457200"/>
          </a:xfrm>
          <a:prstGeom prst="rect">
            <a:avLst/>
          </a:prstGeom>
          <a:noFill/>
          <a:ln/>
        </p:spPr>
        <p:txBody>
          <a:bodyPr wrap="square" lIns="0" tIns="0" rIns="0" bIns="0" rtlCol="0" anchor="ctr"/>
          <a:lstStyle/>
          <a:p>
            <a:pPr>
              <a:lnSpc>
                <a:spcPct val="130000"/>
              </a:lnSpc>
            </a:pPr>
            <a:r>
              <a:rPr lang="en-US" sz="1200" dirty="0">
                <a:solidFill>
                  <a:srgbClr val="2C2C2C"/>
                </a:solidFill>
                <a:latin typeface="Quattrocento Sans" pitchFamily="34" charset="0"/>
                <a:ea typeface="Quattrocento Sans" pitchFamily="34" charset="-122"/>
                <a:cs typeface="Quattrocento Sans" pitchFamily="34" charset="-120"/>
              </a:rPr>
              <a:t>Partners acknowledge that agricultural ventures are subject to uncontrollable events beyond reasonable control:</a:t>
            </a:r>
            <a:endParaRPr lang="en-US" sz="1600" dirty="0"/>
          </a:p>
        </p:txBody>
      </p:sp>
      <p:sp>
        <p:nvSpPr>
          <p:cNvPr id="11" name="Shape 9"/>
          <p:cNvSpPr/>
          <p:nvPr/>
        </p:nvSpPr>
        <p:spPr>
          <a:xfrm>
            <a:off x="552450" y="2171700"/>
            <a:ext cx="5314950" cy="876300"/>
          </a:xfrm>
          <a:custGeom>
            <a:avLst/>
            <a:gdLst/>
            <a:ahLst/>
            <a:cxnLst/>
            <a:rect l="l" t="t" r="r" b="b"/>
            <a:pathLst>
              <a:path w="5314950" h="876300">
                <a:moveTo>
                  <a:pt x="38100" y="0"/>
                </a:moveTo>
                <a:lnTo>
                  <a:pt x="5238747" y="0"/>
                </a:lnTo>
                <a:cubicBezTo>
                  <a:pt x="5280833" y="0"/>
                  <a:pt x="5314950" y="34117"/>
                  <a:pt x="5314950" y="76203"/>
                </a:cubicBezTo>
                <a:lnTo>
                  <a:pt x="5314950" y="800097"/>
                </a:lnTo>
                <a:cubicBezTo>
                  <a:pt x="5314950" y="842183"/>
                  <a:pt x="5280833" y="876300"/>
                  <a:pt x="5238747" y="876300"/>
                </a:cubicBezTo>
                <a:lnTo>
                  <a:pt x="38100" y="876300"/>
                </a:lnTo>
                <a:cubicBezTo>
                  <a:pt x="17072" y="876300"/>
                  <a:pt x="0" y="859228"/>
                  <a:pt x="0" y="838200"/>
                </a:cubicBezTo>
                <a:lnTo>
                  <a:pt x="0" y="38100"/>
                </a:lnTo>
                <a:cubicBezTo>
                  <a:pt x="0" y="17072"/>
                  <a:pt x="17072" y="0"/>
                  <a:pt x="38100" y="0"/>
                </a:cubicBezTo>
                <a:close/>
              </a:path>
            </a:pathLst>
          </a:custGeom>
          <a:solidFill>
            <a:srgbClr val="F8F6F2"/>
          </a:solidFill>
          <a:ln/>
        </p:spPr>
      </p:sp>
      <p:sp>
        <p:nvSpPr>
          <p:cNvPr id="12" name="Shape 10"/>
          <p:cNvSpPr/>
          <p:nvPr/>
        </p:nvSpPr>
        <p:spPr>
          <a:xfrm>
            <a:off x="552450" y="2171700"/>
            <a:ext cx="38100" cy="876300"/>
          </a:xfrm>
          <a:custGeom>
            <a:avLst/>
            <a:gdLst/>
            <a:ahLst/>
            <a:cxnLst/>
            <a:rect l="l" t="t" r="r" b="b"/>
            <a:pathLst>
              <a:path w="38100" h="876300">
                <a:moveTo>
                  <a:pt x="38100" y="0"/>
                </a:moveTo>
                <a:lnTo>
                  <a:pt x="38100" y="0"/>
                </a:lnTo>
                <a:lnTo>
                  <a:pt x="38100" y="876300"/>
                </a:lnTo>
                <a:lnTo>
                  <a:pt x="38100" y="876300"/>
                </a:lnTo>
                <a:cubicBezTo>
                  <a:pt x="17072" y="876300"/>
                  <a:pt x="0" y="859228"/>
                  <a:pt x="0" y="838200"/>
                </a:cubicBezTo>
                <a:lnTo>
                  <a:pt x="0" y="38100"/>
                </a:lnTo>
                <a:cubicBezTo>
                  <a:pt x="0" y="17072"/>
                  <a:pt x="17072" y="0"/>
                  <a:pt x="38100" y="0"/>
                </a:cubicBezTo>
                <a:close/>
              </a:path>
            </a:pathLst>
          </a:custGeom>
          <a:solidFill>
            <a:srgbClr val="3A4D39"/>
          </a:solidFill>
          <a:ln/>
        </p:spPr>
      </p:sp>
      <p:sp>
        <p:nvSpPr>
          <p:cNvPr id="13" name="Text 11"/>
          <p:cNvSpPr/>
          <p:nvPr/>
        </p:nvSpPr>
        <p:spPr>
          <a:xfrm>
            <a:off x="647700" y="2247900"/>
            <a:ext cx="5219700" cy="228600"/>
          </a:xfrm>
          <a:prstGeom prst="rect">
            <a:avLst/>
          </a:prstGeom>
          <a:noFill/>
          <a:ln/>
        </p:spPr>
        <p:txBody>
          <a:bodyPr wrap="square" lIns="0" tIns="0" rIns="0" bIns="0" rtlCol="0" anchor="ctr"/>
          <a:lstStyle/>
          <a:p>
            <a:pPr>
              <a:lnSpc>
                <a:spcPct val="130000"/>
              </a:lnSpc>
            </a:pPr>
            <a:r>
              <a:rPr lang="en-US" sz="1200" b="1" dirty="0">
                <a:solidFill>
                  <a:srgbClr val="3A4D39"/>
                </a:solidFill>
                <a:latin typeface="Unna" pitchFamily="34" charset="0"/>
                <a:ea typeface="Unna" pitchFamily="34" charset="-122"/>
                <a:cs typeface="Unna" pitchFamily="34" charset="-120"/>
              </a:rPr>
              <a:t>Natural Events</a:t>
            </a:r>
            <a:endParaRPr lang="en-US" sz="1600" dirty="0"/>
          </a:p>
        </p:txBody>
      </p:sp>
      <p:sp>
        <p:nvSpPr>
          <p:cNvPr id="14" name="Text 12"/>
          <p:cNvSpPr/>
          <p:nvPr/>
        </p:nvSpPr>
        <p:spPr>
          <a:xfrm>
            <a:off x="647700" y="2514600"/>
            <a:ext cx="5219700" cy="457200"/>
          </a:xfrm>
          <a:prstGeom prst="rect">
            <a:avLst/>
          </a:prstGeom>
          <a:noFill/>
          <a:ln/>
        </p:spPr>
        <p:txBody>
          <a:bodyPr wrap="square" lIns="0" tIns="0" rIns="0" bIns="0" rtlCol="0" anchor="ctr"/>
          <a:lstStyle/>
          <a:p>
            <a:pPr>
              <a:lnSpc>
                <a:spcPct val="130000"/>
              </a:lnSpc>
            </a:pPr>
            <a:r>
              <a:rPr lang="en-US" sz="1200" dirty="0">
                <a:solidFill>
                  <a:srgbClr val="2C2C2C"/>
                </a:solidFill>
                <a:latin typeface="Quattrocento Sans" pitchFamily="34" charset="0"/>
                <a:ea typeface="Quattrocento Sans" pitchFamily="34" charset="-122"/>
                <a:cs typeface="Quattrocento Sans" pitchFamily="34" charset="-120"/>
              </a:rPr>
              <a:t>Extreme weather, floods, droughts, earthquakes, or other natural disasters affecting crop production</a:t>
            </a:r>
            <a:endParaRPr lang="en-US" sz="1600" dirty="0"/>
          </a:p>
        </p:txBody>
      </p:sp>
      <p:sp>
        <p:nvSpPr>
          <p:cNvPr id="15" name="Shape 13"/>
          <p:cNvSpPr/>
          <p:nvPr/>
        </p:nvSpPr>
        <p:spPr>
          <a:xfrm>
            <a:off x="552450" y="3124200"/>
            <a:ext cx="5314950" cy="876300"/>
          </a:xfrm>
          <a:custGeom>
            <a:avLst/>
            <a:gdLst/>
            <a:ahLst/>
            <a:cxnLst/>
            <a:rect l="l" t="t" r="r" b="b"/>
            <a:pathLst>
              <a:path w="5314950" h="876300">
                <a:moveTo>
                  <a:pt x="38100" y="0"/>
                </a:moveTo>
                <a:lnTo>
                  <a:pt x="5238747" y="0"/>
                </a:lnTo>
                <a:cubicBezTo>
                  <a:pt x="5280833" y="0"/>
                  <a:pt x="5314950" y="34117"/>
                  <a:pt x="5314950" y="76203"/>
                </a:cubicBezTo>
                <a:lnTo>
                  <a:pt x="5314950" y="800097"/>
                </a:lnTo>
                <a:cubicBezTo>
                  <a:pt x="5314950" y="842183"/>
                  <a:pt x="5280833" y="876300"/>
                  <a:pt x="5238747" y="876300"/>
                </a:cubicBezTo>
                <a:lnTo>
                  <a:pt x="38100" y="876300"/>
                </a:lnTo>
                <a:cubicBezTo>
                  <a:pt x="17072" y="876300"/>
                  <a:pt x="0" y="859228"/>
                  <a:pt x="0" y="838200"/>
                </a:cubicBezTo>
                <a:lnTo>
                  <a:pt x="0" y="38100"/>
                </a:lnTo>
                <a:cubicBezTo>
                  <a:pt x="0" y="17072"/>
                  <a:pt x="17072" y="0"/>
                  <a:pt x="38100" y="0"/>
                </a:cubicBezTo>
                <a:close/>
              </a:path>
            </a:pathLst>
          </a:custGeom>
          <a:solidFill>
            <a:srgbClr val="F8F6F2"/>
          </a:solidFill>
          <a:ln/>
        </p:spPr>
      </p:sp>
      <p:sp>
        <p:nvSpPr>
          <p:cNvPr id="16" name="Shape 14"/>
          <p:cNvSpPr/>
          <p:nvPr/>
        </p:nvSpPr>
        <p:spPr>
          <a:xfrm>
            <a:off x="552450" y="3124200"/>
            <a:ext cx="38100" cy="876300"/>
          </a:xfrm>
          <a:custGeom>
            <a:avLst/>
            <a:gdLst/>
            <a:ahLst/>
            <a:cxnLst/>
            <a:rect l="l" t="t" r="r" b="b"/>
            <a:pathLst>
              <a:path w="38100" h="876300">
                <a:moveTo>
                  <a:pt x="38100" y="0"/>
                </a:moveTo>
                <a:lnTo>
                  <a:pt x="38100" y="0"/>
                </a:lnTo>
                <a:lnTo>
                  <a:pt x="38100" y="876300"/>
                </a:lnTo>
                <a:lnTo>
                  <a:pt x="38100" y="876300"/>
                </a:lnTo>
                <a:cubicBezTo>
                  <a:pt x="17072" y="876300"/>
                  <a:pt x="0" y="859228"/>
                  <a:pt x="0" y="838200"/>
                </a:cubicBezTo>
                <a:lnTo>
                  <a:pt x="0" y="38100"/>
                </a:lnTo>
                <a:cubicBezTo>
                  <a:pt x="0" y="17072"/>
                  <a:pt x="17072" y="0"/>
                  <a:pt x="38100" y="0"/>
                </a:cubicBezTo>
                <a:close/>
              </a:path>
            </a:pathLst>
          </a:custGeom>
          <a:solidFill>
            <a:srgbClr val="7A6250"/>
          </a:solidFill>
          <a:ln/>
        </p:spPr>
      </p:sp>
      <p:sp>
        <p:nvSpPr>
          <p:cNvPr id="17" name="Text 15"/>
          <p:cNvSpPr/>
          <p:nvPr/>
        </p:nvSpPr>
        <p:spPr>
          <a:xfrm>
            <a:off x="647700" y="3200400"/>
            <a:ext cx="5219700" cy="228600"/>
          </a:xfrm>
          <a:prstGeom prst="rect">
            <a:avLst/>
          </a:prstGeom>
          <a:noFill/>
          <a:ln/>
        </p:spPr>
        <p:txBody>
          <a:bodyPr wrap="square" lIns="0" tIns="0" rIns="0" bIns="0" rtlCol="0" anchor="ctr"/>
          <a:lstStyle/>
          <a:p>
            <a:pPr>
              <a:lnSpc>
                <a:spcPct val="130000"/>
              </a:lnSpc>
            </a:pPr>
            <a:r>
              <a:rPr lang="en-US" sz="1200" b="1" dirty="0">
                <a:solidFill>
                  <a:srgbClr val="3A4D39"/>
                </a:solidFill>
                <a:latin typeface="Unna" pitchFamily="34" charset="0"/>
                <a:ea typeface="Unna" pitchFamily="34" charset="-122"/>
                <a:cs typeface="Unna" pitchFamily="34" charset="-120"/>
              </a:rPr>
              <a:t>Biological Events</a:t>
            </a:r>
            <a:endParaRPr lang="en-US" sz="1600" dirty="0"/>
          </a:p>
        </p:txBody>
      </p:sp>
      <p:sp>
        <p:nvSpPr>
          <p:cNvPr id="18" name="Text 16"/>
          <p:cNvSpPr/>
          <p:nvPr/>
        </p:nvSpPr>
        <p:spPr>
          <a:xfrm>
            <a:off x="647700" y="3467100"/>
            <a:ext cx="5219700" cy="457200"/>
          </a:xfrm>
          <a:prstGeom prst="rect">
            <a:avLst/>
          </a:prstGeom>
          <a:noFill/>
          <a:ln/>
        </p:spPr>
        <p:txBody>
          <a:bodyPr wrap="square" lIns="0" tIns="0" rIns="0" bIns="0" rtlCol="0" anchor="ctr"/>
          <a:lstStyle/>
          <a:p>
            <a:pPr>
              <a:lnSpc>
                <a:spcPct val="130000"/>
              </a:lnSpc>
            </a:pPr>
            <a:r>
              <a:rPr lang="en-US" sz="1200" dirty="0">
                <a:solidFill>
                  <a:srgbClr val="2C2C2C"/>
                </a:solidFill>
                <a:latin typeface="Quattrocento Sans" pitchFamily="34" charset="0"/>
                <a:ea typeface="Quattrocento Sans" pitchFamily="34" charset="-122"/>
                <a:cs typeface="Quattrocento Sans" pitchFamily="34" charset="-120"/>
              </a:rPr>
              <a:t>Severe pest infestations, plant diseases, or crop failures despite proper management practices</a:t>
            </a:r>
            <a:endParaRPr lang="en-US" sz="1600" dirty="0"/>
          </a:p>
        </p:txBody>
      </p:sp>
      <p:sp>
        <p:nvSpPr>
          <p:cNvPr id="19" name="Shape 17"/>
          <p:cNvSpPr/>
          <p:nvPr/>
        </p:nvSpPr>
        <p:spPr>
          <a:xfrm>
            <a:off x="552450" y="4076700"/>
            <a:ext cx="5314950" cy="647700"/>
          </a:xfrm>
          <a:custGeom>
            <a:avLst/>
            <a:gdLst/>
            <a:ahLst/>
            <a:cxnLst/>
            <a:rect l="l" t="t" r="r" b="b"/>
            <a:pathLst>
              <a:path w="5314950" h="647700">
                <a:moveTo>
                  <a:pt x="38100" y="0"/>
                </a:moveTo>
                <a:lnTo>
                  <a:pt x="5238748" y="0"/>
                </a:lnTo>
                <a:cubicBezTo>
                  <a:pt x="5280833" y="0"/>
                  <a:pt x="5314950" y="34117"/>
                  <a:pt x="5314950" y="76202"/>
                </a:cubicBezTo>
                <a:lnTo>
                  <a:pt x="5314950" y="571498"/>
                </a:lnTo>
                <a:cubicBezTo>
                  <a:pt x="5314950" y="613583"/>
                  <a:pt x="5280833" y="647700"/>
                  <a:pt x="5238748" y="647700"/>
                </a:cubicBezTo>
                <a:lnTo>
                  <a:pt x="38100" y="647700"/>
                </a:lnTo>
                <a:cubicBezTo>
                  <a:pt x="17072" y="647700"/>
                  <a:pt x="0" y="630628"/>
                  <a:pt x="0" y="609600"/>
                </a:cubicBezTo>
                <a:lnTo>
                  <a:pt x="0" y="38100"/>
                </a:lnTo>
                <a:cubicBezTo>
                  <a:pt x="0" y="17072"/>
                  <a:pt x="17072" y="0"/>
                  <a:pt x="38100" y="0"/>
                </a:cubicBezTo>
                <a:close/>
              </a:path>
            </a:pathLst>
          </a:custGeom>
          <a:solidFill>
            <a:srgbClr val="F8F6F2"/>
          </a:solidFill>
          <a:ln/>
        </p:spPr>
      </p:sp>
      <p:sp>
        <p:nvSpPr>
          <p:cNvPr id="20" name="Shape 18"/>
          <p:cNvSpPr/>
          <p:nvPr/>
        </p:nvSpPr>
        <p:spPr>
          <a:xfrm>
            <a:off x="552450" y="4076700"/>
            <a:ext cx="38100" cy="647700"/>
          </a:xfrm>
          <a:custGeom>
            <a:avLst/>
            <a:gdLst/>
            <a:ahLst/>
            <a:cxnLst/>
            <a:rect l="l" t="t" r="r" b="b"/>
            <a:pathLst>
              <a:path w="38100" h="647700">
                <a:moveTo>
                  <a:pt x="38100" y="0"/>
                </a:moveTo>
                <a:lnTo>
                  <a:pt x="38100" y="0"/>
                </a:lnTo>
                <a:lnTo>
                  <a:pt x="38100" y="647700"/>
                </a:lnTo>
                <a:lnTo>
                  <a:pt x="38100" y="647700"/>
                </a:lnTo>
                <a:cubicBezTo>
                  <a:pt x="17072" y="647700"/>
                  <a:pt x="0" y="630628"/>
                  <a:pt x="0" y="609600"/>
                </a:cubicBezTo>
                <a:lnTo>
                  <a:pt x="0" y="38100"/>
                </a:lnTo>
                <a:cubicBezTo>
                  <a:pt x="0" y="17072"/>
                  <a:pt x="17072" y="0"/>
                  <a:pt x="38100" y="0"/>
                </a:cubicBezTo>
                <a:close/>
              </a:path>
            </a:pathLst>
          </a:custGeom>
          <a:solidFill>
            <a:srgbClr val="3A4D39"/>
          </a:solidFill>
          <a:ln/>
        </p:spPr>
      </p:sp>
      <p:sp>
        <p:nvSpPr>
          <p:cNvPr id="21" name="Text 19"/>
          <p:cNvSpPr/>
          <p:nvPr/>
        </p:nvSpPr>
        <p:spPr>
          <a:xfrm>
            <a:off x="647700" y="4152900"/>
            <a:ext cx="5219700" cy="228600"/>
          </a:xfrm>
          <a:prstGeom prst="rect">
            <a:avLst/>
          </a:prstGeom>
          <a:noFill/>
          <a:ln/>
        </p:spPr>
        <p:txBody>
          <a:bodyPr wrap="square" lIns="0" tIns="0" rIns="0" bIns="0" rtlCol="0" anchor="ctr"/>
          <a:lstStyle/>
          <a:p>
            <a:pPr>
              <a:lnSpc>
                <a:spcPct val="130000"/>
              </a:lnSpc>
            </a:pPr>
            <a:r>
              <a:rPr lang="en-US" sz="1200" b="1" dirty="0">
                <a:solidFill>
                  <a:srgbClr val="3A4D39"/>
                </a:solidFill>
                <a:latin typeface="Unna" pitchFamily="34" charset="0"/>
                <a:ea typeface="Unna" pitchFamily="34" charset="-122"/>
                <a:cs typeface="Unna" pitchFamily="34" charset="-120"/>
              </a:rPr>
              <a:t>External Factors</a:t>
            </a:r>
            <a:endParaRPr lang="en-US" sz="1600" dirty="0"/>
          </a:p>
        </p:txBody>
      </p:sp>
      <p:sp>
        <p:nvSpPr>
          <p:cNvPr id="22" name="Text 20"/>
          <p:cNvSpPr/>
          <p:nvPr/>
        </p:nvSpPr>
        <p:spPr>
          <a:xfrm>
            <a:off x="647700" y="4419600"/>
            <a:ext cx="5219700" cy="228600"/>
          </a:xfrm>
          <a:prstGeom prst="rect">
            <a:avLst/>
          </a:prstGeom>
          <a:noFill/>
          <a:ln/>
        </p:spPr>
        <p:txBody>
          <a:bodyPr wrap="square" lIns="0" tIns="0" rIns="0" bIns="0" rtlCol="0" anchor="ctr"/>
          <a:lstStyle/>
          <a:p>
            <a:pPr>
              <a:lnSpc>
                <a:spcPct val="130000"/>
              </a:lnSpc>
            </a:pPr>
            <a:r>
              <a:rPr lang="en-US" sz="1200" dirty="0">
                <a:solidFill>
                  <a:srgbClr val="2C2C2C"/>
                </a:solidFill>
                <a:latin typeface="Quattrocento Sans" pitchFamily="34" charset="0"/>
                <a:ea typeface="Quattrocento Sans" pitchFamily="34" charset="-122"/>
                <a:cs typeface="Quattrocento Sans" pitchFamily="34" charset="-120"/>
              </a:rPr>
              <a:t>Government actions, market collapse, labor strikes, or infrastructure failures</a:t>
            </a:r>
            <a:endParaRPr lang="en-US" sz="1600" dirty="0"/>
          </a:p>
        </p:txBody>
      </p:sp>
      <p:sp>
        <p:nvSpPr>
          <p:cNvPr id="23" name="Shape 21"/>
          <p:cNvSpPr/>
          <p:nvPr/>
        </p:nvSpPr>
        <p:spPr>
          <a:xfrm>
            <a:off x="6172200" y="1047750"/>
            <a:ext cx="5638800" cy="3829050"/>
          </a:xfrm>
          <a:custGeom>
            <a:avLst/>
            <a:gdLst/>
            <a:ahLst/>
            <a:cxnLst/>
            <a:rect l="l" t="t" r="r" b="b"/>
            <a:pathLst>
              <a:path w="5638800" h="3829050">
                <a:moveTo>
                  <a:pt x="38100" y="0"/>
                </a:moveTo>
                <a:lnTo>
                  <a:pt x="5600700" y="0"/>
                </a:lnTo>
                <a:cubicBezTo>
                  <a:pt x="5621728" y="0"/>
                  <a:pt x="5638800" y="17072"/>
                  <a:pt x="5638800" y="38100"/>
                </a:cubicBezTo>
                <a:lnTo>
                  <a:pt x="5638800" y="3752852"/>
                </a:lnTo>
                <a:cubicBezTo>
                  <a:pt x="5638800" y="3794935"/>
                  <a:pt x="5604685" y="3829050"/>
                  <a:pt x="5562602" y="3829050"/>
                </a:cubicBezTo>
                <a:lnTo>
                  <a:pt x="76198" y="3829050"/>
                </a:lnTo>
                <a:cubicBezTo>
                  <a:pt x="34115" y="3829050"/>
                  <a:pt x="0" y="3794935"/>
                  <a:pt x="0" y="3752852"/>
                </a:cubicBezTo>
                <a:lnTo>
                  <a:pt x="0" y="38100"/>
                </a:lnTo>
                <a:cubicBezTo>
                  <a:pt x="0" y="17072"/>
                  <a:pt x="17072" y="0"/>
                  <a:pt x="38100" y="0"/>
                </a:cubicBezTo>
                <a:close/>
              </a:path>
            </a:pathLst>
          </a:custGeom>
          <a:solidFill>
            <a:srgbClr val="FFFFFF"/>
          </a:solidFill>
          <a:ln/>
          <a:effectLst>
            <a:outerShdw sx="100000" sy="100000" kx="0" ky="0" algn="bl" rotWithShape="0" blurRad="28575" dist="9525" dir="5400000">
              <a:srgbClr val="000000">
                <a:alpha val="10196"/>
              </a:srgbClr>
            </a:outerShdw>
          </a:effectLst>
        </p:spPr>
      </p:sp>
      <p:sp>
        <p:nvSpPr>
          <p:cNvPr id="24" name="Shape 22"/>
          <p:cNvSpPr/>
          <p:nvPr/>
        </p:nvSpPr>
        <p:spPr>
          <a:xfrm>
            <a:off x="6172200" y="1047750"/>
            <a:ext cx="5638800" cy="38100"/>
          </a:xfrm>
          <a:custGeom>
            <a:avLst/>
            <a:gdLst/>
            <a:ahLst/>
            <a:cxnLst/>
            <a:rect l="l" t="t" r="r" b="b"/>
            <a:pathLst>
              <a:path w="5638800" h="38100">
                <a:moveTo>
                  <a:pt x="38100" y="0"/>
                </a:moveTo>
                <a:lnTo>
                  <a:pt x="5600700" y="0"/>
                </a:lnTo>
                <a:cubicBezTo>
                  <a:pt x="5621728" y="0"/>
                  <a:pt x="5638800" y="17072"/>
                  <a:pt x="5638800" y="38100"/>
                </a:cubicBezTo>
                <a:lnTo>
                  <a:pt x="5638800" y="38100"/>
                </a:lnTo>
                <a:lnTo>
                  <a:pt x="0" y="38100"/>
                </a:lnTo>
                <a:lnTo>
                  <a:pt x="0" y="38100"/>
                </a:lnTo>
                <a:cubicBezTo>
                  <a:pt x="0" y="17072"/>
                  <a:pt x="17072" y="0"/>
                  <a:pt x="38100" y="0"/>
                </a:cubicBezTo>
                <a:close/>
              </a:path>
            </a:pathLst>
          </a:custGeom>
          <a:solidFill>
            <a:srgbClr val="7A6250"/>
          </a:solidFill>
          <a:ln/>
        </p:spPr>
      </p:sp>
      <p:sp>
        <p:nvSpPr>
          <p:cNvPr id="25" name="Shape 23"/>
          <p:cNvSpPr/>
          <p:nvPr/>
        </p:nvSpPr>
        <p:spPr>
          <a:xfrm>
            <a:off x="6324600" y="1257300"/>
            <a:ext cx="238125" cy="190500"/>
          </a:xfrm>
          <a:custGeom>
            <a:avLst/>
            <a:gdLst/>
            <a:ahLst/>
            <a:cxnLst/>
            <a:rect l="l" t="t" r="r" b="b"/>
            <a:pathLst>
              <a:path w="238125" h="190500">
                <a:moveTo>
                  <a:pt x="43979" y="23217"/>
                </a:moveTo>
                <a:cubicBezTo>
                  <a:pt x="37765" y="21134"/>
                  <a:pt x="34379" y="14362"/>
                  <a:pt x="36463" y="8148"/>
                </a:cubicBezTo>
                <a:cubicBezTo>
                  <a:pt x="38546" y="1935"/>
                  <a:pt x="45281" y="-1451"/>
                  <a:pt x="51532" y="595"/>
                </a:cubicBezTo>
                <a:lnTo>
                  <a:pt x="93576" y="14622"/>
                </a:lnTo>
                <a:cubicBezTo>
                  <a:pt x="98747" y="5879"/>
                  <a:pt x="108310" y="0"/>
                  <a:pt x="119211" y="0"/>
                </a:cubicBezTo>
                <a:cubicBezTo>
                  <a:pt x="135657" y="0"/>
                  <a:pt x="148977" y="13320"/>
                  <a:pt x="148977" y="29766"/>
                </a:cubicBezTo>
                <a:cubicBezTo>
                  <a:pt x="148977" y="30882"/>
                  <a:pt x="148903" y="31961"/>
                  <a:pt x="148791" y="33040"/>
                </a:cubicBezTo>
                <a:lnTo>
                  <a:pt x="194407" y="48258"/>
                </a:lnTo>
                <a:cubicBezTo>
                  <a:pt x="200658" y="50341"/>
                  <a:pt x="204006" y="57076"/>
                  <a:pt x="201923" y="63326"/>
                </a:cubicBezTo>
                <a:cubicBezTo>
                  <a:pt x="199839" y="69577"/>
                  <a:pt x="193104" y="72926"/>
                  <a:pt x="186854" y="70842"/>
                </a:cubicBezTo>
                <a:lnTo>
                  <a:pt x="136438" y="54025"/>
                </a:lnTo>
                <a:cubicBezTo>
                  <a:pt x="134764" y="55215"/>
                  <a:pt x="132978" y="56220"/>
                  <a:pt x="131080" y="57076"/>
                </a:cubicBezTo>
                <a:lnTo>
                  <a:pt x="131080" y="178631"/>
                </a:lnTo>
                <a:cubicBezTo>
                  <a:pt x="131080" y="185217"/>
                  <a:pt x="125760" y="190537"/>
                  <a:pt x="119174" y="190537"/>
                </a:cubicBezTo>
                <a:lnTo>
                  <a:pt x="47737" y="190537"/>
                </a:lnTo>
                <a:cubicBezTo>
                  <a:pt x="41151" y="190537"/>
                  <a:pt x="35830" y="185217"/>
                  <a:pt x="35830" y="178631"/>
                </a:cubicBezTo>
                <a:cubicBezTo>
                  <a:pt x="35830" y="172045"/>
                  <a:pt x="41151" y="166725"/>
                  <a:pt x="47737" y="166725"/>
                </a:cubicBezTo>
                <a:lnTo>
                  <a:pt x="107268" y="166725"/>
                </a:lnTo>
                <a:lnTo>
                  <a:pt x="107268" y="57076"/>
                </a:lnTo>
                <a:cubicBezTo>
                  <a:pt x="99454" y="53653"/>
                  <a:pt x="93427" y="47030"/>
                  <a:pt x="90822" y="38844"/>
                </a:cubicBezTo>
                <a:lnTo>
                  <a:pt x="43979" y="23217"/>
                </a:lnTo>
                <a:close/>
                <a:moveTo>
                  <a:pt x="74712" y="107156"/>
                </a:moveTo>
                <a:lnTo>
                  <a:pt x="47737" y="60945"/>
                </a:lnTo>
                <a:lnTo>
                  <a:pt x="20799" y="107156"/>
                </a:lnTo>
                <a:lnTo>
                  <a:pt x="74712" y="107156"/>
                </a:lnTo>
                <a:close/>
                <a:moveTo>
                  <a:pt x="47774" y="142875"/>
                </a:moveTo>
                <a:cubicBezTo>
                  <a:pt x="24371" y="142875"/>
                  <a:pt x="4911" y="130225"/>
                  <a:pt x="893" y="113519"/>
                </a:cubicBezTo>
                <a:cubicBezTo>
                  <a:pt x="-74" y="109426"/>
                  <a:pt x="1265" y="105221"/>
                  <a:pt x="3386" y="101575"/>
                </a:cubicBezTo>
                <a:lnTo>
                  <a:pt x="38807" y="40853"/>
                </a:lnTo>
                <a:cubicBezTo>
                  <a:pt x="40667" y="37654"/>
                  <a:pt x="44090" y="35719"/>
                  <a:pt x="47774" y="35719"/>
                </a:cubicBezTo>
                <a:cubicBezTo>
                  <a:pt x="51457" y="35719"/>
                  <a:pt x="54880" y="37691"/>
                  <a:pt x="56741" y="40853"/>
                </a:cubicBezTo>
                <a:lnTo>
                  <a:pt x="92162" y="101575"/>
                </a:lnTo>
                <a:cubicBezTo>
                  <a:pt x="94283" y="105221"/>
                  <a:pt x="95622" y="109426"/>
                  <a:pt x="94655" y="113519"/>
                </a:cubicBezTo>
                <a:cubicBezTo>
                  <a:pt x="90636" y="130187"/>
                  <a:pt x="71177" y="142875"/>
                  <a:pt x="47774" y="142875"/>
                </a:cubicBezTo>
                <a:close/>
                <a:moveTo>
                  <a:pt x="190202" y="108570"/>
                </a:moveTo>
                <a:lnTo>
                  <a:pt x="163264" y="154781"/>
                </a:lnTo>
                <a:lnTo>
                  <a:pt x="217177" y="154781"/>
                </a:lnTo>
                <a:lnTo>
                  <a:pt x="190240" y="108570"/>
                </a:lnTo>
                <a:close/>
                <a:moveTo>
                  <a:pt x="237083" y="161144"/>
                </a:moveTo>
                <a:cubicBezTo>
                  <a:pt x="233065" y="177850"/>
                  <a:pt x="213606" y="190500"/>
                  <a:pt x="190202" y="190500"/>
                </a:cubicBezTo>
                <a:cubicBezTo>
                  <a:pt x="166799" y="190500"/>
                  <a:pt x="147340" y="177850"/>
                  <a:pt x="143321" y="161144"/>
                </a:cubicBezTo>
                <a:cubicBezTo>
                  <a:pt x="142354" y="157051"/>
                  <a:pt x="143694" y="152846"/>
                  <a:pt x="145814" y="149200"/>
                </a:cubicBezTo>
                <a:lnTo>
                  <a:pt x="181235" y="88478"/>
                </a:lnTo>
                <a:cubicBezTo>
                  <a:pt x="183096" y="85279"/>
                  <a:pt x="186519" y="83344"/>
                  <a:pt x="190202" y="83344"/>
                </a:cubicBezTo>
                <a:cubicBezTo>
                  <a:pt x="193886" y="83344"/>
                  <a:pt x="197309" y="85316"/>
                  <a:pt x="199169" y="88478"/>
                </a:cubicBezTo>
                <a:lnTo>
                  <a:pt x="234590" y="149200"/>
                </a:lnTo>
                <a:cubicBezTo>
                  <a:pt x="236711" y="152846"/>
                  <a:pt x="238051" y="157051"/>
                  <a:pt x="237083" y="161144"/>
                </a:cubicBezTo>
                <a:close/>
              </a:path>
            </a:pathLst>
          </a:custGeom>
          <a:solidFill>
            <a:srgbClr val="7A6250"/>
          </a:solidFill>
          <a:ln/>
        </p:spPr>
      </p:sp>
      <p:sp>
        <p:nvSpPr>
          <p:cNvPr id="26" name="Text 24"/>
          <p:cNvSpPr/>
          <p:nvPr/>
        </p:nvSpPr>
        <p:spPr>
          <a:xfrm>
            <a:off x="6562725" y="1219200"/>
            <a:ext cx="5191125" cy="266700"/>
          </a:xfrm>
          <a:prstGeom prst="rect">
            <a:avLst/>
          </a:prstGeom>
          <a:noFill/>
          <a:ln/>
        </p:spPr>
        <p:txBody>
          <a:bodyPr wrap="square" lIns="0" tIns="0" rIns="0" bIns="0" rtlCol="0" anchor="ctr"/>
          <a:lstStyle/>
          <a:p>
            <a:pPr>
              <a:lnSpc>
                <a:spcPct val="120000"/>
              </a:lnSpc>
            </a:pPr>
            <a:r>
              <a:rPr lang="en-US" sz="1500" b="1" dirty="0">
                <a:solidFill>
                  <a:srgbClr val="3A4D39"/>
                </a:solidFill>
                <a:latin typeface="Unna" pitchFamily="34" charset="0"/>
                <a:ea typeface="Unna" pitchFamily="34" charset="-122"/>
                <a:cs typeface="Unna" pitchFamily="34" charset="-120"/>
              </a:rPr>
              <a:t>Risk-Sharing Framework</a:t>
            </a:r>
            <a:endParaRPr lang="en-US" sz="1600" dirty="0"/>
          </a:p>
        </p:txBody>
      </p:sp>
      <p:sp>
        <p:nvSpPr>
          <p:cNvPr id="27" name="Shape 25"/>
          <p:cNvSpPr/>
          <p:nvPr/>
        </p:nvSpPr>
        <p:spPr>
          <a:xfrm>
            <a:off x="6324600" y="1600200"/>
            <a:ext cx="5334000" cy="1866900"/>
          </a:xfrm>
          <a:custGeom>
            <a:avLst/>
            <a:gdLst/>
            <a:ahLst/>
            <a:cxnLst/>
            <a:rect l="l" t="t" r="r" b="b"/>
            <a:pathLst>
              <a:path w="5334000" h="1866900">
                <a:moveTo>
                  <a:pt x="76207" y="0"/>
                </a:moveTo>
                <a:lnTo>
                  <a:pt x="5257793" y="0"/>
                </a:lnTo>
                <a:cubicBezTo>
                  <a:pt x="5299881" y="0"/>
                  <a:pt x="5334000" y="34119"/>
                  <a:pt x="5334000" y="76207"/>
                </a:cubicBezTo>
                <a:lnTo>
                  <a:pt x="5334000" y="1790693"/>
                </a:lnTo>
                <a:cubicBezTo>
                  <a:pt x="5334000" y="1832781"/>
                  <a:pt x="5299881" y="1866900"/>
                  <a:pt x="5257793" y="1866900"/>
                </a:cubicBezTo>
                <a:lnTo>
                  <a:pt x="76207" y="1866900"/>
                </a:lnTo>
                <a:cubicBezTo>
                  <a:pt x="34119" y="1866900"/>
                  <a:pt x="0" y="1832781"/>
                  <a:pt x="0" y="1790693"/>
                </a:cubicBezTo>
                <a:lnTo>
                  <a:pt x="0" y="76207"/>
                </a:lnTo>
                <a:cubicBezTo>
                  <a:pt x="0" y="34147"/>
                  <a:pt x="34147" y="0"/>
                  <a:pt x="76207" y="0"/>
                </a:cubicBezTo>
                <a:close/>
              </a:path>
            </a:pathLst>
          </a:custGeom>
          <a:solidFill>
            <a:srgbClr val="F8F6F2"/>
          </a:solidFill>
          <a:ln/>
        </p:spPr>
      </p:sp>
      <p:sp>
        <p:nvSpPr>
          <p:cNvPr id="28" name="Text 26"/>
          <p:cNvSpPr/>
          <p:nvPr/>
        </p:nvSpPr>
        <p:spPr>
          <a:xfrm>
            <a:off x="6438900" y="1714500"/>
            <a:ext cx="5181600" cy="228600"/>
          </a:xfrm>
          <a:prstGeom prst="rect">
            <a:avLst/>
          </a:prstGeom>
          <a:noFill/>
          <a:ln/>
        </p:spPr>
        <p:txBody>
          <a:bodyPr wrap="square" lIns="0" tIns="0" rIns="0" bIns="0" rtlCol="0" anchor="ctr"/>
          <a:lstStyle/>
          <a:p>
            <a:pPr>
              <a:lnSpc>
                <a:spcPct val="130000"/>
              </a:lnSpc>
            </a:pPr>
            <a:r>
              <a:rPr lang="en-US" sz="1200" b="1" dirty="0">
                <a:solidFill>
                  <a:srgbClr val="3A4D39"/>
                </a:solidFill>
                <a:latin typeface="Unna" pitchFamily="34" charset="0"/>
                <a:ea typeface="Unna" pitchFamily="34" charset="-122"/>
                <a:cs typeface="Unna" pitchFamily="34" charset="-120"/>
              </a:rPr>
              <a:t>Loss Distribution</a:t>
            </a:r>
            <a:endParaRPr lang="en-US" sz="1600" dirty="0"/>
          </a:p>
        </p:txBody>
      </p:sp>
      <p:sp>
        <p:nvSpPr>
          <p:cNvPr id="29" name="Text 27"/>
          <p:cNvSpPr/>
          <p:nvPr/>
        </p:nvSpPr>
        <p:spPr>
          <a:xfrm>
            <a:off x="6438900" y="2019300"/>
            <a:ext cx="5181600" cy="228600"/>
          </a:xfrm>
          <a:prstGeom prst="rect">
            <a:avLst/>
          </a:prstGeom>
          <a:noFill/>
          <a:ln/>
        </p:spPr>
        <p:txBody>
          <a:bodyPr wrap="square" lIns="0" tIns="0" rIns="0" bIns="0" rtlCol="0" anchor="ctr"/>
          <a:lstStyle/>
          <a:p>
            <a:pPr>
              <a:lnSpc>
                <a:spcPct val="130000"/>
              </a:lnSpc>
            </a:pPr>
            <a:r>
              <a:rPr lang="en-US" sz="1200" dirty="0">
                <a:solidFill>
                  <a:srgbClr val="2C2C2C"/>
                </a:solidFill>
                <a:latin typeface="Quattrocento Sans" pitchFamily="34" charset="0"/>
                <a:ea typeface="Quattrocento Sans" pitchFamily="34" charset="-122"/>
                <a:cs typeface="Quattrocento Sans" pitchFamily="34" charset="-120"/>
              </a:rPr>
              <a:t>All partners bear losses proportional to their ownership percentage in case of:</a:t>
            </a:r>
            <a:endParaRPr lang="en-US" sz="1600" dirty="0"/>
          </a:p>
        </p:txBody>
      </p:sp>
      <p:sp>
        <p:nvSpPr>
          <p:cNvPr id="30" name="Text 28"/>
          <p:cNvSpPr/>
          <p:nvPr/>
        </p:nvSpPr>
        <p:spPr>
          <a:xfrm>
            <a:off x="6438900" y="2324100"/>
            <a:ext cx="5181600" cy="228600"/>
          </a:xfrm>
          <a:prstGeom prst="rect">
            <a:avLst/>
          </a:prstGeom>
          <a:noFill/>
          <a:ln/>
        </p:spPr>
        <p:txBody>
          <a:bodyPr wrap="square" lIns="0" tIns="0" rIns="0" bIns="0" rtlCol="0" anchor="ctr"/>
          <a:lstStyle/>
          <a:p>
            <a:pPr>
              <a:lnSpc>
                <a:spcPct val="130000"/>
              </a:lnSpc>
            </a:pPr>
            <a:r>
              <a:rPr lang="en-US" sz="1200" dirty="0">
                <a:solidFill>
                  <a:srgbClr val="2C2C2C"/>
                </a:solidFill>
                <a:latin typeface="Quattrocento Sans" pitchFamily="34" charset="0"/>
                <a:ea typeface="Quattrocento Sans" pitchFamily="34" charset="-122"/>
                <a:cs typeface="Quattrocento Sans" pitchFamily="34" charset="-120"/>
              </a:rPr>
              <a:t>• Crop failure or significant yield reduction</a:t>
            </a:r>
            <a:endParaRPr lang="en-US" sz="1600" dirty="0"/>
          </a:p>
        </p:txBody>
      </p:sp>
      <p:sp>
        <p:nvSpPr>
          <p:cNvPr id="31" name="Text 29"/>
          <p:cNvSpPr/>
          <p:nvPr/>
        </p:nvSpPr>
        <p:spPr>
          <a:xfrm>
            <a:off x="6438900" y="2590800"/>
            <a:ext cx="5181600" cy="228600"/>
          </a:xfrm>
          <a:prstGeom prst="rect">
            <a:avLst/>
          </a:prstGeom>
          <a:noFill/>
          <a:ln/>
        </p:spPr>
        <p:txBody>
          <a:bodyPr wrap="square" lIns="0" tIns="0" rIns="0" bIns="0" rtlCol="0" anchor="ctr"/>
          <a:lstStyle/>
          <a:p>
            <a:pPr>
              <a:lnSpc>
                <a:spcPct val="130000"/>
              </a:lnSpc>
            </a:pPr>
            <a:r>
              <a:rPr lang="en-US" sz="1200" dirty="0">
                <a:solidFill>
                  <a:srgbClr val="2C2C2C"/>
                </a:solidFill>
                <a:latin typeface="Quattrocento Sans" pitchFamily="34" charset="0"/>
                <a:ea typeface="Quattrocento Sans" pitchFamily="34" charset="-122"/>
                <a:cs typeface="Quattrocento Sans" pitchFamily="34" charset="-120"/>
              </a:rPr>
              <a:t>• Market price collapse affecting revenue</a:t>
            </a:r>
            <a:endParaRPr lang="en-US" sz="1600" dirty="0"/>
          </a:p>
        </p:txBody>
      </p:sp>
      <p:sp>
        <p:nvSpPr>
          <p:cNvPr id="32" name="Text 30"/>
          <p:cNvSpPr/>
          <p:nvPr/>
        </p:nvSpPr>
        <p:spPr>
          <a:xfrm>
            <a:off x="6438900" y="2857500"/>
            <a:ext cx="5181600" cy="228600"/>
          </a:xfrm>
          <a:prstGeom prst="rect">
            <a:avLst/>
          </a:prstGeom>
          <a:noFill/>
          <a:ln/>
        </p:spPr>
        <p:txBody>
          <a:bodyPr wrap="square" lIns="0" tIns="0" rIns="0" bIns="0" rtlCol="0" anchor="ctr"/>
          <a:lstStyle/>
          <a:p>
            <a:pPr>
              <a:lnSpc>
                <a:spcPct val="130000"/>
              </a:lnSpc>
            </a:pPr>
            <a:r>
              <a:rPr lang="en-US" sz="1200" dirty="0">
                <a:solidFill>
                  <a:srgbClr val="2C2C2C"/>
                </a:solidFill>
                <a:latin typeface="Quattrocento Sans" pitchFamily="34" charset="0"/>
                <a:ea typeface="Quattrocento Sans" pitchFamily="34" charset="-122"/>
                <a:cs typeface="Quattrocento Sans" pitchFamily="34" charset="-120"/>
              </a:rPr>
              <a:t>• Force majeure events destroying production</a:t>
            </a:r>
            <a:endParaRPr lang="en-US" sz="1600" dirty="0"/>
          </a:p>
        </p:txBody>
      </p:sp>
      <p:sp>
        <p:nvSpPr>
          <p:cNvPr id="33" name="Text 31"/>
          <p:cNvSpPr/>
          <p:nvPr/>
        </p:nvSpPr>
        <p:spPr>
          <a:xfrm>
            <a:off x="6438900" y="3124200"/>
            <a:ext cx="5181600" cy="228600"/>
          </a:xfrm>
          <a:prstGeom prst="rect">
            <a:avLst/>
          </a:prstGeom>
          <a:noFill/>
          <a:ln/>
        </p:spPr>
        <p:txBody>
          <a:bodyPr wrap="square" lIns="0" tIns="0" rIns="0" bIns="0" rtlCol="0" anchor="ctr"/>
          <a:lstStyle/>
          <a:p>
            <a:pPr>
              <a:lnSpc>
                <a:spcPct val="130000"/>
              </a:lnSpc>
            </a:pPr>
            <a:r>
              <a:rPr lang="en-US" sz="1200" dirty="0">
                <a:solidFill>
                  <a:srgbClr val="2C2C2C"/>
                </a:solidFill>
                <a:latin typeface="Quattrocento Sans" pitchFamily="34" charset="0"/>
                <a:ea typeface="Quattrocento Sans" pitchFamily="34" charset="-122"/>
                <a:cs typeface="Quattrocento Sans" pitchFamily="34" charset="-120"/>
              </a:rPr>
              <a:t>• Unforeseen operational disasters</a:t>
            </a:r>
            <a:endParaRPr lang="en-US" sz="1600" dirty="0"/>
          </a:p>
        </p:txBody>
      </p:sp>
      <p:sp>
        <p:nvSpPr>
          <p:cNvPr id="34" name="Shape 32"/>
          <p:cNvSpPr/>
          <p:nvPr/>
        </p:nvSpPr>
        <p:spPr>
          <a:xfrm>
            <a:off x="6324600" y="3581400"/>
            <a:ext cx="5334000" cy="990600"/>
          </a:xfrm>
          <a:custGeom>
            <a:avLst/>
            <a:gdLst/>
            <a:ahLst/>
            <a:cxnLst/>
            <a:rect l="l" t="t" r="r" b="b"/>
            <a:pathLst>
              <a:path w="5334000" h="990600">
                <a:moveTo>
                  <a:pt x="76197" y="0"/>
                </a:moveTo>
                <a:lnTo>
                  <a:pt x="5257803" y="0"/>
                </a:lnTo>
                <a:cubicBezTo>
                  <a:pt x="5299885" y="0"/>
                  <a:pt x="5334000" y="34115"/>
                  <a:pt x="5334000" y="76197"/>
                </a:cubicBezTo>
                <a:lnTo>
                  <a:pt x="5334000" y="914403"/>
                </a:lnTo>
                <a:cubicBezTo>
                  <a:pt x="5334000" y="956485"/>
                  <a:pt x="5299885" y="990600"/>
                  <a:pt x="5257803" y="990600"/>
                </a:cubicBezTo>
                <a:lnTo>
                  <a:pt x="76197" y="990600"/>
                </a:lnTo>
                <a:cubicBezTo>
                  <a:pt x="34115" y="990600"/>
                  <a:pt x="0" y="956485"/>
                  <a:pt x="0" y="914403"/>
                </a:cubicBezTo>
                <a:lnTo>
                  <a:pt x="0" y="76197"/>
                </a:lnTo>
                <a:cubicBezTo>
                  <a:pt x="0" y="34143"/>
                  <a:pt x="34143" y="0"/>
                  <a:pt x="76197" y="0"/>
                </a:cubicBezTo>
                <a:close/>
              </a:path>
            </a:pathLst>
          </a:custGeom>
          <a:solidFill>
            <a:srgbClr val="F8F6F2"/>
          </a:solidFill>
          <a:ln/>
        </p:spPr>
      </p:sp>
      <p:sp>
        <p:nvSpPr>
          <p:cNvPr id="35" name="Text 33"/>
          <p:cNvSpPr/>
          <p:nvPr/>
        </p:nvSpPr>
        <p:spPr>
          <a:xfrm>
            <a:off x="6438900" y="3695700"/>
            <a:ext cx="5181600" cy="228600"/>
          </a:xfrm>
          <a:prstGeom prst="rect">
            <a:avLst/>
          </a:prstGeom>
          <a:noFill/>
          <a:ln/>
        </p:spPr>
        <p:txBody>
          <a:bodyPr wrap="square" lIns="0" tIns="0" rIns="0" bIns="0" rtlCol="0" anchor="ctr"/>
          <a:lstStyle/>
          <a:p>
            <a:pPr>
              <a:lnSpc>
                <a:spcPct val="130000"/>
              </a:lnSpc>
            </a:pPr>
            <a:r>
              <a:rPr lang="en-US" sz="1200" b="1" dirty="0">
                <a:solidFill>
                  <a:srgbClr val="3A4D39"/>
                </a:solidFill>
                <a:latin typeface="Unna" pitchFamily="34" charset="0"/>
                <a:ea typeface="Unna" pitchFamily="34" charset="-122"/>
                <a:cs typeface="Unna" pitchFamily="34" charset="-120"/>
              </a:rPr>
              <a:t>No Personal Guarantees</a:t>
            </a:r>
            <a:endParaRPr lang="en-US" sz="1600" dirty="0"/>
          </a:p>
        </p:txBody>
      </p:sp>
      <p:sp>
        <p:nvSpPr>
          <p:cNvPr id="36" name="Text 34"/>
          <p:cNvSpPr/>
          <p:nvPr/>
        </p:nvSpPr>
        <p:spPr>
          <a:xfrm>
            <a:off x="6438900" y="4000500"/>
            <a:ext cx="5181600" cy="457200"/>
          </a:xfrm>
          <a:prstGeom prst="rect">
            <a:avLst/>
          </a:prstGeom>
          <a:noFill/>
          <a:ln/>
        </p:spPr>
        <p:txBody>
          <a:bodyPr wrap="square" lIns="0" tIns="0" rIns="0" bIns="0" rtlCol="0" anchor="ctr"/>
          <a:lstStyle/>
          <a:p>
            <a:pPr>
              <a:lnSpc>
                <a:spcPct val="130000"/>
              </a:lnSpc>
            </a:pPr>
            <a:r>
              <a:rPr lang="en-US" sz="1200" dirty="0">
                <a:solidFill>
                  <a:srgbClr val="2C2C2C"/>
                </a:solidFill>
                <a:latin typeface="Quattrocento Sans" pitchFamily="34" charset="0"/>
                <a:ea typeface="Quattrocento Sans" pitchFamily="34" charset="-122"/>
                <a:cs typeface="Quattrocento Sans" pitchFamily="34" charset="-120"/>
              </a:rPr>
              <a:t>Individual partners are not personally liable beyond their investment contribution. Maximum loss limited to amount invested.</a:t>
            </a:r>
            <a:endParaRPr lang="en-US" sz="1600" dirty="0"/>
          </a:p>
        </p:txBody>
      </p:sp>
      <p:sp>
        <p:nvSpPr>
          <p:cNvPr id="37" name="Shape 35"/>
          <p:cNvSpPr/>
          <p:nvPr/>
        </p:nvSpPr>
        <p:spPr>
          <a:xfrm>
            <a:off x="381000" y="4991100"/>
            <a:ext cx="3733800" cy="1562100"/>
          </a:xfrm>
          <a:custGeom>
            <a:avLst/>
            <a:gdLst/>
            <a:ahLst/>
            <a:cxnLst/>
            <a:rect l="l" t="t" r="r" b="b"/>
            <a:pathLst>
              <a:path w="3733800" h="1562100">
                <a:moveTo>
                  <a:pt x="76199" y="0"/>
                </a:moveTo>
                <a:lnTo>
                  <a:pt x="3657601" y="0"/>
                </a:lnTo>
                <a:cubicBezTo>
                  <a:pt x="3699684" y="0"/>
                  <a:pt x="3733800" y="34116"/>
                  <a:pt x="3733800" y="76199"/>
                </a:cubicBezTo>
                <a:lnTo>
                  <a:pt x="3733800" y="1485901"/>
                </a:lnTo>
                <a:cubicBezTo>
                  <a:pt x="3733800" y="1527984"/>
                  <a:pt x="3699684" y="1562100"/>
                  <a:pt x="3657601" y="1562100"/>
                </a:cubicBezTo>
                <a:lnTo>
                  <a:pt x="76199" y="1562100"/>
                </a:lnTo>
                <a:cubicBezTo>
                  <a:pt x="34116" y="1562100"/>
                  <a:pt x="0" y="1527984"/>
                  <a:pt x="0" y="1485901"/>
                </a:cubicBezTo>
                <a:lnTo>
                  <a:pt x="0" y="76199"/>
                </a:lnTo>
                <a:cubicBezTo>
                  <a:pt x="0" y="34144"/>
                  <a:pt x="34144" y="0"/>
                  <a:pt x="76199" y="0"/>
                </a:cubicBezTo>
                <a:close/>
              </a:path>
            </a:pathLst>
          </a:custGeom>
          <a:solidFill>
            <a:srgbClr val="3A4D39"/>
          </a:solidFill>
          <a:ln/>
        </p:spPr>
      </p:sp>
      <p:sp>
        <p:nvSpPr>
          <p:cNvPr id="38" name="Shape 36"/>
          <p:cNvSpPr/>
          <p:nvPr/>
        </p:nvSpPr>
        <p:spPr>
          <a:xfrm>
            <a:off x="519113" y="5133975"/>
            <a:ext cx="171450" cy="171450"/>
          </a:xfrm>
          <a:custGeom>
            <a:avLst/>
            <a:gdLst/>
            <a:ahLst/>
            <a:cxnLst/>
            <a:rect l="l" t="t" r="r" b="b"/>
            <a:pathLst>
              <a:path w="171450" h="171450">
                <a:moveTo>
                  <a:pt x="85725" y="0"/>
                </a:moveTo>
                <a:cubicBezTo>
                  <a:pt x="87265" y="0"/>
                  <a:pt x="88806" y="335"/>
                  <a:pt x="90212" y="971"/>
                </a:cubicBezTo>
                <a:lnTo>
                  <a:pt x="153300" y="27727"/>
                </a:lnTo>
                <a:cubicBezTo>
                  <a:pt x="160667" y="30841"/>
                  <a:pt x="166159" y="38107"/>
                  <a:pt x="166126" y="46881"/>
                </a:cubicBezTo>
                <a:cubicBezTo>
                  <a:pt x="165958" y="80099"/>
                  <a:pt x="152296" y="140877"/>
                  <a:pt x="94599" y="168503"/>
                </a:cubicBezTo>
                <a:cubicBezTo>
                  <a:pt x="89007" y="171182"/>
                  <a:pt x="82510" y="171182"/>
                  <a:pt x="76918" y="168503"/>
                </a:cubicBezTo>
                <a:cubicBezTo>
                  <a:pt x="19188" y="140877"/>
                  <a:pt x="5559" y="80099"/>
                  <a:pt x="5391" y="46881"/>
                </a:cubicBezTo>
                <a:cubicBezTo>
                  <a:pt x="5358" y="38107"/>
                  <a:pt x="10850" y="30841"/>
                  <a:pt x="18217" y="27727"/>
                </a:cubicBezTo>
                <a:lnTo>
                  <a:pt x="81271" y="971"/>
                </a:lnTo>
                <a:cubicBezTo>
                  <a:pt x="82678" y="335"/>
                  <a:pt x="84185" y="0"/>
                  <a:pt x="85725" y="0"/>
                </a:cubicBezTo>
                <a:close/>
                <a:moveTo>
                  <a:pt x="85725" y="22369"/>
                </a:moveTo>
                <a:lnTo>
                  <a:pt x="85725" y="148981"/>
                </a:lnTo>
                <a:cubicBezTo>
                  <a:pt x="131936" y="126612"/>
                  <a:pt x="144360" y="77052"/>
                  <a:pt x="144661" y="47383"/>
                </a:cubicBezTo>
                <a:lnTo>
                  <a:pt x="85725" y="22402"/>
                </a:lnTo>
                <a:lnTo>
                  <a:pt x="85725" y="22402"/>
                </a:lnTo>
                <a:close/>
              </a:path>
            </a:pathLst>
          </a:custGeom>
          <a:solidFill>
            <a:srgbClr val="BCA37F"/>
          </a:solidFill>
          <a:ln/>
        </p:spPr>
      </p:sp>
      <p:sp>
        <p:nvSpPr>
          <p:cNvPr id="39" name="Text 37"/>
          <p:cNvSpPr/>
          <p:nvPr/>
        </p:nvSpPr>
        <p:spPr>
          <a:xfrm>
            <a:off x="785813" y="5105400"/>
            <a:ext cx="1666875" cy="228600"/>
          </a:xfrm>
          <a:prstGeom prst="rect">
            <a:avLst/>
          </a:prstGeom>
          <a:noFill/>
          <a:ln/>
        </p:spPr>
        <p:txBody>
          <a:bodyPr wrap="square" lIns="0" tIns="0" rIns="0" bIns="0" rtlCol="0" anchor="ctr"/>
          <a:lstStyle/>
          <a:p>
            <a:pPr>
              <a:lnSpc>
                <a:spcPct val="130000"/>
              </a:lnSpc>
            </a:pPr>
            <a:r>
              <a:rPr lang="en-US" sz="1200" b="1" dirty="0">
                <a:solidFill>
                  <a:srgbClr val="F8F6F2"/>
                </a:solidFill>
                <a:latin typeface="Unna" pitchFamily="34" charset="0"/>
                <a:ea typeface="Unna" pitchFamily="34" charset="-122"/>
                <a:cs typeface="Unna" pitchFamily="34" charset="-120"/>
              </a:rPr>
              <a:t>Insurance Requirements</a:t>
            </a:r>
            <a:endParaRPr lang="en-US" sz="1600" dirty="0"/>
          </a:p>
        </p:txBody>
      </p:sp>
      <p:sp>
        <p:nvSpPr>
          <p:cNvPr id="40" name="Text 38"/>
          <p:cNvSpPr/>
          <p:nvPr/>
        </p:nvSpPr>
        <p:spPr>
          <a:xfrm>
            <a:off x="495300" y="5410200"/>
            <a:ext cx="3581400" cy="228600"/>
          </a:xfrm>
          <a:prstGeom prst="rect">
            <a:avLst/>
          </a:prstGeom>
          <a:noFill/>
          <a:ln/>
        </p:spPr>
        <p:txBody>
          <a:bodyPr wrap="square" lIns="0" tIns="0" rIns="0" bIns="0" rtlCol="0" anchor="ctr"/>
          <a:lstStyle/>
          <a:p>
            <a:pPr>
              <a:lnSpc>
                <a:spcPct val="130000"/>
              </a:lnSpc>
            </a:pPr>
            <a:r>
              <a:rPr lang="en-US" sz="1200" dirty="0">
                <a:solidFill>
                  <a:srgbClr val="F8F6F2"/>
                </a:solidFill>
                <a:latin typeface="Quattrocento Sans" pitchFamily="34" charset="0"/>
                <a:ea typeface="Quattrocento Sans" pitchFamily="34" charset="-122"/>
                <a:cs typeface="Quattrocento Sans" pitchFamily="34" charset="-120"/>
              </a:rPr>
              <a:t>• Crop insurance for major perils</a:t>
            </a:r>
            <a:endParaRPr lang="en-US" sz="1600" dirty="0"/>
          </a:p>
        </p:txBody>
      </p:sp>
      <p:sp>
        <p:nvSpPr>
          <p:cNvPr id="41" name="Text 39"/>
          <p:cNvSpPr/>
          <p:nvPr/>
        </p:nvSpPr>
        <p:spPr>
          <a:xfrm>
            <a:off x="495300" y="5676900"/>
            <a:ext cx="3581400" cy="228600"/>
          </a:xfrm>
          <a:prstGeom prst="rect">
            <a:avLst/>
          </a:prstGeom>
          <a:noFill/>
          <a:ln/>
        </p:spPr>
        <p:txBody>
          <a:bodyPr wrap="square" lIns="0" tIns="0" rIns="0" bIns="0" rtlCol="0" anchor="ctr"/>
          <a:lstStyle/>
          <a:p>
            <a:pPr>
              <a:lnSpc>
                <a:spcPct val="130000"/>
              </a:lnSpc>
            </a:pPr>
            <a:r>
              <a:rPr lang="en-US" sz="1200" dirty="0">
                <a:solidFill>
                  <a:srgbClr val="F8F6F2"/>
                </a:solidFill>
                <a:latin typeface="Quattrocento Sans" pitchFamily="34" charset="0"/>
                <a:ea typeface="Quattrocento Sans" pitchFamily="34" charset="-122"/>
                <a:cs typeface="Quattrocento Sans" pitchFamily="34" charset="-120"/>
              </a:rPr>
              <a:t>• General liability coverage</a:t>
            </a:r>
            <a:endParaRPr lang="en-US" sz="1600" dirty="0"/>
          </a:p>
        </p:txBody>
      </p:sp>
      <p:sp>
        <p:nvSpPr>
          <p:cNvPr id="42" name="Text 40"/>
          <p:cNvSpPr/>
          <p:nvPr/>
        </p:nvSpPr>
        <p:spPr>
          <a:xfrm>
            <a:off x="495300" y="5943600"/>
            <a:ext cx="3581400" cy="228600"/>
          </a:xfrm>
          <a:prstGeom prst="rect">
            <a:avLst/>
          </a:prstGeom>
          <a:noFill/>
          <a:ln/>
        </p:spPr>
        <p:txBody>
          <a:bodyPr wrap="square" lIns="0" tIns="0" rIns="0" bIns="0" rtlCol="0" anchor="ctr"/>
          <a:lstStyle/>
          <a:p>
            <a:pPr>
              <a:lnSpc>
                <a:spcPct val="130000"/>
              </a:lnSpc>
            </a:pPr>
            <a:r>
              <a:rPr lang="en-US" sz="1200" dirty="0">
                <a:solidFill>
                  <a:srgbClr val="F8F6F2"/>
                </a:solidFill>
                <a:latin typeface="Quattrocento Sans" pitchFamily="34" charset="0"/>
                <a:ea typeface="Quattrocento Sans" pitchFamily="34" charset="-122"/>
                <a:cs typeface="Quattrocento Sans" pitchFamily="34" charset="-120"/>
              </a:rPr>
              <a:t>• Property insurance for facilities</a:t>
            </a:r>
            <a:endParaRPr lang="en-US" sz="1600" dirty="0"/>
          </a:p>
        </p:txBody>
      </p:sp>
      <p:sp>
        <p:nvSpPr>
          <p:cNvPr id="43" name="Text 41"/>
          <p:cNvSpPr/>
          <p:nvPr/>
        </p:nvSpPr>
        <p:spPr>
          <a:xfrm>
            <a:off x="495300" y="6210300"/>
            <a:ext cx="3581400" cy="228600"/>
          </a:xfrm>
          <a:prstGeom prst="rect">
            <a:avLst/>
          </a:prstGeom>
          <a:noFill/>
          <a:ln/>
        </p:spPr>
        <p:txBody>
          <a:bodyPr wrap="square" lIns="0" tIns="0" rIns="0" bIns="0" rtlCol="0" anchor="ctr"/>
          <a:lstStyle/>
          <a:p>
            <a:pPr>
              <a:lnSpc>
                <a:spcPct val="130000"/>
              </a:lnSpc>
            </a:pPr>
            <a:r>
              <a:rPr lang="en-US" sz="1200" dirty="0">
                <a:solidFill>
                  <a:srgbClr val="F8F6F2"/>
                </a:solidFill>
                <a:latin typeface="Quattrocento Sans" pitchFamily="34" charset="0"/>
                <a:ea typeface="Quattrocento Sans" pitchFamily="34" charset="-122"/>
                <a:cs typeface="Quattrocento Sans" pitchFamily="34" charset="-120"/>
              </a:rPr>
              <a:t>• Workers' compensation for staff</a:t>
            </a:r>
            <a:endParaRPr lang="en-US" sz="1600" dirty="0"/>
          </a:p>
        </p:txBody>
      </p:sp>
      <p:sp>
        <p:nvSpPr>
          <p:cNvPr id="44" name="Shape 42"/>
          <p:cNvSpPr/>
          <p:nvPr/>
        </p:nvSpPr>
        <p:spPr>
          <a:xfrm>
            <a:off x="4229100" y="4991100"/>
            <a:ext cx="3733800" cy="1562100"/>
          </a:xfrm>
          <a:custGeom>
            <a:avLst/>
            <a:gdLst/>
            <a:ahLst/>
            <a:cxnLst/>
            <a:rect l="l" t="t" r="r" b="b"/>
            <a:pathLst>
              <a:path w="3733800" h="1562100">
                <a:moveTo>
                  <a:pt x="76199" y="0"/>
                </a:moveTo>
                <a:lnTo>
                  <a:pt x="3657601" y="0"/>
                </a:lnTo>
                <a:cubicBezTo>
                  <a:pt x="3699684" y="0"/>
                  <a:pt x="3733800" y="34116"/>
                  <a:pt x="3733800" y="76199"/>
                </a:cubicBezTo>
                <a:lnTo>
                  <a:pt x="3733800" y="1485901"/>
                </a:lnTo>
                <a:cubicBezTo>
                  <a:pt x="3733800" y="1527984"/>
                  <a:pt x="3699684" y="1562100"/>
                  <a:pt x="3657601" y="1562100"/>
                </a:cubicBezTo>
                <a:lnTo>
                  <a:pt x="76199" y="1562100"/>
                </a:lnTo>
                <a:cubicBezTo>
                  <a:pt x="34116" y="1562100"/>
                  <a:pt x="0" y="1527984"/>
                  <a:pt x="0" y="1485901"/>
                </a:cubicBezTo>
                <a:lnTo>
                  <a:pt x="0" y="76199"/>
                </a:lnTo>
                <a:cubicBezTo>
                  <a:pt x="0" y="34144"/>
                  <a:pt x="34144" y="0"/>
                  <a:pt x="76199" y="0"/>
                </a:cubicBezTo>
                <a:close/>
              </a:path>
            </a:pathLst>
          </a:custGeom>
          <a:solidFill>
            <a:srgbClr val="7A6250"/>
          </a:solidFill>
          <a:ln/>
        </p:spPr>
      </p:sp>
      <p:sp>
        <p:nvSpPr>
          <p:cNvPr id="45" name="Shape 43"/>
          <p:cNvSpPr/>
          <p:nvPr/>
        </p:nvSpPr>
        <p:spPr>
          <a:xfrm>
            <a:off x="4356497" y="5133975"/>
            <a:ext cx="192881" cy="171450"/>
          </a:xfrm>
          <a:custGeom>
            <a:avLst/>
            <a:gdLst/>
            <a:ahLst/>
            <a:cxnLst/>
            <a:rect l="l" t="t" r="r" b="b"/>
            <a:pathLst>
              <a:path w="192881" h="171450">
                <a:moveTo>
                  <a:pt x="56793" y="51368"/>
                </a:moveTo>
                <a:lnTo>
                  <a:pt x="50531" y="45106"/>
                </a:lnTo>
                <a:cubicBezTo>
                  <a:pt x="46345" y="40920"/>
                  <a:pt x="46345" y="34123"/>
                  <a:pt x="50531" y="29937"/>
                </a:cubicBezTo>
                <a:lnTo>
                  <a:pt x="88940" y="-8506"/>
                </a:lnTo>
                <a:cubicBezTo>
                  <a:pt x="93125" y="-12691"/>
                  <a:pt x="99923" y="-12691"/>
                  <a:pt x="104109" y="-8506"/>
                </a:cubicBezTo>
                <a:lnTo>
                  <a:pt x="110371" y="-2210"/>
                </a:lnTo>
                <a:cubicBezTo>
                  <a:pt x="114557" y="1976"/>
                  <a:pt x="114557" y="8773"/>
                  <a:pt x="110371" y="12959"/>
                </a:cubicBezTo>
                <a:lnTo>
                  <a:pt x="71962" y="51368"/>
                </a:lnTo>
                <a:cubicBezTo>
                  <a:pt x="67776" y="55554"/>
                  <a:pt x="60979" y="55554"/>
                  <a:pt x="56793" y="51368"/>
                </a:cubicBezTo>
                <a:close/>
                <a:moveTo>
                  <a:pt x="92422" y="70891"/>
                </a:moveTo>
                <a:lnTo>
                  <a:pt x="81908" y="60376"/>
                </a:lnTo>
                <a:lnTo>
                  <a:pt x="119412" y="22871"/>
                </a:lnTo>
                <a:lnTo>
                  <a:pt x="159395" y="62854"/>
                </a:lnTo>
                <a:lnTo>
                  <a:pt x="121890" y="100359"/>
                </a:lnTo>
                <a:lnTo>
                  <a:pt x="111376" y="89844"/>
                </a:lnTo>
                <a:lnTo>
                  <a:pt x="33687" y="167532"/>
                </a:lnTo>
                <a:cubicBezTo>
                  <a:pt x="28463" y="172756"/>
                  <a:pt x="19991" y="172756"/>
                  <a:pt x="14734" y="167532"/>
                </a:cubicBezTo>
                <a:cubicBezTo>
                  <a:pt x="9477" y="162308"/>
                  <a:pt x="9510" y="153836"/>
                  <a:pt x="14734" y="148579"/>
                </a:cubicBezTo>
                <a:lnTo>
                  <a:pt x="92422" y="70891"/>
                </a:lnTo>
                <a:close/>
                <a:moveTo>
                  <a:pt x="130898" y="125440"/>
                </a:moveTo>
                <a:cubicBezTo>
                  <a:pt x="126712" y="121254"/>
                  <a:pt x="126712" y="114456"/>
                  <a:pt x="130898" y="110270"/>
                </a:cubicBezTo>
                <a:lnTo>
                  <a:pt x="169307" y="71862"/>
                </a:lnTo>
                <a:cubicBezTo>
                  <a:pt x="173493" y="67676"/>
                  <a:pt x="180290" y="67676"/>
                  <a:pt x="184476" y="71862"/>
                </a:cubicBezTo>
                <a:lnTo>
                  <a:pt x="190738" y="78124"/>
                </a:lnTo>
                <a:cubicBezTo>
                  <a:pt x="194924" y="82309"/>
                  <a:pt x="194924" y="89107"/>
                  <a:pt x="190738" y="93293"/>
                </a:cubicBezTo>
                <a:lnTo>
                  <a:pt x="152329" y="131735"/>
                </a:lnTo>
                <a:cubicBezTo>
                  <a:pt x="148144" y="135921"/>
                  <a:pt x="141346" y="135921"/>
                  <a:pt x="137160" y="131735"/>
                </a:cubicBezTo>
                <a:lnTo>
                  <a:pt x="130898" y="125473"/>
                </a:lnTo>
                <a:close/>
              </a:path>
            </a:pathLst>
          </a:custGeom>
          <a:solidFill>
            <a:srgbClr val="BCA37F"/>
          </a:solidFill>
          <a:ln/>
        </p:spPr>
      </p:sp>
      <p:sp>
        <p:nvSpPr>
          <p:cNvPr id="46" name="Text 44"/>
          <p:cNvSpPr/>
          <p:nvPr/>
        </p:nvSpPr>
        <p:spPr>
          <a:xfrm>
            <a:off x="4633913" y="5105400"/>
            <a:ext cx="1390650" cy="228600"/>
          </a:xfrm>
          <a:prstGeom prst="rect">
            <a:avLst/>
          </a:prstGeom>
          <a:noFill/>
          <a:ln/>
        </p:spPr>
        <p:txBody>
          <a:bodyPr wrap="square" lIns="0" tIns="0" rIns="0" bIns="0" rtlCol="0" anchor="ctr"/>
          <a:lstStyle/>
          <a:p>
            <a:pPr>
              <a:lnSpc>
                <a:spcPct val="130000"/>
              </a:lnSpc>
            </a:pPr>
            <a:r>
              <a:rPr lang="en-US" sz="1200" b="1" dirty="0">
                <a:solidFill>
                  <a:srgbClr val="F8F6F2"/>
                </a:solidFill>
                <a:latin typeface="Unna" pitchFamily="34" charset="0"/>
                <a:ea typeface="Unna" pitchFamily="34" charset="-122"/>
                <a:cs typeface="Unna" pitchFamily="34" charset="-120"/>
              </a:rPr>
              <a:t>Liability Limitations</a:t>
            </a:r>
            <a:endParaRPr lang="en-US" sz="1600" dirty="0"/>
          </a:p>
        </p:txBody>
      </p:sp>
      <p:sp>
        <p:nvSpPr>
          <p:cNvPr id="47" name="Text 45"/>
          <p:cNvSpPr/>
          <p:nvPr/>
        </p:nvSpPr>
        <p:spPr>
          <a:xfrm>
            <a:off x="4343400" y="5410200"/>
            <a:ext cx="3581400" cy="228600"/>
          </a:xfrm>
          <a:prstGeom prst="rect">
            <a:avLst/>
          </a:prstGeom>
          <a:noFill/>
          <a:ln/>
        </p:spPr>
        <p:txBody>
          <a:bodyPr wrap="square" lIns="0" tIns="0" rIns="0" bIns="0" rtlCol="0" anchor="ctr"/>
          <a:lstStyle/>
          <a:p>
            <a:pPr>
              <a:lnSpc>
                <a:spcPct val="130000"/>
              </a:lnSpc>
            </a:pPr>
            <a:r>
              <a:rPr lang="en-US" sz="1200" dirty="0">
                <a:solidFill>
                  <a:srgbClr val="F8F6F2"/>
                </a:solidFill>
                <a:latin typeface="Quattrocento Sans" pitchFamily="34" charset="0"/>
                <a:ea typeface="Quattrocento Sans" pitchFamily="34" charset="-122"/>
                <a:cs typeface="Quattrocento Sans" pitchFamily="34" charset="-120"/>
              </a:rPr>
              <a:t>• Wilshire Farms: Gross negligence only</a:t>
            </a:r>
            <a:endParaRPr lang="en-US" sz="1600" dirty="0"/>
          </a:p>
        </p:txBody>
      </p:sp>
      <p:sp>
        <p:nvSpPr>
          <p:cNvPr id="48" name="Text 46"/>
          <p:cNvSpPr/>
          <p:nvPr/>
        </p:nvSpPr>
        <p:spPr>
          <a:xfrm>
            <a:off x="4343400" y="5676900"/>
            <a:ext cx="3581400" cy="228600"/>
          </a:xfrm>
          <a:prstGeom prst="rect">
            <a:avLst/>
          </a:prstGeom>
          <a:noFill/>
          <a:ln/>
        </p:spPr>
        <p:txBody>
          <a:bodyPr wrap="square" lIns="0" tIns="0" rIns="0" bIns="0" rtlCol="0" anchor="ctr"/>
          <a:lstStyle/>
          <a:p>
            <a:pPr>
              <a:lnSpc>
                <a:spcPct val="130000"/>
              </a:lnSpc>
            </a:pPr>
            <a:r>
              <a:rPr lang="en-US" sz="1200" dirty="0">
                <a:solidFill>
                  <a:srgbClr val="F8F6F2"/>
                </a:solidFill>
                <a:latin typeface="Quattrocento Sans" pitchFamily="34" charset="0"/>
                <a:ea typeface="Quattrocento Sans" pitchFamily="34" charset="-122"/>
                <a:cs typeface="Quattrocento Sans" pitchFamily="34" charset="-120"/>
              </a:rPr>
              <a:t>• No liability for market risks</a:t>
            </a:r>
            <a:endParaRPr lang="en-US" sz="1600" dirty="0"/>
          </a:p>
        </p:txBody>
      </p:sp>
      <p:sp>
        <p:nvSpPr>
          <p:cNvPr id="49" name="Text 47"/>
          <p:cNvSpPr/>
          <p:nvPr/>
        </p:nvSpPr>
        <p:spPr>
          <a:xfrm>
            <a:off x="4343400" y="5943600"/>
            <a:ext cx="3581400" cy="228600"/>
          </a:xfrm>
          <a:prstGeom prst="rect">
            <a:avLst/>
          </a:prstGeom>
          <a:noFill/>
          <a:ln/>
        </p:spPr>
        <p:txBody>
          <a:bodyPr wrap="square" lIns="0" tIns="0" rIns="0" bIns="0" rtlCol="0" anchor="ctr"/>
          <a:lstStyle/>
          <a:p>
            <a:pPr>
              <a:lnSpc>
                <a:spcPct val="130000"/>
              </a:lnSpc>
            </a:pPr>
            <a:r>
              <a:rPr lang="en-US" sz="1200" dirty="0">
                <a:solidFill>
                  <a:srgbClr val="F8F6F2"/>
                </a:solidFill>
                <a:latin typeface="Quattrocento Sans" pitchFamily="34" charset="0"/>
                <a:ea typeface="Quattrocento Sans" pitchFamily="34" charset="-122"/>
                <a:cs typeface="Quattrocento Sans" pitchFamily="34" charset="-120"/>
              </a:rPr>
              <a:t>• No liability for weather events</a:t>
            </a:r>
            <a:endParaRPr lang="en-US" sz="1600" dirty="0"/>
          </a:p>
        </p:txBody>
      </p:sp>
      <p:sp>
        <p:nvSpPr>
          <p:cNvPr id="50" name="Text 48"/>
          <p:cNvSpPr/>
          <p:nvPr/>
        </p:nvSpPr>
        <p:spPr>
          <a:xfrm>
            <a:off x="4343400" y="6210300"/>
            <a:ext cx="3581400" cy="228600"/>
          </a:xfrm>
          <a:prstGeom prst="rect">
            <a:avLst/>
          </a:prstGeom>
          <a:noFill/>
          <a:ln/>
        </p:spPr>
        <p:txBody>
          <a:bodyPr wrap="square" lIns="0" tIns="0" rIns="0" bIns="0" rtlCol="0" anchor="ctr"/>
          <a:lstStyle/>
          <a:p>
            <a:pPr>
              <a:lnSpc>
                <a:spcPct val="130000"/>
              </a:lnSpc>
            </a:pPr>
            <a:r>
              <a:rPr lang="en-US" sz="1200" dirty="0">
                <a:solidFill>
                  <a:srgbClr val="F8F6F2"/>
                </a:solidFill>
                <a:latin typeface="Quattrocento Sans" pitchFamily="34" charset="0"/>
                <a:ea typeface="Quattrocento Sans" pitchFamily="34" charset="-122"/>
                <a:cs typeface="Quattrocento Sans" pitchFamily="34" charset="-120"/>
              </a:rPr>
              <a:t>• Partners indemnify each other for ordinary course</a:t>
            </a:r>
            <a:endParaRPr lang="en-US" sz="1600" dirty="0"/>
          </a:p>
        </p:txBody>
      </p:sp>
      <p:sp>
        <p:nvSpPr>
          <p:cNvPr id="51" name="Shape 49"/>
          <p:cNvSpPr/>
          <p:nvPr/>
        </p:nvSpPr>
        <p:spPr>
          <a:xfrm>
            <a:off x="8077200" y="4991100"/>
            <a:ext cx="3733800" cy="1562100"/>
          </a:xfrm>
          <a:custGeom>
            <a:avLst/>
            <a:gdLst/>
            <a:ahLst/>
            <a:cxnLst/>
            <a:rect l="l" t="t" r="r" b="b"/>
            <a:pathLst>
              <a:path w="3733800" h="1562100">
                <a:moveTo>
                  <a:pt x="76199" y="0"/>
                </a:moveTo>
                <a:lnTo>
                  <a:pt x="3657601" y="0"/>
                </a:lnTo>
                <a:cubicBezTo>
                  <a:pt x="3699684" y="0"/>
                  <a:pt x="3733800" y="34116"/>
                  <a:pt x="3733800" y="76199"/>
                </a:cubicBezTo>
                <a:lnTo>
                  <a:pt x="3733800" y="1485901"/>
                </a:lnTo>
                <a:cubicBezTo>
                  <a:pt x="3733800" y="1527984"/>
                  <a:pt x="3699684" y="1562100"/>
                  <a:pt x="3657601" y="1562100"/>
                </a:cubicBezTo>
                <a:lnTo>
                  <a:pt x="76199" y="1562100"/>
                </a:lnTo>
                <a:cubicBezTo>
                  <a:pt x="34116" y="1562100"/>
                  <a:pt x="0" y="1527984"/>
                  <a:pt x="0" y="1485901"/>
                </a:cubicBezTo>
                <a:lnTo>
                  <a:pt x="0" y="76199"/>
                </a:lnTo>
                <a:cubicBezTo>
                  <a:pt x="0" y="34144"/>
                  <a:pt x="34144" y="0"/>
                  <a:pt x="76199" y="0"/>
                </a:cubicBezTo>
                <a:close/>
              </a:path>
            </a:pathLst>
          </a:custGeom>
          <a:solidFill>
            <a:srgbClr val="3A4D39"/>
          </a:solidFill>
          <a:ln/>
        </p:spPr>
      </p:sp>
      <p:sp>
        <p:nvSpPr>
          <p:cNvPr id="52" name="Shape 50"/>
          <p:cNvSpPr/>
          <p:nvPr/>
        </p:nvSpPr>
        <p:spPr>
          <a:xfrm>
            <a:off x="8236744" y="5133975"/>
            <a:ext cx="128588" cy="171450"/>
          </a:xfrm>
          <a:custGeom>
            <a:avLst/>
            <a:gdLst/>
            <a:ahLst/>
            <a:cxnLst/>
            <a:rect l="l" t="t" r="r" b="b"/>
            <a:pathLst>
              <a:path w="128588" h="171450">
                <a:moveTo>
                  <a:pt x="104276" y="10716"/>
                </a:moveTo>
                <a:lnTo>
                  <a:pt x="107156" y="10716"/>
                </a:lnTo>
                <a:cubicBezTo>
                  <a:pt x="118977" y="10716"/>
                  <a:pt x="128588" y="20326"/>
                  <a:pt x="128588" y="32147"/>
                </a:cubicBezTo>
                <a:lnTo>
                  <a:pt x="128588" y="150019"/>
                </a:lnTo>
                <a:cubicBezTo>
                  <a:pt x="128588" y="161839"/>
                  <a:pt x="118977" y="171450"/>
                  <a:pt x="107156" y="171450"/>
                </a:cubicBezTo>
                <a:lnTo>
                  <a:pt x="21431" y="171450"/>
                </a:lnTo>
                <a:cubicBezTo>
                  <a:pt x="9611" y="171450"/>
                  <a:pt x="0" y="161839"/>
                  <a:pt x="0" y="150019"/>
                </a:cubicBezTo>
                <a:lnTo>
                  <a:pt x="0" y="32147"/>
                </a:lnTo>
                <a:cubicBezTo>
                  <a:pt x="0" y="20326"/>
                  <a:pt x="9611" y="10716"/>
                  <a:pt x="21431" y="10716"/>
                </a:cubicBezTo>
                <a:lnTo>
                  <a:pt x="24311" y="10716"/>
                </a:lnTo>
                <a:cubicBezTo>
                  <a:pt x="27995" y="4320"/>
                  <a:pt x="34926" y="0"/>
                  <a:pt x="42863" y="0"/>
                </a:cubicBezTo>
                <a:lnTo>
                  <a:pt x="85725" y="0"/>
                </a:lnTo>
                <a:cubicBezTo>
                  <a:pt x="93661" y="0"/>
                  <a:pt x="100593" y="4320"/>
                  <a:pt x="104276" y="10716"/>
                </a:cubicBezTo>
                <a:close/>
                <a:moveTo>
                  <a:pt x="83046" y="37505"/>
                </a:moveTo>
                <a:cubicBezTo>
                  <a:pt x="87500" y="37505"/>
                  <a:pt x="91083" y="33922"/>
                  <a:pt x="91083" y="29468"/>
                </a:cubicBezTo>
                <a:cubicBezTo>
                  <a:pt x="91083" y="25014"/>
                  <a:pt x="87500" y="21431"/>
                  <a:pt x="83046" y="21431"/>
                </a:cubicBezTo>
                <a:lnTo>
                  <a:pt x="45541" y="21431"/>
                </a:lnTo>
                <a:cubicBezTo>
                  <a:pt x="41088" y="21431"/>
                  <a:pt x="37505" y="25014"/>
                  <a:pt x="37505" y="29468"/>
                </a:cubicBezTo>
                <a:cubicBezTo>
                  <a:pt x="37505" y="33922"/>
                  <a:pt x="41088" y="37505"/>
                  <a:pt x="45541" y="37505"/>
                </a:cubicBezTo>
                <a:lnTo>
                  <a:pt x="83046" y="37505"/>
                </a:lnTo>
                <a:close/>
                <a:moveTo>
                  <a:pt x="42863" y="85725"/>
                </a:moveTo>
                <a:cubicBezTo>
                  <a:pt x="42863" y="79811"/>
                  <a:pt x="38061" y="75009"/>
                  <a:pt x="32147" y="75009"/>
                </a:cubicBezTo>
                <a:cubicBezTo>
                  <a:pt x="26233" y="75009"/>
                  <a:pt x="21431" y="79811"/>
                  <a:pt x="21431" y="85725"/>
                </a:cubicBezTo>
                <a:cubicBezTo>
                  <a:pt x="21431" y="91639"/>
                  <a:pt x="26233" y="96441"/>
                  <a:pt x="32147" y="96441"/>
                </a:cubicBezTo>
                <a:cubicBezTo>
                  <a:pt x="38061" y="96441"/>
                  <a:pt x="42863" y="91639"/>
                  <a:pt x="42863" y="85725"/>
                </a:cubicBezTo>
                <a:close/>
                <a:moveTo>
                  <a:pt x="53578" y="85725"/>
                </a:moveTo>
                <a:cubicBezTo>
                  <a:pt x="53578" y="90179"/>
                  <a:pt x="57161" y="93762"/>
                  <a:pt x="61615" y="93762"/>
                </a:cubicBezTo>
                <a:lnTo>
                  <a:pt x="99120" y="93762"/>
                </a:lnTo>
                <a:cubicBezTo>
                  <a:pt x="103573" y="93762"/>
                  <a:pt x="107156" y="90179"/>
                  <a:pt x="107156" y="85725"/>
                </a:cubicBezTo>
                <a:cubicBezTo>
                  <a:pt x="107156" y="81271"/>
                  <a:pt x="103573" y="77688"/>
                  <a:pt x="99120" y="77688"/>
                </a:cubicBezTo>
                <a:lnTo>
                  <a:pt x="61615" y="77688"/>
                </a:lnTo>
                <a:cubicBezTo>
                  <a:pt x="57161" y="77688"/>
                  <a:pt x="53578" y="81271"/>
                  <a:pt x="53578" y="85725"/>
                </a:cubicBezTo>
                <a:close/>
                <a:moveTo>
                  <a:pt x="53578" y="128588"/>
                </a:moveTo>
                <a:cubicBezTo>
                  <a:pt x="53578" y="133041"/>
                  <a:pt x="57161" y="136624"/>
                  <a:pt x="61615" y="136624"/>
                </a:cubicBezTo>
                <a:lnTo>
                  <a:pt x="99120" y="136624"/>
                </a:lnTo>
                <a:cubicBezTo>
                  <a:pt x="103573" y="136624"/>
                  <a:pt x="107156" y="133041"/>
                  <a:pt x="107156" y="128588"/>
                </a:cubicBezTo>
                <a:cubicBezTo>
                  <a:pt x="107156" y="124134"/>
                  <a:pt x="103573" y="120551"/>
                  <a:pt x="99120" y="120551"/>
                </a:cubicBezTo>
                <a:lnTo>
                  <a:pt x="61615" y="120551"/>
                </a:lnTo>
                <a:cubicBezTo>
                  <a:pt x="57161" y="120551"/>
                  <a:pt x="53578" y="124134"/>
                  <a:pt x="53578" y="128588"/>
                </a:cubicBezTo>
                <a:close/>
                <a:moveTo>
                  <a:pt x="32147" y="139303"/>
                </a:moveTo>
                <a:cubicBezTo>
                  <a:pt x="38061" y="139303"/>
                  <a:pt x="42863" y="134502"/>
                  <a:pt x="42863" y="128588"/>
                </a:cubicBezTo>
                <a:cubicBezTo>
                  <a:pt x="42863" y="122673"/>
                  <a:pt x="38061" y="117872"/>
                  <a:pt x="32147" y="117872"/>
                </a:cubicBezTo>
                <a:cubicBezTo>
                  <a:pt x="26233" y="117872"/>
                  <a:pt x="21431" y="122673"/>
                  <a:pt x="21431" y="128588"/>
                </a:cubicBezTo>
                <a:cubicBezTo>
                  <a:pt x="21431" y="134502"/>
                  <a:pt x="26233" y="139303"/>
                  <a:pt x="32147" y="139303"/>
                </a:cubicBezTo>
                <a:close/>
              </a:path>
            </a:pathLst>
          </a:custGeom>
          <a:solidFill>
            <a:srgbClr val="BCA37F"/>
          </a:solidFill>
          <a:ln/>
        </p:spPr>
      </p:sp>
      <p:sp>
        <p:nvSpPr>
          <p:cNvPr id="53" name="Text 51"/>
          <p:cNvSpPr/>
          <p:nvPr/>
        </p:nvSpPr>
        <p:spPr>
          <a:xfrm>
            <a:off x="8482013" y="5105400"/>
            <a:ext cx="1495425" cy="228600"/>
          </a:xfrm>
          <a:prstGeom prst="rect">
            <a:avLst/>
          </a:prstGeom>
          <a:noFill/>
          <a:ln/>
        </p:spPr>
        <p:txBody>
          <a:bodyPr wrap="square" lIns="0" tIns="0" rIns="0" bIns="0" rtlCol="0" anchor="ctr"/>
          <a:lstStyle/>
          <a:p>
            <a:pPr>
              <a:lnSpc>
                <a:spcPct val="130000"/>
              </a:lnSpc>
            </a:pPr>
            <a:r>
              <a:rPr lang="en-US" sz="1200" b="1" dirty="0">
                <a:solidFill>
                  <a:srgbClr val="F8F6F2"/>
                </a:solidFill>
                <a:latin typeface="Unna" pitchFamily="34" charset="0"/>
                <a:ea typeface="Unna" pitchFamily="34" charset="-122"/>
                <a:cs typeface="Unna" pitchFamily="34" charset="-120"/>
              </a:rPr>
              <a:t>Contingency Planning</a:t>
            </a:r>
            <a:endParaRPr lang="en-US" sz="1600" dirty="0"/>
          </a:p>
        </p:txBody>
      </p:sp>
      <p:sp>
        <p:nvSpPr>
          <p:cNvPr id="54" name="Text 52"/>
          <p:cNvSpPr/>
          <p:nvPr/>
        </p:nvSpPr>
        <p:spPr>
          <a:xfrm>
            <a:off x="8191500" y="5410200"/>
            <a:ext cx="3581400" cy="228600"/>
          </a:xfrm>
          <a:prstGeom prst="rect">
            <a:avLst/>
          </a:prstGeom>
          <a:noFill/>
          <a:ln/>
        </p:spPr>
        <p:txBody>
          <a:bodyPr wrap="square" lIns="0" tIns="0" rIns="0" bIns="0" rtlCol="0" anchor="ctr"/>
          <a:lstStyle/>
          <a:p>
            <a:pPr>
              <a:lnSpc>
                <a:spcPct val="130000"/>
              </a:lnSpc>
            </a:pPr>
            <a:r>
              <a:rPr lang="en-US" sz="1200" dirty="0">
                <a:solidFill>
                  <a:srgbClr val="F8F6F2"/>
                </a:solidFill>
                <a:latin typeface="Quattrocento Sans" pitchFamily="34" charset="0"/>
                <a:ea typeface="Quattrocento Sans" pitchFamily="34" charset="-122"/>
                <a:cs typeface="Quattrocento Sans" pitchFamily="34" charset="-120"/>
              </a:rPr>
              <a:t>• Emergency response procedures</a:t>
            </a:r>
            <a:endParaRPr lang="en-US" sz="1600" dirty="0"/>
          </a:p>
        </p:txBody>
      </p:sp>
      <p:sp>
        <p:nvSpPr>
          <p:cNvPr id="55" name="Text 53"/>
          <p:cNvSpPr/>
          <p:nvPr/>
        </p:nvSpPr>
        <p:spPr>
          <a:xfrm>
            <a:off x="8191500" y="5676900"/>
            <a:ext cx="3581400" cy="228600"/>
          </a:xfrm>
          <a:prstGeom prst="rect">
            <a:avLst/>
          </a:prstGeom>
          <a:noFill/>
          <a:ln/>
        </p:spPr>
        <p:txBody>
          <a:bodyPr wrap="square" lIns="0" tIns="0" rIns="0" bIns="0" rtlCol="0" anchor="ctr"/>
          <a:lstStyle/>
          <a:p>
            <a:pPr>
              <a:lnSpc>
                <a:spcPct val="130000"/>
              </a:lnSpc>
            </a:pPr>
            <a:r>
              <a:rPr lang="en-US" sz="1200" dirty="0">
                <a:solidFill>
                  <a:srgbClr val="F8F6F2"/>
                </a:solidFill>
                <a:latin typeface="Quattrocento Sans" pitchFamily="34" charset="0"/>
                <a:ea typeface="Quattrocento Sans" pitchFamily="34" charset="-122"/>
                <a:cs typeface="Quattrocento Sans" pitchFamily="34" charset="-120"/>
              </a:rPr>
              <a:t>• Alternative buyer identification</a:t>
            </a:r>
            <a:endParaRPr lang="en-US" sz="1600" dirty="0"/>
          </a:p>
        </p:txBody>
      </p:sp>
      <p:sp>
        <p:nvSpPr>
          <p:cNvPr id="56" name="Text 54"/>
          <p:cNvSpPr/>
          <p:nvPr/>
        </p:nvSpPr>
        <p:spPr>
          <a:xfrm>
            <a:off x="8191500" y="5943600"/>
            <a:ext cx="3581400" cy="228600"/>
          </a:xfrm>
          <a:prstGeom prst="rect">
            <a:avLst/>
          </a:prstGeom>
          <a:noFill/>
          <a:ln/>
        </p:spPr>
        <p:txBody>
          <a:bodyPr wrap="square" lIns="0" tIns="0" rIns="0" bIns="0" rtlCol="0" anchor="ctr"/>
          <a:lstStyle/>
          <a:p>
            <a:pPr>
              <a:lnSpc>
                <a:spcPct val="130000"/>
              </a:lnSpc>
            </a:pPr>
            <a:r>
              <a:rPr lang="en-US" sz="1200" dirty="0">
                <a:solidFill>
                  <a:srgbClr val="F8F6F2"/>
                </a:solidFill>
                <a:latin typeface="Quattrocento Sans" pitchFamily="34" charset="0"/>
                <a:ea typeface="Quattrocento Sans" pitchFamily="34" charset="-122"/>
                <a:cs typeface="Quattrocento Sans" pitchFamily="34" charset="-120"/>
              </a:rPr>
              <a:t>• Backup supply sources</a:t>
            </a:r>
            <a:endParaRPr lang="en-US" sz="1600" dirty="0"/>
          </a:p>
        </p:txBody>
      </p:sp>
      <p:sp>
        <p:nvSpPr>
          <p:cNvPr id="57" name="Text 55"/>
          <p:cNvSpPr/>
          <p:nvPr/>
        </p:nvSpPr>
        <p:spPr>
          <a:xfrm>
            <a:off x="8191500" y="6210300"/>
            <a:ext cx="3581400" cy="228600"/>
          </a:xfrm>
          <a:prstGeom prst="rect">
            <a:avLst/>
          </a:prstGeom>
          <a:noFill/>
          <a:ln/>
        </p:spPr>
        <p:txBody>
          <a:bodyPr wrap="square" lIns="0" tIns="0" rIns="0" bIns="0" rtlCol="0" anchor="ctr"/>
          <a:lstStyle/>
          <a:p>
            <a:pPr>
              <a:lnSpc>
                <a:spcPct val="130000"/>
              </a:lnSpc>
            </a:pPr>
            <a:r>
              <a:rPr lang="en-US" sz="1200" dirty="0">
                <a:solidFill>
                  <a:srgbClr val="F8F6F2"/>
                </a:solidFill>
                <a:latin typeface="Quattrocento Sans" pitchFamily="34" charset="0"/>
                <a:ea typeface="Quattrocento Sans" pitchFamily="34" charset="-122"/>
                <a:cs typeface="Quattrocento Sans" pitchFamily="34" charset="-120"/>
              </a:rPr>
              <a:t>• Communication protocols for crises</a:t>
            </a:r>
            <a:endParaRPr lang="en-US" sz="1600" dirty="0"/>
          </a:p>
        </p:txBody>
      </p:sp>
    </p:spTree>
  </p:cSld>
  <p:clrMapOvr>
    <a:masterClrMapping/>
  </p:clrMapOvr>
  <p:transition>
    <p:fade/>
    <p:spd val="med"/>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6F2"/>
        </a:solidFill>
      </p:bgPr>
    </p:bg>
    <p:spTree>
      <p:nvGrpSpPr>
        <p:cNvPr id="1" name=""/>
        <p:cNvGrpSpPr/>
        <p:nvPr/>
      </p:nvGrpSpPr>
      <p:grpSpPr>
        <a:xfrm>
          <a:off x="0" y="0"/>
          <a:ext cx="0" cy="0"/>
          <a:chOff x="0" y="0"/>
          <a:chExt cx="0" cy="0"/>
        </a:xfrm>
      </p:grpSpPr>
      <p:sp>
        <p:nvSpPr>
          <p:cNvPr id="2" name="Shape 0"/>
          <p:cNvSpPr/>
          <p:nvPr/>
        </p:nvSpPr>
        <p:spPr>
          <a:xfrm>
            <a:off x="360977" y="360977"/>
            <a:ext cx="360977" cy="360977"/>
          </a:xfrm>
          <a:custGeom>
            <a:avLst/>
            <a:gdLst/>
            <a:ahLst/>
            <a:cxnLst/>
            <a:rect l="l" t="t" r="r" b="b"/>
            <a:pathLst>
              <a:path w="360977" h="360977">
                <a:moveTo>
                  <a:pt x="36098" y="0"/>
                </a:moveTo>
                <a:lnTo>
                  <a:pt x="324879" y="0"/>
                </a:lnTo>
                <a:cubicBezTo>
                  <a:pt x="344816" y="0"/>
                  <a:pt x="360977" y="16161"/>
                  <a:pt x="360977" y="36098"/>
                </a:cubicBezTo>
                <a:lnTo>
                  <a:pt x="360977" y="324879"/>
                </a:lnTo>
                <a:cubicBezTo>
                  <a:pt x="360977" y="344816"/>
                  <a:pt x="344816" y="360977"/>
                  <a:pt x="324879" y="360977"/>
                </a:cubicBezTo>
                <a:lnTo>
                  <a:pt x="36098" y="360977"/>
                </a:lnTo>
                <a:cubicBezTo>
                  <a:pt x="16161" y="360977"/>
                  <a:pt x="0" y="344816"/>
                  <a:pt x="0" y="324879"/>
                </a:cubicBezTo>
                <a:lnTo>
                  <a:pt x="0" y="36098"/>
                </a:lnTo>
                <a:cubicBezTo>
                  <a:pt x="0" y="16175"/>
                  <a:pt x="16175" y="0"/>
                  <a:pt x="36098" y="0"/>
                </a:cubicBezTo>
                <a:close/>
              </a:path>
            </a:pathLst>
          </a:custGeom>
          <a:solidFill>
            <a:srgbClr val="3A4D39"/>
          </a:solidFill>
          <a:ln/>
        </p:spPr>
      </p:sp>
      <p:sp>
        <p:nvSpPr>
          <p:cNvPr id="3" name="Text 1"/>
          <p:cNvSpPr/>
          <p:nvPr/>
        </p:nvSpPr>
        <p:spPr>
          <a:xfrm>
            <a:off x="484076" y="415124"/>
            <a:ext cx="207562" cy="252684"/>
          </a:xfrm>
          <a:prstGeom prst="rect">
            <a:avLst/>
          </a:prstGeom>
          <a:noFill/>
          <a:ln/>
        </p:spPr>
        <p:txBody>
          <a:bodyPr wrap="square" lIns="0" tIns="0" rIns="0" bIns="0" rtlCol="0" anchor="ctr"/>
          <a:lstStyle/>
          <a:p>
            <a:pPr>
              <a:lnSpc>
                <a:spcPct val="120000"/>
              </a:lnSpc>
            </a:pPr>
            <a:r>
              <a:rPr lang="en-US" sz="1421" b="1" dirty="0">
                <a:solidFill>
                  <a:srgbClr val="F8F6F2"/>
                </a:solidFill>
                <a:latin typeface="Oranienbaum" pitchFamily="34" charset="0"/>
                <a:ea typeface="Oranienbaum" pitchFamily="34" charset="-122"/>
                <a:cs typeface="Oranienbaum" pitchFamily="34" charset="-120"/>
              </a:rPr>
              <a:t>11</a:t>
            </a:r>
            <a:endParaRPr lang="en-US" sz="1600" dirty="0"/>
          </a:p>
        </p:txBody>
      </p:sp>
      <p:sp>
        <p:nvSpPr>
          <p:cNvPr id="4" name="Text 2"/>
          <p:cNvSpPr/>
          <p:nvPr/>
        </p:nvSpPr>
        <p:spPr>
          <a:xfrm>
            <a:off x="830247" y="360977"/>
            <a:ext cx="4963434" cy="360977"/>
          </a:xfrm>
          <a:prstGeom prst="rect">
            <a:avLst/>
          </a:prstGeom>
          <a:noFill/>
          <a:ln/>
        </p:spPr>
        <p:txBody>
          <a:bodyPr wrap="square" lIns="0" tIns="0" rIns="0" bIns="0" rtlCol="0" anchor="ctr"/>
          <a:lstStyle/>
          <a:p>
            <a:pPr>
              <a:lnSpc>
                <a:spcPct val="90000"/>
              </a:lnSpc>
            </a:pPr>
            <a:r>
              <a:rPr lang="en-US" sz="2558" b="1" dirty="0">
                <a:solidFill>
                  <a:srgbClr val="3A4D39"/>
                </a:solidFill>
                <a:latin typeface="Oranienbaum" pitchFamily="34" charset="0"/>
                <a:ea typeface="Oranienbaum" pitchFamily="34" charset="-122"/>
                <a:cs typeface="Oranienbaum" pitchFamily="34" charset="-120"/>
              </a:rPr>
              <a:t>Confidentiality and Non-Disclosure</a:t>
            </a:r>
            <a:endParaRPr lang="en-US" sz="1600" dirty="0"/>
          </a:p>
        </p:txBody>
      </p:sp>
      <p:sp>
        <p:nvSpPr>
          <p:cNvPr id="5" name="Shape 3"/>
          <p:cNvSpPr/>
          <p:nvPr/>
        </p:nvSpPr>
        <p:spPr>
          <a:xfrm>
            <a:off x="360977" y="794150"/>
            <a:ext cx="721954" cy="36098"/>
          </a:xfrm>
          <a:custGeom>
            <a:avLst/>
            <a:gdLst/>
            <a:ahLst/>
            <a:cxnLst/>
            <a:rect l="l" t="t" r="r" b="b"/>
            <a:pathLst>
              <a:path w="721954" h="36098">
                <a:moveTo>
                  <a:pt x="0" y="0"/>
                </a:moveTo>
                <a:lnTo>
                  <a:pt x="721954" y="0"/>
                </a:lnTo>
                <a:lnTo>
                  <a:pt x="721954" y="36098"/>
                </a:lnTo>
                <a:lnTo>
                  <a:pt x="0" y="36098"/>
                </a:lnTo>
                <a:lnTo>
                  <a:pt x="0" y="0"/>
                </a:lnTo>
                <a:close/>
              </a:path>
            </a:pathLst>
          </a:custGeom>
          <a:solidFill>
            <a:srgbClr val="BCA37F"/>
          </a:solidFill>
          <a:ln/>
        </p:spPr>
      </p:sp>
      <p:sp>
        <p:nvSpPr>
          <p:cNvPr id="6" name="Shape 4"/>
          <p:cNvSpPr/>
          <p:nvPr/>
        </p:nvSpPr>
        <p:spPr>
          <a:xfrm>
            <a:off x="379026" y="974638"/>
            <a:ext cx="11451997" cy="2454644"/>
          </a:xfrm>
          <a:custGeom>
            <a:avLst/>
            <a:gdLst/>
            <a:ahLst/>
            <a:cxnLst/>
            <a:rect l="l" t="t" r="r" b="b"/>
            <a:pathLst>
              <a:path w="11451997" h="2454644">
                <a:moveTo>
                  <a:pt x="36098" y="0"/>
                </a:moveTo>
                <a:lnTo>
                  <a:pt x="11379806" y="0"/>
                </a:lnTo>
                <a:cubicBezTo>
                  <a:pt x="11419649" y="0"/>
                  <a:pt x="11451997" y="32348"/>
                  <a:pt x="11451997" y="72191"/>
                </a:cubicBezTo>
                <a:lnTo>
                  <a:pt x="11451997" y="2382453"/>
                </a:lnTo>
                <a:cubicBezTo>
                  <a:pt x="11451997" y="2422323"/>
                  <a:pt x="11419676" y="2454644"/>
                  <a:pt x="11379806" y="2454644"/>
                </a:cubicBezTo>
                <a:lnTo>
                  <a:pt x="36098" y="2454644"/>
                </a:lnTo>
                <a:cubicBezTo>
                  <a:pt x="16161" y="2454644"/>
                  <a:pt x="0" y="2438482"/>
                  <a:pt x="0" y="2418546"/>
                </a:cubicBezTo>
                <a:lnTo>
                  <a:pt x="0" y="36098"/>
                </a:lnTo>
                <a:cubicBezTo>
                  <a:pt x="0" y="16175"/>
                  <a:pt x="16175" y="0"/>
                  <a:pt x="36098" y="0"/>
                </a:cubicBezTo>
                <a:close/>
              </a:path>
            </a:pathLst>
          </a:custGeom>
          <a:solidFill>
            <a:srgbClr val="FFFFFF"/>
          </a:solidFill>
          <a:ln/>
          <a:effectLst>
            <a:outerShdw sx="100000" sy="100000" kx="0" ky="0" algn="bl" rotWithShape="0" blurRad="27073" dist="9024" dir="5400000">
              <a:srgbClr val="000000">
                <a:alpha val="10196"/>
              </a:srgbClr>
            </a:outerShdw>
          </a:effectLst>
        </p:spPr>
      </p:sp>
      <p:sp>
        <p:nvSpPr>
          <p:cNvPr id="7" name="Shape 5"/>
          <p:cNvSpPr/>
          <p:nvPr/>
        </p:nvSpPr>
        <p:spPr>
          <a:xfrm>
            <a:off x="379026" y="974638"/>
            <a:ext cx="36098" cy="2454644"/>
          </a:xfrm>
          <a:custGeom>
            <a:avLst/>
            <a:gdLst/>
            <a:ahLst/>
            <a:cxnLst/>
            <a:rect l="l" t="t" r="r" b="b"/>
            <a:pathLst>
              <a:path w="36098" h="2454644">
                <a:moveTo>
                  <a:pt x="36098" y="0"/>
                </a:moveTo>
                <a:lnTo>
                  <a:pt x="36098" y="0"/>
                </a:lnTo>
                <a:lnTo>
                  <a:pt x="36098" y="2454644"/>
                </a:lnTo>
                <a:lnTo>
                  <a:pt x="36098" y="2454644"/>
                </a:lnTo>
                <a:cubicBezTo>
                  <a:pt x="16161" y="2454644"/>
                  <a:pt x="0" y="2438482"/>
                  <a:pt x="0" y="2418546"/>
                </a:cubicBezTo>
                <a:lnTo>
                  <a:pt x="0" y="36098"/>
                </a:lnTo>
                <a:cubicBezTo>
                  <a:pt x="0" y="16175"/>
                  <a:pt x="16175" y="0"/>
                  <a:pt x="36098" y="0"/>
                </a:cubicBezTo>
                <a:close/>
              </a:path>
            </a:pathLst>
          </a:custGeom>
          <a:solidFill>
            <a:srgbClr val="3A4D39"/>
          </a:solidFill>
          <a:ln/>
        </p:spPr>
      </p:sp>
      <p:sp>
        <p:nvSpPr>
          <p:cNvPr id="8" name="Shape 6"/>
          <p:cNvSpPr/>
          <p:nvPr/>
        </p:nvSpPr>
        <p:spPr>
          <a:xfrm>
            <a:off x="586588" y="1155127"/>
            <a:ext cx="135366" cy="180489"/>
          </a:xfrm>
          <a:custGeom>
            <a:avLst/>
            <a:gdLst/>
            <a:ahLst/>
            <a:cxnLst/>
            <a:rect l="l" t="t" r="r" b="b"/>
            <a:pathLst>
              <a:path w="135366" h="180489">
                <a:moveTo>
                  <a:pt x="45122" y="33842"/>
                </a:moveTo>
                <a:lnTo>
                  <a:pt x="45122" y="56403"/>
                </a:lnTo>
                <a:lnTo>
                  <a:pt x="90244" y="56403"/>
                </a:lnTo>
                <a:lnTo>
                  <a:pt x="90244" y="33842"/>
                </a:lnTo>
                <a:cubicBezTo>
                  <a:pt x="90244" y="21398"/>
                  <a:pt x="80127" y="11281"/>
                  <a:pt x="67683" y="11281"/>
                </a:cubicBezTo>
                <a:cubicBezTo>
                  <a:pt x="55239" y="11281"/>
                  <a:pt x="45122" y="21398"/>
                  <a:pt x="45122" y="33842"/>
                </a:cubicBezTo>
                <a:close/>
                <a:moveTo>
                  <a:pt x="22561" y="56403"/>
                </a:moveTo>
                <a:lnTo>
                  <a:pt x="22561" y="33842"/>
                </a:lnTo>
                <a:cubicBezTo>
                  <a:pt x="22561" y="8919"/>
                  <a:pt x="42760" y="-11281"/>
                  <a:pt x="67683" y="-11281"/>
                </a:cubicBezTo>
                <a:cubicBezTo>
                  <a:pt x="92606" y="-11281"/>
                  <a:pt x="112805" y="8919"/>
                  <a:pt x="112805" y="33842"/>
                </a:cubicBezTo>
                <a:lnTo>
                  <a:pt x="112805" y="56403"/>
                </a:lnTo>
                <a:cubicBezTo>
                  <a:pt x="125249" y="56403"/>
                  <a:pt x="135366" y="66520"/>
                  <a:pt x="135366" y="78964"/>
                </a:cubicBezTo>
                <a:lnTo>
                  <a:pt x="135366" y="157927"/>
                </a:lnTo>
                <a:cubicBezTo>
                  <a:pt x="135366" y="170371"/>
                  <a:pt x="125249" y="180489"/>
                  <a:pt x="112805" y="180489"/>
                </a:cubicBezTo>
                <a:lnTo>
                  <a:pt x="22561" y="180489"/>
                </a:lnTo>
                <a:cubicBezTo>
                  <a:pt x="10117" y="180489"/>
                  <a:pt x="0" y="170371"/>
                  <a:pt x="0" y="157927"/>
                </a:cubicBezTo>
                <a:lnTo>
                  <a:pt x="0" y="78964"/>
                </a:lnTo>
                <a:cubicBezTo>
                  <a:pt x="0" y="66520"/>
                  <a:pt x="10117" y="56403"/>
                  <a:pt x="22561" y="56403"/>
                </a:cubicBezTo>
                <a:close/>
              </a:path>
            </a:pathLst>
          </a:custGeom>
          <a:solidFill>
            <a:srgbClr val="3A4D39"/>
          </a:solidFill>
          <a:ln/>
        </p:spPr>
      </p:sp>
      <p:sp>
        <p:nvSpPr>
          <p:cNvPr id="9" name="Text 7"/>
          <p:cNvSpPr/>
          <p:nvPr/>
        </p:nvSpPr>
        <p:spPr>
          <a:xfrm>
            <a:off x="767076" y="1119029"/>
            <a:ext cx="11009800" cy="252684"/>
          </a:xfrm>
          <a:prstGeom prst="rect">
            <a:avLst/>
          </a:prstGeom>
          <a:noFill/>
          <a:ln/>
        </p:spPr>
        <p:txBody>
          <a:bodyPr wrap="square" lIns="0" tIns="0" rIns="0" bIns="0" rtlCol="0" anchor="ctr"/>
          <a:lstStyle/>
          <a:p>
            <a:pPr>
              <a:lnSpc>
                <a:spcPct val="120000"/>
              </a:lnSpc>
            </a:pPr>
            <a:r>
              <a:rPr lang="en-US" sz="1421" b="1" dirty="0">
                <a:solidFill>
                  <a:srgbClr val="3A4D39"/>
                </a:solidFill>
                <a:latin typeface="Unna" pitchFamily="34" charset="0"/>
                <a:ea typeface="Unna" pitchFamily="34" charset="-122"/>
                <a:cs typeface="Unna" pitchFamily="34" charset="-120"/>
              </a:rPr>
              <a:t>Definition of Confidential Information</a:t>
            </a:r>
            <a:endParaRPr lang="en-US" sz="1600" dirty="0"/>
          </a:p>
        </p:txBody>
      </p:sp>
      <p:sp>
        <p:nvSpPr>
          <p:cNvPr id="10" name="Text 8"/>
          <p:cNvSpPr/>
          <p:nvPr/>
        </p:nvSpPr>
        <p:spPr>
          <a:xfrm>
            <a:off x="541466" y="1480006"/>
            <a:ext cx="11217362" cy="216586"/>
          </a:xfrm>
          <a:prstGeom prst="rect">
            <a:avLst/>
          </a:prstGeom>
          <a:noFill/>
          <a:ln/>
        </p:spPr>
        <p:txBody>
          <a:bodyPr wrap="square" lIns="0" tIns="0" rIns="0" bIns="0" rtlCol="0" anchor="ctr"/>
          <a:lstStyle/>
          <a:p>
            <a:pPr>
              <a:lnSpc>
                <a:spcPct val="130000"/>
              </a:lnSpc>
            </a:pPr>
            <a:r>
              <a:rPr lang="en-US" sz="1137" dirty="0">
                <a:solidFill>
                  <a:srgbClr val="2C2C2C"/>
                </a:solidFill>
                <a:latin typeface="Quattrocento Sans" pitchFamily="34" charset="0"/>
                <a:ea typeface="Quattrocento Sans" pitchFamily="34" charset="-122"/>
                <a:cs typeface="Quattrocento Sans" pitchFamily="34" charset="-120"/>
              </a:rPr>
              <a:t>All partners acknowledge that the following categories constitute confidential and proprietary business information:</a:t>
            </a:r>
            <a:endParaRPr lang="en-US" sz="1600" dirty="0"/>
          </a:p>
        </p:txBody>
      </p:sp>
      <p:sp>
        <p:nvSpPr>
          <p:cNvPr id="11" name="Shape 9"/>
          <p:cNvSpPr/>
          <p:nvPr/>
        </p:nvSpPr>
        <p:spPr>
          <a:xfrm>
            <a:off x="541466" y="1804885"/>
            <a:ext cx="3645868" cy="1480006"/>
          </a:xfrm>
          <a:custGeom>
            <a:avLst/>
            <a:gdLst/>
            <a:ahLst/>
            <a:cxnLst/>
            <a:rect l="l" t="t" r="r" b="b"/>
            <a:pathLst>
              <a:path w="3645868" h="1480006">
                <a:moveTo>
                  <a:pt x="72195" y="0"/>
                </a:moveTo>
                <a:lnTo>
                  <a:pt x="3573674" y="0"/>
                </a:lnTo>
                <a:cubicBezTo>
                  <a:pt x="3613546" y="0"/>
                  <a:pt x="3645868" y="32323"/>
                  <a:pt x="3645868" y="72195"/>
                </a:cubicBezTo>
                <a:lnTo>
                  <a:pt x="3645868" y="1407811"/>
                </a:lnTo>
                <a:cubicBezTo>
                  <a:pt x="3645868" y="1447683"/>
                  <a:pt x="3613546" y="1480006"/>
                  <a:pt x="3573674" y="1480006"/>
                </a:cubicBezTo>
                <a:lnTo>
                  <a:pt x="72195" y="1480006"/>
                </a:lnTo>
                <a:cubicBezTo>
                  <a:pt x="32349" y="1480006"/>
                  <a:pt x="0" y="1447657"/>
                  <a:pt x="0" y="1407811"/>
                </a:cubicBezTo>
                <a:lnTo>
                  <a:pt x="0" y="72195"/>
                </a:lnTo>
                <a:cubicBezTo>
                  <a:pt x="0" y="32349"/>
                  <a:pt x="32349" y="0"/>
                  <a:pt x="72195" y="0"/>
                </a:cubicBezTo>
                <a:close/>
              </a:path>
            </a:pathLst>
          </a:custGeom>
          <a:solidFill>
            <a:srgbClr val="F8F6F2"/>
          </a:solidFill>
          <a:ln/>
        </p:spPr>
      </p:sp>
      <p:sp>
        <p:nvSpPr>
          <p:cNvPr id="12" name="Shape 10"/>
          <p:cNvSpPr/>
          <p:nvPr/>
        </p:nvSpPr>
        <p:spPr>
          <a:xfrm>
            <a:off x="667808" y="1949276"/>
            <a:ext cx="144391" cy="144391"/>
          </a:xfrm>
          <a:custGeom>
            <a:avLst/>
            <a:gdLst/>
            <a:ahLst/>
            <a:cxnLst/>
            <a:rect l="l" t="t" r="r" b="b"/>
            <a:pathLst>
              <a:path w="144391" h="144391">
                <a:moveTo>
                  <a:pt x="18049" y="18049"/>
                </a:moveTo>
                <a:cubicBezTo>
                  <a:pt x="18049" y="13057"/>
                  <a:pt x="14016" y="9024"/>
                  <a:pt x="9024" y="9024"/>
                </a:cubicBezTo>
                <a:cubicBezTo>
                  <a:pt x="4033" y="9024"/>
                  <a:pt x="0" y="13057"/>
                  <a:pt x="0" y="18049"/>
                </a:cubicBezTo>
                <a:lnTo>
                  <a:pt x="0" y="112805"/>
                </a:lnTo>
                <a:cubicBezTo>
                  <a:pt x="0" y="125270"/>
                  <a:pt x="10096" y="135366"/>
                  <a:pt x="22561" y="135366"/>
                </a:cubicBezTo>
                <a:lnTo>
                  <a:pt x="135366" y="135366"/>
                </a:lnTo>
                <a:cubicBezTo>
                  <a:pt x="140358" y="135366"/>
                  <a:pt x="144391" y="131334"/>
                  <a:pt x="144391" y="126342"/>
                </a:cubicBezTo>
                <a:cubicBezTo>
                  <a:pt x="144391" y="121350"/>
                  <a:pt x="140358" y="117318"/>
                  <a:pt x="135366" y="117318"/>
                </a:cubicBezTo>
                <a:lnTo>
                  <a:pt x="22561" y="117318"/>
                </a:lnTo>
                <a:cubicBezTo>
                  <a:pt x="20079" y="117318"/>
                  <a:pt x="18049" y="115287"/>
                  <a:pt x="18049" y="112805"/>
                </a:cubicBezTo>
                <a:lnTo>
                  <a:pt x="18049" y="18049"/>
                </a:lnTo>
                <a:close/>
                <a:moveTo>
                  <a:pt x="132715" y="42471"/>
                </a:moveTo>
                <a:cubicBezTo>
                  <a:pt x="136241" y="38946"/>
                  <a:pt x="136241" y="33221"/>
                  <a:pt x="132715" y="29696"/>
                </a:cubicBezTo>
                <a:cubicBezTo>
                  <a:pt x="129190" y="26171"/>
                  <a:pt x="123465" y="26171"/>
                  <a:pt x="119940" y="29696"/>
                </a:cubicBezTo>
                <a:lnTo>
                  <a:pt x="90244" y="59420"/>
                </a:lnTo>
                <a:lnTo>
                  <a:pt x="74057" y="43261"/>
                </a:lnTo>
                <a:cubicBezTo>
                  <a:pt x="70532" y="39736"/>
                  <a:pt x="64807" y="39736"/>
                  <a:pt x="61281" y="43261"/>
                </a:cubicBezTo>
                <a:lnTo>
                  <a:pt x="34208" y="70334"/>
                </a:lnTo>
                <a:cubicBezTo>
                  <a:pt x="30683" y="73859"/>
                  <a:pt x="30683" y="79584"/>
                  <a:pt x="34208" y="83109"/>
                </a:cubicBezTo>
                <a:cubicBezTo>
                  <a:pt x="37733" y="86634"/>
                  <a:pt x="43458" y="86634"/>
                  <a:pt x="46983" y="83109"/>
                </a:cubicBezTo>
                <a:lnTo>
                  <a:pt x="67683" y="62410"/>
                </a:lnTo>
                <a:lnTo>
                  <a:pt x="83871" y="78597"/>
                </a:lnTo>
                <a:cubicBezTo>
                  <a:pt x="87396" y="82122"/>
                  <a:pt x="93121" y="82122"/>
                  <a:pt x="96646" y="78597"/>
                </a:cubicBezTo>
                <a:lnTo>
                  <a:pt x="132744" y="42499"/>
                </a:lnTo>
                <a:close/>
              </a:path>
            </a:pathLst>
          </a:custGeom>
          <a:solidFill>
            <a:srgbClr val="3A4D39"/>
          </a:solidFill>
          <a:ln/>
        </p:spPr>
      </p:sp>
      <p:sp>
        <p:nvSpPr>
          <p:cNvPr id="13" name="Text 11"/>
          <p:cNvSpPr/>
          <p:nvPr/>
        </p:nvSpPr>
        <p:spPr>
          <a:xfrm>
            <a:off x="902443" y="1913178"/>
            <a:ext cx="956589" cy="216586"/>
          </a:xfrm>
          <a:prstGeom prst="rect">
            <a:avLst/>
          </a:prstGeom>
          <a:noFill/>
          <a:ln/>
        </p:spPr>
        <p:txBody>
          <a:bodyPr wrap="square" lIns="0" tIns="0" rIns="0" bIns="0" rtlCol="0" anchor="ctr"/>
          <a:lstStyle/>
          <a:p>
            <a:pPr>
              <a:lnSpc>
                <a:spcPct val="130000"/>
              </a:lnSpc>
            </a:pPr>
            <a:r>
              <a:rPr lang="en-US" sz="1137" b="1" dirty="0">
                <a:solidFill>
                  <a:srgbClr val="3A4D39"/>
                </a:solidFill>
                <a:latin typeface="Unna" pitchFamily="34" charset="0"/>
                <a:ea typeface="Unna" pitchFamily="34" charset="-122"/>
                <a:cs typeface="Unna" pitchFamily="34" charset="-120"/>
              </a:rPr>
              <a:t>Financial Data</a:t>
            </a:r>
            <a:endParaRPr lang="en-US" sz="1600" dirty="0"/>
          </a:p>
        </p:txBody>
      </p:sp>
      <p:sp>
        <p:nvSpPr>
          <p:cNvPr id="14" name="Text 12"/>
          <p:cNvSpPr/>
          <p:nvPr/>
        </p:nvSpPr>
        <p:spPr>
          <a:xfrm>
            <a:off x="649759" y="2201960"/>
            <a:ext cx="3501477" cy="216586"/>
          </a:xfrm>
          <a:prstGeom prst="rect">
            <a:avLst/>
          </a:prstGeom>
          <a:noFill/>
          <a:ln/>
        </p:spPr>
        <p:txBody>
          <a:bodyPr wrap="square" lIns="0" tIns="0" rIns="0" bIns="0" rtlCol="0" anchor="ctr"/>
          <a:lstStyle/>
          <a:p>
            <a:pPr>
              <a:lnSpc>
                <a:spcPct val="130000"/>
              </a:lnSpc>
            </a:pPr>
            <a:r>
              <a:rPr lang="en-US" sz="1137" dirty="0">
                <a:solidFill>
                  <a:srgbClr val="2C2C2C"/>
                </a:solidFill>
                <a:latin typeface="Quattrocento Sans" pitchFamily="34" charset="0"/>
                <a:ea typeface="Quattrocento Sans" pitchFamily="34" charset="-122"/>
                <a:cs typeface="Quattrocento Sans" pitchFamily="34" charset="-120"/>
              </a:rPr>
              <a:t>• Investment amounts and ownership percentages</a:t>
            </a:r>
            <a:endParaRPr lang="en-US" sz="1600" dirty="0"/>
          </a:p>
        </p:txBody>
      </p:sp>
      <p:sp>
        <p:nvSpPr>
          <p:cNvPr id="15" name="Text 13"/>
          <p:cNvSpPr/>
          <p:nvPr/>
        </p:nvSpPr>
        <p:spPr>
          <a:xfrm>
            <a:off x="649759" y="2454644"/>
            <a:ext cx="3501477" cy="216586"/>
          </a:xfrm>
          <a:prstGeom prst="rect">
            <a:avLst/>
          </a:prstGeom>
          <a:noFill/>
          <a:ln/>
        </p:spPr>
        <p:txBody>
          <a:bodyPr wrap="square" lIns="0" tIns="0" rIns="0" bIns="0" rtlCol="0" anchor="ctr"/>
          <a:lstStyle/>
          <a:p>
            <a:pPr>
              <a:lnSpc>
                <a:spcPct val="130000"/>
              </a:lnSpc>
            </a:pPr>
            <a:r>
              <a:rPr lang="en-US" sz="1137" dirty="0">
                <a:solidFill>
                  <a:srgbClr val="2C2C2C"/>
                </a:solidFill>
                <a:latin typeface="Quattrocento Sans" pitchFamily="34" charset="0"/>
                <a:ea typeface="Quattrocento Sans" pitchFamily="34" charset="-122"/>
                <a:cs typeface="Quattrocento Sans" pitchFamily="34" charset="-120"/>
              </a:rPr>
              <a:t>• Revenue figures and profit margins</a:t>
            </a:r>
            <a:endParaRPr lang="en-US" sz="1600" dirty="0"/>
          </a:p>
        </p:txBody>
      </p:sp>
      <p:sp>
        <p:nvSpPr>
          <p:cNvPr id="16" name="Text 14"/>
          <p:cNvSpPr/>
          <p:nvPr/>
        </p:nvSpPr>
        <p:spPr>
          <a:xfrm>
            <a:off x="649759" y="2707328"/>
            <a:ext cx="3501477" cy="216586"/>
          </a:xfrm>
          <a:prstGeom prst="rect">
            <a:avLst/>
          </a:prstGeom>
          <a:noFill/>
          <a:ln/>
        </p:spPr>
        <p:txBody>
          <a:bodyPr wrap="square" lIns="0" tIns="0" rIns="0" bIns="0" rtlCol="0" anchor="ctr"/>
          <a:lstStyle/>
          <a:p>
            <a:pPr>
              <a:lnSpc>
                <a:spcPct val="130000"/>
              </a:lnSpc>
            </a:pPr>
            <a:r>
              <a:rPr lang="en-US" sz="1137" dirty="0">
                <a:solidFill>
                  <a:srgbClr val="2C2C2C"/>
                </a:solidFill>
                <a:latin typeface="Quattrocento Sans" pitchFamily="34" charset="0"/>
                <a:ea typeface="Quattrocento Sans" pitchFamily="34" charset="-122"/>
                <a:cs typeface="Quattrocento Sans" pitchFamily="34" charset="-120"/>
              </a:rPr>
              <a:t>• Operational cost structures</a:t>
            </a:r>
            <a:endParaRPr lang="en-US" sz="1600" dirty="0"/>
          </a:p>
        </p:txBody>
      </p:sp>
      <p:sp>
        <p:nvSpPr>
          <p:cNvPr id="17" name="Text 15"/>
          <p:cNvSpPr/>
          <p:nvPr/>
        </p:nvSpPr>
        <p:spPr>
          <a:xfrm>
            <a:off x="649759" y="2960012"/>
            <a:ext cx="3501477" cy="216586"/>
          </a:xfrm>
          <a:prstGeom prst="rect">
            <a:avLst/>
          </a:prstGeom>
          <a:noFill/>
          <a:ln/>
        </p:spPr>
        <p:txBody>
          <a:bodyPr wrap="square" lIns="0" tIns="0" rIns="0" bIns="0" rtlCol="0" anchor="ctr"/>
          <a:lstStyle/>
          <a:p>
            <a:pPr>
              <a:lnSpc>
                <a:spcPct val="130000"/>
              </a:lnSpc>
            </a:pPr>
            <a:r>
              <a:rPr lang="en-US" sz="1137" dirty="0">
                <a:solidFill>
                  <a:srgbClr val="2C2C2C"/>
                </a:solidFill>
                <a:latin typeface="Quattrocento Sans" pitchFamily="34" charset="0"/>
                <a:ea typeface="Quattrocento Sans" pitchFamily="34" charset="-122"/>
                <a:cs typeface="Quattrocento Sans" pitchFamily="34" charset="-120"/>
              </a:rPr>
              <a:t>• Partner distribution amounts</a:t>
            </a:r>
            <a:endParaRPr lang="en-US" sz="1600" dirty="0"/>
          </a:p>
        </p:txBody>
      </p:sp>
      <p:sp>
        <p:nvSpPr>
          <p:cNvPr id="18" name="Shape 16"/>
          <p:cNvSpPr/>
          <p:nvPr/>
        </p:nvSpPr>
        <p:spPr>
          <a:xfrm>
            <a:off x="4292948" y="1804885"/>
            <a:ext cx="3645868" cy="1480006"/>
          </a:xfrm>
          <a:custGeom>
            <a:avLst/>
            <a:gdLst/>
            <a:ahLst/>
            <a:cxnLst/>
            <a:rect l="l" t="t" r="r" b="b"/>
            <a:pathLst>
              <a:path w="3645868" h="1480006">
                <a:moveTo>
                  <a:pt x="72195" y="0"/>
                </a:moveTo>
                <a:lnTo>
                  <a:pt x="3573674" y="0"/>
                </a:lnTo>
                <a:cubicBezTo>
                  <a:pt x="3613546" y="0"/>
                  <a:pt x="3645868" y="32323"/>
                  <a:pt x="3645868" y="72195"/>
                </a:cubicBezTo>
                <a:lnTo>
                  <a:pt x="3645868" y="1407811"/>
                </a:lnTo>
                <a:cubicBezTo>
                  <a:pt x="3645868" y="1447683"/>
                  <a:pt x="3613546" y="1480006"/>
                  <a:pt x="3573674" y="1480006"/>
                </a:cubicBezTo>
                <a:lnTo>
                  <a:pt x="72195" y="1480006"/>
                </a:lnTo>
                <a:cubicBezTo>
                  <a:pt x="32349" y="1480006"/>
                  <a:pt x="0" y="1447657"/>
                  <a:pt x="0" y="1407811"/>
                </a:cubicBezTo>
                <a:lnTo>
                  <a:pt x="0" y="72195"/>
                </a:lnTo>
                <a:cubicBezTo>
                  <a:pt x="0" y="32349"/>
                  <a:pt x="32349" y="0"/>
                  <a:pt x="72195" y="0"/>
                </a:cubicBezTo>
                <a:close/>
              </a:path>
            </a:pathLst>
          </a:custGeom>
          <a:solidFill>
            <a:srgbClr val="F8F6F2"/>
          </a:solidFill>
          <a:ln/>
        </p:spPr>
      </p:sp>
      <p:sp>
        <p:nvSpPr>
          <p:cNvPr id="19" name="Shape 17"/>
          <p:cNvSpPr/>
          <p:nvPr/>
        </p:nvSpPr>
        <p:spPr>
          <a:xfrm>
            <a:off x="4401241" y="1949276"/>
            <a:ext cx="180489" cy="144391"/>
          </a:xfrm>
          <a:custGeom>
            <a:avLst/>
            <a:gdLst/>
            <a:ahLst/>
            <a:cxnLst/>
            <a:rect l="l" t="t" r="r" b="b"/>
            <a:pathLst>
              <a:path w="180489" h="144391">
                <a:moveTo>
                  <a:pt x="117289" y="59364"/>
                </a:moveTo>
                <a:cubicBezTo>
                  <a:pt x="120730" y="58433"/>
                  <a:pt x="124340" y="60069"/>
                  <a:pt x="125891" y="63256"/>
                </a:cubicBezTo>
                <a:lnTo>
                  <a:pt x="131136" y="73859"/>
                </a:lnTo>
                <a:cubicBezTo>
                  <a:pt x="134041" y="74254"/>
                  <a:pt x="136889" y="75044"/>
                  <a:pt x="139568" y="76144"/>
                </a:cubicBezTo>
                <a:lnTo>
                  <a:pt x="149439" y="69573"/>
                </a:lnTo>
                <a:cubicBezTo>
                  <a:pt x="152400" y="67599"/>
                  <a:pt x="156320" y="67993"/>
                  <a:pt x="158830" y="70503"/>
                </a:cubicBezTo>
                <a:lnTo>
                  <a:pt x="164245" y="75918"/>
                </a:lnTo>
                <a:cubicBezTo>
                  <a:pt x="166754" y="78428"/>
                  <a:pt x="167149" y="82376"/>
                  <a:pt x="165175" y="85309"/>
                </a:cubicBezTo>
                <a:lnTo>
                  <a:pt x="158604" y="95151"/>
                </a:lnTo>
                <a:cubicBezTo>
                  <a:pt x="159140" y="96477"/>
                  <a:pt x="159620" y="97859"/>
                  <a:pt x="160014" y="99297"/>
                </a:cubicBezTo>
                <a:cubicBezTo>
                  <a:pt x="160409" y="100735"/>
                  <a:pt x="160663" y="102145"/>
                  <a:pt x="160860" y="103583"/>
                </a:cubicBezTo>
                <a:lnTo>
                  <a:pt x="171492" y="108829"/>
                </a:lnTo>
                <a:cubicBezTo>
                  <a:pt x="174679" y="110408"/>
                  <a:pt x="176315" y="114018"/>
                  <a:pt x="175384" y="117430"/>
                </a:cubicBezTo>
                <a:lnTo>
                  <a:pt x="173410" y="124819"/>
                </a:lnTo>
                <a:cubicBezTo>
                  <a:pt x="172479" y="128231"/>
                  <a:pt x="169293" y="130544"/>
                  <a:pt x="165739" y="130318"/>
                </a:cubicBezTo>
                <a:lnTo>
                  <a:pt x="153895" y="129557"/>
                </a:lnTo>
                <a:cubicBezTo>
                  <a:pt x="152118" y="131841"/>
                  <a:pt x="150059" y="133956"/>
                  <a:pt x="147719" y="135761"/>
                </a:cubicBezTo>
                <a:lnTo>
                  <a:pt x="148480" y="147578"/>
                </a:lnTo>
                <a:cubicBezTo>
                  <a:pt x="148706" y="151131"/>
                  <a:pt x="146393" y="154346"/>
                  <a:pt x="142981" y="155248"/>
                </a:cubicBezTo>
                <a:lnTo>
                  <a:pt x="135592" y="157222"/>
                </a:lnTo>
                <a:cubicBezTo>
                  <a:pt x="132151" y="158153"/>
                  <a:pt x="128570" y="156517"/>
                  <a:pt x="126991" y="153331"/>
                </a:cubicBezTo>
                <a:lnTo>
                  <a:pt x="121745" y="142727"/>
                </a:lnTo>
                <a:cubicBezTo>
                  <a:pt x="118840" y="142332"/>
                  <a:pt x="115992" y="141542"/>
                  <a:pt x="113313" y="140443"/>
                </a:cubicBezTo>
                <a:lnTo>
                  <a:pt x="103442" y="147014"/>
                </a:lnTo>
                <a:cubicBezTo>
                  <a:pt x="100481" y="148988"/>
                  <a:pt x="96561" y="148593"/>
                  <a:pt x="94051" y="146083"/>
                </a:cubicBezTo>
                <a:lnTo>
                  <a:pt x="88637" y="140668"/>
                </a:lnTo>
                <a:cubicBezTo>
                  <a:pt x="86127" y="138158"/>
                  <a:pt x="85732" y="134238"/>
                  <a:pt x="87706" y="131277"/>
                </a:cubicBezTo>
                <a:lnTo>
                  <a:pt x="94277" y="121407"/>
                </a:lnTo>
                <a:cubicBezTo>
                  <a:pt x="93741" y="120081"/>
                  <a:pt x="93262" y="118699"/>
                  <a:pt x="92867" y="117261"/>
                </a:cubicBezTo>
                <a:cubicBezTo>
                  <a:pt x="92472" y="115823"/>
                  <a:pt x="92218" y="114385"/>
                  <a:pt x="92021" y="112975"/>
                </a:cubicBezTo>
                <a:lnTo>
                  <a:pt x="81389" y="107729"/>
                </a:lnTo>
                <a:cubicBezTo>
                  <a:pt x="78202" y="106150"/>
                  <a:pt x="76595" y="102540"/>
                  <a:pt x="77497" y="99128"/>
                </a:cubicBezTo>
                <a:lnTo>
                  <a:pt x="79471" y="91739"/>
                </a:lnTo>
                <a:cubicBezTo>
                  <a:pt x="80402" y="88327"/>
                  <a:pt x="83589" y="86014"/>
                  <a:pt x="87142" y="86240"/>
                </a:cubicBezTo>
                <a:lnTo>
                  <a:pt x="98958" y="87001"/>
                </a:lnTo>
                <a:cubicBezTo>
                  <a:pt x="100735" y="84717"/>
                  <a:pt x="102794" y="82602"/>
                  <a:pt x="105135" y="80797"/>
                </a:cubicBezTo>
                <a:lnTo>
                  <a:pt x="104373" y="69009"/>
                </a:lnTo>
                <a:cubicBezTo>
                  <a:pt x="104148" y="65455"/>
                  <a:pt x="106460" y="62240"/>
                  <a:pt x="109872" y="61338"/>
                </a:cubicBezTo>
                <a:lnTo>
                  <a:pt x="117261" y="59364"/>
                </a:lnTo>
                <a:close/>
                <a:moveTo>
                  <a:pt x="126455" y="95885"/>
                </a:moveTo>
                <a:cubicBezTo>
                  <a:pt x="119606" y="95892"/>
                  <a:pt x="114053" y="101459"/>
                  <a:pt x="114060" y="108307"/>
                </a:cubicBezTo>
                <a:cubicBezTo>
                  <a:pt x="114068" y="115156"/>
                  <a:pt x="119634" y="120709"/>
                  <a:pt x="126483" y="120702"/>
                </a:cubicBezTo>
                <a:cubicBezTo>
                  <a:pt x="133331" y="120694"/>
                  <a:pt x="138885" y="115128"/>
                  <a:pt x="138877" y="108279"/>
                </a:cubicBezTo>
                <a:cubicBezTo>
                  <a:pt x="138870" y="101431"/>
                  <a:pt x="133303" y="95877"/>
                  <a:pt x="126455" y="95885"/>
                </a:cubicBezTo>
                <a:close/>
                <a:moveTo>
                  <a:pt x="63425" y="-12832"/>
                </a:moveTo>
                <a:lnTo>
                  <a:pt x="70814" y="-10858"/>
                </a:lnTo>
                <a:cubicBezTo>
                  <a:pt x="74226" y="-9927"/>
                  <a:pt x="76538" y="-6712"/>
                  <a:pt x="76313" y="-3187"/>
                </a:cubicBezTo>
                <a:lnTo>
                  <a:pt x="75551" y="8601"/>
                </a:lnTo>
                <a:cubicBezTo>
                  <a:pt x="77892" y="10406"/>
                  <a:pt x="79951" y="12493"/>
                  <a:pt x="81727" y="14806"/>
                </a:cubicBezTo>
                <a:lnTo>
                  <a:pt x="93572" y="14044"/>
                </a:lnTo>
                <a:cubicBezTo>
                  <a:pt x="97097" y="13819"/>
                  <a:pt x="100312" y="16131"/>
                  <a:pt x="101243" y="19544"/>
                </a:cubicBezTo>
                <a:lnTo>
                  <a:pt x="103217" y="26932"/>
                </a:lnTo>
                <a:cubicBezTo>
                  <a:pt x="104119" y="30345"/>
                  <a:pt x="102512" y="33954"/>
                  <a:pt x="99325" y="35534"/>
                </a:cubicBezTo>
                <a:lnTo>
                  <a:pt x="88693" y="40779"/>
                </a:lnTo>
                <a:cubicBezTo>
                  <a:pt x="88496" y="42217"/>
                  <a:pt x="88214" y="43656"/>
                  <a:pt x="87847" y="45066"/>
                </a:cubicBezTo>
                <a:cubicBezTo>
                  <a:pt x="87481" y="46476"/>
                  <a:pt x="86973" y="47886"/>
                  <a:pt x="86437" y="49211"/>
                </a:cubicBezTo>
                <a:lnTo>
                  <a:pt x="93008" y="59082"/>
                </a:lnTo>
                <a:cubicBezTo>
                  <a:pt x="94982" y="62043"/>
                  <a:pt x="94587" y="65963"/>
                  <a:pt x="92077" y="68473"/>
                </a:cubicBezTo>
                <a:lnTo>
                  <a:pt x="86663" y="73887"/>
                </a:lnTo>
                <a:cubicBezTo>
                  <a:pt x="84153" y="76397"/>
                  <a:pt x="80233" y="76792"/>
                  <a:pt x="77272" y="74818"/>
                </a:cubicBezTo>
                <a:lnTo>
                  <a:pt x="67401" y="68247"/>
                </a:lnTo>
                <a:cubicBezTo>
                  <a:pt x="64722" y="69347"/>
                  <a:pt x="61874" y="70137"/>
                  <a:pt x="58969" y="70532"/>
                </a:cubicBezTo>
                <a:lnTo>
                  <a:pt x="53724" y="81135"/>
                </a:lnTo>
                <a:cubicBezTo>
                  <a:pt x="52144" y="84322"/>
                  <a:pt x="48534" y="85929"/>
                  <a:pt x="45122" y="85027"/>
                </a:cubicBezTo>
                <a:lnTo>
                  <a:pt x="37733" y="83053"/>
                </a:lnTo>
                <a:cubicBezTo>
                  <a:pt x="34293" y="82122"/>
                  <a:pt x="32009" y="78907"/>
                  <a:pt x="32234" y="75382"/>
                </a:cubicBezTo>
                <a:lnTo>
                  <a:pt x="32996" y="63566"/>
                </a:lnTo>
                <a:cubicBezTo>
                  <a:pt x="30655" y="61761"/>
                  <a:pt x="28596" y="59674"/>
                  <a:pt x="26819" y="57362"/>
                </a:cubicBezTo>
                <a:lnTo>
                  <a:pt x="14975" y="58123"/>
                </a:lnTo>
                <a:cubicBezTo>
                  <a:pt x="11450" y="58349"/>
                  <a:pt x="8235" y="56036"/>
                  <a:pt x="7304" y="52624"/>
                </a:cubicBezTo>
                <a:lnTo>
                  <a:pt x="5330" y="45235"/>
                </a:lnTo>
                <a:cubicBezTo>
                  <a:pt x="4428" y="41823"/>
                  <a:pt x="6035" y="38213"/>
                  <a:pt x="9222" y="36634"/>
                </a:cubicBezTo>
                <a:lnTo>
                  <a:pt x="19854" y="31388"/>
                </a:lnTo>
                <a:cubicBezTo>
                  <a:pt x="20051" y="29950"/>
                  <a:pt x="20333" y="28540"/>
                  <a:pt x="20700" y="27101"/>
                </a:cubicBezTo>
                <a:cubicBezTo>
                  <a:pt x="21095" y="25663"/>
                  <a:pt x="21546" y="24281"/>
                  <a:pt x="22110" y="22956"/>
                </a:cubicBezTo>
                <a:lnTo>
                  <a:pt x="15539" y="13114"/>
                </a:lnTo>
                <a:cubicBezTo>
                  <a:pt x="13565" y="10152"/>
                  <a:pt x="13960" y="6232"/>
                  <a:pt x="16470" y="3723"/>
                </a:cubicBezTo>
                <a:lnTo>
                  <a:pt x="21884" y="-1692"/>
                </a:lnTo>
                <a:cubicBezTo>
                  <a:pt x="24394" y="-4202"/>
                  <a:pt x="28314" y="-4597"/>
                  <a:pt x="31275" y="-2623"/>
                </a:cubicBezTo>
                <a:lnTo>
                  <a:pt x="41146" y="3948"/>
                </a:lnTo>
                <a:cubicBezTo>
                  <a:pt x="43825" y="2848"/>
                  <a:pt x="46673" y="2059"/>
                  <a:pt x="49578" y="1664"/>
                </a:cubicBezTo>
                <a:lnTo>
                  <a:pt x="54823" y="-8940"/>
                </a:lnTo>
                <a:cubicBezTo>
                  <a:pt x="56403" y="-12127"/>
                  <a:pt x="59984" y="-13734"/>
                  <a:pt x="63425" y="-12832"/>
                </a:cubicBezTo>
                <a:close/>
                <a:moveTo>
                  <a:pt x="54259" y="23689"/>
                </a:moveTo>
                <a:cubicBezTo>
                  <a:pt x="47411" y="23689"/>
                  <a:pt x="41851" y="29249"/>
                  <a:pt x="41851" y="36098"/>
                </a:cubicBezTo>
                <a:cubicBezTo>
                  <a:pt x="41851" y="42946"/>
                  <a:pt x="47411" y="48506"/>
                  <a:pt x="54259" y="48506"/>
                </a:cubicBezTo>
                <a:cubicBezTo>
                  <a:pt x="61108" y="48506"/>
                  <a:pt x="66668" y="42946"/>
                  <a:pt x="66668" y="36098"/>
                </a:cubicBezTo>
                <a:cubicBezTo>
                  <a:pt x="66668" y="29249"/>
                  <a:pt x="61108" y="23689"/>
                  <a:pt x="54259" y="23689"/>
                </a:cubicBezTo>
                <a:close/>
              </a:path>
            </a:pathLst>
          </a:custGeom>
          <a:solidFill>
            <a:srgbClr val="7A6250"/>
          </a:solidFill>
          <a:ln/>
        </p:spPr>
      </p:sp>
      <p:sp>
        <p:nvSpPr>
          <p:cNvPr id="20" name="Text 18"/>
          <p:cNvSpPr/>
          <p:nvPr/>
        </p:nvSpPr>
        <p:spPr>
          <a:xfrm>
            <a:off x="4653925" y="1913178"/>
            <a:ext cx="1516104" cy="216586"/>
          </a:xfrm>
          <a:prstGeom prst="rect">
            <a:avLst/>
          </a:prstGeom>
          <a:noFill/>
          <a:ln/>
        </p:spPr>
        <p:txBody>
          <a:bodyPr wrap="square" lIns="0" tIns="0" rIns="0" bIns="0" rtlCol="0" anchor="ctr"/>
          <a:lstStyle/>
          <a:p>
            <a:pPr>
              <a:lnSpc>
                <a:spcPct val="130000"/>
              </a:lnSpc>
            </a:pPr>
            <a:r>
              <a:rPr lang="en-US" sz="1137" b="1" dirty="0">
                <a:solidFill>
                  <a:srgbClr val="3A4D39"/>
                </a:solidFill>
                <a:latin typeface="Unna" pitchFamily="34" charset="0"/>
                <a:ea typeface="Unna" pitchFamily="34" charset="-122"/>
                <a:cs typeface="Unna" pitchFamily="34" charset="-120"/>
              </a:rPr>
              <a:t>Operational Procedures</a:t>
            </a:r>
            <a:endParaRPr lang="en-US" sz="1600" dirty="0"/>
          </a:p>
        </p:txBody>
      </p:sp>
      <p:sp>
        <p:nvSpPr>
          <p:cNvPr id="21" name="Text 19"/>
          <p:cNvSpPr/>
          <p:nvPr/>
        </p:nvSpPr>
        <p:spPr>
          <a:xfrm>
            <a:off x="4401241" y="2201960"/>
            <a:ext cx="3501477" cy="216586"/>
          </a:xfrm>
          <a:prstGeom prst="rect">
            <a:avLst/>
          </a:prstGeom>
          <a:noFill/>
          <a:ln/>
        </p:spPr>
        <p:txBody>
          <a:bodyPr wrap="square" lIns="0" tIns="0" rIns="0" bIns="0" rtlCol="0" anchor="ctr"/>
          <a:lstStyle/>
          <a:p>
            <a:pPr>
              <a:lnSpc>
                <a:spcPct val="130000"/>
              </a:lnSpc>
            </a:pPr>
            <a:r>
              <a:rPr lang="en-US" sz="1137" dirty="0">
                <a:solidFill>
                  <a:srgbClr val="2C2C2C"/>
                </a:solidFill>
                <a:latin typeface="Quattrocento Sans" pitchFamily="34" charset="0"/>
                <a:ea typeface="Quattrocento Sans" pitchFamily="34" charset="-122"/>
                <a:cs typeface="Quattrocento Sans" pitchFamily="34" charset="-120"/>
              </a:rPr>
              <a:t>• Growing techniques and schedules</a:t>
            </a:r>
            <a:endParaRPr lang="en-US" sz="1600" dirty="0"/>
          </a:p>
        </p:txBody>
      </p:sp>
      <p:sp>
        <p:nvSpPr>
          <p:cNvPr id="22" name="Text 20"/>
          <p:cNvSpPr/>
          <p:nvPr/>
        </p:nvSpPr>
        <p:spPr>
          <a:xfrm>
            <a:off x="4401241" y="2454644"/>
            <a:ext cx="3501477" cy="216586"/>
          </a:xfrm>
          <a:prstGeom prst="rect">
            <a:avLst/>
          </a:prstGeom>
          <a:noFill/>
          <a:ln/>
        </p:spPr>
        <p:txBody>
          <a:bodyPr wrap="square" lIns="0" tIns="0" rIns="0" bIns="0" rtlCol="0" anchor="ctr"/>
          <a:lstStyle/>
          <a:p>
            <a:pPr>
              <a:lnSpc>
                <a:spcPct val="130000"/>
              </a:lnSpc>
            </a:pPr>
            <a:r>
              <a:rPr lang="en-US" sz="1137" dirty="0">
                <a:solidFill>
                  <a:srgbClr val="2C2C2C"/>
                </a:solidFill>
                <a:latin typeface="Quattrocento Sans" pitchFamily="34" charset="0"/>
                <a:ea typeface="Quattrocento Sans" pitchFamily="34" charset="-122"/>
                <a:cs typeface="Quattrocento Sans" pitchFamily="34" charset="-120"/>
              </a:rPr>
              <a:t>• Input formulations and application rates</a:t>
            </a:r>
            <a:endParaRPr lang="en-US" sz="1600" dirty="0"/>
          </a:p>
        </p:txBody>
      </p:sp>
      <p:sp>
        <p:nvSpPr>
          <p:cNvPr id="23" name="Text 21"/>
          <p:cNvSpPr/>
          <p:nvPr/>
        </p:nvSpPr>
        <p:spPr>
          <a:xfrm>
            <a:off x="4401241" y="2707328"/>
            <a:ext cx="3501477" cy="216586"/>
          </a:xfrm>
          <a:prstGeom prst="rect">
            <a:avLst/>
          </a:prstGeom>
          <a:noFill/>
          <a:ln/>
        </p:spPr>
        <p:txBody>
          <a:bodyPr wrap="square" lIns="0" tIns="0" rIns="0" bIns="0" rtlCol="0" anchor="ctr"/>
          <a:lstStyle/>
          <a:p>
            <a:pPr>
              <a:lnSpc>
                <a:spcPct val="130000"/>
              </a:lnSpc>
            </a:pPr>
            <a:r>
              <a:rPr lang="en-US" sz="1137" dirty="0">
                <a:solidFill>
                  <a:srgbClr val="2C2C2C"/>
                </a:solidFill>
                <a:latin typeface="Quattrocento Sans" pitchFamily="34" charset="0"/>
                <a:ea typeface="Quattrocento Sans" pitchFamily="34" charset="-122"/>
                <a:cs typeface="Quattrocento Sans" pitchFamily="34" charset="-120"/>
              </a:rPr>
              <a:t>• Quality control processes</a:t>
            </a:r>
            <a:endParaRPr lang="en-US" sz="1600" dirty="0"/>
          </a:p>
        </p:txBody>
      </p:sp>
      <p:sp>
        <p:nvSpPr>
          <p:cNvPr id="24" name="Text 22"/>
          <p:cNvSpPr/>
          <p:nvPr/>
        </p:nvSpPr>
        <p:spPr>
          <a:xfrm>
            <a:off x="4401241" y="2960012"/>
            <a:ext cx="3501477" cy="216586"/>
          </a:xfrm>
          <a:prstGeom prst="rect">
            <a:avLst/>
          </a:prstGeom>
          <a:noFill/>
          <a:ln/>
        </p:spPr>
        <p:txBody>
          <a:bodyPr wrap="square" lIns="0" tIns="0" rIns="0" bIns="0" rtlCol="0" anchor="ctr"/>
          <a:lstStyle/>
          <a:p>
            <a:pPr>
              <a:lnSpc>
                <a:spcPct val="130000"/>
              </a:lnSpc>
            </a:pPr>
            <a:r>
              <a:rPr lang="en-US" sz="1137" dirty="0">
                <a:solidFill>
                  <a:srgbClr val="2C2C2C"/>
                </a:solidFill>
                <a:latin typeface="Quattrocento Sans" pitchFamily="34" charset="0"/>
                <a:ea typeface="Quattrocento Sans" pitchFamily="34" charset="-122"/>
                <a:cs typeface="Quattrocento Sans" pitchFamily="34" charset="-120"/>
              </a:rPr>
              <a:t>• Staff management practices</a:t>
            </a:r>
            <a:endParaRPr lang="en-US" sz="1600" dirty="0"/>
          </a:p>
        </p:txBody>
      </p:sp>
      <p:sp>
        <p:nvSpPr>
          <p:cNvPr id="25" name="Shape 23"/>
          <p:cNvSpPr/>
          <p:nvPr/>
        </p:nvSpPr>
        <p:spPr>
          <a:xfrm>
            <a:off x="8044430" y="1804885"/>
            <a:ext cx="3645868" cy="1480006"/>
          </a:xfrm>
          <a:custGeom>
            <a:avLst/>
            <a:gdLst/>
            <a:ahLst/>
            <a:cxnLst/>
            <a:rect l="l" t="t" r="r" b="b"/>
            <a:pathLst>
              <a:path w="3645868" h="1480006">
                <a:moveTo>
                  <a:pt x="72195" y="0"/>
                </a:moveTo>
                <a:lnTo>
                  <a:pt x="3573674" y="0"/>
                </a:lnTo>
                <a:cubicBezTo>
                  <a:pt x="3613546" y="0"/>
                  <a:pt x="3645868" y="32323"/>
                  <a:pt x="3645868" y="72195"/>
                </a:cubicBezTo>
                <a:lnTo>
                  <a:pt x="3645868" y="1407811"/>
                </a:lnTo>
                <a:cubicBezTo>
                  <a:pt x="3645868" y="1447683"/>
                  <a:pt x="3613546" y="1480006"/>
                  <a:pt x="3573674" y="1480006"/>
                </a:cubicBezTo>
                <a:lnTo>
                  <a:pt x="72195" y="1480006"/>
                </a:lnTo>
                <a:cubicBezTo>
                  <a:pt x="32349" y="1480006"/>
                  <a:pt x="0" y="1447657"/>
                  <a:pt x="0" y="1407811"/>
                </a:cubicBezTo>
                <a:lnTo>
                  <a:pt x="0" y="72195"/>
                </a:lnTo>
                <a:cubicBezTo>
                  <a:pt x="0" y="32349"/>
                  <a:pt x="32349" y="0"/>
                  <a:pt x="72195" y="0"/>
                </a:cubicBezTo>
                <a:close/>
              </a:path>
            </a:pathLst>
          </a:custGeom>
          <a:solidFill>
            <a:srgbClr val="F8F6F2"/>
          </a:solidFill>
          <a:ln/>
        </p:spPr>
      </p:sp>
      <p:sp>
        <p:nvSpPr>
          <p:cNvPr id="26" name="Shape 24"/>
          <p:cNvSpPr/>
          <p:nvPr/>
        </p:nvSpPr>
        <p:spPr>
          <a:xfrm>
            <a:off x="8161748" y="1949276"/>
            <a:ext cx="162440" cy="144391"/>
          </a:xfrm>
          <a:custGeom>
            <a:avLst/>
            <a:gdLst/>
            <a:ahLst/>
            <a:cxnLst/>
            <a:rect l="l" t="t" r="r" b="b"/>
            <a:pathLst>
              <a:path w="162440" h="144391">
                <a:moveTo>
                  <a:pt x="75833" y="24028"/>
                </a:moveTo>
                <a:lnTo>
                  <a:pt x="42951" y="60576"/>
                </a:lnTo>
                <a:cubicBezTo>
                  <a:pt x="41653" y="62015"/>
                  <a:pt x="41710" y="64243"/>
                  <a:pt x="43092" y="65625"/>
                </a:cubicBezTo>
                <a:cubicBezTo>
                  <a:pt x="51693" y="74226"/>
                  <a:pt x="65653" y="74226"/>
                  <a:pt x="74254" y="65625"/>
                </a:cubicBezTo>
                <a:lnTo>
                  <a:pt x="83222" y="56656"/>
                </a:lnTo>
                <a:cubicBezTo>
                  <a:pt x="84407" y="55472"/>
                  <a:pt x="85901" y="54823"/>
                  <a:pt x="87424" y="54711"/>
                </a:cubicBezTo>
                <a:cubicBezTo>
                  <a:pt x="89342" y="54541"/>
                  <a:pt x="91316" y="55190"/>
                  <a:pt x="92782" y="56656"/>
                </a:cubicBezTo>
                <a:lnTo>
                  <a:pt x="142586" y="106037"/>
                </a:lnTo>
                <a:lnTo>
                  <a:pt x="162440" y="90244"/>
                </a:lnTo>
                <a:lnTo>
                  <a:pt x="162440" y="9024"/>
                </a:lnTo>
                <a:lnTo>
                  <a:pt x="130854" y="27073"/>
                </a:lnTo>
                <a:lnTo>
                  <a:pt x="124142" y="22589"/>
                </a:lnTo>
                <a:cubicBezTo>
                  <a:pt x="119686" y="19628"/>
                  <a:pt x="114469" y="18049"/>
                  <a:pt x="109111" y="18049"/>
                </a:cubicBezTo>
                <a:lnTo>
                  <a:pt x="89257" y="18049"/>
                </a:lnTo>
                <a:cubicBezTo>
                  <a:pt x="88947" y="18049"/>
                  <a:pt x="88609" y="18049"/>
                  <a:pt x="88298" y="18077"/>
                </a:cubicBezTo>
                <a:cubicBezTo>
                  <a:pt x="83532" y="18331"/>
                  <a:pt x="79048" y="20474"/>
                  <a:pt x="75833" y="24028"/>
                </a:cubicBezTo>
                <a:close/>
                <a:moveTo>
                  <a:pt x="32883" y="51524"/>
                </a:moveTo>
                <a:lnTo>
                  <a:pt x="63002" y="18049"/>
                </a:lnTo>
                <a:lnTo>
                  <a:pt x="51834" y="18049"/>
                </a:lnTo>
                <a:cubicBezTo>
                  <a:pt x="44643" y="18049"/>
                  <a:pt x="37762" y="20897"/>
                  <a:pt x="32685" y="25973"/>
                </a:cubicBezTo>
                <a:lnTo>
                  <a:pt x="31585" y="27073"/>
                </a:lnTo>
                <a:lnTo>
                  <a:pt x="0" y="9024"/>
                </a:lnTo>
                <a:lnTo>
                  <a:pt x="0" y="90244"/>
                </a:lnTo>
                <a:lnTo>
                  <a:pt x="44107" y="126991"/>
                </a:lnTo>
                <a:cubicBezTo>
                  <a:pt x="50593" y="132405"/>
                  <a:pt x="58772" y="135366"/>
                  <a:pt x="67204" y="135366"/>
                </a:cubicBezTo>
                <a:lnTo>
                  <a:pt x="71631" y="135366"/>
                </a:lnTo>
                <a:lnTo>
                  <a:pt x="69657" y="133392"/>
                </a:lnTo>
                <a:cubicBezTo>
                  <a:pt x="67006" y="130741"/>
                  <a:pt x="67006" y="126455"/>
                  <a:pt x="69657" y="123832"/>
                </a:cubicBezTo>
                <a:cubicBezTo>
                  <a:pt x="72308" y="121209"/>
                  <a:pt x="76595" y="121181"/>
                  <a:pt x="79218" y="123832"/>
                </a:cubicBezTo>
                <a:lnTo>
                  <a:pt x="90780" y="135395"/>
                </a:lnTo>
                <a:lnTo>
                  <a:pt x="93318" y="135395"/>
                </a:lnTo>
                <a:cubicBezTo>
                  <a:pt x="98705" y="135395"/>
                  <a:pt x="103978" y="134182"/>
                  <a:pt x="108773" y="131926"/>
                </a:cubicBezTo>
                <a:lnTo>
                  <a:pt x="101243" y="124368"/>
                </a:lnTo>
                <a:cubicBezTo>
                  <a:pt x="98592" y="121717"/>
                  <a:pt x="98592" y="117430"/>
                  <a:pt x="101243" y="114808"/>
                </a:cubicBezTo>
                <a:cubicBezTo>
                  <a:pt x="103894" y="112185"/>
                  <a:pt x="108180" y="112157"/>
                  <a:pt x="110803" y="114808"/>
                </a:cubicBezTo>
                <a:lnTo>
                  <a:pt x="119827" y="123832"/>
                </a:lnTo>
                <a:lnTo>
                  <a:pt x="124763" y="118897"/>
                </a:lnTo>
                <a:cubicBezTo>
                  <a:pt x="127273" y="116387"/>
                  <a:pt x="128006" y="112749"/>
                  <a:pt x="126906" y="109562"/>
                </a:cubicBezTo>
                <a:lnTo>
                  <a:pt x="88016" y="70983"/>
                </a:lnTo>
                <a:lnTo>
                  <a:pt x="83814" y="75185"/>
                </a:lnTo>
                <a:cubicBezTo>
                  <a:pt x="69911" y="89088"/>
                  <a:pt x="47406" y="89088"/>
                  <a:pt x="33503" y="75185"/>
                </a:cubicBezTo>
                <a:cubicBezTo>
                  <a:pt x="27017" y="68698"/>
                  <a:pt x="26763" y="58292"/>
                  <a:pt x="32883" y="51496"/>
                </a:cubicBezTo>
                <a:close/>
              </a:path>
            </a:pathLst>
          </a:custGeom>
          <a:solidFill>
            <a:srgbClr val="3A4D39"/>
          </a:solidFill>
          <a:ln/>
        </p:spPr>
      </p:sp>
      <p:sp>
        <p:nvSpPr>
          <p:cNvPr id="27" name="Text 25"/>
          <p:cNvSpPr/>
          <p:nvPr/>
        </p:nvSpPr>
        <p:spPr>
          <a:xfrm>
            <a:off x="8405407" y="1913178"/>
            <a:ext cx="1489030" cy="216586"/>
          </a:xfrm>
          <a:prstGeom prst="rect">
            <a:avLst/>
          </a:prstGeom>
          <a:noFill/>
          <a:ln/>
        </p:spPr>
        <p:txBody>
          <a:bodyPr wrap="square" lIns="0" tIns="0" rIns="0" bIns="0" rtlCol="0" anchor="ctr"/>
          <a:lstStyle/>
          <a:p>
            <a:pPr>
              <a:lnSpc>
                <a:spcPct val="130000"/>
              </a:lnSpc>
            </a:pPr>
            <a:r>
              <a:rPr lang="en-US" sz="1137" b="1" dirty="0">
                <a:solidFill>
                  <a:srgbClr val="3A4D39"/>
                </a:solidFill>
                <a:latin typeface="Unna" pitchFamily="34" charset="0"/>
                <a:ea typeface="Unna" pitchFamily="34" charset="-122"/>
                <a:cs typeface="Unna" pitchFamily="34" charset="-120"/>
              </a:rPr>
              <a:t>Business Relationships</a:t>
            </a:r>
            <a:endParaRPr lang="en-US" sz="1600" dirty="0"/>
          </a:p>
        </p:txBody>
      </p:sp>
      <p:sp>
        <p:nvSpPr>
          <p:cNvPr id="28" name="Text 26"/>
          <p:cNvSpPr/>
          <p:nvPr/>
        </p:nvSpPr>
        <p:spPr>
          <a:xfrm>
            <a:off x="8152723" y="2201960"/>
            <a:ext cx="3501477" cy="216586"/>
          </a:xfrm>
          <a:prstGeom prst="rect">
            <a:avLst/>
          </a:prstGeom>
          <a:noFill/>
          <a:ln/>
        </p:spPr>
        <p:txBody>
          <a:bodyPr wrap="square" lIns="0" tIns="0" rIns="0" bIns="0" rtlCol="0" anchor="ctr"/>
          <a:lstStyle/>
          <a:p>
            <a:pPr>
              <a:lnSpc>
                <a:spcPct val="130000"/>
              </a:lnSpc>
            </a:pPr>
            <a:r>
              <a:rPr lang="en-US" sz="1137" dirty="0">
                <a:solidFill>
                  <a:srgbClr val="2C2C2C"/>
                </a:solidFill>
                <a:latin typeface="Quattrocento Sans" pitchFamily="34" charset="0"/>
                <a:ea typeface="Quattrocento Sans" pitchFamily="34" charset="-122"/>
                <a:cs typeface="Quattrocento Sans" pitchFamily="34" charset="-120"/>
              </a:rPr>
              <a:t>• Supplier identities and pricing</a:t>
            </a:r>
            <a:endParaRPr lang="en-US" sz="1600" dirty="0"/>
          </a:p>
        </p:txBody>
      </p:sp>
      <p:sp>
        <p:nvSpPr>
          <p:cNvPr id="29" name="Text 27"/>
          <p:cNvSpPr/>
          <p:nvPr/>
        </p:nvSpPr>
        <p:spPr>
          <a:xfrm>
            <a:off x="8152723" y="2454644"/>
            <a:ext cx="3501477" cy="216586"/>
          </a:xfrm>
          <a:prstGeom prst="rect">
            <a:avLst/>
          </a:prstGeom>
          <a:noFill/>
          <a:ln/>
        </p:spPr>
        <p:txBody>
          <a:bodyPr wrap="square" lIns="0" tIns="0" rIns="0" bIns="0" rtlCol="0" anchor="ctr"/>
          <a:lstStyle/>
          <a:p>
            <a:pPr>
              <a:lnSpc>
                <a:spcPct val="130000"/>
              </a:lnSpc>
            </a:pPr>
            <a:r>
              <a:rPr lang="en-US" sz="1137" dirty="0">
                <a:solidFill>
                  <a:srgbClr val="2C2C2C"/>
                </a:solidFill>
                <a:latin typeface="Quattrocento Sans" pitchFamily="34" charset="0"/>
                <a:ea typeface="Quattrocento Sans" pitchFamily="34" charset="-122"/>
                <a:cs typeface="Quattrocento Sans" pitchFamily="34" charset="-120"/>
              </a:rPr>
              <a:t>• Buyer contacts and contracts</a:t>
            </a:r>
            <a:endParaRPr lang="en-US" sz="1600" dirty="0"/>
          </a:p>
        </p:txBody>
      </p:sp>
      <p:sp>
        <p:nvSpPr>
          <p:cNvPr id="30" name="Text 28"/>
          <p:cNvSpPr/>
          <p:nvPr/>
        </p:nvSpPr>
        <p:spPr>
          <a:xfrm>
            <a:off x="8152723" y="2707328"/>
            <a:ext cx="3501477" cy="216586"/>
          </a:xfrm>
          <a:prstGeom prst="rect">
            <a:avLst/>
          </a:prstGeom>
          <a:noFill/>
          <a:ln/>
        </p:spPr>
        <p:txBody>
          <a:bodyPr wrap="square" lIns="0" tIns="0" rIns="0" bIns="0" rtlCol="0" anchor="ctr"/>
          <a:lstStyle/>
          <a:p>
            <a:pPr>
              <a:lnSpc>
                <a:spcPct val="130000"/>
              </a:lnSpc>
            </a:pPr>
            <a:r>
              <a:rPr lang="en-US" sz="1137" dirty="0">
                <a:solidFill>
                  <a:srgbClr val="2C2C2C"/>
                </a:solidFill>
                <a:latin typeface="Quattrocento Sans" pitchFamily="34" charset="0"/>
                <a:ea typeface="Quattrocento Sans" pitchFamily="34" charset="-122"/>
                <a:cs typeface="Quattrocento Sans" pitchFamily="34" charset="-120"/>
              </a:rPr>
              <a:t>• Distribution channel information</a:t>
            </a:r>
            <a:endParaRPr lang="en-US" sz="1600" dirty="0"/>
          </a:p>
        </p:txBody>
      </p:sp>
      <p:sp>
        <p:nvSpPr>
          <p:cNvPr id="31" name="Text 29"/>
          <p:cNvSpPr/>
          <p:nvPr/>
        </p:nvSpPr>
        <p:spPr>
          <a:xfrm>
            <a:off x="8152723" y="2960012"/>
            <a:ext cx="3501477" cy="216586"/>
          </a:xfrm>
          <a:prstGeom prst="rect">
            <a:avLst/>
          </a:prstGeom>
          <a:noFill/>
          <a:ln/>
        </p:spPr>
        <p:txBody>
          <a:bodyPr wrap="square" lIns="0" tIns="0" rIns="0" bIns="0" rtlCol="0" anchor="ctr"/>
          <a:lstStyle/>
          <a:p>
            <a:pPr>
              <a:lnSpc>
                <a:spcPct val="130000"/>
              </a:lnSpc>
            </a:pPr>
            <a:r>
              <a:rPr lang="en-US" sz="1137" dirty="0">
                <a:solidFill>
                  <a:srgbClr val="2C2C2C"/>
                </a:solidFill>
                <a:latin typeface="Quattrocento Sans" pitchFamily="34" charset="0"/>
                <a:ea typeface="Quattrocento Sans" pitchFamily="34" charset="-122"/>
                <a:cs typeface="Quattrocento Sans" pitchFamily="34" charset="-120"/>
              </a:rPr>
              <a:t>• Partnership agreement terms</a:t>
            </a:r>
            <a:endParaRPr lang="en-US" sz="1600" dirty="0"/>
          </a:p>
        </p:txBody>
      </p:sp>
      <p:sp>
        <p:nvSpPr>
          <p:cNvPr id="32" name="Shape 30"/>
          <p:cNvSpPr/>
          <p:nvPr/>
        </p:nvSpPr>
        <p:spPr>
          <a:xfrm>
            <a:off x="360977" y="3555624"/>
            <a:ext cx="5667340" cy="2039520"/>
          </a:xfrm>
          <a:custGeom>
            <a:avLst/>
            <a:gdLst/>
            <a:ahLst/>
            <a:cxnLst/>
            <a:rect l="l" t="t" r="r" b="b"/>
            <a:pathLst>
              <a:path w="5667340" h="2039520">
                <a:moveTo>
                  <a:pt x="36098" y="0"/>
                </a:moveTo>
                <a:lnTo>
                  <a:pt x="5631242" y="0"/>
                </a:lnTo>
                <a:cubicBezTo>
                  <a:pt x="5651178" y="0"/>
                  <a:pt x="5667340" y="16161"/>
                  <a:pt x="5667340" y="36098"/>
                </a:cubicBezTo>
                <a:lnTo>
                  <a:pt x="5667340" y="1967321"/>
                </a:lnTo>
                <a:cubicBezTo>
                  <a:pt x="5667340" y="2007196"/>
                  <a:pt x="5635015" y="2039520"/>
                  <a:pt x="5595141" y="2039520"/>
                </a:cubicBezTo>
                <a:lnTo>
                  <a:pt x="72199" y="2039520"/>
                </a:lnTo>
                <a:cubicBezTo>
                  <a:pt x="32325" y="2039520"/>
                  <a:pt x="0" y="2007196"/>
                  <a:pt x="0" y="1967321"/>
                </a:cubicBezTo>
                <a:lnTo>
                  <a:pt x="0" y="36098"/>
                </a:lnTo>
                <a:cubicBezTo>
                  <a:pt x="0" y="16175"/>
                  <a:pt x="16175" y="0"/>
                  <a:pt x="36098" y="0"/>
                </a:cubicBezTo>
                <a:close/>
              </a:path>
            </a:pathLst>
          </a:custGeom>
          <a:solidFill>
            <a:srgbClr val="FFFFFF"/>
          </a:solidFill>
          <a:ln/>
          <a:effectLst>
            <a:outerShdw sx="100000" sy="100000" kx="0" ky="0" algn="bl" rotWithShape="0" blurRad="27073" dist="9024" dir="5400000">
              <a:srgbClr val="000000">
                <a:alpha val="10196"/>
              </a:srgbClr>
            </a:outerShdw>
          </a:effectLst>
        </p:spPr>
      </p:sp>
      <p:sp>
        <p:nvSpPr>
          <p:cNvPr id="33" name="Shape 31"/>
          <p:cNvSpPr/>
          <p:nvPr/>
        </p:nvSpPr>
        <p:spPr>
          <a:xfrm>
            <a:off x="360977" y="3555624"/>
            <a:ext cx="5667340" cy="36098"/>
          </a:xfrm>
          <a:custGeom>
            <a:avLst/>
            <a:gdLst/>
            <a:ahLst/>
            <a:cxnLst/>
            <a:rect l="l" t="t" r="r" b="b"/>
            <a:pathLst>
              <a:path w="5667340" h="36098">
                <a:moveTo>
                  <a:pt x="36098" y="0"/>
                </a:moveTo>
                <a:lnTo>
                  <a:pt x="5631242" y="0"/>
                </a:lnTo>
                <a:cubicBezTo>
                  <a:pt x="5651178" y="0"/>
                  <a:pt x="5667340" y="16161"/>
                  <a:pt x="5667340" y="36098"/>
                </a:cubicBezTo>
                <a:lnTo>
                  <a:pt x="5667340" y="36098"/>
                </a:lnTo>
                <a:lnTo>
                  <a:pt x="0" y="36098"/>
                </a:lnTo>
                <a:lnTo>
                  <a:pt x="0" y="36098"/>
                </a:lnTo>
                <a:cubicBezTo>
                  <a:pt x="0" y="16175"/>
                  <a:pt x="16175" y="0"/>
                  <a:pt x="36098" y="0"/>
                </a:cubicBezTo>
                <a:close/>
              </a:path>
            </a:pathLst>
          </a:custGeom>
          <a:solidFill>
            <a:srgbClr val="7A6250"/>
          </a:solidFill>
          <a:ln/>
        </p:spPr>
      </p:sp>
      <p:sp>
        <p:nvSpPr>
          <p:cNvPr id="34" name="Shape 32"/>
          <p:cNvSpPr/>
          <p:nvPr/>
        </p:nvSpPr>
        <p:spPr>
          <a:xfrm>
            <a:off x="517776" y="3763186"/>
            <a:ext cx="182745" cy="162440"/>
          </a:xfrm>
          <a:custGeom>
            <a:avLst/>
            <a:gdLst/>
            <a:ahLst/>
            <a:cxnLst/>
            <a:rect l="l" t="t" r="r" b="b"/>
            <a:pathLst>
              <a:path w="182745" h="162440">
                <a:moveTo>
                  <a:pt x="71067" y="78682"/>
                </a:moveTo>
                <a:cubicBezTo>
                  <a:pt x="92080" y="78682"/>
                  <a:pt x="109139" y="61622"/>
                  <a:pt x="109139" y="40610"/>
                </a:cubicBezTo>
                <a:cubicBezTo>
                  <a:pt x="109139" y="19598"/>
                  <a:pt x="92080" y="2538"/>
                  <a:pt x="71067" y="2538"/>
                </a:cubicBezTo>
                <a:cubicBezTo>
                  <a:pt x="50055" y="2538"/>
                  <a:pt x="32996" y="19598"/>
                  <a:pt x="32996" y="40610"/>
                </a:cubicBezTo>
                <a:cubicBezTo>
                  <a:pt x="32996" y="61622"/>
                  <a:pt x="50055" y="78682"/>
                  <a:pt x="71067" y="78682"/>
                </a:cubicBezTo>
                <a:close/>
                <a:moveTo>
                  <a:pt x="61645" y="96449"/>
                </a:moveTo>
                <a:cubicBezTo>
                  <a:pt x="30394" y="96449"/>
                  <a:pt x="5076" y="121766"/>
                  <a:pt x="5076" y="153017"/>
                </a:cubicBezTo>
                <a:cubicBezTo>
                  <a:pt x="5076" y="158220"/>
                  <a:pt x="9296" y="162440"/>
                  <a:pt x="14499" y="162440"/>
                </a:cubicBezTo>
                <a:lnTo>
                  <a:pt x="94291" y="162440"/>
                </a:lnTo>
                <a:cubicBezTo>
                  <a:pt x="82806" y="148924"/>
                  <a:pt x="76144" y="131506"/>
                  <a:pt x="76144" y="113073"/>
                </a:cubicBezTo>
                <a:lnTo>
                  <a:pt x="76144" y="103206"/>
                </a:lnTo>
                <a:cubicBezTo>
                  <a:pt x="76144" y="100890"/>
                  <a:pt x="76461" y="98606"/>
                  <a:pt x="77064" y="96449"/>
                </a:cubicBezTo>
                <a:lnTo>
                  <a:pt x="61645" y="96449"/>
                </a:lnTo>
                <a:close/>
                <a:moveTo>
                  <a:pt x="141278" y="154984"/>
                </a:moveTo>
                <a:lnTo>
                  <a:pt x="137058" y="156983"/>
                </a:lnTo>
                <a:lnTo>
                  <a:pt x="137058" y="97305"/>
                </a:lnTo>
                <a:lnTo>
                  <a:pt x="167516" y="107458"/>
                </a:lnTo>
                <a:lnTo>
                  <a:pt x="167516" y="113676"/>
                </a:lnTo>
                <a:cubicBezTo>
                  <a:pt x="167516" y="131379"/>
                  <a:pt x="157300" y="147465"/>
                  <a:pt x="141278" y="155016"/>
                </a:cubicBezTo>
                <a:close/>
                <a:moveTo>
                  <a:pt x="133854" y="82330"/>
                </a:moveTo>
                <a:lnTo>
                  <a:pt x="98320" y="94164"/>
                </a:lnTo>
                <a:cubicBezTo>
                  <a:pt x="94164" y="95560"/>
                  <a:pt x="91372" y="99431"/>
                  <a:pt x="91372" y="103809"/>
                </a:cubicBezTo>
                <a:lnTo>
                  <a:pt x="91372" y="113676"/>
                </a:lnTo>
                <a:cubicBezTo>
                  <a:pt x="91372" y="137281"/>
                  <a:pt x="105015" y="158759"/>
                  <a:pt x="126335" y="168785"/>
                </a:cubicBezTo>
                <a:lnTo>
                  <a:pt x="132204" y="171545"/>
                </a:lnTo>
                <a:cubicBezTo>
                  <a:pt x="133727" y="172243"/>
                  <a:pt x="135377" y="172624"/>
                  <a:pt x="137027" y="172624"/>
                </a:cubicBezTo>
                <a:cubicBezTo>
                  <a:pt x="138677" y="172624"/>
                  <a:pt x="140358" y="172243"/>
                  <a:pt x="141849" y="171545"/>
                </a:cubicBezTo>
                <a:lnTo>
                  <a:pt x="147719" y="168785"/>
                </a:lnTo>
                <a:cubicBezTo>
                  <a:pt x="169102" y="158728"/>
                  <a:pt x="182745" y="137249"/>
                  <a:pt x="182745" y="113644"/>
                </a:cubicBezTo>
                <a:lnTo>
                  <a:pt x="182745" y="103777"/>
                </a:lnTo>
                <a:cubicBezTo>
                  <a:pt x="182745" y="99399"/>
                  <a:pt x="179953" y="95528"/>
                  <a:pt x="175797" y="94133"/>
                </a:cubicBezTo>
                <a:lnTo>
                  <a:pt x="140263" y="82299"/>
                </a:lnTo>
                <a:cubicBezTo>
                  <a:pt x="138169" y="81601"/>
                  <a:pt x="135916" y="81601"/>
                  <a:pt x="133854" y="82299"/>
                </a:cubicBezTo>
                <a:close/>
              </a:path>
            </a:pathLst>
          </a:custGeom>
          <a:solidFill>
            <a:srgbClr val="7A6250"/>
          </a:solidFill>
          <a:ln/>
        </p:spPr>
      </p:sp>
      <p:sp>
        <p:nvSpPr>
          <p:cNvPr id="35" name="Text 33"/>
          <p:cNvSpPr/>
          <p:nvPr/>
        </p:nvSpPr>
        <p:spPr>
          <a:xfrm>
            <a:off x="712930" y="3718064"/>
            <a:ext cx="5252216" cy="252684"/>
          </a:xfrm>
          <a:prstGeom prst="rect">
            <a:avLst/>
          </a:prstGeom>
          <a:noFill/>
          <a:ln/>
        </p:spPr>
        <p:txBody>
          <a:bodyPr wrap="square" lIns="0" tIns="0" rIns="0" bIns="0" rtlCol="0" anchor="ctr"/>
          <a:lstStyle/>
          <a:p>
            <a:pPr>
              <a:lnSpc>
                <a:spcPct val="130000"/>
              </a:lnSpc>
            </a:pPr>
            <a:r>
              <a:rPr lang="en-US" sz="1279" b="1" dirty="0">
                <a:solidFill>
                  <a:srgbClr val="3A4D39"/>
                </a:solidFill>
                <a:latin typeface="Unna" pitchFamily="34" charset="0"/>
                <a:ea typeface="Unna" pitchFamily="34" charset="-122"/>
                <a:cs typeface="Unna" pitchFamily="34" charset="-120"/>
              </a:rPr>
              <a:t>Confidentiality Obligations</a:t>
            </a:r>
            <a:endParaRPr lang="en-US" sz="1600" dirty="0"/>
          </a:p>
        </p:txBody>
      </p:sp>
      <p:sp>
        <p:nvSpPr>
          <p:cNvPr id="36" name="Shape 34"/>
          <p:cNvSpPr/>
          <p:nvPr/>
        </p:nvSpPr>
        <p:spPr>
          <a:xfrm>
            <a:off x="523417" y="4115138"/>
            <a:ext cx="144391" cy="144391"/>
          </a:xfrm>
          <a:custGeom>
            <a:avLst/>
            <a:gdLst/>
            <a:ahLst/>
            <a:cxnLst/>
            <a:rect l="l" t="t" r="r" b="b"/>
            <a:pathLst>
              <a:path w="144391" h="144391">
                <a:moveTo>
                  <a:pt x="72195" y="144391"/>
                </a:moveTo>
                <a:cubicBezTo>
                  <a:pt x="112041" y="144391"/>
                  <a:pt x="144391" y="112041"/>
                  <a:pt x="144391" y="72195"/>
                </a:cubicBezTo>
                <a:cubicBezTo>
                  <a:pt x="144391" y="32350"/>
                  <a:pt x="112041" y="0"/>
                  <a:pt x="72195" y="0"/>
                </a:cubicBezTo>
                <a:cubicBezTo>
                  <a:pt x="32350" y="0"/>
                  <a:pt x="0" y="32350"/>
                  <a:pt x="0" y="72195"/>
                </a:cubicBezTo>
                <a:cubicBezTo>
                  <a:pt x="0" y="112041"/>
                  <a:pt x="32350" y="144391"/>
                  <a:pt x="72195" y="144391"/>
                </a:cubicBezTo>
                <a:close/>
                <a:moveTo>
                  <a:pt x="95997" y="59984"/>
                </a:moveTo>
                <a:lnTo>
                  <a:pt x="73436" y="96082"/>
                </a:lnTo>
                <a:cubicBezTo>
                  <a:pt x="72252" y="97971"/>
                  <a:pt x="70221" y="99156"/>
                  <a:pt x="67993" y="99269"/>
                </a:cubicBezTo>
                <a:cubicBezTo>
                  <a:pt x="65766" y="99381"/>
                  <a:pt x="63622" y="98366"/>
                  <a:pt x="62297" y="96561"/>
                </a:cubicBezTo>
                <a:lnTo>
                  <a:pt x="48760" y="78513"/>
                </a:lnTo>
                <a:cubicBezTo>
                  <a:pt x="46504" y="75523"/>
                  <a:pt x="47124" y="71293"/>
                  <a:pt x="50114" y="69037"/>
                </a:cubicBezTo>
                <a:cubicBezTo>
                  <a:pt x="53103" y="66781"/>
                  <a:pt x="57333" y="67401"/>
                  <a:pt x="59589" y="70391"/>
                </a:cubicBezTo>
                <a:lnTo>
                  <a:pt x="67204" y="80543"/>
                </a:lnTo>
                <a:lnTo>
                  <a:pt x="84519" y="52821"/>
                </a:lnTo>
                <a:cubicBezTo>
                  <a:pt x="86493" y="49663"/>
                  <a:pt x="90667" y="48675"/>
                  <a:pt x="93854" y="50678"/>
                </a:cubicBezTo>
                <a:cubicBezTo>
                  <a:pt x="97041" y="52680"/>
                  <a:pt x="98000" y="56826"/>
                  <a:pt x="95997" y="60012"/>
                </a:cubicBezTo>
                <a:close/>
              </a:path>
            </a:pathLst>
          </a:custGeom>
          <a:solidFill>
            <a:srgbClr val="7A6250"/>
          </a:solidFill>
          <a:ln/>
        </p:spPr>
      </p:sp>
      <p:sp>
        <p:nvSpPr>
          <p:cNvPr id="37" name="Text 35"/>
          <p:cNvSpPr/>
          <p:nvPr/>
        </p:nvSpPr>
        <p:spPr>
          <a:xfrm>
            <a:off x="758052" y="4079041"/>
            <a:ext cx="4548311" cy="216586"/>
          </a:xfrm>
          <a:prstGeom prst="rect">
            <a:avLst/>
          </a:prstGeom>
          <a:noFill/>
          <a:ln/>
        </p:spPr>
        <p:txBody>
          <a:bodyPr wrap="square" lIns="0" tIns="0" rIns="0" bIns="0" rtlCol="0" anchor="ctr"/>
          <a:lstStyle/>
          <a:p>
            <a:pPr>
              <a:lnSpc>
                <a:spcPct val="130000"/>
              </a:lnSpc>
            </a:pPr>
            <a:r>
              <a:rPr lang="en-US" sz="1137" dirty="0">
                <a:solidFill>
                  <a:srgbClr val="2C2C2C"/>
                </a:solidFill>
                <a:latin typeface="Quattrocento Sans" pitchFamily="34" charset="0"/>
                <a:ea typeface="Quattrocento Sans" pitchFamily="34" charset="-122"/>
                <a:cs typeface="Quattrocento Sans" pitchFamily="34" charset="-120"/>
              </a:rPr>
              <a:t>All partners and their representatives must maintain strict confidentiality</a:t>
            </a:r>
            <a:endParaRPr lang="en-US" sz="1600" dirty="0"/>
          </a:p>
        </p:txBody>
      </p:sp>
      <p:sp>
        <p:nvSpPr>
          <p:cNvPr id="38" name="Shape 36"/>
          <p:cNvSpPr/>
          <p:nvPr/>
        </p:nvSpPr>
        <p:spPr>
          <a:xfrm>
            <a:off x="523417" y="4403920"/>
            <a:ext cx="144391" cy="144391"/>
          </a:xfrm>
          <a:custGeom>
            <a:avLst/>
            <a:gdLst/>
            <a:ahLst/>
            <a:cxnLst/>
            <a:rect l="l" t="t" r="r" b="b"/>
            <a:pathLst>
              <a:path w="144391" h="144391">
                <a:moveTo>
                  <a:pt x="72195" y="144391"/>
                </a:moveTo>
                <a:cubicBezTo>
                  <a:pt x="112041" y="144391"/>
                  <a:pt x="144391" y="112041"/>
                  <a:pt x="144391" y="72195"/>
                </a:cubicBezTo>
                <a:cubicBezTo>
                  <a:pt x="144391" y="32350"/>
                  <a:pt x="112041" y="0"/>
                  <a:pt x="72195" y="0"/>
                </a:cubicBezTo>
                <a:cubicBezTo>
                  <a:pt x="32350" y="0"/>
                  <a:pt x="0" y="32350"/>
                  <a:pt x="0" y="72195"/>
                </a:cubicBezTo>
                <a:cubicBezTo>
                  <a:pt x="0" y="112041"/>
                  <a:pt x="32350" y="144391"/>
                  <a:pt x="72195" y="144391"/>
                </a:cubicBezTo>
                <a:close/>
                <a:moveTo>
                  <a:pt x="95997" y="59984"/>
                </a:moveTo>
                <a:lnTo>
                  <a:pt x="73436" y="96082"/>
                </a:lnTo>
                <a:cubicBezTo>
                  <a:pt x="72252" y="97971"/>
                  <a:pt x="70221" y="99156"/>
                  <a:pt x="67993" y="99269"/>
                </a:cubicBezTo>
                <a:cubicBezTo>
                  <a:pt x="65766" y="99381"/>
                  <a:pt x="63622" y="98366"/>
                  <a:pt x="62297" y="96561"/>
                </a:cubicBezTo>
                <a:lnTo>
                  <a:pt x="48760" y="78513"/>
                </a:lnTo>
                <a:cubicBezTo>
                  <a:pt x="46504" y="75523"/>
                  <a:pt x="47124" y="71293"/>
                  <a:pt x="50114" y="69037"/>
                </a:cubicBezTo>
                <a:cubicBezTo>
                  <a:pt x="53103" y="66781"/>
                  <a:pt x="57333" y="67401"/>
                  <a:pt x="59589" y="70391"/>
                </a:cubicBezTo>
                <a:lnTo>
                  <a:pt x="67204" y="80543"/>
                </a:lnTo>
                <a:lnTo>
                  <a:pt x="84519" y="52821"/>
                </a:lnTo>
                <a:cubicBezTo>
                  <a:pt x="86493" y="49663"/>
                  <a:pt x="90667" y="48675"/>
                  <a:pt x="93854" y="50678"/>
                </a:cubicBezTo>
                <a:cubicBezTo>
                  <a:pt x="97041" y="52680"/>
                  <a:pt x="98000" y="56826"/>
                  <a:pt x="95997" y="60012"/>
                </a:cubicBezTo>
                <a:close/>
              </a:path>
            </a:pathLst>
          </a:custGeom>
          <a:solidFill>
            <a:srgbClr val="7A6250"/>
          </a:solidFill>
          <a:ln/>
        </p:spPr>
      </p:sp>
      <p:sp>
        <p:nvSpPr>
          <p:cNvPr id="39" name="Text 37"/>
          <p:cNvSpPr/>
          <p:nvPr/>
        </p:nvSpPr>
        <p:spPr>
          <a:xfrm>
            <a:off x="758052" y="4367822"/>
            <a:ext cx="3501477" cy="216586"/>
          </a:xfrm>
          <a:prstGeom prst="rect">
            <a:avLst/>
          </a:prstGeom>
          <a:noFill/>
          <a:ln/>
        </p:spPr>
        <p:txBody>
          <a:bodyPr wrap="square" lIns="0" tIns="0" rIns="0" bIns="0" rtlCol="0" anchor="ctr"/>
          <a:lstStyle/>
          <a:p>
            <a:pPr>
              <a:lnSpc>
                <a:spcPct val="130000"/>
              </a:lnSpc>
            </a:pPr>
            <a:r>
              <a:rPr lang="en-US" sz="1137" dirty="0">
                <a:solidFill>
                  <a:srgbClr val="2C2C2C"/>
                </a:solidFill>
                <a:latin typeface="Quattrocento Sans" pitchFamily="34" charset="0"/>
                <a:ea typeface="Quattrocento Sans" pitchFamily="34" charset="-122"/>
                <a:cs typeface="Quattrocento Sans" pitchFamily="34" charset="-120"/>
              </a:rPr>
              <a:t>Information may only be used for partnership purposes</a:t>
            </a:r>
            <a:endParaRPr lang="en-US" sz="1600" dirty="0"/>
          </a:p>
        </p:txBody>
      </p:sp>
      <p:sp>
        <p:nvSpPr>
          <p:cNvPr id="40" name="Shape 38"/>
          <p:cNvSpPr/>
          <p:nvPr/>
        </p:nvSpPr>
        <p:spPr>
          <a:xfrm>
            <a:off x="523417" y="4692702"/>
            <a:ext cx="144391" cy="144391"/>
          </a:xfrm>
          <a:custGeom>
            <a:avLst/>
            <a:gdLst/>
            <a:ahLst/>
            <a:cxnLst/>
            <a:rect l="l" t="t" r="r" b="b"/>
            <a:pathLst>
              <a:path w="144391" h="144391">
                <a:moveTo>
                  <a:pt x="72195" y="144391"/>
                </a:moveTo>
                <a:cubicBezTo>
                  <a:pt x="112041" y="144391"/>
                  <a:pt x="144391" y="112041"/>
                  <a:pt x="144391" y="72195"/>
                </a:cubicBezTo>
                <a:cubicBezTo>
                  <a:pt x="144391" y="32350"/>
                  <a:pt x="112041" y="0"/>
                  <a:pt x="72195" y="0"/>
                </a:cubicBezTo>
                <a:cubicBezTo>
                  <a:pt x="32350" y="0"/>
                  <a:pt x="0" y="32350"/>
                  <a:pt x="0" y="72195"/>
                </a:cubicBezTo>
                <a:cubicBezTo>
                  <a:pt x="0" y="112041"/>
                  <a:pt x="32350" y="144391"/>
                  <a:pt x="72195" y="144391"/>
                </a:cubicBezTo>
                <a:close/>
                <a:moveTo>
                  <a:pt x="95997" y="59984"/>
                </a:moveTo>
                <a:lnTo>
                  <a:pt x="73436" y="96082"/>
                </a:lnTo>
                <a:cubicBezTo>
                  <a:pt x="72252" y="97971"/>
                  <a:pt x="70221" y="99156"/>
                  <a:pt x="67993" y="99269"/>
                </a:cubicBezTo>
                <a:cubicBezTo>
                  <a:pt x="65766" y="99381"/>
                  <a:pt x="63622" y="98366"/>
                  <a:pt x="62297" y="96561"/>
                </a:cubicBezTo>
                <a:lnTo>
                  <a:pt x="48760" y="78513"/>
                </a:lnTo>
                <a:cubicBezTo>
                  <a:pt x="46504" y="75523"/>
                  <a:pt x="47124" y="71293"/>
                  <a:pt x="50114" y="69037"/>
                </a:cubicBezTo>
                <a:cubicBezTo>
                  <a:pt x="53103" y="66781"/>
                  <a:pt x="57333" y="67401"/>
                  <a:pt x="59589" y="70391"/>
                </a:cubicBezTo>
                <a:lnTo>
                  <a:pt x="67204" y="80543"/>
                </a:lnTo>
                <a:lnTo>
                  <a:pt x="84519" y="52821"/>
                </a:lnTo>
                <a:cubicBezTo>
                  <a:pt x="86493" y="49663"/>
                  <a:pt x="90667" y="48675"/>
                  <a:pt x="93854" y="50678"/>
                </a:cubicBezTo>
                <a:cubicBezTo>
                  <a:pt x="97041" y="52680"/>
                  <a:pt x="98000" y="56826"/>
                  <a:pt x="95997" y="60012"/>
                </a:cubicBezTo>
                <a:close/>
              </a:path>
            </a:pathLst>
          </a:custGeom>
          <a:solidFill>
            <a:srgbClr val="7A6250"/>
          </a:solidFill>
          <a:ln/>
        </p:spPr>
      </p:sp>
      <p:sp>
        <p:nvSpPr>
          <p:cNvPr id="41" name="Text 39"/>
          <p:cNvSpPr/>
          <p:nvPr/>
        </p:nvSpPr>
        <p:spPr>
          <a:xfrm>
            <a:off x="758052" y="4656604"/>
            <a:ext cx="3709039" cy="216586"/>
          </a:xfrm>
          <a:prstGeom prst="rect">
            <a:avLst/>
          </a:prstGeom>
          <a:noFill/>
          <a:ln/>
        </p:spPr>
        <p:txBody>
          <a:bodyPr wrap="square" lIns="0" tIns="0" rIns="0" bIns="0" rtlCol="0" anchor="ctr"/>
          <a:lstStyle/>
          <a:p>
            <a:pPr>
              <a:lnSpc>
                <a:spcPct val="130000"/>
              </a:lnSpc>
            </a:pPr>
            <a:r>
              <a:rPr lang="en-US" sz="1137" dirty="0">
                <a:solidFill>
                  <a:srgbClr val="2C2C2C"/>
                </a:solidFill>
                <a:latin typeface="Quattrocento Sans" pitchFamily="34" charset="0"/>
                <a:ea typeface="Quattrocento Sans" pitchFamily="34" charset="-122"/>
                <a:cs typeface="Quattrocento Sans" pitchFamily="34" charset="-120"/>
              </a:rPr>
              <a:t>Secure storage and limited access to confidential materials</a:t>
            </a:r>
            <a:endParaRPr lang="en-US" sz="1600" dirty="0"/>
          </a:p>
        </p:txBody>
      </p:sp>
      <p:sp>
        <p:nvSpPr>
          <p:cNvPr id="42" name="Shape 40"/>
          <p:cNvSpPr/>
          <p:nvPr/>
        </p:nvSpPr>
        <p:spPr>
          <a:xfrm>
            <a:off x="523417" y="4981483"/>
            <a:ext cx="144391" cy="144391"/>
          </a:xfrm>
          <a:custGeom>
            <a:avLst/>
            <a:gdLst/>
            <a:ahLst/>
            <a:cxnLst/>
            <a:rect l="l" t="t" r="r" b="b"/>
            <a:pathLst>
              <a:path w="144391" h="144391">
                <a:moveTo>
                  <a:pt x="72195" y="144391"/>
                </a:moveTo>
                <a:cubicBezTo>
                  <a:pt x="112041" y="144391"/>
                  <a:pt x="144391" y="112041"/>
                  <a:pt x="144391" y="72195"/>
                </a:cubicBezTo>
                <a:cubicBezTo>
                  <a:pt x="144391" y="32350"/>
                  <a:pt x="112041" y="0"/>
                  <a:pt x="72195" y="0"/>
                </a:cubicBezTo>
                <a:cubicBezTo>
                  <a:pt x="32350" y="0"/>
                  <a:pt x="0" y="32350"/>
                  <a:pt x="0" y="72195"/>
                </a:cubicBezTo>
                <a:cubicBezTo>
                  <a:pt x="0" y="112041"/>
                  <a:pt x="32350" y="144391"/>
                  <a:pt x="72195" y="144391"/>
                </a:cubicBezTo>
                <a:close/>
                <a:moveTo>
                  <a:pt x="95997" y="59984"/>
                </a:moveTo>
                <a:lnTo>
                  <a:pt x="73436" y="96082"/>
                </a:lnTo>
                <a:cubicBezTo>
                  <a:pt x="72252" y="97971"/>
                  <a:pt x="70221" y="99156"/>
                  <a:pt x="67993" y="99269"/>
                </a:cubicBezTo>
                <a:cubicBezTo>
                  <a:pt x="65766" y="99381"/>
                  <a:pt x="63622" y="98366"/>
                  <a:pt x="62297" y="96561"/>
                </a:cubicBezTo>
                <a:lnTo>
                  <a:pt x="48760" y="78513"/>
                </a:lnTo>
                <a:cubicBezTo>
                  <a:pt x="46504" y="75523"/>
                  <a:pt x="47124" y="71293"/>
                  <a:pt x="50114" y="69037"/>
                </a:cubicBezTo>
                <a:cubicBezTo>
                  <a:pt x="53103" y="66781"/>
                  <a:pt x="57333" y="67401"/>
                  <a:pt x="59589" y="70391"/>
                </a:cubicBezTo>
                <a:lnTo>
                  <a:pt x="67204" y="80543"/>
                </a:lnTo>
                <a:lnTo>
                  <a:pt x="84519" y="52821"/>
                </a:lnTo>
                <a:cubicBezTo>
                  <a:pt x="86493" y="49663"/>
                  <a:pt x="90667" y="48675"/>
                  <a:pt x="93854" y="50678"/>
                </a:cubicBezTo>
                <a:cubicBezTo>
                  <a:pt x="97041" y="52680"/>
                  <a:pt x="98000" y="56826"/>
                  <a:pt x="95997" y="60012"/>
                </a:cubicBezTo>
                <a:close/>
              </a:path>
            </a:pathLst>
          </a:custGeom>
          <a:solidFill>
            <a:srgbClr val="7A6250"/>
          </a:solidFill>
          <a:ln/>
        </p:spPr>
      </p:sp>
      <p:sp>
        <p:nvSpPr>
          <p:cNvPr id="43" name="Text 41"/>
          <p:cNvSpPr/>
          <p:nvPr/>
        </p:nvSpPr>
        <p:spPr>
          <a:xfrm>
            <a:off x="758052" y="4945386"/>
            <a:ext cx="3393184" cy="216586"/>
          </a:xfrm>
          <a:prstGeom prst="rect">
            <a:avLst/>
          </a:prstGeom>
          <a:noFill/>
          <a:ln/>
        </p:spPr>
        <p:txBody>
          <a:bodyPr wrap="square" lIns="0" tIns="0" rIns="0" bIns="0" rtlCol="0" anchor="ctr"/>
          <a:lstStyle/>
          <a:p>
            <a:pPr>
              <a:lnSpc>
                <a:spcPct val="130000"/>
              </a:lnSpc>
            </a:pPr>
            <a:r>
              <a:rPr lang="en-US" sz="1137" dirty="0">
                <a:solidFill>
                  <a:srgbClr val="2C2C2C"/>
                </a:solidFill>
                <a:latin typeface="Quattrocento Sans" pitchFamily="34" charset="0"/>
                <a:ea typeface="Quattrocento Sans" pitchFamily="34" charset="-122"/>
                <a:cs typeface="Quattrocento Sans" pitchFamily="34" charset="-120"/>
              </a:rPr>
              <a:t>No disclosure to third parties without written consent</a:t>
            </a:r>
            <a:endParaRPr lang="en-US" sz="1600" dirty="0"/>
          </a:p>
        </p:txBody>
      </p:sp>
      <p:sp>
        <p:nvSpPr>
          <p:cNvPr id="44" name="Shape 42"/>
          <p:cNvSpPr/>
          <p:nvPr/>
        </p:nvSpPr>
        <p:spPr>
          <a:xfrm>
            <a:off x="523417" y="5270265"/>
            <a:ext cx="144391" cy="144391"/>
          </a:xfrm>
          <a:custGeom>
            <a:avLst/>
            <a:gdLst/>
            <a:ahLst/>
            <a:cxnLst/>
            <a:rect l="l" t="t" r="r" b="b"/>
            <a:pathLst>
              <a:path w="144391" h="144391">
                <a:moveTo>
                  <a:pt x="72195" y="144391"/>
                </a:moveTo>
                <a:cubicBezTo>
                  <a:pt x="112041" y="144391"/>
                  <a:pt x="144391" y="112041"/>
                  <a:pt x="144391" y="72195"/>
                </a:cubicBezTo>
                <a:cubicBezTo>
                  <a:pt x="144391" y="32350"/>
                  <a:pt x="112041" y="0"/>
                  <a:pt x="72195" y="0"/>
                </a:cubicBezTo>
                <a:cubicBezTo>
                  <a:pt x="32350" y="0"/>
                  <a:pt x="0" y="32350"/>
                  <a:pt x="0" y="72195"/>
                </a:cubicBezTo>
                <a:cubicBezTo>
                  <a:pt x="0" y="112041"/>
                  <a:pt x="32350" y="144391"/>
                  <a:pt x="72195" y="144391"/>
                </a:cubicBezTo>
                <a:close/>
                <a:moveTo>
                  <a:pt x="95997" y="59984"/>
                </a:moveTo>
                <a:lnTo>
                  <a:pt x="73436" y="96082"/>
                </a:lnTo>
                <a:cubicBezTo>
                  <a:pt x="72252" y="97971"/>
                  <a:pt x="70221" y="99156"/>
                  <a:pt x="67993" y="99269"/>
                </a:cubicBezTo>
                <a:cubicBezTo>
                  <a:pt x="65766" y="99381"/>
                  <a:pt x="63622" y="98366"/>
                  <a:pt x="62297" y="96561"/>
                </a:cubicBezTo>
                <a:lnTo>
                  <a:pt x="48760" y="78513"/>
                </a:lnTo>
                <a:cubicBezTo>
                  <a:pt x="46504" y="75523"/>
                  <a:pt x="47124" y="71293"/>
                  <a:pt x="50114" y="69037"/>
                </a:cubicBezTo>
                <a:cubicBezTo>
                  <a:pt x="53103" y="66781"/>
                  <a:pt x="57333" y="67401"/>
                  <a:pt x="59589" y="70391"/>
                </a:cubicBezTo>
                <a:lnTo>
                  <a:pt x="67204" y="80543"/>
                </a:lnTo>
                <a:lnTo>
                  <a:pt x="84519" y="52821"/>
                </a:lnTo>
                <a:cubicBezTo>
                  <a:pt x="86493" y="49663"/>
                  <a:pt x="90667" y="48675"/>
                  <a:pt x="93854" y="50678"/>
                </a:cubicBezTo>
                <a:cubicBezTo>
                  <a:pt x="97041" y="52680"/>
                  <a:pt x="98000" y="56826"/>
                  <a:pt x="95997" y="60012"/>
                </a:cubicBezTo>
                <a:close/>
              </a:path>
            </a:pathLst>
          </a:custGeom>
          <a:solidFill>
            <a:srgbClr val="7A6250"/>
          </a:solidFill>
          <a:ln/>
        </p:spPr>
      </p:sp>
      <p:sp>
        <p:nvSpPr>
          <p:cNvPr id="45" name="Text 43"/>
          <p:cNvSpPr/>
          <p:nvPr/>
        </p:nvSpPr>
        <p:spPr>
          <a:xfrm>
            <a:off x="758052" y="5234167"/>
            <a:ext cx="3961723" cy="216586"/>
          </a:xfrm>
          <a:prstGeom prst="rect">
            <a:avLst/>
          </a:prstGeom>
          <a:noFill/>
          <a:ln/>
        </p:spPr>
        <p:txBody>
          <a:bodyPr wrap="square" lIns="0" tIns="0" rIns="0" bIns="0" rtlCol="0" anchor="ctr"/>
          <a:lstStyle/>
          <a:p>
            <a:pPr>
              <a:lnSpc>
                <a:spcPct val="130000"/>
              </a:lnSpc>
            </a:pPr>
            <a:r>
              <a:rPr lang="en-US" sz="1137" dirty="0">
                <a:solidFill>
                  <a:srgbClr val="2C2C2C"/>
                </a:solidFill>
                <a:latin typeface="Quattrocento Sans" pitchFamily="34" charset="0"/>
                <a:ea typeface="Quattrocento Sans" pitchFamily="34" charset="-122"/>
                <a:cs typeface="Quattrocento Sans" pitchFamily="34" charset="-120"/>
              </a:rPr>
              <a:t>Return or destruction of materials upon agreement termination</a:t>
            </a:r>
            <a:endParaRPr lang="en-US" sz="1600" dirty="0"/>
          </a:p>
        </p:txBody>
      </p:sp>
      <p:sp>
        <p:nvSpPr>
          <p:cNvPr id="46" name="Shape 44"/>
          <p:cNvSpPr/>
          <p:nvPr/>
        </p:nvSpPr>
        <p:spPr>
          <a:xfrm>
            <a:off x="6168618" y="3555624"/>
            <a:ext cx="5667340" cy="2039520"/>
          </a:xfrm>
          <a:custGeom>
            <a:avLst/>
            <a:gdLst/>
            <a:ahLst/>
            <a:cxnLst/>
            <a:rect l="l" t="t" r="r" b="b"/>
            <a:pathLst>
              <a:path w="5667340" h="2039520">
                <a:moveTo>
                  <a:pt x="36098" y="0"/>
                </a:moveTo>
                <a:lnTo>
                  <a:pt x="5631242" y="0"/>
                </a:lnTo>
                <a:cubicBezTo>
                  <a:pt x="5651178" y="0"/>
                  <a:pt x="5667340" y="16161"/>
                  <a:pt x="5667340" y="36098"/>
                </a:cubicBezTo>
                <a:lnTo>
                  <a:pt x="5667340" y="1967321"/>
                </a:lnTo>
                <a:cubicBezTo>
                  <a:pt x="5667340" y="2007196"/>
                  <a:pt x="5635015" y="2039520"/>
                  <a:pt x="5595141" y="2039520"/>
                </a:cubicBezTo>
                <a:lnTo>
                  <a:pt x="72199" y="2039520"/>
                </a:lnTo>
                <a:cubicBezTo>
                  <a:pt x="32325" y="2039520"/>
                  <a:pt x="0" y="2007196"/>
                  <a:pt x="0" y="1967321"/>
                </a:cubicBezTo>
                <a:lnTo>
                  <a:pt x="0" y="36098"/>
                </a:lnTo>
                <a:cubicBezTo>
                  <a:pt x="0" y="16175"/>
                  <a:pt x="16175" y="0"/>
                  <a:pt x="36098" y="0"/>
                </a:cubicBezTo>
                <a:close/>
              </a:path>
            </a:pathLst>
          </a:custGeom>
          <a:solidFill>
            <a:srgbClr val="FFFFFF"/>
          </a:solidFill>
          <a:ln/>
          <a:effectLst>
            <a:outerShdw sx="100000" sy="100000" kx="0" ky="0" algn="bl" rotWithShape="0" blurRad="27073" dist="9024" dir="5400000">
              <a:srgbClr val="000000">
                <a:alpha val="10196"/>
              </a:srgbClr>
            </a:outerShdw>
          </a:effectLst>
        </p:spPr>
      </p:sp>
      <p:sp>
        <p:nvSpPr>
          <p:cNvPr id="47" name="Shape 45"/>
          <p:cNvSpPr/>
          <p:nvPr/>
        </p:nvSpPr>
        <p:spPr>
          <a:xfrm>
            <a:off x="6168618" y="3555624"/>
            <a:ext cx="5667340" cy="36098"/>
          </a:xfrm>
          <a:custGeom>
            <a:avLst/>
            <a:gdLst/>
            <a:ahLst/>
            <a:cxnLst/>
            <a:rect l="l" t="t" r="r" b="b"/>
            <a:pathLst>
              <a:path w="5667340" h="36098">
                <a:moveTo>
                  <a:pt x="36098" y="0"/>
                </a:moveTo>
                <a:lnTo>
                  <a:pt x="5631242" y="0"/>
                </a:lnTo>
                <a:cubicBezTo>
                  <a:pt x="5651178" y="0"/>
                  <a:pt x="5667340" y="16161"/>
                  <a:pt x="5667340" y="36098"/>
                </a:cubicBezTo>
                <a:lnTo>
                  <a:pt x="5667340" y="36098"/>
                </a:lnTo>
                <a:lnTo>
                  <a:pt x="0" y="36098"/>
                </a:lnTo>
                <a:lnTo>
                  <a:pt x="0" y="36098"/>
                </a:lnTo>
                <a:cubicBezTo>
                  <a:pt x="0" y="16175"/>
                  <a:pt x="16175" y="0"/>
                  <a:pt x="36098" y="0"/>
                </a:cubicBezTo>
                <a:close/>
              </a:path>
            </a:pathLst>
          </a:custGeom>
          <a:solidFill>
            <a:srgbClr val="3A4D39"/>
          </a:solidFill>
          <a:ln/>
        </p:spPr>
      </p:sp>
      <p:sp>
        <p:nvSpPr>
          <p:cNvPr id="48" name="Shape 46"/>
          <p:cNvSpPr/>
          <p:nvPr/>
        </p:nvSpPr>
        <p:spPr>
          <a:xfrm>
            <a:off x="6345723" y="3763186"/>
            <a:ext cx="142135" cy="162440"/>
          </a:xfrm>
          <a:custGeom>
            <a:avLst/>
            <a:gdLst/>
            <a:ahLst/>
            <a:cxnLst/>
            <a:rect l="l" t="t" r="r" b="b"/>
            <a:pathLst>
              <a:path w="142135" h="162440">
                <a:moveTo>
                  <a:pt x="91372" y="20305"/>
                </a:moveTo>
                <a:lnTo>
                  <a:pt x="111677" y="20305"/>
                </a:lnTo>
                <a:lnTo>
                  <a:pt x="111677" y="152287"/>
                </a:lnTo>
                <a:cubicBezTo>
                  <a:pt x="111677" y="157903"/>
                  <a:pt x="116214" y="162440"/>
                  <a:pt x="121830" y="162440"/>
                </a:cubicBezTo>
                <a:lnTo>
                  <a:pt x="131982" y="162440"/>
                </a:lnTo>
                <a:cubicBezTo>
                  <a:pt x="137598" y="162440"/>
                  <a:pt x="142135" y="157903"/>
                  <a:pt x="142135" y="152287"/>
                </a:cubicBezTo>
                <a:cubicBezTo>
                  <a:pt x="142135" y="146672"/>
                  <a:pt x="137598" y="142135"/>
                  <a:pt x="131982" y="142135"/>
                </a:cubicBezTo>
                <a:lnTo>
                  <a:pt x="131982" y="20305"/>
                </a:lnTo>
                <a:cubicBezTo>
                  <a:pt x="131982" y="9106"/>
                  <a:pt x="122877" y="0"/>
                  <a:pt x="111677" y="0"/>
                </a:cubicBezTo>
                <a:lnTo>
                  <a:pt x="81220" y="0"/>
                </a:lnTo>
                <a:lnTo>
                  <a:pt x="81220" y="0"/>
                </a:lnTo>
                <a:lnTo>
                  <a:pt x="30457" y="0"/>
                </a:lnTo>
                <a:cubicBezTo>
                  <a:pt x="19258" y="0"/>
                  <a:pt x="10152" y="9106"/>
                  <a:pt x="10152" y="20305"/>
                </a:cubicBezTo>
                <a:lnTo>
                  <a:pt x="10152" y="142135"/>
                </a:lnTo>
                <a:cubicBezTo>
                  <a:pt x="4537" y="142135"/>
                  <a:pt x="0" y="146672"/>
                  <a:pt x="0" y="152287"/>
                </a:cubicBezTo>
                <a:cubicBezTo>
                  <a:pt x="0" y="157903"/>
                  <a:pt x="4537" y="162440"/>
                  <a:pt x="10152" y="162440"/>
                </a:cubicBezTo>
                <a:lnTo>
                  <a:pt x="81220" y="162440"/>
                </a:lnTo>
                <a:cubicBezTo>
                  <a:pt x="86835" y="162440"/>
                  <a:pt x="91372" y="157903"/>
                  <a:pt x="91372" y="152287"/>
                </a:cubicBezTo>
                <a:lnTo>
                  <a:pt x="91372" y="20305"/>
                </a:lnTo>
                <a:close/>
                <a:moveTo>
                  <a:pt x="50762" y="81220"/>
                </a:moveTo>
                <a:cubicBezTo>
                  <a:pt x="50762" y="75617"/>
                  <a:pt x="55312" y="71067"/>
                  <a:pt x="60915" y="71067"/>
                </a:cubicBezTo>
                <a:cubicBezTo>
                  <a:pt x="66518" y="71067"/>
                  <a:pt x="71067" y="75617"/>
                  <a:pt x="71067" y="81220"/>
                </a:cubicBezTo>
                <a:cubicBezTo>
                  <a:pt x="71067" y="86823"/>
                  <a:pt x="66518" y="91372"/>
                  <a:pt x="60915" y="91372"/>
                </a:cubicBezTo>
                <a:cubicBezTo>
                  <a:pt x="55312" y="91372"/>
                  <a:pt x="50762" y="86823"/>
                  <a:pt x="50762" y="81220"/>
                </a:cubicBezTo>
                <a:close/>
              </a:path>
            </a:pathLst>
          </a:custGeom>
          <a:solidFill>
            <a:srgbClr val="3A4D39"/>
          </a:solidFill>
          <a:ln/>
        </p:spPr>
      </p:sp>
      <p:sp>
        <p:nvSpPr>
          <p:cNvPr id="49" name="Text 47"/>
          <p:cNvSpPr/>
          <p:nvPr/>
        </p:nvSpPr>
        <p:spPr>
          <a:xfrm>
            <a:off x="6520571" y="3718064"/>
            <a:ext cx="5252216" cy="252684"/>
          </a:xfrm>
          <a:prstGeom prst="rect">
            <a:avLst/>
          </a:prstGeom>
          <a:noFill/>
          <a:ln/>
        </p:spPr>
        <p:txBody>
          <a:bodyPr wrap="square" lIns="0" tIns="0" rIns="0" bIns="0" rtlCol="0" anchor="ctr"/>
          <a:lstStyle/>
          <a:p>
            <a:pPr>
              <a:lnSpc>
                <a:spcPct val="130000"/>
              </a:lnSpc>
            </a:pPr>
            <a:r>
              <a:rPr lang="en-US" sz="1279" b="1" dirty="0">
                <a:solidFill>
                  <a:srgbClr val="3A4D39"/>
                </a:solidFill>
                <a:latin typeface="Unna" pitchFamily="34" charset="0"/>
                <a:ea typeface="Unna" pitchFamily="34" charset="-122"/>
                <a:cs typeface="Unna" pitchFamily="34" charset="-120"/>
              </a:rPr>
              <a:t>Permitted Disclosures</a:t>
            </a:r>
            <a:endParaRPr lang="en-US" sz="1600" dirty="0"/>
          </a:p>
        </p:txBody>
      </p:sp>
      <p:sp>
        <p:nvSpPr>
          <p:cNvPr id="50" name="Text 48"/>
          <p:cNvSpPr/>
          <p:nvPr/>
        </p:nvSpPr>
        <p:spPr>
          <a:xfrm>
            <a:off x="6313009" y="4079041"/>
            <a:ext cx="5450754" cy="216586"/>
          </a:xfrm>
          <a:prstGeom prst="rect">
            <a:avLst/>
          </a:prstGeom>
          <a:noFill/>
          <a:ln/>
        </p:spPr>
        <p:txBody>
          <a:bodyPr wrap="square" lIns="0" tIns="0" rIns="0" bIns="0" rtlCol="0" anchor="ctr"/>
          <a:lstStyle/>
          <a:p>
            <a:pPr>
              <a:lnSpc>
                <a:spcPct val="130000"/>
              </a:lnSpc>
            </a:pPr>
            <a:r>
              <a:rPr lang="en-US" sz="1137" dirty="0">
                <a:solidFill>
                  <a:srgbClr val="2C2C2C"/>
                </a:solidFill>
                <a:latin typeface="Quattrocento Sans" pitchFamily="34" charset="0"/>
                <a:ea typeface="Quattrocento Sans" pitchFamily="34" charset="-122"/>
                <a:cs typeface="Quattrocento Sans" pitchFamily="34" charset="-120"/>
              </a:rPr>
              <a:t>Confidential information may be disclosed in the following circumstances:</a:t>
            </a:r>
            <a:endParaRPr lang="en-US" sz="1600" dirty="0"/>
          </a:p>
        </p:txBody>
      </p:sp>
      <p:sp>
        <p:nvSpPr>
          <p:cNvPr id="51" name="Shape 49"/>
          <p:cNvSpPr/>
          <p:nvPr/>
        </p:nvSpPr>
        <p:spPr>
          <a:xfrm>
            <a:off x="6313009" y="4403920"/>
            <a:ext cx="180489" cy="144391"/>
          </a:xfrm>
          <a:custGeom>
            <a:avLst/>
            <a:gdLst/>
            <a:ahLst/>
            <a:cxnLst/>
            <a:rect l="l" t="t" r="r" b="b"/>
            <a:pathLst>
              <a:path w="180489" h="144391">
                <a:moveTo>
                  <a:pt x="108293" y="9024"/>
                </a:moveTo>
                <a:lnTo>
                  <a:pt x="144391" y="9024"/>
                </a:lnTo>
                <a:cubicBezTo>
                  <a:pt x="149382" y="9024"/>
                  <a:pt x="153415" y="13057"/>
                  <a:pt x="153415" y="18049"/>
                </a:cubicBezTo>
                <a:cubicBezTo>
                  <a:pt x="153415" y="23040"/>
                  <a:pt x="149382" y="27073"/>
                  <a:pt x="144391" y="27073"/>
                </a:cubicBezTo>
                <a:lnTo>
                  <a:pt x="112354" y="27073"/>
                </a:lnTo>
                <a:cubicBezTo>
                  <a:pt x="110888" y="34349"/>
                  <a:pt x="105896" y="40356"/>
                  <a:pt x="99269" y="43233"/>
                </a:cubicBezTo>
                <a:lnTo>
                  <a:pt x="99269" y="126342"/>
                </a:lnTo>
                <a:lnTo>
                  <a:pt x="144391" y="126342"/>
                </a:lnTo>
                <a:cubicBezTo>
                  <a:pt x="149382" y="126342"/>
                  <a:pt x="153415" y="130375"/>
                  <a:pt x="153415" y="135366"/>
                </a:cubicBezTo>
                <a:cubicBezTo>
                  <a:pt x="153415" y="140358"/>
                  <a:pt x="149382" y="144391"/>
                  <a:pt x="144391" y="144391"/>
                </a:cubicBezTo>
                <a:lnTo>
                  <a:pt x="36098" y="144391"/>
                </a:lnTo>
                <a:cubicBezTo>
                  <a:pt x="31106" y="144391"/>
                  <a:pt x="27073" y="140358"/>
                  <a:pt x="27073" y="135366"/>
                </a:cubicBezTo>
                <a:cubicBezTo>
                  <a:pt x="27073" y="130375"/>
                  <a:pt x="31106" y="126342"/>
                  <a:pt x="36098" y="126342"/>
                </a:cubicBezTo>
                <a:lnTo>
                  <a:pt x="81220" y="126342"/>
                </a:lnTo>
                <a:lnTo>
                  <a:pt x="81220" y="43233"/>
                </a:lnTo>
                <a:cubicBezTo>
                  <a:pt x="74593" y="40328"/>
                  <a:pt x="69601" y="34321"/>
                  <a:pt x="68134" y="27073"/>
                </a:cubicBezTo>
                <a:lnTo>
                  <a:pt x="36098" y="27073"/>
                </a:lnTo>
                <a:cubicBezTo>
                  <a:pt x="31106" y="27073"/>
                  <a:pt x="27073" y="23040"/>
                  <a:pt x="27073" y="18049"/>
                </a:cubicBezTo>
                <a:cubicBezTo>
                  <a:pt x="27073" y="13057"/>
                  <a:pt x="31106" y="9024"/>
                  <a:pt x="36098" y="9024"/>
                </a:cubicBezTo>
                <a:lnTo>
                  <a:pt x="72195" y="9024"/>
                </a:lnTo>
                <a:cubicBezTo>
                  <a:pt x="76313" y="3553"/>
                  <a:pt x="82856" y="0"/>
                  <a:pt x="90244" y="0"/>
                </a:cubicBezTo>
                <a:cubicBezTo>
                  <a:pt x="97633" y="0"/>
                  <a:pt x="104176" y="3553"/>
                  <a:pt x="108293" y="9024"/>
                </a:cubicBezTo>
                <a:close/>
                <a:moveTo>
                  <a:pt x="123973" y="90244"/>
                </a:moveTo>
                <a:lnTo>
                  <a:pt x="164809" y="90244"/>
                </a:lnTo>
                <a:lnTo>
                  <a:pt x="144391" y="55218"/>
                </a:lnTo>
                <a:lnTo>
                  <a:pt x="123973" y="90244"/>
                </a:lnTo>
                <a:close/>
                <a:moveTo>
                  <a:pt x="144391" y="117318"/>
                </a:moveTo>
                <a:cubicBezTo>
                  <a:pt x="126652" y="117318"/>
                  <a:pt x="111903" y="107729"/>
                  <a:pt x="108857" y="95067"/>
                </a:cubicBezTo>
                <a:cubicBezTo>
                  <a:pt x="108124" y="91965"/>
                  <a:pt x="109139" y="88778"/>
                  <a:pt x="110747" y="86014"/>
                </a:cubicBezTo>
                <a:lnTo>
                  <a:pt x="137594" y="39989"/>
                </a:lnTo>
                <a:cubicBezTo>
                  <a:pt x="139004" y="37564"/>
                  <a:pt x="141599" y="36098"/>
                  <a:pt x="144391" y="36098"/>
                </a:cubicBezTo>
                <a:cubicBezTo>
                  <a:pt x="147183" y="36098"/>
                  <a:pt x="149777" y="37592"/>
                  <a:pt x="151187" y="39989"/>
                </a:cubicBezTo>
                <a:lnTo>
                  <a:pt x="178035" y="86014"/>
                </a:lnTo>
                <a:cubicBezTo>
                  <a:pt x="179642" y="88778"/>
                  <a:pt x="180658" y="91965"/>
                  <a:pt x="179925" y="95067"/>
                </a:cubicBezTo>
                <a:cubicBezTo>
                  <a:pt x="176879" y="107701"/>
                  <a:pt x="162129" y="117318"/>
                  <a:pt x="144391" y="117318"/>
                </a:cubicBezTo>
                <a:close/>
                <a:moveTo>
                  <a:pt x="35759" y="55218"/>
                </a:moveTo>
                <a:lnTo>
                  <a:pt x="15342" y="90244"/>
                </a:lnTo>
                <a:lnTo>
                  <a:pt x="56205" y="90244"/>
                </a:lnTo>
                <a:lnTo>
                  <a:pt x="35759" y="55218"/>
                </a:lnTo>
                <a:close/>
                <a:moveTo>
                  <a:pt x="254" y="95067"/>
                </a:moveTo>
                <a:cubicBezTo>
                  <a:pt x="-479" y="91965"/>
                  <a:pt x="536" y="88778"/>
                  <a:pt x="2143" y="86014"/>
                </a:cubicBezTo>
                <a:lnTo>
                  <a:pt x="28991" y="39989"/>
                </a:lnTo>
                <a:cubicBezTo>
                  <a:pt x="30401" y="37564"/>
                  <a:pt x="32996" y="36098"/>
                  <a:pt x="35787" y="36098"/>
                </a:cubicBezTo>
                <a:cubicBezTo>
                  <a:pt x="38579" y="36098"/>
                  <a:pt x="41174" y="37592"/>
                  <a:pt x="42584" y="39989"/>
                </a:cubicBezTo>
                <a:lnTo>
                  <a:pt x="69432" y="86014"/>
                </a:lnTo>
                <a:cubicBezTo>
                  <a:pt x="71039" y="88778"/>
                  <a:pt x="72054" y="91965"/>
                  <a:pt x="71321" y="95067"/>
                </a:cubicBezTo>
                <a:cubicBezTo>
                  <a:pt x="68275" y="107701"/>
                  <a:pt x="53526" y="117318"/>
                  <a:pt x="35787" y="117318"/>
                </a:cubicBezTo>
                <a:cubicBezTo>
                  <a:pt x="18049" y="117318"/>
                  <a:pt x="3300" y="107729"/>
                  <a:pt x="254" y="95067"/>
                </a:cubicBezTo>
                <a:close/>
              </a:path>
            </a:pathLst>
          </a:custGeom>
          <a:solidFill>
            <a:srgbClr val="3A4D39"/>
          </a:solidFill>
          <a:ln/>
        </p:spPr>
      </p:sp>
      <p:sp>
        <p:nvSpPr>
          <p:cNvPr id="52" name="Text 50"/>
          <p:cNvSpPr/>
          <p:nvPr/>
        </p:nvSpPr>
        <p:spPr>
          <a:xfrm>
            <a:off x="6565693" y="4367822"/>
            <a:ext cx="2707328" cy="216586"/>
          </a:xfrm>
          <a:prstGeom prst="rect">
            <a:avLst/>
          </a:prstGeom>
          <a:noFill/>
          <a:ln/>
        </p:spPr>
        <p:txBody>
          <a:bodyPr wrap="square" lIns="0" tIns="0" rIns="0" bIns="0" rtlCol="0" anchor="ctr"/>
          <a:lstStyle/>
          <a:p>
            <a:pPr>
              <a:lnSpc>
                <a:spcPct val="130000"/>
              </a:lnSpc>
            </a:pPr>
            <a:r>
              <a:rPr lang="en-US" sz="1137" dirty="0">
                <a:solidFill>
                  <a:srgbClr val="2C2C2C"/>
                </a:solidFill>
                <a:latin typeface="Quattrocento Sans" pitchFamily="34" charset="0"/>
                <a:ea typeface="Quattrocento Sans" pitchFamily="34" charset="-122"/>
                <a:cs typeface="Quattrocento Sans" pitchFamily="34" charset="-120"/>
              </a:rPr>
              <a:t>Required by law, regulation, or court order</a:t>
            </a:r>
            <a:endParaRPr lang="en-US" sz="1600" dirty="0"/>
          </a:p>
        </p:txBody>
      </p:sp>
      <p:sp>
        <p:nvSpPr>
          <p:cNvPr id="53" name="Shape 51"/>
          <p:cNvSpPr/>
          <p:nvPr/>
        </p:nvSpPr>
        <p:spPr>
          <a:xfrm>
            <a:off x="6331058" y="4692702"/>
            <a:ext cx="144391" cy="144391"/>
          </a:xfrm>
          <a:custGeom>
            <a:avLst/>
            <a:gdLst/>
            <a:ahLst/>
            <a:cxnLst/>
            <a:rect l="l" t="t" r="r" b="b"/>
            <a:pathLst>
              <a:path w="144391" h="144391">
                <a:moveTo>
                  <a:pt x="99240" y="78964"/>
                </a:moveTo>
                <a:lnTo>
                  <a:pt x="45404" y="78964"/>
                </a:lnTo>
                <a:cubicBezTo>
                  <a:pt x="46222" y="97154"/>
                  <a:pt x="50255" y="113905"/>
                  <a:pt x="55980" y="126173"/>
                </a:cubicBezTo>
                <a:cubicBezTo>
                  <a:pt x="59195" y="133082"/>
                  <a:pt x="62663" y="137961"/>
                  <a:pt x="65878" y="140950"/>
                </a:cubicBezTo>
                <a:cubicBezTo>
                  <a:pt x="69037" y="143911"/>
                  <a:pt x="71208" y="144391"/>
                  <a:pt x="72336" y="144391"/>
                </a:cubicBezTo>
                <a:cubicBezTo>
                  <a:pt x="73464" y="144391"/>
                  <a:pt x="75636" y="143911"/>
                  <a:pt x="78795" y="140950"/>
                </a:cubicBezTo>
                <a:cubicBezTo>
                  <a:pt x="82009" y="137961"/>
                  <a:pt x="85478" y="133054"/>
                  <a:pt x="88693" y="126173"/>
                </a:cubicBezTo>
                <a:cubicBezTo>
                  <a:pt x="94418" y="113905"/>
                  <a:pt x="98451" y="97154"/>
                  <a:pt x="99269" y="78964"/>
                </a:cubicBezTo>
                <a:close/>
                <a:moveTo>
                  <a:pt x="45376" y="65427"/>
                </a:moveTo>
                <a:lnTo>
                  <a:pt x="99212" y="65427"/>
                </a:lnTo>
                <a:cubicBezTo>
                  <a:pt x="98423" y="47237"/>
                  <a:pt x="94390" y="30486"/>
                  <a:pt x="88665" y="18218"/>
                </a:cubicBezTo>
                <a:cubicBezTo>
                  <a:pt x="85450" y="11337"/>
                  <a:pt x="81981" y="6430"/>
                  <a:pt x="78766" y="3441"/>
                </a:cubicBezTo>
                <a:cubicBezTo>
                  <a:pt x="75608" y="479"/>
                  <a:pt x="73436" y="0"/>
                  <a:pt x="72308" y="0"/>
                </a:cubicBezTo>
                <a:cubicBezTo>
                  <a:pt x="71180" y="0"/>
                  <a:pt x="69009" y="479"/>
                  <a:pt x="65850" y="3441"/>
                </a:cubicBezTo>
                <a:cubicBezTo>
                  <a:pt x="62635" y="6430"/>
                  <a:pt x="59166" y="11337"/>
                  <a:pt x="55951" y="18218"/>
                </a:cubicBezTo>
                <a:cubicBezTo>
                  <a:pt x="50227" y="30486"/>
                  <a:pt x="46194" y="47237"/>
                  <a:pt x="45376" y="65427"/>
                </a:cubicBezTo>
                <a:close/>
                <a:moveTo>
                  <a:pt x="31839" y="65427"/>
                </a:moveTo>
                <a:cubicBezTo>
                  <a:pt x="32826" y="41287"/>
                  <a:pt x="39059" y="18867"/>
                  <a:pt x="48168" y="4146"/>
                </a:cubicBezTo>
                <a:cubicBezTo>
                  <a:pt x="22194" y="13339"/>
                  <a:pt x="3074" y="37000"/>
                  <a:pt x="423" y="65427"/>
                </a:cubicBezTo>
                <a:lnTo>
                  <a:pt x="31839" y="65427"/>
                </a:lnTo>
                <a:close/>
                <a:moveTo>
                  <a:pt x="423" y="78964"/>
                </a:moveTo>
                <a:cubicBezTo>
                  <a:pt x="3074" y="107391"/>
                  <a:pt x="22194" y="131052"/>
                  <a:pt x="48168" y="140245"/>
                </a:cubicBezTo>
                <a:cubicBezTo>
                  <a:pt x="39059" y="125524"/>
                  <a:pt x="32826" y="103104"/>
                  <a:pt x="31839" y="78964"/>
                </a:cubicBezTo>
                <a:lnTo>
                  <a:pt x="423" y="78964"/>
                </a:lnTo>
                <a:close/>
                <a:moveTo>
                  <a:pt x="112777" y="78964"/>
                </a:moveTo>
                <a:cubicBezTo>
                  <a:pt x="111790" y="103104"/>
                  <a:pt x="105558" y="125524"/>
                  <a:pt x="96449" y="140245"/>
                </a:cubicBezTo>
                <a:cubicBezTo>
                  <a:pt x="122422" y="131023"/>
                  <a:pt x="141542" y="107391"/>
                  <a:pt x="144193" y="78964"/>
                </a:cubicBezTo>
                <a:lnTo>
                  <a:pt x="112777" y="78964"/>
                </a:lnTo>
                <a:close/>
                <a:moveTo>
                  <a:pt x="144193" y="65427"/>
                </a:moveTo>
                <a:cubicBezTo>
                  <a:pt x="141542" y="37000"/>
                  <a:pt x="122422" y="13339"/>
                  <a:pt x="96449" y="4146"/>
                </a:cubicBezTo>
                <a:cubicBezTo>
                  <a:pt x="105558" y="18867"/>
                  <a:pt x="111790" y="41287"/>
                  <a:pt x="112777" y="65427"/>
                </a:cubicBezTo>
                <a:lnTo>
                  <a:pt x="144193" y="65427"/>
                </a:lnTo>
                <a:close/>
              </a:path>
            </a:pathLst>
          </a:custGeom>
          <a:solidFill>
            <a:srgbClr val="3A4D39"/>
          </a:solidFill>
          <a:ln/>
        </p:spPr>
      </p:sp>
      <p:sp>
        <p:nvSpPr>
          <p:cNvPr id="54" name="Text 52"/>
          <p:cNvSpPr/>
          <p:nvPr/>
        </p:nvSpPr>
        <p:spPr>
          <a:xfrm>
            <a:off x="6565693" y="4656604"/>
            <a:ext cx="3582697" cy="216586"/>
          </a:xfrm>
          <a:prstGeom prst="rect">
            <a:avLst/>
          </a:prstGeom>
          <a:noFill/>
          <a:ln/>
        </p:spPr>
        <p:txBody>
          <a:bodyPr wrap="square" lIns="0" tIns="0" rIns="0" bIns="0" rtlCol="0" anchor="ctr"/>
          <a:lstStyle/>
          <a:p>
            <a:pPr>
              <a:lnSpc>
                <a:spcPct val="130000"/>
              </a:lnSpc>
            </a:pPr>
            <a:r>
              <a:rPr lang="en-US" sz="1137" dirty="0">
                <a:solidFill>
                  <a:srgbClr val="2C2C2C"/>
                </a:solidFill>
                <a:latin typeface="Quattrocento Sans" pitchFamily="34" charset="0"/>
                <a:ea typeface="Quattrocento Sans" pitchFamily="34" charset="-122"/>
                <a:cs typeface="Quattrocento Sans" pitchFamily="34" charset="-120"/>
              </a:rPr>
              <a:t>Information already publicly available through no breach</a:t>
            </a:r>
            <a:endParaRPr lang="en-US" sz="1600" dirty="0"/>
          </a:p>
        </p:txBody>
      </p:sp>
      <p:sp>
        <p:nvSpPr>
          <p:cNvPr id="55" name="Shape 53"/>
          <p:cNvSpPr/>
          <p:nvPr/>
        </p:nvSpPr>
        <p:spPr>
          <a:xfrm>
            <a:off x="6340083" y="4981483"/>
            <a:ext cx="126342" cy="144391"/>
          </a:xfrm>
          <a:custGeom>
            <a:avLst/>
            <a:gdLst/>
            <a:ahLst/>
            <a:cxnLst/>
            <a:rect l="l" t="t" r="r" b="b"/>
            <a:pathLst>
              <a:path w="126342" h="144391">
                <a:moveTo>
                  <a:pt x="63171" y="69939"/>
                </a:moveTo>
                <a:cubicBezTo>
                  <a:pt x="44493" y="69939"/>
                  <a:pt x="29329" y="54775"/>
                  <a:pt x="29329" y="36098"/>
                </a:cubicBezTo>
                <a:cubicBezTo>
                  <a:pt x="29329" y="17420"/>
                  <a:pt x="44493" y="2256"/>
                  <a:pt x="63171" y="2256"/>
                </a:cubicBezTo>
                <a:cubicBezTo>
                  <a:pt x="81849" y="2256"/>
                  <a:pt x="97013" y="17420"/>
                  <a:pt x="97013" y="36098"/>
                </a:cubicBezTo>
                <a:cubicBezTo>
                  <a:pt x="97013" y="54775"/>
                  <a:pt x="81849" y="69939"/>
                  <a:pt x="63171" y="69939"/>
                </a:cubicBezTo>
                <a:close/>
                <a:moveTo>
                  <a:pt x="54570" y="85732"/>
                </a:moveTo>
                <a:lnTo>
                  <a:pt x="71772" y="85732"/>
                </a:lnTo>
                <a:cubicBezTo>
                  <a:pt x="74508" y="85732"/>
                  <a:pt x="76708" y="87932"/>
                  <a:pt x="76708" y="90667"/>
                </a:cubicBezTo>
                <a:cubicBezTo>
                  <a:pt x="76708" y="91852"/>
                  <a:pt x="76285" y="92980"/>
                  <a:pt x="75523" y="93882"/>
                </a:cubicBezTo>
                <a:lnTo>
                  <a:pt x="67796" y="102907"/>
                </a:lnTo>
                <a:lnTo>
                  <a:pt x="76538" y="135366"/>
                </a:lnTo>
                <a:lnTo>
                  <a:pt x="76708" y="135366"/>
                </a:lnTo>
                <a:lnTo>
                  <a:pt x="86465" y="96308"/>
                </a:lnTo>
                <a:cubicBezTo>
                  <a:pt x="87086" y="93854"/>
                  <a:pt x="89596" y="92359"/>
                  <a:pt x="91965" y="93262"/>
                </a:cubicBezTo>
                <a:cubicBezTo>
                  <a:pt x="109421" y="99917"/>
                  <a:pt x="121830" y="116838"/>
                  <a:pt x="121830" y="136635"/>
                </a:cubicBezTo>
                <a:cubicBezTo>
                  <a:pt x="121830" y="140894"/>
                  <a:pt x="118361" y="144363"/>
                  <a:pt x="114103" y="144363"/>
                </a:cubicBezTo>
                <a:lnTo>
                  <a:pt x="12239" y="144391"/>
                </a:lnTo>
                <a:cubicBezTo>
                  <a:pt x="7981" y="144391"/>
                  <a:pt x="4512" y="140922"/>
                  <a:pt x="4512" y="136664"/>
                </a:cubicBezTo>
                <a:cubicBezTo>
                  <a:pt x="4512" y="116866"/>
                  <a:pt x="16921" y="99946"/>
                  <a:pt x="34377" y="93290"/>
                </a:cubicBezTo>
                <a:cubicBezTo>
                  <a:pt x="36746" y="92388"/>
                  <a:pt x="39256" y="93882"/>
                  <a:pt x="39877" y="96336"/>
                </a:cubicBezTo>
                <a:lnTo>
                  <a:pt x="49634" y="135395"/>
                </a:lnTo>
                <a:lnTo>
                  <a:pt x="49804" y="135395"/>
                </a:lnTo>
                <a:lnTo>
                  <a:pt x="58546" y="102935"/>
                </a:lnTo>
                <a:lnTo>
                  <a:pt x="50819" y="93910"/>
                </a:lnTo>
                <a:cubicBezTo>
                  <a:pt x="50057" y="93008"/>
                  <a:pt x="49634" y="91880"/>
                  <a:pt x="49634" y="90695"/>
                </a:cubicBezTo>
                <a:cubicBezTo>
                  <a:pt x="49634" y="87960"/>
                  <a:pt x="51834" y="85760"/>
                  <a:pt x="54570" y="85760"/>
                </a:cubicBezTo>
                <a:close/>
              </a:path>
            </a:pathLst>
          </a:custGeom>
          <a:solidFill>
            <a:srgbClr val="3A4D39"/>
          </a:solidFill>
          <a:ln/>
        </p:spPr>
      </p:sp>
      <p:sp>
        <p:nvSpPr>
          <p:cNvPr id="56" name="Text 54"/>
          <p:cNvSpPr/>
          <p:nvPr/>
        </p:nvSpPr>
        <p:spPr>
          <a:xfrm>
            <a:off x="6565693" y="4945386"/>
            <a:ext cx="4548311" cy="216586"/>
          </a:xfrm>
          <a:prstGeom prst="rect">
            <a:avLst/>
          </a:prstGeom>
          <a:noFill/>
          <a:ln/>
        </p:spPr>
        <p:txBody>
          <a:bodyPr wrap="square" lIns="0" tIns="0" rIns="0" bIns="0" rtlCol="0" anchor="ctr"/>
          <a:lstStyle/>
          <a:p>
            <a:pPr>
              <a:lnSpc>
                <a:spcPct val="130000"/>
              </a:lnSpc>
            </a:pPr>
            <a:r>
              <a:rPr lang="en-US" sz="1137" dirty="0">
                <a:solidFill>
                  <a:srgbClr val="2C2C2C"/>
                </a:solidFill>
                <a:latin typeface="Quattrocento Sans" pitchFamily="34" charset="0"/>
                <a:ea typeface="Quattrocento Sans" pitchFamily="34" charset="-122"/>
                <a:cs typeface="Quattrocento Sans" pitchFamily="34" charset="-120"/>
              </a:rPr>
              <a:t>To professional advisors (accountants, lawyers) bound by confidentiality</a:t>
            </a:r>
            <a:endParaRPr lang="en-US" sz="1600" dirty="0"/>
          </a:p>
        </p:txBody>
      </p:sp>
      <p:sp>
        <p:nvSpPr>
          <p:cNvPr id="57" name="Shape 55"/>
          <p:cNvSpPr/>
          <p:nvPr/>
        </p:nvSpPr>
        <p:spPr>
          <a:xfrm>
            <a:off x="6349107" y="5270265"/>
            <a:ext cx="108293" cy="144391"/>
          </a:xfrm>
          <a:custGeom>
            <a:avLst/>
            <a:gdLst/>
            <a:ahLst/>
            <a:cxnLst/>
            <a:rect l="l" t="t" r="r" b="b"/>
            <a:pathLst>
              <a:path w="108293" h="144391">
                <a:moveTo>
                  <a:pt x="70475" y="18838"/>
                </a:moveTo>
                <a:cubicBezTo>
                  <a:pt x="73408" y="14806"/>
                  <a:pt x="72506" y="9165"/>
                  <a:pt x="68473" y="6232"/>
                </a:cubicBezTo>
                <a:cubicBezTo>
                  <a:pt x="64440" y="3300"/>
                  <a:pt x="58800" y="4202"/>
                  <a:pt x="55867" y="8235"/>
                </a:cubicBezTo>
                <a:lnTo>
                  <a:pt x="25973" y="49324"/>
                </a:lnTo>
                <a:lnTo>
                  <a:pt x="15398" y="38749"/>
                </a:lnTo>
                <a:cubicBezTo>
                  <a:pt x="11873" y="35223"/>
                  <a:pt x="6148" y="35223"/>
                  <a:pt x="2623" y="38749"/>
                </a:cubicBezTo>
                <a:cubicBezTo>
                  <a:pt x="-902" y="42274"/>
                  <a:pt x="-902" y="47999"/>
                  <a:pt x="2623" y="51524"/>
                </a:cubicBezTo>
                <a:lnTo>
                  <a:pt x="20672" y="69573"/>
                </a:lnTo>
                <a:cubicBezTo>
                  <a:pt x="22533" y="71434"/>
                  <a:pt x="25127" y="72393"/>
                  <a:pt x="27750" y="72195"/>
                </a:cubicBezTo>
                <a:cubicBezTo>
                  <a:pt x="30373" y="71998"/>
                  <a:pt x="32798" y="70644"/>
                  <a:pt x="34349" y="68501"/>
                </a:cubicBezTo>
                <a:lnTo>
                  <a:pt x="70447" y="18867"/>
                </a:lnTo>
                <a:close/>
                <a:moveTo>
                  <a:pt x="106573" y="57192"/>
                </a:moveTo>
                <a:cubicBezTo>
                  <a:pt x="109506" y="53160"/>
                  <a:pt x="108603" y="47519"/>
                  <a:pt x="104571" y="44586"/>
                </a:cubicBezTo>
                <a:cubicBezTo>
                  <a:pt x="100538" y="41653"/>
                  <a:pt x="94897" y="42556"/>
                  <a:pt x="91965" y="46589"/>
                </a:cubicBezTo>
                <a:lnTo>
                  <a:pt x="44022" y="112495"/>
                </a:lnTo>
                <a:lnTo>
                  <a:pt x="24422" y="92895"/>
                </a:lnTo>
                <a:cubicBezTo>
                  <a:pt x="20897" y="89370"/>
                  <a:pt x="15172" y="89370"/>
                  <a:pt x="11647" y="92895"/>
                </a:cubicBezTo>
                <a:cubicBezTo>
                  <a:pt x="8122" y="96420"/>
                  <a:pt x="8122" y="102145"/>
                  <a:pt x="11647" y="105670"/>
                </a:cubicBezTo>
                <a:lnTo>
                  <a:pt x="38720" y="132744"/>
                </a:lnTo>
                <a:cubicBezTo>
                  <a:pt x="40582" y="134605"/>
                  <a:pt x="43176" y="135564"/>
                  <a:pt x="45799" y="135366"/>
                </a:cubicBezTo>
                <a:cubicBezTo>
                  <a:pt x="48422" y="135169"/>
                  <a:pt x="50847" y="133815"/>
                  <a:pt x="52398" y="131672"/>
                </a:cubicBezTo>
                <a:lnTo>
                  <a:pt x="106545" y="57221"/>
                </a:lnTo>
                <a:close/>
              </a:path>
            </a:pathLst>
          </a:custGeom>
          <a:solidFill>
            <a:srgbClr val="3A4D39"/>
          </a:solidFill>
          <a:ln/>
        </p:spPr>
      </p:sp>
      <p:sp>
        <p:nvSpPr>
          <p:cNvPr id="58" name="Text 56"/>
          <p:cNvSpPr/>
          <p:nvPr/>
        </p:nvSpPr>
        <p:spPr>
          <a:xfrm>
            <a:off x="6565693" y="5234167"/>
            <a:ext cx="2617084" cy="216586"/>
          </a:xfrm>
          <a:prstGeom prst="rect">
            <a:avLst/>
          </a:prstGeom>
          <a:noFill/>
          <a:ln/>
        </p:spPr>
        <p:txBody>
          <a:bodyPr wrap="square" lIns="0" tIns="0" rIns="0" bIns="0" rtlCol="0" anchor="ctr"/>
          <a:lstStyle/>
          <a:p>
            <a:pPr>
              <a:lnSpc>
                <a:spcPct val="130000"/>
              </a:lnSpc>
            </a:pPr>
            <a:r>
              <a:rPr lang="en-US" sz="1137" dirty="0">
                <a:solidFill>
                  <a:srgbClr val="2C2C2C"/>
                </a:solidFill>
                <a:latin typeface="Quattrocento Sans" pitchFamily="34" charset="0"/>
                <a:ea typeface="Quattrocento Sans" pitchFamily="34" charset="-122"/>
                <a:cs typeface="Quattrocento Sans" pitchFamily="34" charset="-120"/>
              </a:rPr>
              <a:t>With prior written consent of all partners</a:t>
            </a:r>
            <a:endParaRPr lang="en-US" sz="1600" dirty="0"/>
          </a:p>
        </p:txBody>
      </p:sp>
      <p:sp>
        <p:nvSpPr>
          <p:cNvPr id="59" name="Shape 57"/>
          <p:cNvSpPr/>
          <p:nvPr/>
        </p:nvSpPr>
        <p:spPr>
          <a:xfrm>
            <a:off x="360977" y="5703437"/>
            <a:ext cx="11470046" cy="938540"/>
          </a:xfrm>
          <a:custGeom>
            <a:avLst/>
            <a:gdLst/>
            <a:ahLst/>
            <a:cxnLst/>
            <a:rect l="l" t="t" r="r" b="b"/>
            <a:pathLst>
              <a:path w="11470046" h="938540">
                <a:moveTo>
                  <a:pt x="72193" y="0"/>
                </a:moveTo>
                <a:lnTo>
                  <a:pt x="11397853" y="0"/>
                </a:lnTo>
                <a:cubicBezTo>
                  <a:pt x="11437724" y="0"/>
                  <a:pt x="11470046" y="32322"/>
                  <a:pt x="11470046" y="72193"/>
                </a:cubicBezTo>
                <a:lnTo>
                  <a:pt x="11470046" y="866348"/>
                </a:lnTo>
                <a:cubicBezTo>
                  <a:pt x="11470046" y="906219"/>
                  <a:pt x="11437724" y="938540"/>
                  <a:pt x="11397853" y="938540"/>
                </a:cubicBezTo>
                <a:lnTo>
                  <a:pt x="72193" y="938540"/>
                </a:lnTo>
                <a:cubicBezTo>
                  <a:pt x="32322" y="938540"/>
                  <a:pt x="0" y="906219"/>
                  <a:pt x="0" y="866348"/>
                </a:cubicBezTo>
                <a:lnTo>
                  <a:pt x="0" y="72193"/>
                </a:lnTo>
                <a:cubicBezTo>
                  <a:pt x="0" y="32348"/>
                  <a:pt x="32348" y="0"/>
                  <a:pt x="72193" y="0"/>
                </a:cubicBezTo>
                <a:close/>
              </a:path>
            </a:pathLst>
          </a:custGeom>
          <a:solidFill>
            <a:srgbClr val="3A4D39"/>
          </a:solidFill>
          <a:ln/>
        </p:spPr>
      </p:sp>
      <p:sp>
        <p:nvSpPr>
          <p:cNvPr id="60" name="Shape 58"/>
          <p:cNvSpPr/>
          <p:nvPr/>
        </p:nvSpPr>
        <p:spPr>
          <a:xfrm>
            <a:off x="451221" y="5847828"/>
            <a:ext cx="180489" cy="180489"/>
          </a:xfrm>
          <a:custGeom>
            <a:avLst/>
            <a:gdLst/>
            <a:ahLst/>
            <a:cxnLst/>
            <a:rect l="l" t="t" r="r" b="b"/>
            <a:pathLst>
              <a:path w="180489" h="180489">
                <a:moveTo>
                  <a:pt x="90244" y="180489"/>
                </a:moveTo>
                <a:cubicBezTo>
                  <a:pt x="140051" y="180489"/>
                  <a:pt x="180489" y="140051"/>
                  <a:pt x="180489" y="90244"/>
                </a:cubicBezTo>
                <a:cubicBezTo>
                  <a:pt x="180489" y="40437"/>
                  <a:pt x="140051" y="0"/>
                  <a:pt x="90244" y="0"/>
                </a:cubicBezTo>
                <a:cubicBezTo>
                  <a:pt x="40437" y="0"/>
                  <a:pt x="0" y="40437"/>
                  <a:pt x="0" y="90244"/>
                </a:cubicBezTo>
                <a:cubicBezTo>
                  <a:pt x="0" y="140051"/>
                  <a:pt x="40437" y="180489"/>
                  <a:pt x="90244" y="180489"/>
                </a:cubicBezTo>
                <a:close/>
                <a:moveTo>
                  <a:pt x="90244" y="47942"/>
                </a:moveTo>
                <a:cubicBezTo>
                  <a:pt x="94933" y="47942"/>
                  <a:pt x="98705" y="51714"/>
                  <a:pt x="98705" y="56403"/>
                </a:cubicBezTo>
                <a:lnTo>
                  <a:pt x="98705" y="95885"/>
                </a:lnTo>
                <a:cubicBezTo>
                  <a:pt x="98705" y="100573"/>
                  <a:pt x="94933" y="104345"/>
                  <a:pt x="90244" y="104345"/>
                </a:cubicBezTo>
                <a:cubicBezTo>
                  <a:pt x="85556" y="104345"/>
                  <a:pt x="81784" y="100573"/>
                  <a:pt x="81784" y="95885"/>
                </a:cubicBezTo>
                <a:lnTo>
                  <a:pt x="81784" y="56403"/>
                </a:lnTo>
                <a:cubicBezTo>
                  <a:pt x="81784" y="51714"/>
                  <a:pt x="85556" y="47942"/>
                  <a:pt x="90244" y="47942"/>
                </a:cubicBezTo>
                <a:close/>
                <a:moveTo>
                  <a:pt x="80832" y="124086"/>
                </a:moveTo>
                <a:cubicBezTo>
                  <a:pt x="80618" y="120592"/>
                  <a:pt x="82360" y="117268"/>
                  <a:pt x="85355" y="115457"/>
                </a:cubicBezTo>
                <a:cubicBezTo>
                  <a:pt x="88350" y="113645"/>
                  <a:pt x="92103" y="113645"/>
                  <a:pt x="95098" y="115457"/>
                </a:cubicBezTo>
                <a:cubicBezTo>
                  <a:pt x="98093" y="117268"/>
                  <a:pt x="99835" y="120592"/>
                  <a:pt x="99621" y="124086"/>
                </a:cubicBezTo>
                <a:cubicBezTo>
                  <a:pt x="99835" y="127580"/>
                  <a:pt x="98093" y="130903"/>
                  <a:pt x="95098" y="132715"/>
                </a:cubicBezTo>
                <a:cubicBezTo>
                  <a:pt x="92103" y="134527"/>
                  <a:pt x="88350" y="134527"/>
                  <a:pt x="85355" y="132715"/>
                </a:cubicBezTo>
                <a:cubicBezTo>
                  <a:pt x="82360" y="130903"/>
                  <a:pt x="80618" y="127580"/>
                  <a:pt x="80832" y="124086"/>
                </a:cubicBezTo>
                <a:close/>
              </a:path>
            </a:pathLst>
          </a:custGeom>
          <a:solidFill>
            <a:srgbClr val="BCA37F"/>
          </a:solidFill>
          <a:ln/>
        </p:spPr>
      </p:sp>
      <p:sp>
        <p:nvSpPr>
          <p:cNvPr id="61" name="Text 59"/>
          <p:cNvSpPr/>
          <p:nvPr/>
        </p:nvSpPr>
        <p:spPr>
          <a:xfrm>
            <a:off x="718006" y="5811731"/>
            <a:ext cx="11091020" cy="252684"/>
          </a:xfrm>
          <a:prstGeom prst="rect">
            <a:avLst/>
          </a:prstGeom>
          <a:noFill/>
          <a:ln/>
        </p:spPr>
        <p:txBody>
          <a:bodyPr wrap="square" lIns="0" tIns="0" rIns="0" bIns="0" rtlCol="0" anchor="ctr"/>
          <a:lstStyle/>
          <a:p>
            <a:pPr>
              <a:lnSpc>
                <a:spcPct val="130000"/>
              </a:lnSpc>
            </a:pPr>
            <a:r>
              <a:rPr lang="en-US" sz="1279" b="1" dirty="0">
                <a:solidFill>
                  <a:srgbClr val="F8F6F2"/>
                </a:solidFill>
                <a:latin typeface="Unna" pitchFamily="34" charset="0"/>
                <a:ea typeface="Unna" pitchFamily="34" charset="-122"/>
                <a:cs typeface="Unna" pitchFamily="34" charset="-120"/>
              </a:rPr>
              <a:t>Breach Consequences &amp; Survival Clause</a:t>
            </a:r>
            <a:endParaRPr lang="en-US" sz="1600" dirty="0"/>
          </a:p>
        </p:txBody>
      </p:sp>
      <p:sp>
        <p:nvSpPr>
          <p:cNvPr id="62" name="Text 60"/>
          <p:cNvSpPr/>
          <p:nvPr/>
        </p:nvSpPr>
        <p:spPr>
          <a:xfrm>
            <a:off x="718006" y="6100512"/>
            <a:ext cx="11081996" cy="433172"/>
          </a:xfrm>
          <a:prstGeom prst="rect">
            <a:avLst/>
          </a:prstGeom>
          <a:noFill/>
          <a:ln/>
        </p:spPr>
        <p:txBody>
          <a:bodyPr wrap="square" lIns="0" tIns="0" rIns="0" bIns="0" rtlCol="0" anchor="ctr"/>
          <a:lstStyle/>
          <a:p>
            <a:pPr>
              <a:lnSpc>
                <a:spcPct val="130000"/>
              </a:lnSpc>
            </a:pPr>
            <a:r>
              <a:rPr lang="en-US" sz="1137" dirty="0">
                <a:solidFill>
                  <a:srgbClr val="F8F6F2"/>
                </a:solidFill>
                <a:latin typeface="Quattrocento Sans" pitchFamily="34" charset="0"/>
                <a:ea typeface="Quattrocento Sans" pitchFamily="34" charset="-122"/>
                <a:cs typeface="Quattrocento Sans" pitchFamily="34" charset="-120"/>
              </a:rPr>
              <a:t>Any breach of confidentiality obligations may result in injunctive relief, monetary damages, and termination of partnership interest. Confidentiality obligations survive agreement termination and continue for a period of 5 years thereafter. Partners acknowledge that unauthorized disclosure could cause irreparable harm justifying immediate injunctive relief.</a:t>
            </a:r>
            <a:endParaRPr lang="en-US" sz="1600" dirty="0"/>
          </a:p>
        </p:txBody>
      </p:sp>
    </p:spTree>
  </p:cSld>
  <p:clrMapOvr>
    <a:masterClrMapping/>
  </p:clrMapOvr>
  <p:transition>
    <p:fade/>
    <p:spd val="med"/>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6F2"/>
        </a:solidFill>
      </p:bgPr>
    </p:bg>
    <p:spTree>
      <p:nvGrpSpPr>
        <p:cNvPr id="1" name=""/>
        <p:cNvGrpSpPr/>
        <p:nvPr/>
      </p:nvGrpSpPr>
      <p:grpSpPr>
        <a:xfrm>
          <a:off x="0" y="0"/>
          <a:ext cx="0" cy="0"/>
          <a:chOff x="0" y="0"/>
          <a:chExt cx="0" cy="0"/>
        </a:xfrm>
      </p:grpSpPr>
      <p:sp>
        <p:nvSpPr>
          <p:cNvPr id="2" name="Shape 0"/>
          <p:cNvSpPr/>
          <p:nvPr/>
        </p:nvSpPr>
        <p:spPr>
          <a:xfrm>
            <a:off x="337028" y="337028"/>
            <a:ext cx="337028" cy="337028"/>
          </a:xfrm>
          <a:custGeom>
            <a:avLst/>
            <a:gdLst/>
            <a:ahLst/>
            <a:cxnLst/>
            <a:rect l="l" t="t" r="r" b="b"/>
            <a:pathLst>
              <a:path w="337028" h="337028">
                <a:moveTo>
                  <a:pt x="33703" y="0"/>
                </a:moveTo>
                <a:lnTo>
                  <a:pt x="303326" y="0"/>
                </a:lnTo>
                <a:cubicBezTo>
                  <a:pt x="321939" y="0"/>
                  <a:pt x="337028" y="15089"/>
                  <a:pt x="337028" y="33703"/>
                </a:cubicBezTo>
                <a:lnTo>
                  <a:pt x="337028" y="303326"/>
                </a:lnTo>
                <a:cubicBezTo>
                  <a:pt x="337028" y="321939"/>
                  <a:pt x="321939" y="337028"/>
                  <a:pt x="303326" y="337028"/>
                </a:cubicBezTo>
                <a:lnTo>
                  <a:pt x="33703" y="337028"/>
                </a:lnTo>
                <a:cubicBezTo>
                  <a:pt x="15089" y="337028"/>
                  <a:pt x="0" y="321939"/>
                  <a:pt x="0" y="303326"/>
                </a:cubicBezTo>
                <a:lnTo>
                  <a:pt x="0" y="33703"/>
                </a:lnTo>
                <a:cubicBezTo>
                  <a:pt x="0" y="15102"/>
                  <a:pt x="15102" y="0"/>
                  <a:pt x="33703" y="0"/>
                </a:cubicBezTo>
                <a:close/>
              </a:path>
            </a:pathLst>
          </a:custGeom>
          <a:solidFill>
            <a:srgbClr val="7A6250"/>
          </a:solidFill>
          <a:ln/>
        </p:spPr>
      </p:sp>
      <p:sp>
        <p:nvSpPr>
          <p:cNvPr id="3" name="Text 1"/>
          <p:cNvSpPr/>
          <p:nvPr/>
        </p:nvSpPr>
        <p:spPr>
          <a:xfrm>
            <a:off x="436294" y="387583"/>
            <a:ext cx="219068" cy="235920"/>
          </a:xfrm>
          <a:prstGeom prst="rect">
            <a:avLst/>
          </a:prstGeom>
          <a:noFill/>
          <a:ln/>
        </p:spPr>
        <p:txBody>
          <a:bodyPr wrap="square" lIns="0" tIns="0" rIns="0" bIns="0" rtlCol="0" anchor="ctr"/>
          <a:lstStyle/>
          <a:p>
            <a:pPr>
              <a:lnSpc>
                <a:spcPct val="120000"/>
              </a:lnSpc>
            </a:pPr>
            <a:r>
              <a:rPr lang="en-US" sz="1327" b="1" dirty="0">
                <a:solidFill>
                  <a:srgbClr val="F8F6F2"/>
                </a:solidFill>
                <a:latin typeface="Oranienbaum" pitchFamily="34" charset="0"/>
                <a:ea typeface="Oranienbaum" pitchFamily="34" charset="-122"/>
                <a:cs typeface="Oranienbaum" pitchFamily="34" charset="-120"/>
              </a:rPr>
              <a:t>12</a:t>
            </a:r>
            <a:endParaRPr lang="en-US" sz="1600" dirty="0"/>
          </a:p>
        </p:txBody>
      </p:sp>
      <p:sp>
        <p:nvSpPr>
          <p:cNvPr id="4" name="Text 2"/>
          <p:cNvSpPr/>
          <p:nvPr/>
        </p:nvSpPr>
        <p:spPr>
          <a:xfrm>
            <a:off x="775165" y="337028"/>
            <a:ext cx="2578267" cy="337028"/>
          </a:xfrm>
          <a:prstGeom prst="rect">
            <a:avLst/>
          </a:prstGeom>
          <a:noFill/>
          <a:ln/>
        </p:spPr>
        <p:txBody>
          <a:bodyPr wrap="square" lIns="0" tIns="0" rIns="0" bIns="0" rtlCol="0" anchor="ctr"/>
          <a:lstStyle/>
          <a:p>
            <a:pPr>
              <a:lnSpc>
                <a:spcPct val="90000"/>
              </a:lnSpc>
            </a:pPr>
            <a:r>
              <a:rPr lang="en-US" sz="2388" b="1" dirty="0">
                <a:solidFill>
                  <a:srgbClr val="3A4D39"/>
                </a:solidFill>
                <a:latin typeface="Oranienbaum" pitchFamily="34" charset="0"/>
                <a:ea typeface="Oranienbaum" pitchFamily="34" charset="-122"/>
                <a:cs typeface="Oranienbaum" pitchFamily="34" charset="-120"/>
              </a:rPr>
              <a:t>Dispute Resolution</a:t>
            </a:r>
            <a:endParaRPr lang="en-US" sz="1600" dirty="0"/>
          </a:p>
        </p:txBody>
      </p:sp>
      <p:sp>
        <p:nvSpPr>
          <p:cNvPr id="5" name="Shape 3"/>
          <p:cNvSpPr/>
          <p:nvPr/>
        </p:nvSpPr>
        <p:spPr>
          <a:xfrm>
            <a:off x="337028" y="741462"/>
            <a:ext cx="674057" cy="33703"/>
          </a:xfrm>
          <a:custGeom>
            <a:avLst/>
            <a:gdLst/>
            <a:ahLst/>
            <a:cxnLst/>
            <a:rect l="l" t="t" r="r" b="b"/>
            <a:pathLst>
              <a:path w="674057" h="33703">
                <a:moveTo>
                  <a:pt x="0" y="0"/>
                </a:moveTo>
                <a:lnTo>
                  <a:pt x="674057" y="0"/>
                </a:lnTo>
                <a:lnTo>
                  <a:pt x="674057" y="33703"/>
                </a:lnTo>
                <a:lnTo>
                  <a:pt x="0" y="33703"/>
                </a:lnTo>
                <a:lnTo>
                  <a:pt x="0" y="0"/>
                </a:lnTo>
                <a:close/>
              </a:path>
            </a:pathLst>
          </a:custGeom>
          <a:solidFill>
            <a:srgbClr val="BCA37F"/>
          </a:solidFill>
          <a:ln/>
        </p:spPr>
      </p:sp>
      <p:sp>
        <p:nvSpPr>
          <p:cNvPr id="6" name="Shape 4"/>
          <p:cNvSpPr/>
          <p:nvPr/>
        </p:nvSpPr>
        <p:spPr>
          <a:xfrm>
            <a:off x="353880" y="909977"/>
            <a:ext cx="11501092" cy="3538798"/>
          </a:xfrm>
          <a:custGeom>
            <a:avLst/>
            <a:gdLst/>
            <a:ahLst/>
            <a:cxnLst/>
            <a:rect l="l" t="t" r="r" b="b"/>
            <a:pathLst>
              <a:path w="11501092" h="3538798">
                <a:moveTo>
                  <a:pt x="33703" y="0"/>
                </a:moveTo>
                <a:lnTo>
                  <a:pt x="11433678" y="0"/>
                </a:lnTo>
                <a:cubicBezTo>
                  <a:pt x="11470910" y="0"/>
                  <a:pt x="11501092" y="30182"/>
                  <a:pt x="11501092" y="67414"/>
                </a:cubicBezTo>
                <a:lnTo>
                  <a:pt x="11501092" y="3471383"/>
                </a:lnTo>
                <a:cubicBezTo>
                  <a:pt x="11501092" y="3508615"/>
                  <a:pt x="11470910" y="3538798"/>
                  <a:pt x="11433678" y="3538798"/>
                </a:cubicBezTo>
                <a:lnTo>
                  <a:pt x="33703" y="3538798"/>
                </a:lnTo>
                <a:cubicBezTo>
                  <a:pt x="15089" y="3538798"/>
                  <a:pt x="0" y="3523708"/>
                  <a:pt x="0" y="3505095"/>
                </a:cubicBezTo>
                <a:lnTo>
                  <a:pt x="0" y="33703"/>
                </a:lnTo>
                <a:cubicBezTo>
                  <a:pt x="0" y="15102"/>
                  <a:pt x="15102" y="0"/>
                  <a:pt x="33703" y="0"/>
                </a:cubicBezTo>
                <a:close/>
              </a:path>
            </a:pathLst>
          </a:custGeom>
          <a:solidFill>
            <a:srgbClr val="FFFFFF"/>
          </a:solidFill>
          <a:ln/>
          <a:effectLst>
            <a:outerShdw sx="100000" sy="100000" kx="0" ky="0" algn="bl" rotWithShape="0" blurRad="25277" dist="8426" dir="5400000">
              <a:srgbClr val="000000">
                <a:alpha val="10196"/>
              </a:srgbClr>
            </a:outerShdw>
          </a:effectLst>
        </p:spPr>
      </p:sp>
      <p:sp>
        <p:nvSpPr>
          <p:cNvPr id="7" name="Shape 5"/>
          <p:cNvSpPr/>
          <p:nvPr/>
        </p:nvSpPr>
        <p:spPr>
          <a:xfrm>
            <a:off x="353880" y="909977"/>
            <a:ext cx="33703" cy="3538798"/>
          </a:xfrm>
          <a:custGeom>
            <a:avLst/>
            <a:gdLst/>
            <a:ahLst/>
            <a:cxnLst/>
            <a:rect l="l" t="t" r="r" b="b"/>
            <a:pathLst>
              <a:path w="33703" h="3538798">
                <a:moveTo>
                  <a:pt x="33703" y="0"/>
                </a:moveTo>
                <a:lnTo>
                  <a:pt x="33703" y="0"/>
                </a:lnTo>
                <a:lnTo>
                  <a:pt x="33703" y="3538798"/>
                </a:lnTo>
                <a:lnTo>
                  <a:pt x="33703" y="3538798"/>
                </a:lnTo>
                <a:cubicBezTo>
                  <a:pt x="15089" y="3538798"/>
                  <a:pt x="0" y="3523708"/>
                  <a:pt x="0" y="3505095"/>
                </a:cubicBezTo>
                <a:lnTo>
                  <a:pt x="0" y="33703"/>
                </a:lnTo>
                <a:cubicBezTo>
                  <a:pt x="0" y="15102"/>
                  <a:pt x="15102" y="0"/>
                  <a:pt x="33703" y="0"/>
                </a:cubicBezTo>
                <a:close/>
              </a:path>
            </a:pathLst>
          </a:custGeom>
          <a:solidFill>
            <a:srgbClr val="3A4D39"/>
          </a:solidFill>
          <a:ln/>
        </p:spPr>
      </p:sp>
      <p:sp>
        <p:nvSpPr>
          <p:cNvPr id="8" name="Shape 6"/>
          <p:cNvSpPr/>
          <p:nvPr/>
        </p:nvSpPr>
        <p:spPr>
          <a:xfrm>
            <a:off x="526607" y="1078491"/>
            <a:ext cx="168514" cy="168514"/>
          </a:xfrm>
          <a:custGeom>
            <a:avLst/>
            <a:gdLst/>
            <a:ahLst/>
            <a:cxnLst/>
            <a:rect l="l" t="t" r="r" b="b"/>
            <a:pathLst>
              <a:path w="168514" h="168514">
                <a:moveTo>
                  <a:pt x="168514" y="31596"/>
                </a:moveTo>
                <a:cubicBezTo>
                  <a:pt x="168514" y="48119"/>
                  <a:pt x="149063" y="72770"/>
                  <a:pt x="140670" y="82611"/>
                </a:cubicBezTo>
                <a:cubicBezTo>
                  <a:pt x="139419" y="84060"/>
                  <a:pt x="137576" y="84619"/>
                  <a:pt x="135897" y="84257"/>
                </a:cubicBezTo>
                <a:lnTo>
                  <a:pt x="105321" y="84257"/>
                </a:lnTo>
                <a:cubicBezTo>
                  <a:pt x="99496" y="84257"/>
                  <a:pt x="94789" y="88964"/>
                  <a:pt x="94789" y="94789"/>
                </a:cubicBezTo>
                <a:cubicBezTo>
                  <a:pt x="94789" y="100615"/>
                  <a:pt x="99496" y="105321"/>
                  <a:pt x="105321" y="105321"/>
                </a:cubicBezTo>
                <a:lnTo>
                  <a:pt x="136918" y="105321"/>
                </a:lnTo>
                <a:cubicBezTo>
                  <a:pt x="154362" y="105321"/>
                  <a:pt x="168514" y="119474"/>
                  <a:pt x="168514" y="136918"/>
                </a:cubicBezTo>
                <a:cubicBezTo>
                  <a:pt x="168514" y="154362"/>
                  <a:pt x="154362" y="168514"/>
                  <a:pt x="136918" y="168514"/>
                </a:cubicBezTo>
                <a:lnTo>
                  <a:pt x="45946" y="168514"/>
                </a:lnTo>
                <a:cubicBezTo>
                  <a:pt x="48810" y="165256"/>
                  <a:pt x="52299" y="161076"/>
                  <a:pt x="55820" y="156402"/>
                </a:cubicBezTo>
                <a:cubicBezTo>
                  <a:pt x="57894" y="153638"/>
                  <a:pt x="60033" y="150610"/>
                  <a:pt x="62074" y="147450"/>
                </a:cubicBezTo>
                <a:lnTo>
                  <a:pt x="136918" y="147450"/>
                </a:lnTo>
                <a:cubicBezTo>
                  <a:pt x="142743" y="147450"/>
                  <a:pt x="147450" y="142743"/>
                  <a:pt x="147450" y="136918"/>
                </a:cubicBezTo>
                <a:cubicBezTo>
                  <a:pt x="147450" y="131092"/>
                  <a:pt x="142743" y="126386"/>
                  <a:pt x="136918" y="126386"/>
                </a:cubicBezTo>
                <a:lnTo>
                  <a:pt x="105321" y="126386"/>
                </a:lnTo>
                <a:cubicBezTo>
                  <a:pt x="87878" y="126386"/>
                  <a:pt x="73725" y="112233"/>
                  <a:pt x="73725" y="94789"/>
                </a:cubicBezTo>
                <a:cubicBezTo>
                  <a:pt x="73725" y="77345"/>
                  <a:pt x="87878" y="63193"/>
                  <a:pt x="105321" y="63193"/>
                </a:cubicBezTo>
                <a:lnTo>
                  <a:pt x="118421" y="63193"/>
                </a:lnTo>
                <a:cubicBezTo>
                  <a:pt x="111509" y="52825"/>
                  <a:pt x="105321" y="40911"/>
                  <a:pt x="105321" y="31596"/>
                </a:cubicBezTo>
                <a:cubicBezTo>
                  <a:pt x="105321" y="14153"/>
                  <a:pt x="119474" y="0"/>
                  <a:pt x="136918" y="0"/>
                </a:cubicBezTo>
                <a:cubicBezTo>
                  <a:pt x="154362" y="0"/>
                  <a:pt x="168514" y="14153"/>
                  <a:pt x="168514" y="31596"/>
                </a:cubicBezTo>
                <a:close/>
                <a:moveTo>
                  <a:pt x="38541" y="160977"/>
                </a:moveTo>
                <a:cubicBezTo>
                  <a:pt x="37290" y="162392"/>
                  <a:pt x="36171" y="163643"/>
                  <a:pt x="35217" y="164696"/>
                </a:cubicBezTo>
                <a:lnTo>
                  <a:pt x="34624" y="165355"/>
                </a:lnTo>
                <a:lnTo>
                  <a:pt x="34559" y="165289"/>
                </a:lnTo>
                <a:cubicBezTo>
                  <a:pt x="32584" y="166803"/>
                  <a:pt x="29753" y="166605"/>
                  <a:pt x="27976" y="164696"/>
                </a:cubicBezTo>
                <a:cubicBezTo>
                  <a:pt x="19682" y="155678"/>
                  <a:pt x="0" y="132475"/>
                  <a:pt x="0" y="115853"/>
                </a:cubicBezTo>
                <a:cubicBezTo>
                  <a:pt x="0" y="98410"/>
                  <a:pt x="14153" y="84257"/>
                  <a:pt x="31596" y="84257"/>
                </a:cubicBezTo>
                <a:cubicBezTo>
                  <a:pt x="49040" y="84257"/>
                  <a:pt x="63193" y="98410"/>
                  <a:pt x="63193" y="115853"/>
                </a:cubicBezTo>
                <a:cubicBezTo>
                  <a:pt x="63193" y="125727"/>
                  <a:pt x="56248" y="137905"/>
                  <a:pt x="48876" y="148075"/>
                </a:cubicBezTo>
                <a:cubicBezTo>
                  <a:pt x="45354" y="152913"/>
                  <a:pt x="41734" y="157291"/>
                  <a:pt x="38739" y="160747"/>
                </a:cubicBezTo>
                <a:lnTo>
                  <a:pt x="38541" y="160977"/>
                </a:lnTo>
                <a:close/>
                <a:moveTo>
                  <a:pt x="42129" y="115853"/>
                </a:moveTo>
                <a:cubicBezTo>
                  <a:pt x="42129" y="110041"/>
                  <a:pt x="37409" y="105321"/>
                  <a:pt x="31596" y="105321"/>
                </a:cubicBezTo>
                <a:cubicBezTo>
                  <a:pt x="25784" y="105321"/>
                  <a:pt x="21064" y="110041"/>
                  <a:pt x="21064" y="115853"/>
                </a:cubicBezTo>
                <a:cubicBezTo>
                  <a:pt x="21064" y="121666"/>
                  <a:pt x="25784" y="126386"/>
                  <a:pt x="31596" y="126386"/>
                </a:cubicBezTo>
                <a:cubicBezTo>
                  <a:pt x="37409" y="126386"/>
                  <a:pt x="42129" y="121666"/>
                  <a:pt x="42129" y="115853"/>
                </a:cubicBezTo>
                <a:close/>
                <a:moveTo>
                  <a:pt x="136918" y="42129"/>
                </a:moveTo>
                <a:cubicBezTo>
                  <a:pt x="142731" y="42129"/>
                  <a:pt x="147450" y="37409"/>
                  <a:pt x="147450" y="31596"/>
                </a:cubicBezTo>
                <a:cubicBezTo>
                  <a:pt x="147450" y="25784"/>
                  <a:pt x="142731" y="21064"/>
                  <a:pt x="136918" y="21064"/>
                </a:cubicBezTo>
                <a:cubicBezTo>
                  <a:pt x="131105" y="21064"/>
                  <a:pt x="126386" y="25784"/>
                  <a:pt x="126386" y="31596"/>
                </a:cubicBezTo>
                <a:cubicBezTo>
                  <a:pt x="126386" y="37409"/>
                  <a:pt x="131105" y="42129"/>
                  <a:pt x="136918" y="42129"/>
                </a:cubicBezTo>
                <a:close/>
              </a:path>
            </a:pathLst>
          </a:custGeom>
          <a:solidFill>
            <a:srgbClr val="3A4D39"/>
          </a:solidFill>
          <a:ln/>
        </p:spPr>
      </p:sp>
      <p:sp>
        <p:nvSpPr>
          <p:cNvPr id="9" name="Text 7"/>
          <p:cNvSpPr/>
          <p:nvPr/>
        </p:nvSpPr>
        <p:spPr>
          <a:xfrm>
            <a:off x="716185" y="1044788"/>
            <a:ext cx="11088232" cy="235920"/>
          </a:xfrm>
          <a:prstGeom prst="rect">
            <a:avLst/>
          </a:prstGeom>
          <a:noFill/>
          <a:ln/>
        </p:spPr>
        <p:txBody>
          <a:bodyPr wrap="square" lIns="0" tIns="0" rIns="0" bIns="0" rtlCol="0" anchor="ctr"/>
          <a:lstStyle/>
          <a:p>
            <a:pPr>
              <a:lnSpc>
                <a:spcPct val="120000"/>
              </a:lnSpc>
            </a:pPr>
            <a:r>
              <a:rPr lang="en-US" sz="1327" b="1" dirty="0">
                <a:solidFill>
                  <a:srgbClr val="3A4D39"/>
                </a:solidFill>
                <a:latin typeface="Unna" pitchFamily="34" charset="0"/>
                <a:ea typeface="Unna" pitchFamily="34" charset="-122"/>
                <a:cs typeface="Unna" pitchFamily="34" charset="-120"/>
              </a:rPr>
              <a:t>Structured Resolution Process</a:t>
            </a:r>
            <a:endParaRPr lang="en-US" sz="1600" dirty="0"/>
          </a:p>
        </p:txBody>
      </p:sp>
      <p:sp>
        <p:nvSpPr>
          <p:cNvPr id="10" name="Shape 8"/>
          <p:cNvSpPr/>
          <p:nvPr/>
        </p:nvSpPr>
        <p:spPr>
          <a:xfrm>
            <a:off x="505543" y="1381816"/>
            <a:ext cx="539245" cy="539245"/>
          </a:xfrm>
          <a:custGeom>
            <a:avLst/>
            <a:gdLst/>
            <a:ahLst/>
            <a:cxnLst/>
            <a:rect l="l" t="t" r="r" b="b"/>
            <a:pathLst>
              <a:path w="539245" h="539245">
                <a:moveTo>
                  <a:pt x="269623" y="0"/>
                </a:moveTo>
                <a:lnTo>
                  <a:pt x="269623" y="0"/>
                </a:lnTo>
                <a:cubicBezTo>
                  <a:pt x="418431" y="0"/>
                  <a:pt x="539245" y="120814"/>
                  <a:pt x="539245" y="269623"/>
                </a:cubicBezTo>
                <a:lnTo>
                  <a:pt x="539245" y="269623"/>
                </a:lnTo>
                <a:cubicBezTo>
                  <a:pt x="539245" y="418431"/>
                  <a:pt x="418431" y="539245"/>
                  <a:pt x="269623" y="539245"/>
                </a:cubicBezTo>
                <a:lnTo>
                  <a:pt x="269623" y="539245"/>
                </a:lnTo>
                <a:cubicBezTo>
                  <a:pt x="120814" y="539245"/>
                  <a:pt x="0" y="418431"/>
                  <a:pt x="0" y="269623"/>
                </a:cubicBezTo>
                <a:lnTo>
                  <a:pt x="0" y="269623"/>
                </a:lnTo>
                <a:cubicBezTo>
                  <a:pt x="0" y="120814"/>
                  <a:pt x="120814" y="0"/>
                  <a:pt x="269623" y="0"/>
                </a:cubicBezTo>
                <a:close/>
              </a:path>
            </a:pathLst>
          </a:custGeom>
          <a:solidFill>
            <a:srgbClr val="3A4D39"/>
          </a:solidFill>
          <a:ln/>
        </p:spPr>
      </p:sp>
      <p:sp>
        <p:nvSpPr>
          <p:cNvPr id="11" name="Text 9"/>
          <p:cNvSpPr/>
          <p:nvPr/>
        </p:nvSpPr>
        <p:spPr>
          <a:xfrm>
            <a:off x="692481" y="1474499"/>
            <a:ext cx="165369" cy="227494"/>
          </a:xfrm>
          <a:prstGeom prst="rect">
            <a:avLst/>
          </a:prstGeom>
          <a:noFill/>
          <a:ln/>
        </p:spPr>
        <p:txBody>
          <a:bodyPr wrap="square" lIns="0" tIns="0" rIns="0" bIns="0" rtlCol="0" anchor="ctr"/>
          <a:lstStyle/>
          <a:p>
            <a:pPr algn="ctr">
              <a:lnSpc>
                <a:spcPct val="110000"/>
              </a:lnSpc>
            </a:pPr>
            <a:r>
              <a:rPr lang="en-US" sz="1592" b="1" dirty="0">
                <a:solidFill>
                  <a:srgbClr val="F8F6F2"/>
                </a:solidFill>
                <a:latin typeface="Oranienbaum" pitchFamily="34" charset="0"/>
                <a:ea typeface="Oranienbaum" pitchFamily="34" charset="-122"/>
                <a:cs typeface="Oranienbaum" pitchFamily="34" charset="-120"/>
              </a:rPr>
              <a:t>1</a:t>
            </a:r>
            <a:endParaRPr lang="en-US" sz="1600" dirty="0"/>
          </a:p>
        </p:txBody>
      </p:sp>
      <p:sp>
        <p:nvSpPr>
          <p:cNvPr id="12" name="Text 10"/>
          <p:cNvSpPr/>
          <p:nvPr/>
        </p:nvSpPr>
        <p:spPr>
          <a:xfrm>
            <a:off x="568340" y="1718845"/>
            <a:ext cx="412860" cy="126386"/>
          </a:xfrm>
          <a:prstGeom prst="rect">
            <a:avLst/>
          </a:prstGeom>
          <a:noFill/>
          <a:ln/>
        </p:spPr>
        <p:txBody>
          <a:bodyPr wrap="square" lIns="0" tIns="0" rIns="0" bIns="0" rtlCol="0" anchor="ctr"/>
          <a:lstStyle/>
          <a:p>
            <a:pPr algn="ctr">
              <a:lnSpc>
                <a:spcPct val="110000"/>
              </a:lnSpc>
            </a:pPr>
            <a:r>
              <a:rPr lang="en-US" sz="796" dirty="0">
                <a:solidFill>
                  <a:srgbClr val="BCA37F"/>
                </a:solidFill>
                <a:latin typeface="Quattrocento Sans" pitchFamily="34" charset="0"/>
                <a:ea typeface="Quattrocento Sans" pitchFamily="34" charset="-122"/>
                <a:cs typeface="Quattrocento Sans" pitchFamily="34" charset="-120"/>
              </a:rPr>
              <a:t>30 Days</a:t>
            </a:r>
            <a:endParaRPr lang="en-US" sz="1600" dirty="0"/>
          </a:p>
        </p:txBody>
      </p:sp>
      <p:sp>
        <p:nvSpPr>
          <p:cNvPr id="13" name="Shape 11"/>
          <p:cNvSpPr/>
          <p:nvPr/>
        </p:nvSpPr>
        <p:spPr>
          <a:xfrm>
            <a:off x="1179599" y="1381816"/>
            <a:ext cx="10540561" cy="909977"/>
          </a:xfrm>
          <a:custGeom>
            <a:avLst/>
            <a:gdLst/>
            <a:ahLst/>
            <a:cxnLst/>
            <a:rect l="l" t="t" r="r" b="b"/>
            <a:pathLst>
              <a:path w="10540561" h="909977">
                <a:moveTo>
                  <a:pt x="67402" y="0"/>
                </a:moveTo>
                <a:lnTo>
                  <a:pt x="10473159" y="0"/>
                </a:lnTo>
                <a:cubicBezTo>
                  <a:pt x="10510384" y="0"/>
                  <a:pt x="10540561" y="30177"/>
                  <a:pt x="10540561" y="67402"/>
                </a:cubicBezTo>
                <a:lnTo>
                  <a:pt x="10540561" y="842575"/>
                </a:lnTo>
                <a:cubicBezTo>
                  <a:pt x="10540561" y="879800"/>
                  <a:pt x="10510384" y="909977"/>
                  <a:pt x="10473159" y="909977"/>
                </a:cubicBezTo>
                <a:lnTo>
                  <a:pt x="67402" y="909977"/>
                </a:lnTo>
                <a:cubicBezTo>
                  <a:pt x="30202" y="909977"/>
                  <a:pt x="0" y="879775"/>
                  <a:pt x="0" y="842575"/>
                </a:cubicBezTo>
                <a:lnTo>
                  <a:pt x="0" y="67402"/>
                </a:lnTo>
                <a:cubicBezTo>
                  <a:pt x="0" y="30202"/>
                  <a:pt x="30202" y="0"/>
                  <a:pt x="67402" y="0"/>
                </a:cubicBezTo>
                <a:close/>
              </a:path>
            </a:pathLst>
          </a:custGeom>
          <a:solidFill>
            <a:srgbClr val="F8F6F2"/>
          </a:solidFill>
          <a:ln/>
        </p:spPr>
      </p:sp>
      <p:sp>
        <p:nvSpPr>
          <p:cNvPr id="14" name="Text 12"/>
          <p:cNvSpPr/>
          <p:nvPr/>
        </p:nvSpPr>
        <p:spPr>
          <a:xfrm>
            <a:off x="1280708" y="1482925"/>
            <a:ext cx="10414176" cy="235920"/>
          </a:xfrm>
          <a:prstGeom prst="rect">
            <a:avLst/>
          </a:prstGeom>
          <a:noFill/>
          <a:ln/>
        </p:spPr>
        <p:txBody>
          <a:bodyPr wrap="square" lIns="0" tIns="0" rIns="0" bIns="0" rtlCol="0" anchor="ctr"/>
          <a:lstStyle/>
          <a:p>
            <a:pPr>
              <a:lnSpc>
                <a:spcPct val="130000"/>
              </a:lnSpc>
            </a:pPr>
            <a:r>
              <a:rPr lang="en-US" sz="1194" b="1" dirty="0">
                <a:solidFill>
                  <a:srgbClr val="3A4D39"/>
                </a:solidFill>
                <a:latin typeface="Unna" pitchFamily="34" charset="0"/>
                <a:ea typeface="Unna" pitchFamily="34" charset="-122"/>
                <a:cs typeface="Unna" pitchFamily="34" charset="-120"/>
              </a:rPr>
              <a:t>Mandatory Negotiation</a:t>
            </a:r>
            <a:endParaRPr lang="en-US" sz="1600" dirty="0"/>
          </a:p>
        </p:txBody>
      </p:sp>
      <p:sp>
        <p:nvSpPr>
          <p:cNvPr id="15" name="Text 13"/>
          <p:cNvSpPr/>
          <p:nvPr/>
        </p:nvSpPr>
        <p:spPr>
          <a:xfrm>
            <a:off x="1280708" y="1786250"/>
            <a:ext cx="10405750" cy="404434"/>
          </a:xfrm>
          <a:prstGeom prst="rect">
            <a:avLst/>
          </a:prstGeom>
          <a:noFill/>
          <a:ln/>
        </p:spPr>
        <p:txBody>
          <a:bodyPr wrap="square" lIns="0" tIns="0" rIns="0" bIns="0" rtlCol="0" anchor="ctr"/>
          <a:lstStyle/>
          <a:p>
            <a:pPr>
              <a:lnSpc>
                <a:spcPct val="130000"/>
              </a:lnSpc>
            </a:pPr>
            <a:r>
              <a:rPr lang="en-US" sz="1062" dirty="0">
                <a:solidFill>
                  <a:srgbClr val="2C2C2C"/>
                </a:solidFill>
                <a:latin typeface="Quattrocento Sans" pitchFamily="34" charset="0"/>
                <a:ea typeface="Quattrocento Sans" pitchFamily="34" charset="-122"/>
                <a:cs typeface="Quattrocento Sans" pitchFamily="34" charset="-120"/>
              </a:rPr>
              <a:t>Partners must attempt good-faith resolution through direct discussion. Written notice of dispute must be provided to all partners. Partners have 30 days to negotiate and resolve the matter informally before proceeding to next stage.</a:t>
            </a:r>
            <a:endParaRPr lang="en-US" sz="1600" dirty="0"/>
          </a:p>
        </p:txBody>
      </p:sp>
      <p:sp>
        <p:nvSpPr>
          <p:cNvPr id="16" name="Shape 14"/>
          <p:cNvSpPr/>
          <p:nvPr/>
        </p:nvSpPr>
        <p:spPr>
          <a:xfrm>
            <a:off x="505543" y="2392901"/>
            <a:ext cx="539245" cy="539245"/>
          </a:xfrm>
          <a:custGeom>
            <a:avLst/>
            <a:gdLst/>
            <a:ahLst/>
            <a:cxnLst/>
            <a:rect l="l" t="t" r="r" b="b"/>
            <a:pathLst>
              <a:path w="539245" h="539245">
                <a:moveTo>
                  <a:pt x="269623" y="0"/>
                </a:moveTo>
                <a:lnTo>
                  <a:pt x="269623" y="0"/>
                </a:lnTo>
                <a:cubicBezTo>
                  <a:pt x="418431" y="0"/>
                  <a:pt x="539245" y="120814"/>
                  <a:pt x="539245" y="269623"/>
                </a:cubicBezTo>
                <a:lnTo>
                  <a:pt x="539245" y="269623"/>
                </a:lnTo>
                <a:cubicBezTo>
                  <a:pt x="539245" y="418431"/>
                  <a:pt x="418431" y="539245"/>
                  <a:pt x="269623" y="539245"/>
                </a:cubicBezTo>
                <a:lnTo>
                  <a:pt x="269623" y="539245"/>
                </a:lnTo>
                <a:cubicBezTo>
                  <a:pt x="120814" y="539245"/>
                  <a:pt x="0" y="418431"/>
                  <a:pt x="0" y="269623"/>
                </a:cubicBezTo>
                <a:lnTo>
                  <a:pt x="0" y="269623"/>
                </a:lnTo>
                <a:cubicBezTo>
                  <a:pt x="0" y="120814"/>
                  <a:pt x="120814" y="0"/>
                  <a:pt x="269623" y="0"/>
                </a:cubicBezTo>
                <a:close/>
              </a:path>
            </a:pathLst>
          </a:custGeom>
          <a:solidFill>
            <a:srgbClr val="7A6250"/>
          </a:solidFill>
          <a:ln/>
        </p:spPr>
      </p:sp>
      <p:sp>
        <p:nvSpPr>
          <p:cNvPr id="17" name="Text 15"/>
          <p:cNvSpPr/>
          <p:nvPr/>
        </p:nvSpPr>
        <p:spPr>
          <a:xfrm>
            <a:off x="673710" y="2485584"/>
            <a:ext cx="202779" cy="227494"/>
          </a:xfrm>
          <a:prstGeom prst="rect">
            <a:avLst/>
          </a:prstGeom>
          <a:noFill/>
          <a:ln/>
        </p:spPr>
        <p:txBody>
          <a:bodyPr wrap="square" lIns="0" tIns="0" rIns="0" bIns="0" rtlCol="0" anchor="ctr"/>
          <a:lstStyle/>
          <a:p>
            <a:pPr algn="ctr">
              <a:lnSpc>
                <a:spcPct val="110000"/>
              </a:lnSpc>
            </a:pPr>
            <a:r>
              <a:rPr lang="en-US" sz="1592" b="1" dirty="0">
                <a:solidFill>
                  <a:srgbClr val="F8F6F2"/>
                </a:solidFill>
                <a:latin typeface="Oranienbaum" pitchFamily="34" charset="0"/>
                <a:ea typeface="Oranienbaum" pitchFamily="34" charset="-122"/>
                <a:cs typeface="Oranienbaum" pitchFamily="34" charset="-120"/>
              </a:rPr>
              <a:t>2</a:t>
            </a:r>
            <a:endParaRPr lang="en-US" sz="1600" dirty="0"/>
          </a:p>
        </p:txBody>
      </p:sp>
      <p:sp>
        <p:nvSpPr>
          <p:cNvPr id="18" name="Text 16"/>
          <p:cNvSpPr/>
          <p:nvPr/>
        </p:nvSpPr>
        <p:spPr>
          <a:xfrm>
            <a:off x="567419" y="2729930"/>
            <a:ext cx="412860" cy="126386"/>
          </a:xfrm>
          <a:prstGeom prst="rect">
            <a:avLst/>
          </a:prstGeom>
          <a:noFill/>
          <a:ln/>
        </p:spPr>
        <p:txBody>
          <a:bodyPr wrap="square" lIns="0" tIns="0" rIns="0" bIns="0" rtlCol="0" anchor="ctr"/>
          <a:lstStyle/>
          <a:p>
            <a:pPr algn="ctr">
              <a:lnSpc>
                <a:spcPct val="110000"/>
              </a:lnSpc>
            </a:pPr>
            <a:r>
              <a:rPr lang="en-US" sz="796" dirty="0">
                <a:solidFill>
                  <a:srgbClr val="BCA37F"/>
                </a:solidFill>
                <a:latin typeface="Quattrocento Sans" pitchFamily="34" charset="0"/>
                <a:ea typeface="Quattrocento Sans" pitchFamily="34" charset="-122"/>
                <a:cs typeface="Quattrocento Sans" pitchFamily="34" charset="-120"/>
              </a:rPr>
              <a:t>60 Days</a:t>
            </a:r>
            <a:endParaRPr lang="en-US" sz="1600" dirty="0"/>
          </a:p>
        </p:txBody>
      </p:sp>
      <p:sp>
        <p:nvSpPr>
          <p:cNvPr id="19" name="Shape 17"/>
          <p:cNvSpPr/>
          <p:nvPr/>
        </p:nvSpPr>
        <p:spPr>
          <a:xfrm>
            <a:off x="1179599" y="2392901"/>
            <a:ext cx="10540561" cy="909977"/>
          </a:xfrm>
          <a:custGeom>
            <a:avLst/>
            <a:gdLst/>
            <a:ahLst/>
            <a:cxnLst/>
            <a:rect l="l" t="t" r="r" b="b"/>
            <a:pathLst>
              <a:path w="10540561" h="909977">
                <a:moveTo>
                  <a:pt x="67402" y="0"/>
                </a:moveTo>
                <a:lnTo>
                  <a:pt x="10473159" y="0"/>
                </a:lnTo>
                <a:cubicBezTo>
                  <a:pt x="10510384" y="0"/>
                  <a:pt x="10540561" y="30177"/>
                  <a:pt x="10540561" y="67402"/>
                </a:cubicBezTo>
                <a:lnTo>
                  <a:pt x="10540561" y="842575"/>
                </a:lnTo>
                <a:cubicBezTo>
                  <a:pt x="10540561" y="879800"/>
                  <a:pt x="10510384" y="909977"/>
                  <a:pt x="10473159" y="909977"/>
                </a:cubicBezTo>
                <a:lnTo>
                  <a:pt x="67402" y="909977"/>
                </a:lnTo>
                <a:cubicBezTo>
                  <a:pt x="30202" y="909977"/>
                  <a:pt x="0" y="879775"/>
                  <a:pt x="0" y="842575"/>
                </a:cubicBezTo>
                <a:lnTo>
                  <a:pt x="0" y="67402"/>
                </a:lnTo>
                <a:cubicBezTo>
                  <a:pt x="0" y="30202"/>
                  <a:pt x="30202" y="0"/>
                  <a:pt x="67402" y="0"/>
                </a:cubicBezTo>
                <a:close/>
              </a:path>
            </a:pathLst>
          </a:custGeom>
          <a:solidFill>
            <a:srgbClr val="F8F6F2"/>
          </a:solidFill>
          <a:ln/>
        </p:spPr>
      </p:sp>
      <p:sp>
        <p:nvSpPr>
          <p:cNvPr id="20" name="Text 18"/>
          <p:cNvSpPr/>
          <p:nvPr/>
        </p:nvSpPr>
        <p:spPr>
          <a:xfrm>
            <a:off x="1280708" y="2494010"/>
            <a:ext cx="10414176" cy="235920"/>
          </a:xfrm>
          <a:prstGeom prst="rect">
            <a:avLst/>
          </a:prstGeom>
          <a:noFill/>
          <a:ln/>
        </p:spPr>
        <p:txBody>
          <a:bodyPr wrap="square" lIns="0" tIns="0" rIns="0" bIns="0" rtlCol="0" anchor="ctr"/>
          <a:lstStyle/>
          <a:p>
            <a:pPr>
              <a:lnSpc>
                <a:spcPct val="130000"/>
              </a:lnSpc>
            </a:pPr>
            <a:r>
              <a:rPr lang="en-US" sz="1194" b="1" dirty="0">
                <a:solidFill>
                  <a:srgbClr val="3A4D39"/>
                </a:solidFill>
                <a:latin typeface="Unna" pitchFamily="34" charset="0"/>
                <a:ea typeface="Unna" pitchFamily="34" charset="-122"/>
                <a:cs typeface="Unna" pitchFamily="34" charset="-120"/>
              </a:rPr>
              <a:t>Non-Binding Mediation</a:t>
            </a:r>
            <a:endParaRPr lang="en-US" sz="1600" dirty="0"/>
          </a:p>
        </p:txBody>
      </p:sp>
      <p:sp>
        <p:nvSpPr>
          <p:cNvPr id="21" name="Text 19"/>
          <p:cNvSpPr/>
          <p:nvPr/>
        </p:nvSpPr>
        <p:spPr>
          <a:xfrm>
            <a:off x="1280708" y="2797335"/>
            <a:ext cx="10405750" cy="404434"/>
          </a:xfrm>
          <a:prstGeom prst="rect">
            <a:avLst/>
          </a:prstGeom>
          <a:noFill/>
          <a:ln/>
        </p:spPr>
        <p:txBody>
          <a:bodyPr wrap="square" lIns="0" tIns="0" rIns="0" bIns="0" rtlCol="0" anchor="ctr"/>
          <a:lstStyle/>
          <a:p>
            <a:pPr>
              <a:lnSpc>
                <a:spcPct val="130000"/>
              </a:lnSpc>
            </a:pPr>
            <a:r>
              <a:rPr lang="en-US" sz="1062" dirty="0">
                <a:solidFill>
                  <a:srgbClr val="2C2C2C"/>
                </a:solidFill>
                <a:latin typeface="Quattrocento Sans" pitchFamily="34" charset="0"/>
                <a:ea typeface="Quattrocento Sans" pitchFamily="34" charset="-122"/>
                <a:cs typeface="Quattrocento Sans" pitchFamily="34" charset="-120"/>
              </a:rPr>
              <a:t>If unresolved, dispute proceeds to mediation by mutually agreed neutral mediator. Mediation costs shared equally by disputing parties. Parties have 60 days to reach mediated settlement. Mediator selected from [Local Mediation Center].</a:t>
            </a:r>
            <a:endParaRPr lang="en-US" sz="1600" dirty="0"/>
          </a:p>
        </p:txBody>
      </p:sp>
      <p:sp>
        <p:nvSpPr>
          <p:cNvPr id="22" name="Shape 20"/>
          <p:cNvSpPr/>
          <p:nvPr/>
        </p:nvSpPr>
        <p:spPr>
          <a:xfrm>
            <a:off x="505543" y="3403986"/>
            <a:ext cx="539245" cy="539245"/>
          </a:xfrm>
          <a:custGeom>
            <a:avLst/>
            <a:gdLst/>
            <a:ahLst/>
            <a:cxnLst/>
            <a:rect l="l" t="t" r="r" b="b"/>
            <a:pathLst>
              <a:path w="539245" h="539245">
                <a:moveTo>
                  <a:pt x="269623" y="0"/>
                </a:moveTo>
                <a:lnTo>
                  <a:pt x="269623" y="0"/>
                </a:lnTo>
                <a:cubicBezTo>
                  <a:pt x="418431" y="0"/>
                  <a:pt x="539245" y="120814"/>
                  <a:pt x="539245" y="269623"/>
                </a:cubicBezTo>
                <a:lnTo>
                  <a:pt x="539245" y="269623"/>
                </a:lnTo>
                <a:cubicBezTo>
                  <a:pt x="539245" y="418431"/>
                  <a:pt x="418431" y="539245"/>
                  <a:pt x="269623" y="539245"/>
                </a:cubicBezTo>
                <a:lnTo>
                  <a:pt x="269623" y="539245"/>
                </a:lnTo>
                <a:cubicBezTo>
                  <a:pt x="120814" y="539245"/>
                  <a:pt x="0" y="418431"/>
                  <a:pt x="0" y="269623"/>
                </a:cubicBezTo>
                <a:lnTo>
                  <a:pt x="0" y="269623"/>
                </a:lnTo>
                <a:cubicBezTo>
                  <a:pt x="0" y="120814"/>
                  <a:pt x="120814" y="0"/>
                  <a:pt x="269623" y="0"/>
                </a:cubicBezTo>
                <a:close/>
              </a:path>
            </a:pathLst>
          </a:custGeom>
          <a:solidFill>
            <a:srgbClr val="3A4D39"/>
          </a:solidFill>
          <a:ln/>
        </p:spPr>
      </p:sp>
      <p:sp>
        <p:nvSpPr>
          <p:cNvPr id="23" name="Text 21"/>
          <p:cNvSpPr/>
          <p:nvPr/>
        </p:nvSpPr>
        <p:spPr>
          <a:xfrm>
            <a:off x="673204" y="3496669"/>
            <a:ext cx="203790" cy="227494"/>
          </a:xfrm>
          <a:prstGeom prst="rect">
            <a:avLst/>
          </a:prstGeom>
          <a:noFill/>
          <a:ln/>
        </p:spPr>
        <p:txBody>
          <a:bodyPr wrap="square" lIns="0" tIns="0" rIns="0" bIns="0" rtlCol="0" anchor="ctr"/>
          <a:lstStyle/>
          <a:p>
            <a:pPr algn="ctr">
              <a:lnSpc>
                <a:spcPct val="110000"/>
              </a:lnSpc>
            </a:pPr>
            <a:r>
              <a:rPr lang="en-US" sz="1592" b="1" dirty="0">
                <a:solidFill>
                  <a:srgbClr val="F8F6F2"/>
                </a:solidFill>
                <a:latin typeface="Oranienbaum" pitchFamily="34" charset="0"/>
                <a:ea typeface="Oranienbaum" pitchFamily="34" charset="-122"/>
                <a:cs typeface="Oranienbaum" pitchFamily="34" charset="-120"/>
              </a:rPr>
              <a:t>3</a:t>
            </a:r>
            <a:endParaRPr lang="en-US" sz="1600" dirty="0"/>
          </a:p>
        </p:txBody>
      </p:sp>
      <p:sp>
        <p:nvSpPr>
          <p:cNvPr id="24" name="Text 22"/>
          <p:cNvSpPr/>
          <p:nvPr/>
        </p:nvSpPr>
        <p:spPr>
          <a:xfrm>
            <a:off x="649306" y="3741015"/>
            <a:ext cx="252771" cy="126386"/>
          </a:xfrm>
          <a:prstGeom prst="rect">
            <a:avLst/>
          </a:prstGeom>
          <a:noFill/>
          <a:ln/>
        </p:spPr>
        <p:txBody>
          <a:bodyPr wrap="square" lIns="0" tIns="0" rIns="0" bIns="0" rtlCol="0" anchor="ctr"/>
          <a:lstStyle/>
          <a:p>
            <a:pPr algn="ctr">
              <a:lnSpc>
                <a:spcPct val="110000"/>
              </a:lnSpc>
            </a:pPr>
            <a:r>
              <a:rPr lang="en-US" sz="796" dirty="0">
                <a:solidFill>
                  <a:srgbClr val="BCA37F"/>
                </a:solidFill>
                <a:latin typeface="Quattrocento Sans" pitchFamily="34" charset="0"/>
                <a:ea typeface="Quattrocento Sans" pitchFamily="34" charset="-122"/>
                <a:cs typeface="Quattrocento Sans" pitchFamily="34" charset="-120"/>
              </a:rPr>
              <a:t>Final</a:t>
            </a:r>
            <a:endParaRPr lang="en-US" sz="1600" dirty="0"/>
          </a:p>
        </p:txBody>
      </p:sp>
      <p:sp>
        <p:nvSpPr>
          <p:cNvPr id="25" name="Shape 23"/>
          <p:cNvSpPr/>
          <p:nvPr/>
        </p:nvSpPr>
        <p:spPr>
          <a:xfrm>
            <a:off x="1179599" y="3403986"/>
            <a:ext cx="10540561" cy="909977"/>
          </a:xfrm>
          <a:custGeom>
            <a:avLst/>
            <a:gdLst/>
            <a:ahLst/>
            <a:cxnLst/>
            <a:rect l="l" t="t" r="r" b="b"/>
            <a:pathLst>
              <a:path w="10540561" h="909977">
                <a:moveTo>
                  <a:pt x="67402" y="0"/>
                </a:moveTo>
                <a:lnTo>
                  <a:pt x="10473159" y="0"/>
                </a:lnTo>
                <a:cubicBezTo>
                  <a:pt x="10510384" y="0"/>
                  <a:pt x="10540561" y="30177"/>
                  <a:pt x="10540561" y="67402"/>
                </a:cubicBezTo>
                <a:lnTo>
                  <a:pt x="10540561" y="842575"/>
                </a:lnTo>
                <a:cubicBezTo>
                  <a:pt x="10540561" y="879800"/>
                  <a:pt x="10510384" y="909977"/>
                  <a:pt x="10473159" y="909977"/>
                </a:cubicBezTo>
                <a:lnTo>
                  <a:pt x="67402" y="909977"/>
                </a:lnTo>
                <a:cubicBezTo>
                  <a:pt x="30202" y="909977"/>
                  <a:pt x="0" y="879775"/>
                  <a:pt x="0" y="842575"/>
                </a:cubicBezTo>
                <a:lnTo>
                  <a:pt x="0" y="67402"/>
                </a:lnTo>
                <a:cubicBezTo>
                  <a:pt x="0" y="30202"/>
                  <a:pt x="30202" y="0"/>
                  <a:pt x="67402" y="0"/>
                </a:cubicBezTo>
                <a:close/>
              </a:path>
            </a:pathLst>
          </a:custGeom>
          <a:solidFill>
            <a:srgbClr val="F8F6F2"/>
          </a:solidFill>
          <a:ln/>
        </p:spPr>
      </p:sp>
      <p:sp>
        <p:nvSpPr>
          <p:cNvPr id="26" name="Text 24"/>
          <p:cNvSpPr/>
          <p:nvPr/>
        </p:nvSpPr>
        <p:spPr>
          <a:xfrm>
            <a:off x="1280708" y="3505095"/>
            <a:ext cx="10414176" cy="235920"/>
          </a:xfrm>
          <a:prstGeom prst="rect">
            <a:avLst/>
          </a:prstGeom>
          <a:noFill/>
          <a:ln/>
        </p:spPr>
        <p:txBody>
          <a:bodyPr wrap="square" lIns="0" tIns="0" rIns="0" bIns="0" rtlCol="0" anchor="ctr"/>
          <a:lstStyle/>
          <a:p>
            <a:pPr>
              <a:lnSpc>
                <a:spcPct val="130000"/>
              </a:lnSpc>
            </a:pPr>
            <a:r>
              <a:rPr lang="en-US" sz="1194" b="1" dirty="0">
                <a:solidFill>
                  <a:srgbClr val="3A4D39"/>
                </a:solidFill>
                <a:latin typeface="Unna" pitchFamily="34" charset="0"/>
                <a:ea typeface="Unna" pitchFamily="34" charset="-122"/>
                <a:cs typeface="Unna" pitchFamily="34" charset="-120"/>
              </a:rPr>
              <a:t>Binding Arbitration</a:t>
            </a:r>
            <a:endParaRPr lang="en-US" sz="1600" dirty="0"/>
          </a:p>
        </p:txBody>
      </p:sp>
      <p:sp>
        <p:nvSpPr>
          <p:cNvPr id="27" name="Text 25"/>
          <p:cNvSpPr/>
          <p:nvPr/>
        </p:nvSpPr>
        <p:spPr>
          <a:xfrm>
            <a:off x="1280708" y="3808420"/>
            <a:ext cx="10405750" cy="404434"/>
          </a:xfrm>
          <a:prstGeom prst="rect">
            <a:avLst/>
          </a:prstGeom>
          <a:noFill/>
          <a:ln/>
        </p:spPr>
        <p:txBody>
          <a:bodyPr wrap="square" lIns="0" tIns="0" rIns="0" bIns="0" rtlCol="0" anchor="ctr"/>
          <a:lstStyle/>
          <a:p>
            <a:pPr>
              <a:lnSpc>
                <a:spcPct val="130000"/>
              </a:lnSpc>
            </a:pPr>
            <a:r>
              <a:rPr lang="en-US" sz="1062" dirty="0">
                <a:solidFill>
                  <a:srgbClr val="2C2C2C"/>
                </a:solidFill>
                <a:latin typeface="Quattrocento Sans" pitchFamily="34" charset="0"/>
                <a:ea typeface="Quattrocento Sans" pitchFamily="34" charset="-122"/>
                <a:cs typeface="Quattrocento Sans" pitchFamily="34" charset="-120"/>
              </a:rPr>
              <a:t>Disputes not resolved through mediation submitted to binding arbitration under [Arbitration Association] rules. Arbitration venue: [City, State]. Arbitrator's decision final and enforceable in any court of competent jurisdiction.</a:t>
            </a:r>
            <a:endParaRPr lang="en-US" sz="1600" dirty="0"/>
          </a:p>
        </p:txBody>
      </p:sp>
      <p:sp>
        <p:nvSpPr>
          <p:cNvPr id="28" name="Shape 26"/>
          <p:cNvSpPr/>
          <p:nvPr/>
        </p:nvSpPr>
        <p:spPr>
          <a:xfrm>
            <a:off x="337028" y="4549883"/>
            <a:ext cx="3774717" cy="1314411"/>
          </a:xfrm>
          <a:custGeom>
            <a:avLst/>
            <a:gdLst/>
            <a:ahLst/>
            <a:cxnLst/>
            <a:rect l="l" t="t" r="r" b="b"/>
            <a:pathLst>
              <a:path w="3774717" h="1314411">
                <a:moveTo>
                  <a:pt x="67403" y="0"/>
                </a:moveTo>
                <a:lnTo>
                  <a:pt x="3707314" y="0"/>
                </a:lnTo>
                <a:cubicBezTo>
                  <a:pt x="3744540" y="0"/>
                  <a:pt x="3774717" y="30177"/>
                  <a:pt x="3774717" y="67403"/>
                </a:cubicBezTo>
                <a:lnTo>
                  <a:pt x="3774717" y="1247008"/>
                </a:lnTo>
                <a:cubicBezTo>
                  <a:pt x="3774717" y="1284233"/>
                  <a:pt x="3744540" y="1314411"/>
                  <a:pt x="3707314" y="1314411"/>
                </a:cubicBezTo>
                <a:lnTo>
                  <a:pt x="67403" y="1314411"/>
                </a:lnTo>
                <a:cubicBezTo>
                  <a:pt x="30177" y="1314411"/>
                  <a:pt x="0" y="1284233"/>
                  <a:pt x="0" y="1247008"/>
                </a:cubicBezTo>
                <a:lnTo>
                  <a:pt x="0" y="67403"/>
                </a:lnTo>
                <a:cubicBezTo>
                  <a:pt x="0" y="30202"/>
                  <a:pt x="30202" y="0"/>
                  <a:pt x="67403" y="0"/>
                </a:cubicBezTo>
                <a:close/>
              </a:path>
            </a:pathLst>
          </a:custGeom>
          <a:solidFill>
            <a:srgbClr val="3A4D39"/>
          </a:solidFill>
          <a:ln/>
        </p:spPr>
      </p:sp>
      <p:sp>
        <p:nvSpPr>
          <p:cNvPr id="29" name="Shape 27"/>
          <p:cNvSpPr/>
          <p:nvPr/>
        </p:nvSpPr>
        <p:spPr>
          <a:xfrm>
            <a:off x="2109323" y="4650991"/>
            <a:ext cx="227494" cy="202217"/>
          </a:xfrm>
          <a:custGeom>
            <a:avLst/>
            <a:gdLst/>
            <a:ahLst/>
            <a:cxnLst/>
            <a:rect l="l" t="t" r="r" b="b"/>
            <a:pathLst>
              <a:path w="227494" h="202217">
                <a:moveTo>
                  <a:pt x="66984" y="60586"/>
                </a:moveTo>
                <a:lnTo>
                  <a:pt x="59599" y="53200"/>
                </a:lnTo>
                <a:cubicBezTo>
                  <a:pt x="54662" y="48264"/>
                  <a:pt x="54662" y="40246"/>
                  <a:pt x="59599" y="35309"/>
                </a:cubicBezTo>
                <a:lnTo>
                  <a:pt x="104900" y="-10032"/>
                </a:lnTo>
                <a:cubicBezTo>
                  <a:pt x="109837" y="-14969"/>
                  <a:pt x="117855" y="-14969"/>
                  <a:pt x="122792" y="-10032"/>
                </a:cubicBezTo>
                <a:lnTo>
                  <a:pt x="130177" y="-2607"/>
                </a:lnTo>
                <a:cubicBezTo>
                  <a:pt x="135114" y="2330"/>
                  <a:pt x="135114" y="10348"/>
                  <a:pt x="130177" y="15285"/>
                </a:cubicBezTo>
                <a:lnTo>
                  <a:pt x="84876" y="60586"/>
                </a:lnTo>
                <a:cubicBezTo>
                  <a:pt x="79939" y="65523"/>
                  <a:pt x="71921" y="65523"/>
                  <a:pt x="66984" y="60586"/>
                </a:cubicBezTo>
                <a:close/>
                <a:moveTo>
                  <a:pt x="109008" y="83612"/>
                </a:moveTo>
                <a:lnTo>
                  <a:pt x="96606" y="71210"/>
                </a:lnTo>
                <a:lnTo>
                  <a:pt x="140841" y="26975"/>
                </a:lnTo>
                <a:lnTo>
                  <a:pt x="187999" y="74133"/>
                </a:lnTo>
                <a:lnTo>
                  <a:pt x="143764" y="118368"/>
                </a:lnTo>
                <a:lnTo>
                  <a:pt x="131362" y="105966"/>
                </a:lnTo>
                <a:lnTo>
                  <a:pt x="39732" y="197596"/>
                </a:lnTo>
                <a:cubicBezTo>
                  <a:pt x="33571" y="203757"/>
                  <a:pt x="23579" y="203757"/>
                  <a:pt x="17378" y="197596"/>
                </a:cubicBezTo>
                <a:cubicBezTo>
                  <a:pt x="11177" y="191435"/>
                  <a:pt x="11217" y="181442"/>
                  <a:pt x="17378" y="175242"/>
                </a:cubicBezTo>
                <a:lnTo>
                  <a:pt x="109008" y="83612"/>
                </a:lnTo>
                <a:close/>
                <a:moveTo>
                  <a:pt x="154388" y="147950"/>
                </a:moveTo>
                <a:cubicBezTo>
                  <a:pt x="149451" y="143013"/>
                  <a:pt x="149451" y="134996"/>
                  <a:pt x="154388" y="130059"/>
                </a:cubicBezTo>
                <a:lnTo>
                  <a:pt x="199689" y="84757"/>
                </a:lnTo>
                <a:cubicBezTo>
                  <a:pt x="204626" y="79820"/>
                  <a:pt x="212644" y="79820"/>
                  <a:pt x="217581" y="84757"/>
                </a:cubicBezTo>
                <a:lnTo>
                  <a:pt x="224966" y="92143"/>
                </a:lnTo>
                <a:cubicBezTo>
                  <a:pt x="229903" y="97080"/>
                  <a:pt x="229903" y="105098"/>
                  <a:pt x="224966" y="110034"/>
                </a:cubicBezTo>
                <a:lnTo>
                  <a:pt x="179665" y="155375"/>
                </a:lnTo>
                <a:cubicBezTo>
                  <a:pt x="174728" y="160312"/>
                  <a:pt x="166711" y="160312"/>
                  <a:pt x="161774" y="155375"/>
                </a:cubicBezTo>
                <a:lnTo>
                  <a:pt x="154388" y="147990"/>
                </a:lnTo>
                <a:close/>
              </a:path>
            </a:pathLst>
          </a:custGeom>
          <a:solidFill>
            <a:srgbClr val="BCA37F"/>
          </a:solidFill>
          <a:ln/>
        </p:spPr>
      </p:sp>
      <p:sp>
        <p:nvSpPr>
          <p:cNvPr id="30" name="Text 28"/>
          <p:cNvSpPr/>
          <p:nvPr/>
        </p:nvSpPr>
        <p:spPr>
          <a:xfrm>
            <a:off x="404434" y="4920614"/>
            <a:ext cx="3639906" cy="202217"/>
          </a:xfrm>
          <a:prstGeom prst="rect">
            <a:avLst/>
          </a:prstGeom>
          <a:noFill/>
          <a:ln/>
        </p:spPr>
        <p:txBody>
          <a:bodyPr wrap="square" lIns="0" tIns="0" rIns="0" bIns="0" rtlCol="0" anchor="ctr"/>
          <a:lstStyle/>
          <a:p>
            <a:pPr algn="ctr">
              <a:lnSpc>
                <a:spcPct val="130000"/>
              </a:lnSpc>
            </a:pPr>
            <a:r>
              <a:rPr lang="en-US" sz="1062" b="1" dirty="0">
                <a:solidFill>
                  <a:srgbClr val="F8F6F2"/>
                </a:solidFill>
                <a:latin typeface="Unna" pitchFamily="34" charset="0"/>
                <a:ea typeface="Unna" pitchFamily="34" charset="-122"/>
                <a:cs typeface="Unna" pitchFamily="34" charset="-120"/>
              </a:rPr>
              <a:t>Governing Law</a:t>
            </a:r>
            <a:endParaRPr lang="en-US" sz="1600" dirty="0"/>
          </a:p>
        </p:txBody>
      </p:sp>
      <p:sp>
        <p:nvSpPr>
          <p:cNvPr id="31" name="Text 29"/>
          <p:cNvSpPr/>
          <p:nvPr/>
        </p:nvSpPr>
        <p:spPr>
          <a:xfrm>
            <a:off x="404434" y="5156534"/>
            <a:ext cx="3639906" cy="404434"/>
          </a:xfrm>
          <a:prstGeom prst="rect">
            <a:avLst/>
          </a:prstGeom>
          <a:noFill/>
          <a:ln/>
        </p:spPr>
        <p:txBody>
          <a:bodyPr wrap="square" lIns="0" tIns="0" rIns="0" bIns="0" rtlCol="0" anchor="ctr"/>
          <a:lstStyle/>
          <a:p>
            <a:pPr algn="ctr">
              <a:lnSpc>
                <a:spcPct val="130000"/>
              </a:lnSpc>
            </a:pPr>
            <a:r>
              <a:rPr lang="en-US" sz="1062" dirty="0">
                <a:solidFill>
                  <a:srgbClr val="F8F6F2"/>
                </a:solidFill>
                <a:latin typeface="Quattrocento Sans" pitchFamily="34" charset="0"/>
                <a:ea typeface="Quattrocento Sans" pitchFamily="34" charset="-122"/>
                <a:cs typeface="Quattrocento Sans" pitchFamily="34" charset="-120"/>
              </a:rPr>
              <a:t>This agreement governed by laws of [Jurisdiction]. All parties submit to jurisdiction of courts in [Location].</a:t>
            </a:r>
            <a:endParaRPr lang="en-US" sz="1600" dirty="0"/>
          </a:p>
        </p:txBody>
      </p:sp>
      <p:sp>
        <p:nvSpPr>
          <p:cNvPr id="32" name="Shape 30"/>
          <p:cNvSpPr/>
          <p:nvPr/>
        </p:nvSpPr>
        <p:spPr>
          <a:xfrm>
            <a:off x="4210353" y="4549883"/>
            <a:ext cx="3774717" cy="1314411"/>
          </a:xfrm>
          <a:custGeom>
            <a:avLst/>
            <a:gdLst/>
            <a:ahLst/>
            <a:cxnLst/>
            <a:rect l="l" t="t" r="r" b="b"/>
            <a:pathLst>
              <a:path w="3774717" h="1314411">
                <a:moveTo>
                  <a:pt x="67403" y="0"/>
                </a:moveTo>
                <a:lnTo>
                  <a:pt x="3707314" y="0"/>
                </a:lnTo>
                <a:cubicBezTo>
                  <a:pt x="3744540" y="0"/>
                  <a:pt x="3774717" y="30177"/>
                  <a:pt x="3774717" y="67403"/>
                </a:cubicBezTo>
                <a:lnTo>
                  <a:pt x="3774717" y="1247008"/>
                </a:lnTo>
                <a:cubicBezTo>
                  <a:pt x="3774717" y="1284233"/>
                  <a:pt x="3744540" y="1314411"/>
                  <a:pt x="3707314" y="1314411"/>
                </a:cubicBezTo>
                <a:lnTo>
                  <a:pt x="67403" y="1314411"/>
                </a:lnTo>
                <a:cubicBezTo>
                  <a:pt x="30177" y="1314411"/>
                  <a:pt x="0" y="1284233"/>
                  <a:pt x="0" y="1247008"/>
                </a:cubicBezTo>
                <a:lnTo>
                  <a:pt x="0" y="67403"/>
                </a:lnTo>
                <a:cubicBezTo>
                  <a:pt x="0" y="30202"/>
                  <a:pt x="30202" y="0"/>
                  <a:pt x="67403" y="0"/>
                </a:cubicBezTo>
                <a:close/>
              </a:path>
            </a:pathLst>
          </a:custGeom>
          <a:solidFill>
            <a:srgbClr val="7A6250"/>
          </a:solidFill>
          <a:ln/>
        </p:spPr>
      </p:sp>
      <p:sp>
        <p:nvSpPr>
          <p:cNvPr id="33" name="Shape 31"/>
          <p:cNvSpPr/>
          <p:nvPr/>
        </p:nvSpPr>
        <p:spPr>
          <a:xfrm>
            <a:off x="6033202" y="4650991"/>
            <a:ext cx="126386" cy="202217"/>
          </a:xfrm>
          <a:custGeom>
            <a:avLst/>
            <a:gdLst/>
            <a:ahLst/>
            <a:cxnLst/>
            <a:rect l="l" t="t" r="r" b="b"/>
            <a:pathLst>
              <a:path w="126386" h="202217">
                <a:moveTo>
                  <a:pt x="53714" y="9479"/>
                </a:moveTo>
                <a:cubicBezTo>
                  <a:pt x="53714" y="4226"/>
                  <a:pt x="57940" y="0"/>
                  <a:pt x="63193" y="0"/>
                </a:cubicBezTo>
                <a:cubicBezTo>
                  <a:pt x="68446" y="0"/>
                  <a:pt x="72672" y="4226"/>
                  <a:pt x="72672" y="9479"/>
                </a:cubicBezTo>
                <a:lnTo>
                  <a:pt x="72672" y="25277"/>
                </a:lnTo>
                <a:lnTo>
                  <a:pt x="94789" y="25277"/>
                </a:lnTo>
                <a:cubicBezTo>
                  <a:pt x="101780" y="25277"/>
                  <a:pt x="107428" y="30925"/>
                  <a:pt x="107428" y="37916"/>
                </a:cubicBezTo>
                <a:cubicBezTo>
                  <a:pt x="107428" y="44906"/>
                  <a:pt x="101780" y="50554"/>
                  <a:pt x="94789" y="50554"/>
                </a:cubicBezTo>
                <a:lnTo>
                  <a:pt x="49409" y="50554"/>
                </a:lnTo>
                <a:cubicBezTo>
                  <a:pt x="39574" y="50554"/>
                  <a:pt x="31596" y="58532"/>
                  <a:pt x="31596" y="68367"/>
                </a:cubicBezTo>
                <a:cubicBezTo>
                  <a:pt x="31596" y="77253"/>
                  <a:pt x="38113" y="84757"/>
                  <a:pt x="46881" y="86021"/>
                </a:cubicBezTo>
                <a:lnTo>
                  <a:pt x="83059" y="91195"/>
                </a:lnTo>
                <a:cubicBezTo>
                  <a:pt x="104308" y="94236"/>
                  <a:pt x="120066" y="112404"/>
                  <a:pt x="120066" y="133850"/>
                </a:cubicBezTo>
                <a:cubicBezTo>
                  <a:pt x="120066" y="157666"/>
                  <a:pt x="100753" y="176940"/>
                  <a:pt x="76977" y="176940"/>
                </a:cubicBezTo>
                <a:lnTo>
                  <a:pt x="72672" y="176940"/>
                </a:lnTo>
                <a:lnTo>
                  <a:pt x="72672" y="192738"/>
                </a:lnTo>
                <a:cubicBezTo>
                  <a:pt x="72672" y="197991"/>
                  <a:pt x="68446" y="202217"/>
                  <a:pt x="63193" y="202217"/>
                </a:cubicBezTo>
                <a:cubicBezTo>
                  <a:pt x="57940" y="202217"/>
                  <a:pt x="53714" y="197991"/>
                  <a:pt x="53714" y="192738"/>
                </a:cubicBezTo>
                <a:lnTo>
                  <a:pt x="53714" y="176940"/>
                </a:lnTo>
                <a:lnTo>
                  <a:pt x="25277" y="176940"/>
                </a:lnTo>
                <a:cubicBezTo>
                  <a:pt x="18286" y="176940"/>
                  <a:pt x="12639" y="171292"/>
                  <a:pt x="12639" y="164301"/>
                </a:cubicBezTo>
                <a:cubicBezTo>
                  <a:pt x="12639" y="157311"/>
                  <a:pt x="18286" y="151663"/>
                  <a:pt x="25277" y="151663"/>
                </a:cubicBezTo>
                <a:lnTo>
                  <a:pt x="76977" y="151663"/>
                </a:lnTo>
                <a:cubicBezTo>
                  <a:pt x="86811" y="151663"/>
                  <a:pt x="94789" y="143685"/>
                  <a:pt x="94789" y="133850"/>
                </a:cubicBezTo>
                <a:cubicBezTo>
                  <a:pt x="94789" y="124964"/>
                  <a:pt x="88272" y="117460"/>
                  <a:pt x="79504" y="116196"/>
                </a:cubicBezTo>
                <a:lnTo>
                  <a:pt x="43327" y="111022"/>
                </a:lnTo>
                <a:cubicBezTo>
                  <a:pt x="22078" y="108020"/>
                  <a:pt x="6319" y="89813"/>
                  <a:pt x="6319" y="68367"/>
                </a:cubicBezTo>
                <a:cubicBezTo>
                  <a:pt x="6319" y="44590"/>
                  <a:pt x="25633" y="25277"/>
                  <a:pt x="49409" y="25277"/>
                </a:cubicBezTo>
                <a:lnTo>
                  <a:pt x="53714" y="25277"/>
                </a:lnTo>
                <a:lnTo>
                  <a:pt x="53714" y="9479"/>
                </a:lnTo>
                <a:close/>
              </a:path>
            </a:pathLst>
          </a:custGeom>
          <a:solidFill>
            <a:srgbClr val="BCA37F"/>
          </a:solidFill>
          <a:ln/>
        </p:spPr>
      </p:sp>
      <p:sp>
        <p:nvSpPr>
          <p:cNvPr id="34" name="Text 32"/>
          <p:cNvSpPr/>
          <p:nvPr/>
        </p:nvSpPr>
        <p:spPr>
          <a:xfrm>
            <a:off x="4277758" y="4920614"/>
            <a:ext cx="3639906" cy="202217"/>
          </a:xfrm>
          <a:prstGeom prst="rect">
            <a:avLst/>
          </a:prstGeom>
          <a:noFill/>
          <a:ln/>
        </p:spPr>
        <p:txBody>
          <a:bodyPr wrap="square" lIns="0" tIns="0" rIns="0" bIns="0" rtlCol="0" anchor="ctr"/>
          <a:lstStyle/>
          <a:p>
            <a:pPr algn="ctr">
              <a:lnSpc>
                <a:spcPct val="130000"/>
              </a:lnSpc>
            </a:pPr>
            <a:r>
              <a:rPr lang="en-US" sz="1062" b="1" dirty="0">
                <a:solidFill>
                  <a:srgbClr val="F8F6F2"/>
                </a:solidFill>
                <a:latin typeface="Unna" pitchFamily="34" charset="0"/>
                <a:ea typeface="Unna" pitchFamily="34" charset="-122"/>
                <a:cs typeface="Unna" pitchFamily="34" charset="-120"/>
              </a:rPr>
              <a:t>Cost Allocation</a:t>
            </a:r>
            <a:endParaRPr lang="en-US" sz="1600" dirty="0"/>
          </a:p>
        </p:txBody>
      </p:sp>
      <p:sp>
        <p:nvSpPr>
          <p:cNvPr id="35" name="Text 33"/>
          <p:cNvSpPr/>
          <p:nvPr/>
        </p:nvSpPr>
        <p:spPr>
          <a:xfrm>
            <a:off x="4277758" y="5156534"/>
            <a:ext cx="3639906" cy="606651"/>
          </a:xfrm>
          <a:prstGeom prst="rect">
            <a:avLst/>
          </a:prstGeom>
          <a:noFill/>
          <a:ln/>
        </p:spPr>
        <p:txBody>
          <a:bodyPr wrap="square" lIns="0" tIns="0" rIns="0" bIns="0" rtlCol="0" anchor="ctr"/>
          <a:lstStyle/>
          <a:p>
            <a:pPr algn="ctr">
              <a:lnSpc>
                <a:spcPct val="130000"/>
              </a:lnSpc>
            </a:pPr>
            <a:r>
              <a:rPr lang="en-US" sz="1062" dirty="0">
                <a:solidFill>
                  <a:srgbClr val="F8F6F2"/>
                </a:solidFill>
                <a:latin typeface="Quattrocento Sans" pitchFamily="34" charset="0"/>
                <a:ea typeface="Quattrocento Sans" pitchFamily="34" charset="-122"/>
                <a:cs typeface="Quattrocento Sans" pitchFamily="34" charset="-120"/>
              </a:rPr>
              <a:t>Each party bears own legal costs. No punitive damages permitted. Prevailing party may recover reasonable attorney fees.</a:t>
            </a:r>
            <a:endParaRPr lang="en-US" sz="1600" dirty="0"/>
          </a:p>
        </p:txBody>
      </p:sp>
      <p:sp>
        <p:nvSpPr>
          <p:cNvPr id="36" name="Shape 34"/>
          <p:cNvSpPr/>
          <p:nvPr/>
        </p:nvSpPr>
        <p:spPr>
          <a:xfrm>
            <a:off x="8083677" y="4549883"/>
            <a:ext cx="3774717" cy="1314411"/>
          </a:xfrm>
          <a:custGeom>
            <a:avLst/>
            <a:gdLst/>
            <a:ahLst/>
            <a:cxnLst/>
            <a:rect l="l" t="t" r="r" b="b"/>
            <a:pathLst>
              <a:path w="3774717" h="1314411">
                <a:moveTo>
                  <a:pt x="67403" y="0"/>
                </a:moveTo>
                <a:lnTo>
                  <a:pt x="3707314" y="0"/>
                </a:lnTo>
                <a:cubicBezTo>
                  <a:pt x="3744540" y="0"/>
                  <a:pt x="3774717" y="30177"/>
                  <a:pt x="3774717" y="67403"/>
                </a:cubicBezTo>
                <a:lnTo>
                  <a:pt x="3774717" y="1247008"/>
                </a:lnTo>
                <a:cubicBezTo>
                  <a:pt x="3774717" y="1284233"/>
                  <a:pt x="3744540" y="1314411"/>
                  <a:pt x="3707314" y="1314411"/>
                </a:cubicBezTo>
                <a:lnTo>
                  <a:pt x="67403" y="1314411"/>
                </a:lnTo>
                <a:cubicBezTo>
                  <a:pt x="30177" y="1314411"/>
                  <a:pt x="0" y="1284233"/>
                  <a:pt x="0" y="1247008"/>
                </a:cubicBezTo>
                <a:lnTo>
                  <a:pt x="0" y="67403"/>
                </a:lnTo>
                <a:cubicBezTo>
                  <a:pt x="0" y="30202"/>
                  <a:pt x="30202" y="0"/>
                  <a:pt x="67403" y="0"/>
                </a:cubicBezTo>
                <a:close/>
              </a:path>
            </a:pathLst>
          </a:custGeom>
          <a:solidFill>
            <a:srgbClr val="3A4D39"/>
          </a:solidFill>
          <a:ln/>
        </p:spPr>
      </p:sp>
      <p:sp>
        <p:nvSpPr>
          <p:cNvPr id="37" name="Shape 35"/>
          <p:cNvSpPr/>
          <p:nvPr/>
        </p:nvSpPr>
        <p:spPr>
          <a:xfrm>
            <a:off x="9893888" y="4650991"/>
            <a:ext cx="151663" cy="202217"/>
          </a:xfrm>
          <a:custGeom>
            <a:avLst/>
            <a:gdLst/>
            <a:ahLst/>
            <a:cxnLst/>
            <a:rect l="l" t="t" r="r" b="b"/>
            <a:pathLst>
              <a:path w="151663" h="202217">
                <a:moveTo>
                  <a:pt x="50554" y="37916"/>
                </a:moveTo>
                <a:lnTo>
                  <a:pt x="50554" y="63193"/>
                </a:lnTo>
                <a:lnTo>
                  <a:pt x="101109" y="63193"/>
                </a:lnTo>
                <a:lnTo>
                  <a:pt x="101109" y="37916"/>
                </a:lnTo>
                <a:cubicBezTo>
                  <a:pt x="101109" y="23974"/>
                  <a:pt x="89773" y="12639"/>
                  <a:pt x="75831" y="12639"/>
                </a:cubicBezTo>
                <a:cubicBezTo>
                  <a:pt x="61889" y="12639"/>
                  <a:pt x="50554" y="23974"/>
                  <a:pt x="50554" y="37916"/>
                </a:cubicBezTo>
                <a:close/>
                <a:moveTo>
                  <a:pt x="25277" y="63193"/>
                </a:moveTo>
                <a:lnTo>
                  <a:pt x="25277" y="37916"/>
                </a:lnTo>
                <a:cubicBezTo>
                  <a:pt x="25277" y="9992"/>
                  <a:pt x="47908" y="-12639"/>
                  <a:pt x="75831" y="-12639"/>
                </a:cubicBezTo>
                <a:cubicBezTo>
                  <a:pt x="103755" y="-12639"/>
                  <a:pt x="126386" y="9992"/>
                  <a:pt x="126386" y="37916"/>
                </a:cubicBezTo>
                <a:lnTo>
                  <a:pt x="126386" y="63193"/>
                </a:lnTo>
                <a:cubicBezTo>
                  <a:pt x="140328" y="63193"/>
                  <a:pt x="151663" y="74528"/>
                  <a:pt x="151663" y="88470"/>
                </a:cubicBezTo>
                <a:lnTo>
                  <a:pt x="151663" y="176940"/>
                </a:lnTo>
                <a:cubicBezTo>
                  <a:pt x="151663" y="190882"/>
                  <a:pt x="140328" y="202217"/>
                  <a:pt x="126386" y="202217"/>
                </a:cubicBezTo>
                <a:lnTo>
                  <a:pt x="25277" y="202217"/>
                </a:lnTo>
                <a:cubicBezTo>
                  <a:pt x="11335" y="202217"/>
                  <a:pt x="0" y="190882"/>
                  <a:pt x="0" y="176940"/>
                </a:cubicBezTo>
                <a:lnTo>
                  <a:pt x="0" y="88470"/>
                </a:lnTo>
                <a:cubicBezTo>
                  <a:pt x="0" y="74528"/>
                  <a:pt x="11335" y="63193"/>
                  <a:pt x="25277" y="63193"/>
                </a:cubicBezTo>
                <a:close/>
              </a:path>
            </a:pathLst>
          </a:custGeom>
          <a:solidFill>
            <a:srgbClr val="BCA37F"/>
          </a:solidFill>
          <a:ln/>
        </p:spPr>
      </p:sp>
      <p:sp>
        <p:nvSpPr>
          <p:cNvPr id="38" name="Text 36"/>
          <p:cNvSpPr/>
          <p:nvPr/>
        </p:nvSpPr>
        <p:spPr>
          <a:xfrm>
            <a:off x="8151083" y="4920614"/>
            <a:ext cx="3639906" cy="202217"/>
          </a:xfrm>
          <a:prstGeom prst="rect">
            <a:avLst/>
          </a:prstGeom>
          <a:noFill/>
          <a:ln/>
        </p:spPr>
        <p:txBody>
          <a:bodyPr wrap="square" lIns="0" tIns="0" rIns="0" bIns="0" rtlCol="0" anchor="ctr"/>
          <a:lstStyle/>
          <a:p>
            <a:pPr algn="ctr">
              <a:lnSpc>
                <a:spcPct val="130000"/>
              </a:lnSpc>
            </a:pPr>
            <a:r>
              <a:rPr lang="en-US" sz="1062" b="1" dirty="0">
                <a:solidFill>
                  <a:srgbClr val="F8F6F2"/>
                </a:solidFill>
                <a:latin typeface="Unna" pitchFamily="34" charset="0"/>
                <a:ea typeface="Unna" pitchFamily="34" charset="-122"/>
                <a:cs typeface="Unna" pitchFamily="34" charset="-120"/>
              </a:rPr>
              <a:t>Confidentiality</a:t>
            </a:r>
            <a:endParaRPr lang="en-US" sz="1600" dirty="0"/>
          </a:p>
        </p:txBody>
      </p:sp>
      <p:sp>
        <p:nvSpPr>
          <p:cNvPr id="39" name="Text 37"/>
          <p:cNvSpPr/>
          <p:nvPr/>
        </p:nvSpPr>
        <p:spPr>
          <a:xfrm>
            <a:off x="8151083" y="5156534"/>
            <a:ext cx="3639906" cy="404434"/>
          </a:xfrm>
          <a:prstGeom prst="rect">
            <a:avLst/>
          </a:prstGeom>
          <a:noFill/>
          <a:ln/>
        </p:spPr>
        <p:txBody>
          <a:bodyPr wrap="square" lIns="0" tIns="0" rIns="0" bIns="0" rtlCol="0" anchor="ctr"/>
          <a:lstStyle/>
          <a:p>
            <a:pPr algn="ctr">
              <a:lnSpc>
                <a:spcPct val="130000"/>
              </a:lnSpc>
            </a:pPr>
            <a:r>
              <a:rPr lang="en-US" sz="1062" dirty="0">
                <a:solidFill>
                  <a:srgbClr val="F8F6F2"/>
                </a:solidFill>
                <a:latin typeface="Quattrocento Sans" pitchFamily="34" charset="0"/>
                <a:ea typeface="Quattrocento Sans" pitchFamily="34" charset="-122"/>
                <a:cs typeface="Quattrocento Sans" pitchFamily="34" charset="-120"/>
              </a:rPr>
              <a:t>All dispute resolution proceedings confidential. No public disclosure of disputes or resolutions without mutual consent.</a:t>
            </a:r>
            <a:endParaRPr lang="en-US" sz="1600" dirty="0"/>
          </a:p>
        </p:txBody>
      </p:sp>
      <p:sp>
        <p:nvSpPr>
          <p:cNvPr id="40" name="Shape 38"/>
          <p:cNvSpPr/>
          <p:nvPr/>
        </p:nvSpPr>
        <p:spPr>
          <a:xfrm>
            <a:off x="341241" y="5969614"/>
            <a:ext cx="11509518" cy="884699"/>
          </a:xfrm>
          <a:custGeom>
            <a:avLst/>
            <a:gdLst/>
            <a:ahLst/>
            <a:cxnLst/>
            <a:rect l="l" t="t" r="r" b="b"/>
            <a:pathLst>
              <a:path w="11509518" h="884699">
                <a:moveTo>
                  <a:pt x="67405" y="0"/>
                </a:moveTo>
                <a:lnTo>
                  <a:pt x="11442112" y="0"/>
                </a:lnTo>
                <a:cubicBezTo>
                  <a:pt x="11479339" y="0"/>
                  <a:pt x="11509518" y="30178"/>
                  <a:pt x="11509518" y="67405"/>
                </a:cubicBezTo>
                <a:lnTo>
                  <a:pt x="11509518" y="817294"/>
                </a:lnTo>
                <a:cubicBezTo>
                  <a:pt x="11509518" y="854521"/>
                  <a:pt x="11479339" y="884699"/>
                  <a:pt x="11442112" y="884699"/>
                </a:cubicBezTo>
                <a:lnTo>
                  <a:pt x="67405" y="884699"/>
                </a:lnTo>
                <a:cubicBezTo>
                  <a:pt x="30178" y="884699"/>
                  <a:pt x="0" y="854521"/>
                  <a:pt x="0" y="817294"/>
                </a:cubicBezTo>
                <a:lnTo>
                  <a:pt x="0" y="67405"/>
                </a:lnTo>
                <a:cubicBezTo>
                  <a:pt x="0" y="30203"/>
                  <a:pt x="30203" y="0"/>
                  <a:pt x="67405" y="0"/>
                </a:cubicBezTo>
                <a:close/>
              </a:path>
            </a:pathLst>
          </a:custGeom>
          <a:solidFill>
            <a:srgbClr val="BCA37F"/>
          </a:solidFill>
          <a:ln w="12700">
            <a:solidFill>
              <a:srgbClr val="BCA37F"/>
            </a:solidFill>
            <a:prstDash val="solid"/>
          </a:ln>
        </p:spPr>
      </p:sp>
      <p:sp>
        <p:nvSpPr>
          <p:cNvPr id="41" name="Shape 39"/>
          <p:cNvSpPr/>
          <p:nvPr/>
        </p:nvSpPr>
        <p:spPr>
          <a:xfrm>
            <a:off x="440243" y="6108639"/>
            <a:ext cx="147450" cy="168514"/>
          </a:xfrm>
          <a:custGeom>
            <a:avLst/>
            <a:gdLst/>
            <a:ahLst/>
            <a:cxnLst/>
            <a:rect l="l" t="t" r="r" b="b"/>
            <a:pathLst>
              <a:path w="147450" h="168514">
                <a:moveTo>
                  <a:pt x="111509" y="-3258"/>
                </a:moveTo>
                <a:cubicBezTo>
                  <a:pt x="115426" y="-428"/>
                  <a:pt x="116874" y="4707"/>
                  <a:pt x="115096" y="9183"/>
                </a:cubicBezTo>
                <a:lnTo>
                  <a:pt x="89293" y="73725"/>
                </a:lnTo>
                <a:lnTo>
                  <a:pt x="136918" y="73725"/>
                </a:lnTo>
                <a:cubicBezTo>
                  <a:pt x="141361" y="73725"/>
                  <a:pt x="145311" y="76490"/>
                  <a:pt x="146825" y="80670"/>
                </a:cubicBezTo>
                <a:cubicBezTo>
                  <a:pt x="148339" y="84850"/>
                  <a:pt x="147055" y="89523"/>
                  <a:pt x="143665" y="92354"/>
                </a:cubicBezTo>
                <a:lnTo>
                  <a:pt x="48876" y="171345"/>
                </a:lnTo>
                <a:cubicBezTo>
                  <a:pt x="45157" y="174438"/>
                  <a:pt x="39858" y="174603"/>
                  <a:pt x="35941" y="171773"/>
                </a:cubicBezTo>
                <a:cubicBezTo>
                  <a:pt x="32024" y="168942"/>
                  <a:pt x="30576" y="163808"/>
                  <a:pt x="32353" y="159331"/>
                </a:cubicBezTo>
                <a:lnTo>
                  <a:pt x="58157" y="94789"/>
                </a:lnTo>
                <a:lnTo>
                  <a:pt x="10532" y="94789"/>
                </a:lnTo>
                <a:cubicBezTo>
                  <a:pt x="6089" y="94789"/>
                  <a:pt x="2139" y="92025"/>
                  <a:pt x="625" y="87845"/>
                </a:cubicBezTo>
                <a:cubicBezTo>
                  <a:pt x="-889" y="83665"/>
                  <a:pt x="395" y="78991"/>
                  <a:pt x="3785" y="76161"/>
                </a:cubicBezTo>
                <a:lnTo>
                  <a:pt x="98574" y="-2831"/>
                </a:lnTo>
                <a:cubicBezTo>
                  <a:pt x="102293" y="-5924"/>
                  <a:pt x="107592" y="-6089"/>
                  <a:pt x="111509" y="-3258"/>
                </a:cubicBezTo>
                <a:close/>
              </a:path>
            </a:pathLst>
          </a:custGeom>
          <a:solidFill>
            <a:srgbClr val="7A6250"/>
          </a:solidFill>
          <a:ln/>
        </p:spPr>
      </p:sp>
      <p:sp>
        <p:nvSpPr>
          <p:cNvPr id="42" name="Text 40"/>
          <p:cNvSpPr/>
          <p:nvPr/>
        </p:nvSpPr>
        <p:spPr>
          <a:xfrm>
            <a:off x="679323" y="6074936"/>
            <a:ext cx="11138786" cy="235920"/>
          </a:xfrm>
          <a:prstGeom prst="rect">
            <a:avLst/>
          </a:prstGeom>
          <a:noFill/>
          <a:ln/>
        </p:spPr>
        <p:txBody>
          <a:bodyPr wrap="square" lIns="0" tIns="0" rIns="0" bIns="0" rtlCol="0" anchor="ctr"/>
          <a:lstStyle/>
          <a:p>
            <a:pPr>
              <a:lnSpc>
                <a:spcPct val="130000"/>
              </a:lnSpc>
            </a:pPr>
            <a:r>
              <a:rPr lang="en-US" sz="1194" b="1" dirty="0">
                <a:solidFill>
                  <a:srgbClr val="3A4D39"/>
                </a:solidFill>
                <a:latin typeface="Unna" pitchFamily="34" charset="0"/>
                <a:ea typeface="Unna" pitchFamily="34" charset="-122"/>
                <a:cs typeface="Unna" pitchFamily="34" charset="-120"/>
              </a:rPr>
              <a:t>Injunctive Relief Exception</a:t>
            </a:r>
            <a:endParaRPr lang="en-US" sz="1600" dirty="0"/>
          </a:p>
        </p:txBody>
      </p:sp>
      <p:sp>
        <p:nvSpPr>
          <p:cNvPr id="43" name="Text 41"/>
          <p:cNvSpPr/>
          <p:nvPr/>
        </p:nvSpPr>
        <p:spPr>
          <a:xfrm>
            <a:off x="679323" y="6344558"/>
            <a:ext cx="11130361" cy="404434"/>
          </a:xfrm>
          <a:prstGeom prst="rect">
            <a:avLst/>
          </a:prstGeom>
          <a:noFill/>
          <a:ln/>
        </p:spPr>
        <p:txBody>
          <a:bodyPr wrap="square" lIns="0" tIns="0" rIns="0" bIns="0" rtlCol="0" anchor="ctr"/>
          <a:lstStyle/>
          <a:p>
            <a:pPr>
              <a:lnSpc>
                <a:spcPct val="130000"/>
              </a:lnSpc>
            </a:pPr>
            <a:r>
              <a:rPr lang="en-US" sz="1062" dirty="0">
                <a:solidFill>
                  <a:srgbClr val="2C2C2C"/>
                </a:solidFill>
                <a:latin typeface="Quattrocento Sans" pitchFamily="34" charset="0"/>
                <a:ea typeface="Quattrocento Sans" pitchFamily="34" charset="-122"/>
                <a:cs typeface="Quattrocento Sans" pitchFamily="34" charset="-120"/>
              </a:rPr>
              <a:t>Notwithstanding the above, any party may seek immediate injunctive relief in court for urgent matters including: breach of confidentiality, unauthorized use of partnership assets, or actions causing irreparable harm. Request for injunctive relief does not waive right to compel arbitration of underlying dispute.</a:t>
            </a:r>
            <a:endParaRPr lang="en-US" sz="1600" dirty="0"/>
          </a:p>
        </p:txBody>
      </p:sp>
    </p:spTree>
  </p:cSld>
  <p:clrMapOvr>
    <a:masterClrMapping/>
  </p:clrMapOvr>
  <p:transition>
    <p:fade/>
    <p:spd val="med"/>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6F2"/>
        </a:solidFill>
      </p:bgPr>
    </p:bg>
    <p:spTree>
      <p:nvGrpSpPr>
        <p:cNvPr id="1" name=""/>
        <p:cNvGrpSpPr/>
        <p:nvPr/>
      </p:nvGrpSpPr>
      <p:grpSpPr>
        <a:xfrm>
          <a:off x="0" y="0"/>
          <a:ext cx="0" cy="0"/>
          <a:chOff x="0" y="0"/>
          <a:chExt cx="0" cy="0"/>
        </a:xfrm>
      </p:grpSpPr>
      <p:sp>
        <p:nvSpPr>
          <p:cNvPr id="2" name="Shape 0"/>
          <p:cNvSpPr/>
          <p:nvPr/>
        </p:nvSpPr>
        <p:spPr>
          <a:xfrm>
            <a:off x="354419" y="354419"/>
            <a:ext cx="354419" cy="354419"/>
          </a:xfrm>
          <a:custGeom>
            <a:avLst/>
            <a:gdLst/>
            <a:ahLst/>
            <a:cxnLst/>
            <a:rect l="l" t="t" r="r" b="b"/>
            <a:pathLst>
              <a:path w="354419" h="354419">
                <a:moveTo>
                  <a:pt x="35442" y="0"/>
                </a:moveTo>
                <a:lnTo>
                  <a:pt x="318977" y="0"/>
                </a:lnTo>
                <a:cubicBezTo>
                  <a:pt x="338551" y="0"/>
                  <a:pt x="354419" y="15868"/>
                  <a:pt x="354419" y="35442"/>
                </a:cubicBezTo>
                <a:lnTo>
                  <a:pt x="354419" y="318977"/>
                </a:lnTo>
                <a:cubicBezTo>
                  <a:pt x="354419" y="338551"/>
                  <a:pt x="338551" y="354419"/>
                  <a:pt x="318977" y="354419"/>
                </a:cubicBezTo>
                <a:lnTo>
                  <a:pt x="35442" y="354419"/>
                </a:lnTo>
                <a:cubicBezTo>
                  <a:pt x="15868" y="354419"/>
                  <a:pt x="0" y="338551"/>
                  <a:pt x="0" y="318977"/>
                </a:cubicBezTo>
                <a:lnTo>
                  <a:pt x="0" y="35442"/>
                </a:lnTo>
                <a:cubicBezTo>
                  <a:pt x="0" y="15881"/>
                  <a:pt x="15881" y="0"/>
                  <a:pt x="35442" y="0"/>
                </a:cubicBezTo>
                <a:close/>
              </a:path>
            </a:pathLst>
          </a:custGeom>
          <a:solidFill>
            <a:srgbClr val="3A4D39"/>
          </a:solidFill>
          <a:ln/>
        </p:spPr>
      </p:sp>
      <p:sp>
        <p:nvSpPr>
          <p:cNvPr id="3" name="Text 1"/>
          <p:cNvSpPr/>
          <p:nvPr/>
        </p:nvSpPr>
        <p:spPr>
          <a:xfrm>
            <a:off x="458391" y="407581"/>
            <a:ext cx="239233" cy="248093"/>
          </a:xfrm>
          <a:prstGeom prst="rect">
            <a:avLst/>
          </a:prstGeom>
          <a:noFill/>
          <a:ln/>
        </p:spPr>
        <p:txBody>
          <a:bodyPr wrap="square" lIns="0" tIns="0" rIns="0" bIns="0" rtlCol="0" anchor="ctr"/>
          <a:lstStyle/>
          <a:p>
            <a:pPr>
              <a:lnSpc>
                <a:spcPct val="120000"/>
              </a:lnSpc>
            </a:pPr>
            <a:r>
              <a:rPr lang="en-US" sz="1395" b="1" dirty="0">
                <a:solidFill>
                  <a:srgbClr val="F8F6F2"/>
                </a:solidFill>
                <a:latin typeface="Oranienbaum" pitchFamily="34" charset="0"/>
                <a:ea typeface="Oranienbaum" pitchFamily="34" charset="-122"/>
                <a:cs typeface="Oranienbaum" pitchFamily="34" charset="-120"/>
              </a:rPr>
              <a:t>13</a:t>
            </a:r>
            <a:endParaRPr lang="en-US" sz="1600" dirty="0"/>
          </a:p>
        </p:txBody>
      </p:sp>
      <p:sp>
        <p:nvSpPr>
          <p:cNvPr id="4" name="Text 2"/>
          <p:cNvSpPr/>
          <p:nvPr/>
        </p:nvSpPr>
        <p:spPr>
          <a:xfrm>
            <a:off x="815163" y="354419"/>
            <a:ext cx="3907465" cy="354419"/>
          </a:xfrm>
          <a:prstGeom prst="rect">
            <a:avLst/>
          </a:prstGeom>
          <a:noFill/>
          <a:ln/>
        </p:spPr>
        <p:txBody>
          <a:bodyPr wrap="square" lIns="0" tIns="0" rIns="0" bIns="0" rtlCol="0" anchor="ctr"/>
          <a:lstStyle/>
          <a:p>
            <a:pPr>
              <a:lnSpc>
                <a:spcPct val="90000"/>
              </a:lnSpc>
            </a:pPr>
            <a:r>
              <a:rPr lang="en-US" sz="2512" b="1" dirty="0">
                <a:solidFill>
                  <a:srgbClr val="3A4D39"/>
                </a:solidFill>
                <a:latin typeface="Oranienbaum" pitchFamily="34" charset="0"/>
                <a:ea typeface="Oranienbaum" pitchFamily="34" charset="-122"/>
                <a:cs typeface="Oranienbaum" pitchFamily="34" charset="-120"/>
              </a:rPr>
              <a:t>Term, Termination, and Exit</a:t>
            </a:r>
            <a:endParaRPr lang="en-US" sz="1600" dirty="0"/>
          </a:p>
        </p:txBody>
      </p:sp>
      <p:sp>
        <p:nvSpPr>
          <p:cNvPr id="5" name="Shape 3"/>
          <p:cNvSpPr/>
          <p:nvPr/>
        </p:nvSpPr>
        <p:spPr>
          <a:xfrm>
            <a:off x="354419" y="779721"/>
            <a:ext cx="708837" cy="35442"/>
          </a:xfrm>
          <a:custGeom>
            <a:avLst/>
            <a:gdLst/>
            <a:ahLst/>
            <a:cxnLst/>
            <a:rect l="l" t="t" r="r" b="b"/>
            <a:pathLst>
              <a:path w="708837" h="35442">
                <a:moveTo>
                  <a:pt x="0" y="0"/>
                </a:moveTo>
                <a:lnTo>
                  <a:pt x="708837" y="0"/>
                </a:lnTo>
                <a:lnTo>
                  <a:pt x="708837" y="35442"/>
                </a:lnTo>
                <a:lnTo>
                  <a:pt x="0" y="35442"/>
                </a:lnTo>
                <a:lnTo>
                  <a:pt x="0" y="0"/>
                </a:lnTo>
                <a:close/>
              </a:path>
            </a:pathLst>
          </a:custGeom>
          <a:solidFill>
            <a:srgbClr val="BCA37F"/>
          </a:solidFill>
          <a:ln/>
        </p:spPr>
      </p:sp>
      <p:sp>
        <p:nvSpPr>
          <p:cNvPr id="6" name="Shape 4"/>
          <p:cNvSpPr/>
          <p:nvPr/>
        </p:nvSpPr>
        <p:spPr>
          <a:xfrm>
            <a:off x="354419" y="974651"/>
            <a:ext cx="5670698" cy="3384698"/>
          </a:xfrm>
          <a:custGeom>
            <a:avLst/>
            <a:gdLst/>
            <a:ahLst/>
            <a:cxnLst/>
            <a:rect l="l" t="t" r="r" b="b"/>
            <a:pathLst>
              <a:path w="5670698" h="3384698">
                <a:moveTo>
                  <a:pt x="35442" y="0"/>
                </a:moveTo>
                <a:lnTo>
                  <a:pt x="5635256" y="0"/>
                </a:lnTo>
                <a:cubicBezTo>
                  <a:pt x="5654830" y="0"/>
                  <a:pt x="5670698" y="15868"/>
                  <a:pt x="5670698" y="35442"/>
                </a:cubicBezTo>
                <a:lnTo>
                  <a:pt x="5670698" y="3313822"/>
                </a:lnTo>
                <a:cubicBezTo>
                  <a:pt x="5670698" y="3352966"/>
                  <a:pt x="5638966" y="3384698"/>
                  <a:pt x="5599822" y="3384698"/>
                </a:cubicBezTo>
                <a:lnTo>
                  <a:pt x="70876" y="3384698"/>
                </a:lnTo>
                <a:cubicBezTo>
                  <a:pt x="31732" y="3384698"/>
                  <a:pt x="0" y="3352966"/>
                  <a:pt x="0" y="3313822"/>
                </a:cubicBezTo>
                <a:lnTo>
                  <a:pt x="0" y="35442"/>
                </a:lnTo>
                <a:cubicBezTo>
                  <a:pt x="0" y="15881"/>
                  <a:pt x="15881" y="0"/>
                  <a:pt x="35442" y="0"/>
                </a:cubicBezTo>
                <a:close/>
              </a:path>
            </a:pathLst>
          </a:custGeom>
          <a:solidFill>
            <a:srgbClr val="FFFFFF"/>
          </a:solidFill>
          <a:ln/>
          <a:effectLst>
            <a:outerShdw sx="100000" sy="100000" kx="0" ky="0" algn="bl" rotWithShape="0" blurRad="26581" dist="8860" dir="5400000">
              <a:srgbClr val="000000">
                <a:alpha val="10196"/>
              </a:srgbClr>
            </a:outerShdw>
          </a:effectLst>
        </p:spPr>
      </p:sp>
      <p:sp>
        <p:nvSpPr>
          <p:cNvPr id="7" name="Shape 5"/>
          <p:cNvSpPr/>
          <p:nvPr/>
        </p:nvSpPr>
        <p:spPr>
          <a:xfrm>
            <a:off x="354419" y="974651"/>
            <a:ext cx="5670698" cy="35442"/>
          </a:xfrm>
          <a:custGeom>
            <a:avLst/>
            <a:gdLst/>
            <a:ahLst/>
            <a:cxnLst/>
            <a:rect l="l" t="t" r="r" b="b"/>
            <a:pathLst>
              <a:path w="5670698" h="35442">
                <a:moveTo>
                  <a:pt x="35442" y="0"/>
                </a:moveTo>
                <a:lnTo>
                  <a:pt x="5635256" y="0"/>
                </a:lnTo>
                <a:cubicBezTo>
                  <a:pt x="5654830" y="0"/>
                  <a:pt x="5670698" y="15868"/>
                  <a:pt x="5670698" y="35442"/>
                </a:cubicBezTo>
                <a:lnTo>
                  <a:pt x="5670698" y="35442"/>
                </a:lnTo>
                <a:lnTo>
                  <a:pt x="0" y="35442"/>
                </a:lnTo>
                <a:lnTo>
                  <a:pt x="0" y="35442"/>
                </a:lnTo>
                <a:cubicBezTo>
                  <a:pt x="0" y="15881"/>
                  <a:pt x="15881" y="0"/>
                  <a:pt x="35442" y="0"/>
                </a:cubicBezTo>
                <a:close/>
              </a:path>
            </a:pathLst>
          </a:custGeom>
          <a:solidFill>
            <a:srgbClr val="3A4D39"/>
          </a:solidFill>
          <a:ln/>
        </p:spPr>
      </p:sp>
      <p:sp>
        <p:nvSpPr>
          <p:cNvPr id="8" name="Shape 6"/>
          <p:cNvSpPr/>
          <p:nvPr/>
        </p:nvSpPr>
        <p:spPr>
          <a:xfrm>
            <a:off x="529413" y="1169581"/>
            <a:ext cx="155058" cy="177209"/>
          </a:xfrm>
          <a:custGeom>
            <a:avLst/>
            <a:gdLst/>
            <a:ahLst/>
            <a:cxnLst/>
            <a:rect l="l" t="t" r="r" b="b"/>
            <a:pathLst>
              <a:path w="155058" h="177209">
                <a:moveTo>
                  <a:pt x="44302" y="0"/>
                </a:moveTo>
                <a:cubicBezTo>
                  <a:pt x="50429" y="0"/>
                  <a:pt x="55378" y="4949"/>
                  <a:pt x="55378" y="11076"/>
                </a:cubicBezTo>
                <a:lnTo>
                  <a:pt x="55378" y="22151"/>
                </a:lnTo>
                <a:lnTo>
                  <a:pt x="99680" y="22151"/>
                </a:lnTo>
                <a:lnTo>
                  <a:pt x="99680" y="11076"/>
                </a:lnTo>
                <a:cubicBezTo>
                  <a:pt x="99680" y="4949"/>
                  <a:pt x="104630" y="0"/>
                  <a:pt x="110756" y="0"/>
                </a:cubicBezTo>
                <a:cubicBezTo>
                  <a:pt x="116882" y="0"/>
                  <a:pt x="121831" y="4949"/>
                  <a:pt x="121831" y="11076"/>
                </a:cubicBezTo>
                <a:lnTo>
                  <a:pt x="121831" y="22151"/>
                </a:lnTo>
                <a:lnTo>
                  <a:pt x="132907" y="22151"/>
                </a:lnTo>
                <a:cubicBezTo>
                  <a:pt x="145125" y="22151"/>
                  <a:pt x="155058" y="32085"/>
                  <a:pt x="155058" y="44302"/>
                </a:cubicBezTo>
                <a:lnTo>
                  <a:pt x="155058" y="143983"/>
                </a:lnTo>
                <a:cubicBezTo>
                  <a:pt x="155058" y="156200"/>
                  <a:pt x="145125" y="166134"/>
                  <a:pt x="132907" y="166134"/>
                </a:cubicBezTo>
                <a:lnTo>
                  <a:pt x="22151" y="166134"/>
                </a:lnTo>
                <a:cubicBezTo>
                  <a:pt x="9933" y="166134"/>
                  <a:pt x="0" y="156200"/>
                  <a:pt x="0" y="143983"/>
                </a:cubicBezTo>
                <a:lnTo>
                  <a:pt x="0" y="44302"/>
                </a:lnTo>
                <a:cubicBezTo>
                  <a:pt x="0" y="32085"/>
                  <a:pt x="9933" y="22151"/>
                  <a:pt x="22151" y="22151"/>
                </a:cubicBezTo>
                <a:lnTo>
                  <a:pt x="33227" y="22151"/>
                </a:lnTo>
                <a:lnTo>
                  <a:pt x="33227" y="11076"/>
                </a:lnTo>
                <a:cubicBezTo>
                  <a:pt x="33227" y="4949"/>
                  <a:pt x="38176" y="0"/>
                  <a:pt x="44302" y="0"/>
                </a:cubicBezTo>
                <a:close/>
                <a:moveTo>
                  <a:pt x="106741" y="79156"/>
                </a:moveTo>
                <a:cubicBezTo>
                  <a:pt x="109164" y="75279"/>
                  <a:pt x="107987" y="70157"/>
                  <a:pt x="104110" y="67699"/>
                </a:cubicBezTo>
                <a:cubicBezTo>
                  <a:pt x="100234" y="65242"/>
                  <a:pt x="95112" y="66453"/>
                  <a:pt x="92654" y="70330"/>
                </a:cubicBezTo>
                <a:lnTo>
                  <a:pt x="71403" y="104353"/>
                </a:lnTo>
                <a:lnTo>
                  <a:pt x="62058" y="91893"/>
                </a:lnTo>
                <a:cubicBezTo>
                  <a:pt x="59289" y="88224"/>
                  <a:pt x="54097" y="87462"/>
                  <a:pt x="50429" y="90231"/>
                </a:cubicBezTo>
                <a:cubicBezTo>
                  <a:pt x="46760" y="93000"/>
                  <a:pt x="45998" y="98192"/>
                  <a:pt x="48767" y="101861"/>
                </a:cubicBezTo>
                <a:lnTo>
                  <a:pt x="65381" y="124012"/>
                </a:lnTo>
                <a:cubicBezTo>
                  <a:pt x="67007" y="126192"/>
                  <a:pt x="69638" y="127438"/>
                  <a:pt x="72372" y="127335"/>
                </a:cubicBezTo>
                <a:cubicBezTo>
                  <a:pt x="75106" y="127231"/>
                  <a:pt x="77598" y="125777"/>
                  <a:pt x="79052" y="123424"/>
                </a:cubicBezTo>
                <a:lnTo>
                  <a:pt x="106741" y="79121"/>
                </a:lnTo>
                <a:close/>
              </a:path>
            </a:pathLst>
          </a:custGeom>
          <a:solidFill>
            <a:srgbClr val="3A4D39"/>
          </a:solidFill>
          <a:ln/>
        </p:spPr>
      </p:sp>
      <p:sp>
        <p:nvSpPr>
          <p:cNvPr id="9" name="Text 7"/>
          <p:cNvSpPr/>
          <p:nvPr/>
        </p:nvSpPr>
        <p:spPr>
          <a:xfrm>
            <a:off x="717698" y="1134140"/>
            <a:ext cx="5254256" cy="248093"/>
          </a:xfrm>
          <a:prstGeom prst="rect">
            <a:avLst/>
          </a:prstGeom>
          <a:noFill/>
          <a:ln/>
        </p:spPr>
        <p:txBody>
          <a:bodyPr wrap="square" lIns="0" tIns="0" rIns="0" bIns="0" rtlCol="0" anchor="ctr"/>
          <a:lstStyle/>
          <a:p>
            <a:pPr>
              <a:lnSpc>
                <a:spcPct val="120000"/>
              </a:lnSpc>
            </a:pPr>
            <a:r>
              <a:rPr lang="en-US" sz="1395" b="1" dirty="0">
                <a:solidFill>
                  <a:srgbClr val="3A4D39"/>
                </a:solidFill>
                <a:latin typeface="Unna" pitchFamily="34" charset="0"/>
                <a:ea typeface="Unna" pitchFamily="34" charset="-122"/>
                <a:cs typeface="Unna" pitchFamily="34" charset="-120"/>
              </a:rPr>
              <a:t>Fixed Term Duration</a:t>
            </a:r>
            <a:endParaRPr lang="en-US" sz="1600" dirty="0"/>
          </a:p>
        </p:txBody>
      </p:sp>
      <p:sp>
        <p:nvSpPr>
          <p:cNvPr id="10" name="Shape 8"/>
          <p:cNvSpPr/>
          <p:nvPr/>
        </p:nvSpPr>
        <p:spPr>
          <a:xfrm>
            <a:off x="496186" y="1488558"/>
            <a:ext cx="5387163" cy="921488"/>
          </a:xfrm>
          <a:custGeom>
            <a:avLst/>
            <a:gdLst/>
            <a:ahLst/>
            <a:cxnLst/>
            <a:rect l="l" t="t" r="r" b="b"/>
            <a:pathLst>
              <a:path w="5387163" h="921488">
                <a:moveTo>
                  <a:pt x="70881" y="0"/>
                </a:moveTo>
                <a:lnTo>
                  <a:pt x="5316282" y="0"/>
                </a:lnTo>
                <a:cubicBezTo>
                  <a:pt x="5355428" y="0"/>
                  <a:pt x="5387163" y="31734"/>
                  <a:pt x="5387163" y="70881"/>
                </a:cubicBezTo>
                <a:lnTo>
                  <a:pt x="5387163" y="850607"/>
                </a:lnTo>
                <a:cubicBezTo>
                  <a:pt x="5387163" y="889754"/>
                  <a:pt x="5355428" y="921488"/>
                  <a:pt x="5316282" y="921488"/>
                </a:cubicBezTo>
                <a:lnTo>
                  <a:pt x="70881" y="921488"/>
                </a:lnTo>
                <a:cubicBezTo>
                  <a:pt x="31761" y="921488"/>
                  <a:pt x="0" y="889728"/>
                  <a:pt x="0" y="850607"/>
                </a:cubicBezTo>
                <a:lnTo>
                  <a:pt x="0" y="70881"/>
                </a:lnTo>
                <a:cubicBezTo>
                  <a:pt x="0" y="31761"/>
                  <a:pt x="31761" y="0"/>
                  <a:pt x="70881" y="0"/>
                </a:cubicBezTo>
                <a:close/>
              </a:path>
            </a:pathLst>
          </a:custGeom>
          <a:solidFill>
            <a:srgbClr val="F8F6F2"/>
          </a:solidFill>
          <a:ln/>
        </p:spPr>
      </p:sp>
      <p:sp>
        <p:nvSpPr>
          <p:cNvPr id="11" name="Text 9"/>
          <p:cNvSpPr/>
          <p:nvPr/>
        </p:nvSpPr>
        <p:spPr>
          <a:xfrm>
            <a:off x="602512" y="1594884"/>
            <a:ext cx="5245395" cy="212651"/>
          </a:xfrm>
          <a:prstGeom prst="rect">
            <a:avLst/>
          </a:prstGeom>
          <a:noFill/>
          <a:ln/>
        </p:spPr>
        <p:txBody>
          <a:bodyPr wrap="square" lIns="0" tIns="0" rIns="0" bIns="0" rtlCol="0" anchor="ctr"/>
          <a:lstStyle/>
          <a:p>
            <a:pPr>
              <a:lnSpc>
                <a:spcPct val="130000"/>
              </a:lnSpc>
            </a:pPr>
            <a:r>
              <a:rPr lang="en-US" sz="1116" b="1" dirty="0">
                <a:solidFill>
                  <a:srgbClr val="3A4D39"/>
                </a:solidFill>
                <a:latin typeface="Unna" pitchFamily="34" charset="0"/>
                <a:ea typeface="Unna" pitchFamily="34" charset="-122"/>
                <a:cs typeface="Unna" pitchFamily="34" charset="-120"/>
              </a:rPr>
              <a:t>8-Month Growing Season</a:t>
            </a:r>
            <a:endParaRPr lang="en-US" sz="1600" dirty="0"/>
          </a:p>
        </p:txBody>
      </p:sp>
      <p:sp>
        <p:nvSpPr>
          <p:cNvPr id="12" name="Text 10"/>
          <p:cNvSpPr/>
          <p:nvPr/>
        </p:nvSpPr>
        <p:spPr>
          <a:xfrm>
            <a:off x="602512" y="1878419"/>
            <a:ext cx="5245395" cy="425302"/>
          </a:xfrm>
          <a:prstGeom prst="rect">
            <a:avLst/>
          </a:prstGeom>
          <a:noFill/>
          <a:ln/>
        </p:spPr>
        <p:txBody>
          <a:bodyPr wrap="square" lIns="0" tIns="0" rIns="0" bIns="0" rtlCol="0" anchor="ctr"/>
          <a:lstStyle/>
          <a:p>
            <a:pPr>
              <a:lnSpc>
                <a:spcPct val="130000"/>
              </a:lnSpc>
            </a:pPr>
            <a:r>
              <a:rPr lang="en-US" sz="1116" dirty="0">
                <a:solidFill>
                  <a:srgbClr val="2C2C2C"/>
                </a:solidFill>
                <a:latin typeface="Quattrocento Sans" pitchFamily="34" charset="0"/>
                <a:ea typeface="Quattrocento Sans" pitchFamily="34" charset="-122"/>
                <a:cs typeface="Quattrocento Sans" pitchFamily="34" charset="-120"/>
              </a:rPr>
              <a:t>Agreement covers one complete agricultural cycle from planting through harvest to plant termination.</a:t>
            </a:r>
            <a:endParaRPr lang="en-US" sz="1600" dirty="0"/>
          </a:p>
        </p:txBody>
      </p:sp>
      <p:sp>
        <p:nvSpPr>
          <p:cNvPr id="13" name="Shape 11"/>
          <p:cNvSpPr/>
          <p:nvPr/>
        </p:nvSpPr>
        <p:spPr>
          <a:xfrm>
            <a:off x="496186" y="2516372"/>
            <a:ext cx="5387163" cy="1701209"/>
          </a:xfrm>
          <a:custGeom>
            <a:avLst/>
            <a:gdLst/>
            <a:ahLst/>
            <a:cxnLst/>
            <a:rect l="l" t="t" r="r" b="b"/>
            <a:pathLst>
              <a:path w="5387163" h="1701209">
                <a:moveTo>
                  <a:pt x="70889" y="0"/>
                </a:moveTo>
                <a:lnTo>
                  <a:pt x="5316273" y="0"/>
                </a:lnTo>
                <a:cubicBezTo>
                  <a:pt x="5355425" y="0"/>
                  <a:pt x="5387163" y="31738"/>
                  <a:pt x="5387163" y="70889"/>
                </a:cubicBezTo>
                <a:lnTo>
                  <a:pt x="5387163" y="1630320"/>
                </a:lnTo>
                <a:cubicBezTo>
                  <a:pt x="5387163" y="1669471"/>
                  <a:pt x="5355425" y="1701209"/>
                  <a:pt x="5316273" y="1701209"/>
                </a:cubicBezTo>
                <a:lnTo>
                  <a:pt x="70889" y="1701209"/>
                </a:lnTo>
                <a:cubicBezTo>
                  <a:pt x="31738" y="1701209"/>
                  <a:pt x="0" y="1669471"/>
                  <a:pt x="0" y="1630320"/>
                </a:cubicBezTo>
                <a:lnTo>
                  <a:pt x="0" y="70889"/>
                </a:lnTo>
                <a:cubicBezTo>
                  <a:pt x="0" y="31764"/>
                  <a:pt x="31764" y="0"/>
                  <a:pt x="70889" y="0"/>
                </a:cubicBezTo>
                <a:close/>
              </a:path>
            </a:pathLst>
          </a:custGeom>
          <a:solidFill>
            <a:srgbClr val="F8F6F2"/>
          </a:solidFill>
          <a:ln/>
        </p:spPr>
      </p:sp>
      <p:sp>
        <p:nvSpPr>
          <p:cNvPr id="14" name="Text 12"/>
          <p:cNvSpPr/>
          <p:nvPr/>
        </p:nvSpPr>
        <p:spPr>
          <a:xfrm>
            <a:off x="602512" y="2622698"/>
            <a:ext cx="5245395" cy="212651"/>
          </a:xfrm>
          <a:prstGeom prst="rect">
            <a:avLst/>
          </a:prstGeom>
          <a:noFill/>
          <a:ln/>
        </p:spPr>
        <p:txBody>
          <a:bodyPr wrap="square" lIns="0" tIns="0" rIns="0" bIns="0" rtlCol="0" anchor="ctr"/>
          <a:lstStyle/>
          <a:p>
            <a:pPr>
              <a:lnSpc>
                <a:spcPct val="130000"/>
              </a:lnSpc>
            </a:pPr>
            <a:r>
              <a:rPr lang="en-US" sz="1116" b="1" dirty="0">
                <a:solidFill>
                  <a:srgbClr val="3A4D39"/>
                </a:solidFill>
                <a:latin typeface="Unna" pitchFamily="34" charset="0"/>
                <a:ea typeface="Unna" pitchFamily="34" charset="-122"/>
                <a:cs typeface="Unna" pitchFamily="34" charset="-120"/>
              </a:rPr>
              <a:t>Automatic Termination Events</a:t>
            </a:r>
            <a:endParaRPr lang="en-US" sz="1600" dirty="0"/>
          </a:p>
        </p:txBody>
      </p:sp>
      <p:sp>
        <p:nvSpPr>
          <p:cNvPr id="15" name="Text 13"/>
          <p:cNvSpPr/>
          <p:nvPr/>
        </p:nvSpPr>
        <p:spPr>
          <a:xfrm>
            <a:off x="602512" y="2906233"/>
            <a:ext cx="5245395" cy="212651"/>
          </a:xfrm>
          <a:prstGeom prst="rect">
            <a:avLst/>
          </a:prstGeom>
          <a:noFill/>
          <a:ln/>
        </p:spPr>
        <p:txBody>
          <a:bodyPr wrap="square" lIns="0" tIns="0" rIns="0" bIns="0" rtlCol="0" anchor="ctr"/>
          <a:lstStyle/>
          <a:p>
            <a:pPr>
              <a:lnSpc>
                <a:spcPct val="130000"/>
              </a:lnSpc>
            </a:pPr>
            <a:r>
              <a:rPr lang="en-US" sz="1116" dirty="0">
                <a:solidFill>
                  <a:srgbClr val="2C2C2C"/>
                </a:solidFill>
                <a:latin typeface="Quattrocento Sans" pitchFamily="34" charset="0"/>
                <a:ea typeface="Quattrocento Sans" pitchFamily="34" charset="-122"/>
                <a:cs typeface="Quattrocento Sans" pitchFamily="34" charset="-120"/>
              </a:rPr>
              <a:t>✓ Completion of harvest period</a:t>
            </a:r>
            <a:endParaRPr lang="en-US" sz="1600" dirty="0"/>
          </a:p>
        </p:txBody>
      </p:sp>
      <p:sp>
        <p:nvSpPr>
          <p:cNvPr id="16" name="Text 14"/>
          <p:cNvSpPr/>
          <p:nvPr/>
        </p:nvSpPr>
        <p:spPr>
          <a:xfrm>
            <a:off x="602512" y="3154326"/>
            <a:ext cx="5245395" cy="212651"/>
          </a:xfrm>
          <a:prstGeom prst="rect">
            <a:avLst/>
          </a:prstGeom>
          <a:noFill/>
          <a:ln/>
        </p:spPr>
        <p:txBody>
          <a:bodyPr wrap="square" lIns="0" tIns="0" rIns="0" bIns="0" rtlCol="0" anchor="ctr"/>
          <a:lstStyle/>
          <a:p>
            <a:pPr>
              <a:lnSpc>
                <a:spcPct val="130000"/>
              </a:lnSpc>
            </a:pPr>
            <a:r>
              <a:rPr lang="en-US" sz="1116" dirty="0">
                <a:solidFill>
                  <a:srgbClr val="2C2C2C"/>
                </a:solidFill>
                <a:latin typeface="Quattrocento Sans" pitchFamily="34" charset="0"/>
                <a:ea typeface="Quattrocento Sans" pitchFamily="34" charset="-122"/>
                <a:cs typeface="Quattrocento Sans" pitchFamily="34" charset="-120"/>
              </a:rPr>
              <a:t>✓ Sale of all marketable produce</a:t>
            </a:r>
            <a:endParaRPr lang="en-US" sz="1600" dirty="0"/>
          </a:p>
        </p:txBody>
      </p:sp>
      <p:sp>
        <p:nvSpPr>
          <p:cNvPr id="17" name="Text 15"/>
          <p:cNvSpPr/>
          <p:nvPr/>
        </p:nvSpPr>
        <p:spPr>
          <a:xfrm>
            <a:off x="602512" y="3402419"/>
            <a:ext cx="5245395" cy="212651"/>
          </a:xfrm>
          <a:prstGeom prst="rect">
            <a:avLst/>
          </a:prstGeom>
          <a:noFill/>
          <a:ln/>
        </p:spPr>
        <p:txBody>
          <a:bodyPr wrap="square" lIns="0" tIns="0" rIns="0" bIns="0" rtlCol="0" anchor="ctr"/>
          <a:lstStyle/>
          <a:p>
            <a:pPr>
              <a:lnSpc>
                <a:spcPct val="130000"/>
              </a:lnSpc>
            </a:pPr>
            <a:r>
              <a:rPr lang="en-US" sz="1116" dirty="0">
                <a:solidFill>
                  <a:srgbClr val="2C2C2C"/>
                </a:solidFill>
                <a:latin typeface="Quattrocento Sans" pitchFamily="34" charset="0"/>
                <a:ea typeface="Quattrocento Sans" pitchFamily="34" charset="-122"/>
                <a:cs typeface="Quattrocento Sans" pitchFamily="34" charset="-120"/>
              </a:rPr>
              <a:t>✓ Final distribution of net proceeds</a:t>
            </a:r>
            <a:endParaRPr lang="en-US" sz="1600" dirty="0"/>
          </a:p>
        </p:txBody>
      </p:sp>
      <p:sp>
        <p:nvSpPr>
          <p:cNvPr id="18" name="Text 16"/>
          <p:cNvSpPr/>
          <p:nvPr/>
        </p:nvSpPr>
        <p:spPr>
          <a:xfrm>
            <a:off x="602512" y="3650512"/>
            <a:ext cx="5245395" cy="212651"/>
          </a:xfrm>
          <a:prstGeom prst="rect">
            <a:avLst/>
          </a:prstGeom>
          <a:noFill/>
          <a:ln/>
        </p:spPr>
        <p:txBody>
          <a:bodyPr wrap="square" lIns="0" tIns="0" rIns="0" bIns="0" rtlCol="0" anchor="ctr"/>
          <a:lstStyle/>
          <a:p>
            <a:pPr>
              <a:lnSpc>
                <a:spcPct val="130000"/>
              </a:lnSpc>
            </a:pPr>
            <a:r>
              <a:rPr lang="en-US" sz="1116" dirty="0">
                <a:solidFill>
                  <a:srgbClr val="2C2C2C"/>
                </a:solidFill>
                <a:latin typeface="Quattrocento Sans" pitchFamily="34" charset="0"/>
                <a:ea typeface="Quattrocento Sans" pitchFamily="34" charset="-122"/>
                <a:cs typeface="Quattrocento Sans" pitchFamily="34" charset="-120"/>
              </a:rPr>
              <a:t>✓ Termination of all plants</a:t>
            </a:r>
            <a:endParaRPr lang="en-US" sz="1600" dirty="0"/>
          </a:p>
        </p:txBody>
      </p:sp>
      <p:sp>
        <p:nvSpPr>
          <p:cNvPr id="19" name="Text 17"/>
          <p:cNvSpPr/>
          <p:nvPr/>
        </p:nvSpPr>
        <p:spPr>
          <a:xfrm>
            <a:off x="602512" y="3898605"/>
            <a:ext cx="5245395" cy="212651"/>
          </a:xfrm>
          <a:prstGeom prst="rect">
            <a:avLst/>
          </a:prstGeom>
          <a:noFill/>
          <a:ln/>
        </p:spPr>
        <p:txBody>
          <a:bodyPr wrap="square" lIns="0" tIns="0" rIns="0" bIns="0" rtlCol="0" anchor="ctr"/>
          <a:lstStyle/>
          <a:p>
            <a:pPr>
              <a:lnSpc>
                <a:spcPct val="130000"/>
              </a:lnSpc>
            </a:pPr>
            <a:r>
              <a:rPr lang="en-US" sz="1116" dirty="0">
                <a:solidFill>
                  <a:srgbClr val="2C2C2C"/>
                </a:solidFill>
                <a:latin typeface="Quattrocento Sans" pitchFamily="34" charset="0"/>
                <a:ea typeface="Quattrocento Sans" pitchFamily="34" charset="-122"/>
                <a:cs typeface="Quattrocento Sans" pitchFamily="34" charset="-120"/>
              </a:rPr>
              <a:t>✓ Settlement of all obligations</a:t>
            </a:r>
            <a:endParaRPr lang="en-US" sz="1600" dirty="0"/>
          </a:p>
        </p:txBody>
      </p:sp>
      <p:sp>
        <p:nvSpPr>
          <p:cNvPr id="20" name="Shape 18"/>
          <p:cNvSpPr/>
          <p:nvPr/>
        </p:nvSpPr>
        <p:spPr>
          <a:xfrm>
            <a:off x="6166884" y="974651"/>
            <a:ext cx="5670698" cy="3384698"/>
          </a:xfrm>
          <a:custGeom>
            <a:avLst/>
            <a:gdLst/>
            <a:ahLst/>
            <a:cxnLst/>
            <a:rect l="l" t="t" r="r" b="b"/>
            <a:pathLst>
              <a:path w="5670698" h="3384698">
                <a:moveTo>
                  <a:pt x="35442" y="0"/>
                </a:moveTo>
                <a:lnTo>
                  <a:pt x="5635256" y="0"/>
                </a:lnTo>
                <a:cubicBezTo>
                  <a:pt x="5654830" y="0"/>
                  <a:pt x="5670698" y="15868"/>
                  <a:pt x="5670698" y="35442"/>
                </a:cubicBezTo>
                <a:lnTo>
                  <a:pt x="5670698" y="3313822"/>
                </a:lnTo>
                <a:cubicBezTo>
                  <a:pt x="5670698" y="3352966"/>
                  <a:pt x="5638966" y="3384698"/>
                  <a:pt x="5599822" y="3384698"/>
                </a:cubicBezTo>
                <a:lnTo>
                  <a:pt x="70876" y="3384698"/>
                </a:lnTo>
                <a:cubicBezTo>
                  <a:pt x="31732" y="3384698"/>
                  <a:pt x="0" y="3352966"/>
                  <a:pt x="0" y="3313822"/>
                </a:cubicBezTo>
                <a:lnTo>
                  <a:pt x="0" y="35442"/>
                </a:lnTo>
                <a:cubicBezTo>
                  <a:pt x="0" y="15881"/>
                  <a:pt x="15881" y="0"/>
                  <a:pt x="35442" y="0"/>
                </a:cubicBezTo>
                <a:close/>
              </a:path>
            </a:pathLst>
          </a:custGeom>
          <a:solidFill>
            <a:srgbClr val="FFFFFF"/>
          </a:solidFill>
          <a:ln/>
          <a:effectLst>
            <a:outerShdw sx="100000" sy="100000" kx="0" ky="0" algn="bl" rotWithShape="0" blurRad="26581" dist="8860" dir="5400000">
              <a:srgbClr val="000000">
                <a:alpha val="10196"/>
              </a:srgbClr>
            </a:outerShdw>
          </a:effectLst>
        </p:spPr>
      </p:sp>
      <p:sp>
        <p:nvSpPr>
          <p:cNvPr id="21" name="Shape 19"/>
          <p:cNvSpPr/>
          <p:nvPr/>
        </p:nvSpPr>
        <p:spPr>
          <a:xfrm>
            <a:off x="6166884" y="974651"/>
            <a:ext cx="5670698" cy="35442"/>
          </a:xfrm>
          <a:custGeom>
            <a:avLst/>
            <a:gdLst/>
            <a:ahLst/>
            <a:cxnLst/>
            <a:rect l="l" t="t" r="r" b="b"/>
            <a:pathLst>
              <a:path w="5670698" h="35442">
                <a:moveTo>
                  <a:pt x="35442" y="0"/>
                </a:moveTo>
                <a:lnTo>
                  <a:pt x="5635256" y="0"/>
                </a:lnTo>
                <a:cubicBezTo>
                  <a:pt x="5654830" y="0"/>
                  <a:pt x="5670698" y="15868"/>
                  <a:pt x="5670698" y="35442"/>
                </a:cubicBezTo>
                <a:lnTo>
                  <a:pt x="5670698" y="35442"/>
                </a:lnTo>
                <a:lnTo>
                  <a:pt x="0" y="35442"/>
                </a:lnTo>
                <a:lnTo>
                  <a:pt x="0" y="35442"/>
                </a:lnTo>
                <a:cubicBezTo>
                  <a:pt x="0" y="15881"/>
                  <a:pt x="15881" y="0"/>
                  <a:pt x="35442" y="0"/>
                </a:cubicBezTo>
                <a:close/>
              </a:path>
            </a:pathLst>
          </a:custGeom>
          <a:solidFill>
            <a:srgbClr val="7A6250"/>
          </a:solidFill>
          <a:ln/>
        </p:spPr>
      </p:sp>
      <p:sp>
        <p:nvSpPr>
          <p:cNvPr id="22" name="Shape 20"/>
          <p:cNvSpPr/>
          <p:nvPr/>
        </p:nvSpPr>
        <p:spPr>
          <a:xfrm>
            <a:off x="6341878" y="1169581"/>
            <a:ext cx="155058" cy="177209"/>
          </a:xfrm>
          <a:custGeom>
            <a:avLst/>
            <a:gdLst/>
            <a:ahLst/>
            <a:cxnLst/>
            <a:rect l="l" t="t" r="r" b="b"/>
            <a:pathLst>
              <a:path w="155058" h="177209">
                <a:moveTo>
                  <a:pt x="99680" y="22151"/>
                </a:moveTo>
                <a:lnTo>
                  <a:pt x="121831" y="22151"/>
                </a:lnTo>
                <a:lnTo>
                  <a:pt x="121831" y="166134"/>
                </a:lnTo>
                <a:cubicBezTo>
                  <a:pt x="121831" y="172260"/>
                  <a:pt x="126781" y="177209"/>
                  <a:pt x="132907" y="177209"/>
                </a:cubicBezTo>
                <a:lnTo>
                  <a:pt x="143983" y="177209"/>
                </a:lnTo>
                <a:cubicBezTo>
                  <a:pt x="150109" y="177209"/>
                  <a:pt x="155058" y="172260"/>
                  <a:pt x="155058" y="166134"/>
                </a:cubicBezTo>
                <a:cubicBezTo>
                  <a:pt x="155058" y="160008"/>
                  <a:pt x="150109" y="155058"/>
                  <a:pt x="143983" y="155058"/>
                </a:cubicBezTo>
                <a:lnTo>
                  <a:pt x="143983" y="22151"/>
                </a:lnTo>
                <a:cubicBezTo>
                  <a:pt x="143983" y="9933"/>
                  <a:pt x="134049" y="0"/>
                  <a:pt x="121831" y="0"/>
                </a:cubicBezTo>
                <a:lnTo>
                  <a:pt x="88605" y="0"/>
                </a:lnTo>
                <a:lnTo>
                  <a:pt x="88605" y="0"/>
                </a:lnTo>
                <a:lnTo>
                  <a:pt x="33227" y="0"/>
                </a:lnTo>
                <a:cubicBezTo>
                  <a:pt x="21009" y="0"/>
                  <a:pt x="11076" y="9933"/>
                  <a:pt x="11076" y="22151"/>
                </a:cubicBezTo>
                <a:lnTo>
                  <a:pt x="11076" y="155058"/>
                </a:lnTo>
                <a:cubicBezTo>
                  <a:pt x="4949" y="155058"/>
                  <a:pt x="0" y="160008"/>
                  <a:pt x="0" y="166134"/>
                </a:cubicBezTo>
                <a:cubicBezTo>
                  <a:pt x="0" y="172260"/>
                  <a:pt x="4949" y="177209"/>
                  <a:pt x="11076" y="177209"/>
                </a:cubicBezTo>
                <a:lnTo>
                  <a:pt x="88605" y="177209"/>
                </a:lnTo>
                <a:cubicBezTo>
                  <a:pt x="94731" y="177209"/>
                  <a:pt x="99680" y="172260"/>
                  <a:pt x="99680" y="166134"/>
                </a:cubicBezTo>
                <a:lnTo>
                  <a:pt x="99680" y="22151"/>
                </a:lnTo>
                <a:close/>
                <a:moveTo>
                  <a:pt x="55378" y="88605"/>
                </a:moveTo>
                <a:cubicBezTo>
                  <a:pt x="55378" y="82492"/>
                  <a:pt x="60341" y="77529"/>
                  <a:pt x="66453" y="77529"/>
                </a:cubicBezTo>
                <a:cubicBezTo>
                  <a:pt x="72566" y="77529"/>
                  <a:pt x="77529" y="82492"/>
                  <a:pt x="77529" y="88605"/>
                </a:cubicBezTo>
                <a:cubicBezTo>
                  <a:pt x="77529" y="94717"/>
                  <a:pt x="72566" y="99680"/>
                  <a:pt x="66453" y="99680"/>
                </a:cubicBezTo>
                <a:cubicBezTo>
                  <a:pt x="60341" y="99680"/>
                  <a:pt x="55378" y="94717"/>
                  <a:pt x="55378" y="88605"/>
                </a:cubicBezTo>
                <a:close/>
              </a:path>
            </a:pathLst>
          </a:custGeom>
          <a:solidFill>
            <a:srgbClr val="7A6250"/>
          </a:solidFill>
          <a:ln/>
        </p:spPr>
      </p:sp>
      <p:sp>
        <p:nvSpPr>
          <p:cNvPr id="23" name="Text 21"/>
          <p:cNvSpPr/>
          <p:nvPr/>
        </p:nvSpPr>
        <p:spPr>
          <a:xfrm>
            <a:off x="6530163" y="1134140"/>
            <a:ext cx="5254256" cy="248093"/>
          </a:xfrm>
          <a:prstGeom prst="rect">
            <a:avLst/>
          </a:prstGeom>
          <a:noFill/>
          <a:ln/>
        </p:spPr>
        <p:txBody>
          <a:bodyPr wrap="square" lIns="0" tIns="0" rIns="0" bIns="0" rtlCol="0" anchor="ctr"/>
          <a:lstStyle/>
          <a:p>
            <a:pPr>
              <a:lnSpc>
                <a:spcPct val="120000"/>
              </a:lnSpc>
            </a:pPr>
            <a:r>
              <a:rPr lang="en-US" sz="1395" b="1" dirty="0">
                <a:solidFill>
                  <a:srgbClr val="3A4D39"/>
                </a:solidFill>
                <a:latin typeface="Unna" pitchFamily="34" charset="0"/>
                <a:ea typeface="Unna" pitchFamily="34" charset="-122"/>
                <a:cs typeface="Unna" pitchFamily="34" charset="-120"/>
              </a:rPr>
              <a:t>Early Termination Provisions</a:t>
            </a:r>
            <a:endParaRPr lang="en-US" sz="1600" dirty="0"/>
          </a:p>
        </p:txBody>
      </p:sp>
      <p:sp>
        <p:nvSpPr>
          <p:cNvPr id="24" name="Shape 22"/>
          <p:cNvSpPr/>
          <p:nvPr/>
        </p:nvSpPr>
        <p:spPr>
          <a:xfrm>
            <a:off x="6326372" y="1488558"/>
            <a:ext cx="5369442" cy="815163"/>
          </a:xfrm>
          <a:custGeom>
            <a:avLst/>
            <a:gdLst/>
            <a:ahLst/>
            <a:cxnLst/>
            <a:rect l="l" t="t" r="r" b="b"/>
            <a:pathLst>
              <a:path w="5369442" h="815163">
                <a:moveTo>
                  <a:pt x="35442" y="0"/>
                </a:moveTo>
                <a:lnTo>
                  <a:pt x="5298555" y="0"/>
                </a:lnTo>
                <a:cubicBezTo>
                  <a:pt x="5337705" y="0"/>
                  <a:pt x="5369442" y="31737"/>
                  <a:pt x="5369442" y="70887"/>
                </a:cubicBezTo>
                <a:lnTo>
                  <a:pt x="5369442" y="744276"/>
                </a:lnTo>
                <a:cubicBezTo>
                  <a:pt x="5369442" y="783426"/>
                  <a:pt x="5337705" y="815163"/>
                  <a:pt x="5298555" y="815163"/>
                </a:cubicBezTo>
                <a:lnTo>
                  <a:pt x="35442" y="815163"/>
                </a:lnTo>
                <a:cubicBezTo>
                  <a:pt x="15868" y="815163"/>
                  <a:pt x="0" y="799295"/>
                  <a:pt x="0" y="779721"/>
                </a:cubicBezTo>
                <a:lnTo>
                  <a:pt x="0" y="35442"/>
                </a:lnTo>
                <a:cubicBezTo>
                  <a:pt x="0" y="15881"/>
                  <a:pt x="15881" y="0"/>
                  <a:pt x="35442" y="0"/>
                </a:cubicBezTo>
                <a:close/>
              </a:path>
            </a:pathLst>
          </a:custGeom>
          <a:solidFill>
            <a:srgbClr val="F8F6F2"/>
          </a:solidFill>
          <a:ln/>
        </p:spPr>
      </p:sp>
      <p:sp>
        <p:nvSpPr>
          <p:cNvPr id="25" name="Shape 23"/>
          <p:cNvSpPr/>
          <p:nvPr/>
        </p:nvSpPr>
        <p:spPr>
          <a:xfrm>
            <a:off x="6326372" y="1488558"/>
            <a:ext cx="35442" cy="815163"/>
          </a:xfrm>
          <a:custGeom>
            <a:avLst/>
            <a:gdLst/>
            <a:ahLst/>
            <a:cxnLst/>
            <a:rect l="l" t="t" r="r" b="b"/>
            <a:pathLst>
              <a:path w="35442" h="815163">
                <a:moveTo>
                  <a:pt x="35442" y="0"/>
                </a:moveTo>
                <a:lnTo>
                  <a:pt x="35442" y="0"/>
                </a:lnTo>
                <a:lnTo>
                  <a:pt x="35442" y="815163"/>
                </a:lnTo>
                <a:lnTo>
                  <a:pt x="35442" y="815163"/>
                </a:lnTo>
                <a:cubicBezTo>
                  <a:pt x="15868" y="815163"/>
                  <a:pt x="0" y="799295"/>
                  <a:pt x="0" y="779721"/>
                </a:cubicBezTo>
                <a:lnTo>
                  <a:pt x="0" y="35442"/>
                </a:lnTo>
                <a:cubicBezTo>
                  <a:pt x="0" y="15881"/>
                  <a:pt x="15881" y="0"/>
                  <a:pt x="35442" y="0"/>
                </a:cubicBezTo>
                <a:close/>
              </a:path>
            </a:pathLst>
          </a:custGeom>
          <a:solidFill>
            <a:srgbClr val="3A4D39"/>
          </a:solidFill>
          <a:ln/>
        </p:spPr>
      </p:sp>
      <p:sp>
        <p:nvSpPr>
          <p:cNvPr id="26" name="Text 24"/>
          <p:cNvSpPr/>
          <p:nvPr/>
        </p:nvSpPr>
        <p:spPr>
          <a:xfrm>
            <a:off x="6414977" y="1559442"/>
            <a:ext cx="5280837" cy="212651"/>
          </a:xfrm>
          <a:prstGeom prst="rect">
            <a:avLst/>
          </a:prstGeom>
          <a:noFill/>
          <a:ln/>
        </p:spPr>
        <p:txBody>
          <a:bodyPr wrap="square" lIns="0" tIns="0" rIns="0" bIns="0" rtlCol="0" anchor="ctr"/>
          <a:lstStyle/>
          <a:p>
            <a:pPr>
              <a:lnSpc>
                <a:spcPct val="130000"/>
              </a:lnSpc>
            </a:pPr>
            <a:r>
              <a:rPr lang="en-US" sz="1116" b="1" dirty="0">
                <a:solidFill>
                  <a:srgbClr val="3A4D39"/>
                </a:solidFill>
                <a:latin typeface="Unna" pitchFamily="34" charset="0"/>
                <a:ea typeface="Unna" pitchFamily="34" charset="-122"/>
                <a:cs typeface="Unna" pitchFamily="34" charset="-120"/>
              </a:rPr>
              <a:t>Material Breach</a:t>
            </a:r>
            <a:endParaRPr lang="en-US" sz="1600" dirty="0"/>
          </a:p>
        </p:txBody>
      </p:sp>
      <p:sp>
        <p:nvSpPr>
          <p:cNvPr id="27" name="Text 25"/>
          <p:cNvSpPr/>
          <p:nvPr/>
        </p:nvSpPr>
        <p:spPr>
          <a:xfrm>
            <a:off x="6414977" y="1807535"/>
            <a:ext cx="5280837" cy="425302"/>
          </a:xfrm>
          <a:prstGeom prst="rect">
            <a:avLst/>
          </a:prstGeom>
          <a:noFill/>
          <a:ln/>
        </p:spPr>
        <p:txBody>
          <a:bodyPr wrap="square" lIns="0" tIns="0" rIns="0" bIns="0" rtlCol="0" anchor="ctr"/>
          <a:lstStyle/>
          <a:p>
            <a:pPr>
              <a:lnSpc>
                <a:spcPct val="130000"/>
              </a:lnSpc>
            </a:pPr>
            <a:r>
              <a:rPr lang="en-US" sz="1116" dirty="0">
                <a:solidFill>
                  <a:srgbClr val="2C2C2C"/>
                </a:solidFill>
                <a:latin typeface="Quattrocento Sans" pitchFamily="34" charset="0"/>
                <a:ea typeface="Quattrocento Sans" pitchFamily="34" charset="-122"/>
                <a:cs typeface="Quattrocento Sans" pitchFamily="34" charset="-120"/>
              </a:rPr>
              <a:t>Partner may terminate if another party materially breaches agreement and fails to cure within 30 days of written notice.</a:t>
            </a:r>
            <a:endParaRPr lang="en-US" sz="1600" dirty="0"/>
          </a:p>
        </p:txBody>
      </p:sp>
      <p:sp>
        <p:nvSpPr>
          <p:cNvPr id="28" name="Shape 26"/>
          <p:cNvSpPr/>
          <p:nvPr/>
        </p:nvSpPr>
        <p:spPr>
          <a:xfrm>
            <a:off x="6326372" y="2374605"/>
            <a:ext cx="5369442" cy="815163"/>
          </a:xfrm>
          <a:custGeom>
            <a:avLst/>
            <a:gdLst/>
            <a:ahLst/>
            <a:cxnLst/>
            <a:rect l="l" t="t" r="r" b="b"/>
            <a:pathLst>
              <a:path w="5369442" h="815163">
                <a:moveTo>
                  <a:pt x="35442" y="0"/>
                </a:moveTo>
                <a:lnTo>
                  <a:pt x="5298555" y="0"/>
                </a:lnTo>
                <a:cubicBezTo>
                  <a:pt x="5337705" y="0"/>
                  <a:pt x="5369442" y="31737"/>
                  <a:pt x="5369442" y="70887"/>
                </a:cubicBezTo>
                <a:lnTo>
                  <a:pt x="5369442" y="744276"/>
                </a:lnTo>
                <a:cubicBezTo>
                  <a:pt x="5369442" y="783426"/>
                  <a:pt x="5337705" y="815163"/>
                  <a:pt x="5298555" y="815163"/>
                </a:cubicBezTo>
                <a:lnTo>
                  <a:pt x="35442" y="815163"/>
                </a:lnTo>
                <a:cubicBezTo>
                  <a:pt x="15868" y="815163"/>
                  <a:pt x="0" y="799295"/>
                  <a:pt x="0" y="779721"/>
                </a:cubicBezTo>
                <a:lnTo>
                  <a:pt x="0" y="35442"/>
                </a:lnTo>
                <a:cubicBezTo>
                  <a:pt x="0" y="15881"/>
                  <a:pt x="15881" y="0"/>
                  <a:pt x="35442" y="0"/>
                </a:cubicBezTo>
                <a:close/>
              </a:path>
            </a:pathLst>
          </a:custGeom>
          <a:solidFill>
            <a:srgbClr val="F8F6F2"/>
          </a:solidFill>
          <a:ln/>
        </p:spPr>
      </p:sp>
      <p:sp>
        <p:nvSpPr>
          <p:cNvPr id="29" name="Shape 27"/>
          <p:cNvSpPr/>
          <p:nvPr/>
        </p:nvSpPr>
        <p:spPr>
          <a:xfrm>
            <a:off x="6326372" y="2374605"/>
            <a:ext cx="35442" cy="815163"/>
          </a:xfrm>
          <a:custGeom>
            <a:avLst/>
            <a:gdLst/>
            <a:ahLst/>
            <a:cxnLst/>
            <a:rect l="l" t="t" r="r" b="b"/>
            <a:pathLst>
              <a:path w="35442" h="815163">
                <a:moveTo>
                  <a:pt x="35442" y="0"/>
                </a:moveTo>
                <a:lnTo>
                  <a:pt x="35442" y="0"/>
                </a:lnTo>
                <a:lnTo>
                  <a:pt x="35442" y="815163"/>
                </a:lnTo>
                <a:lnTo>
                  <a:pt x="35442" y="815163"/>
                </a:lnTo>
                <a:cubicBezTo>
                  <a:pt x="15868" y="815163"/>
                  <a:pt x="0" y="799295"/>
                  <a:pt x="0" y="779721"/>
                </a:cubicBezTo>
                <a:lnTo>
                  <a:pt x="0" y="35442"/>
                </a:lnTo>
                <a:cubicBezTo>
                  <a:pt x="0" y="15881"/>
                  <a:pt x="15881" y="0"/>
                  <a:pt x="35442" y="0"/>
                </a:cubicBezTo>
                <a:close/>
              </a:path>
            </a:pathLst>
          </a:custGeom>
          <a:solidFill>
            <a:srgbClr val="7A6250"/>
          </a:solidFill>
          <a:ln/>
        </p:spPr>
      </p:sp>
      <p:sp>
        <p:nvSpPr>
          <p:cNvPr id="30" name="Text 28"/>
          <p:cNvSpPr/>
          <p:nvPr/>
        </p:nvSpPr>
        <p:spPr>
          <a:xfrm>
            <a:off x="6414977" y="2445488"/>
            <a:ext cx="5280837" cy="212651"/>
          </a:xfrm>
          <a:prstGeom prst="rect">
            <a:avLst/>
          </a:prstGeom>
          <a:noFill/>
          <a:ln/>
        </p:spPr>
        <p:txBody>
          <a:bodyPr wrap="square" lIns="0" tIns="0" rIns="0" bIns="0" rtlCol="0" anchor="ctr"/>
          <a:lstStyle/>
          <a:p>
            <a:pPr>
              <a:lnSpc>
                <a:spcPct val="130000"/>
              </a:lnSpc>
            </a:pPr>
            <a:r>
              <a:rPr lang="en-US" sz="1116" b="1" dirty="0">
                <a:solidFill>
                  <a:srgbClr val="3A4D39"/>
                </a:solidFill>
                <a:latin typeface="Unna" pitchFamily="34" charset="0"/>
                <a:ea typeface="Unna" pitchFamily="34" charset="-122"/>
                <a:cs typeface="Unna" pitchFamily="34" charset="-120"/>
              </a:rPr>
              <a:t>Force Majeure Extension</a:t>
            </a:r>
            <a:endParaRPr lang="en-US" sz="1600" dirty="0"/>
          </a:p>
        </p:txBody>
      </p:sp>
      <p:sp>
        <p:nvSpPr>
          <p:cNvPr id="31" name="Text 29"/>
          <p:cNvSpPr/>
          <p:nvPr/>
        </p:nvSpPr>
        <p:spPr>
          <a:xfrm>
            <a:off x="6414977" y="2693581"/>
            <a:ext cx="5280837" cy="425302"/>
          </a:xfrm>
          <a:prstGeom prst="rect">
            <a:avLst/>
          </a:prstGeom>
          <a:noFill/>
          <a:ln/>
        </p:spPr>
        <p:txBody>
          <a:bodyPr wrap="square" lIns="0" tIns="0" rIns="0" bIns="0" rtlCol="0" anchor="ctr"/>
          <a:lstStyle/>
          <a:p>
            <a:pPr>
              <a:lnSpc>
                <a:spcPct val="130000"/>
              </a:lnSpc>
            </a:pPr>
            <a:r>
              <a:rPr lang="en-US" sz="1116" dirty="0">
                <a:solidFill>
                  <a:srgbClr val="2C2C2C"/>
                </a:solidFill>
                <a:latin typeface="Quattrocento Sans" pitchFamily="34" charset="0"/>
                <a:ea typeface="Quattrocento Sans" pitchFamily="34" charset="-122"/>
                <a:cs typeface="Quattrocento Sans" pitchFamily="34" charset="-120"/>
              </a:rPr>
              <a:t>If force majeure event extends beyond 60 days, any partner may terminate with 15 days written notice.</a:t>
            </a:r>
            <a:endParaRPr lang="en-US" sz="1600" dirty="0"/>
          </a:p>
        </p:txBody>
      </p:sp>
      <p:sp>
        <p:nvSpPr>
          <p:cNvPr id="32" name="Shape 30"/>
          <p:cNvSpPr/>
          <p:nvPr/>
        </p:nvSpPr>
        <p:spPr>
          <a:xfrm>
            <a:off x="6326372" y="3260651"/>
            <a:ext cx="5369442" cy="815163"/>
          </a:xfrm>
          <a:custGeom>
            <a:avLst/>
            <a:gdLst/>
            <a:ahLst/>
            <a:cxnLst/>
            <a:rect l="l" t="t" r="r" b="b"/>
            <a:pathLst>
              <a:path w="5369442" h="815163">
                <a:moveTo>
                  <a:pt x="35442" y="0"/>
                </a:moveTo>
                <a:lnTo>
                  <a:pt x="5298555" y="0"/>
                </a:lnTo>
                <a:cubicBezTo>
                  <a:pt x="5337705" y="0"/>
                  <a:pt x="5369442" y="31737"/>
                  <a:pt x="5369442" y="70887"/>
                </a:cubicBezTo>
                <a:lnTo>
                  <a:pt x="5369442" y="744276"/>
                </a:lnTo>
                <a:cubicBezTo>
                  <a:pt x="5369442" y="783426"/>
                  <a:pt x="5337705" y="815163"/>
                  <a:pt x="5298555" y="815163"/>
                </a:cubicBezTo>
                <a:lnTo>
                  <a:pt x="35442" y="815163"/>
                </a:lnTo>
                <a:cubicBezTo>
                  <a:pt x="15868" y="815163"/>
                  <a:pt x="0" y="799295"/>
                  <a:pt x="0" y="779721"/>
                </a:cubicBezTo>
                <a:lnTo>
                  <a:pt x="0" y="35442"/>
                </a:lnTo>
                <a:cubicBezTo>
                  <a:pt x="0" y="15881"/>
                  <a:pt x="15881" y="0"/>
                  <a:pt x="35442" y="0"/>
                </a:cubicBezTo>
                <a:close/>
              </a:path>
            </a:pathLst>
          </a:custGeom>
          <a:solidFill>
            <a:srgbClr val="F8F6F2"/>
          </a:solidFill>
          <a:ln/>
        </p:spPr>
      </p:sp>
      <p:sp>
        <p:nvSpPr>
          <p:cNvPr id="33" name="Shape 31"/>
          <p:cNvSpPr/>
          <p:nvPr/>
        </p:nvSpPr>
        <p:spPr>
          <a:xfrm>
            <a:off x="6326372" y="3260651"/>
            <a:ext cx="35442" cy="815163"/>
          </a:xfrm>
          <a:custGeom>
            <a:avLst/>
            <a:gdLst/>
            <a:ahLst/>
            <a:cxnLst/>
            <a:rect l="l" t="t" r="r" b="b"/>
            <a:pathLst>
              <a:path w="35442" h="815163">
                <a:moveTo>
                  <a:pt x="35442" y="0"/>
                </a:moveTo>
                <a:lnTo>
                  <a:pt x="35442" y="0"/>
                </a:lnTo>
                <a:lnTo>
                  <a:pt x="35442" y="815163"/>
                </a:lnTo>
                <a:lnTo>
                  <a:pt x="35442" y="815163"/>
                </a:lnTo>
                <a:cubicBezTo>
                  <a:pt x="15868" y="815163"/>
                  <a:pt x="0" y="799295"/>
                  <a:pt x="0" y="779721"/>
                </a:cubicBezTo>
                <a:lnTo>
                  <a:pt x="0" y="35442"/>
                </a:lnTo>
                <a:cubicBezTo>
                  <a:pt x="0" y="15881"/>
                  <a:pt x="15881" y="0"/>
                  <a:pt x="35442" y="0"/>
                </a:cubicBezTo>
                <a:close/>
              </a:path>
            </a:pathLst>
          </a:custGeom>
          <a:solidFill>
            <a:srgbClr val="3A4D39"/>
          </a:solidFill>
          <a:ln/>
        </p:spPr>
      </p:sp>
      <p:sp>
        <p:nvSpPr>
          <p:cNvPr id="34" name="Text 32"/>
          <p:cNvSpPr/>
          <p:nvPr/>
        </p:nvSpPr>
        <p:spPr>
          <a:xfrm>
            <a:off x="6414977" y="3331535"/>
            <a:ext cx="5280837" cy="212651"/>
          </a:xfrm>
          <a:prstGeom prst="rect">
            <a:avLst/>
          </a:prstGeom>
          <a:noFill/>
          <a:ln/>
        </p:spPr>
        <p:txBody>
          <a:bodyPr wrap="square" lIns="0" tIns="0" rIns="0" bIns="0" rtlCol="0" anchor="ctr"/>
          <a:lstStyle/>
          <a:p>
            <a:pPr>
              <a:lnSpc>
                <a:spcPct val="130000"/>
              </a:lnSpc>
            </a:pPr>
            <a:r>
              <a:rPr lang="en-US" sz="1116" b="1" dirty="0">
                <a:solidFill>
                  <a:srgbClr val="3A4D39"/>
                </a:solidFill>
                <a:latin typeface="Unna" pitchFamily="34" charset="0"/>
                <a:ea typeface="Unna" pitchFamily="34" charset="-122"/>
                <a:cs typeface="Unna" pitchFamily="34" charset="-120"/>
              </a:rPr>
              <a:t>Mutual Agreement</a:t>
            </a:r>
            <a:endParaRPr lang="en-US" sz="1600" dirty="0"/>
          </a:p>
        </p:txBody>
      </p:sp>
      <p:sp>
        <p:nvSpPr>
          <p:cNvPr id="35" name="Text 33"/>
          <p:cNvSpPr/>
          <p:nvPr/>
        </p:nvSpPr>
        <p:spPr>
          <a:xfrm>
            <a:off x="6414977" y="3579628"/>
            <a:ext cx="5280837" cy="425302"/>
          </a:xfrm>
          <a:prstGeom prst="rect">
            <a:avLst/>
          </a:prstGeom>
          <a:noFill/>
          <a:ln/>
        </p:spPr>
        <p:txBody>
          <a:bodyPr wrap="square" lIns="0" tIns="0" rIns="0" bIns="0" rtlCol="0" anchor="ctr"/>
          <a:lstStyle/>
          <a:p>
            <a:pPr>
              <a:lnSpc>
                <a:spcPct val="130000"/>
              </a:lnSpc>
            </a:pPr>
            <a:r>
              <a:rPr lang="en-US" sz="1116" dirty="0">
                <a:solidFill>
                  <a:srgbClr val="2C2C2C"/>
                </a:solidFill>
                <a:latin typeface="Quattrocento Sans" pitchFamily="34" charset="0"/>
                <a:ea typeface="Quattrocento Sans" pitchFamily="34" charset="-122"/>
                <a:cs typeface="Quattrocento Sans" pitchFamily="34" charset="-120"/>
              </a:rPr>
              <a:t>Partners may terminate by unanimous written consent at any time with agreed-upon exit terms.</a:t>
            </a:r>
            <a:endParaRPr lang="en-US" sz="1600" dirty="0"/>
          </a:p>
        </p:txBody>
      </p:sp>
      <p:sp>
        <p:nvSpPr>
          <p:cNvPr id="36" name="Shape 34"/>
          <p:cNvSpPr/>
          <p:nvPr/>
        </p:nvSpPr>
        <p:spPr>
          <a:xfrm>
            <a:off x="354419" y="4465674"/>
            <a:ext cx="3756837" cy="1134140"/>
          </a:xfrm>
          <a:custGeom>
            <a:avLst/>
            <a:gdLst/>
            <a:ahLst/>
            <a:cxnLst/>
            <a:rect l="l" t="t" r="r" b="b"/>
            <a:pathLst>
              <a:path w="3756837" h="1134140">
                <a:moveTo>
                  <a:pt x="70884" y="0"/>
                </a:moveTo>
                <a:lnTo>
                  <a:pt x="3685953" y="0"/>
                </a:lnTo>
                <a:cubicBezTo>
                  <a:pt x="3725101" y="0"/>
                  <a:pt x="3756837" y="31736"/>
                  <a:pt x="3756837" y="70884"/>
                </a:cubicBezTo>
                <a:lnTo>
                  <a:pt x="3756837" y="1063256"/>
                </a:lnTo>
                <a:cubicBezTo>
                  <a:pt x="3756837" y="1102404"/>
                  <a:pt x="3725101" y="1134140"/>
                  <a:pt x="3685953" y="1134140"/>
                </a:cubicBezTo>
                <a:lnTo>
                  <a:pt x="70884" y="1134140"/>
                </a:lnTo>
                <a:cubicBezTo>
                  <a:pt x="31736" y="1134140"/>
                  <a:pt x="0" y="1102404"/>
                  <a:pt x="0" y="1063256"/>
                </a:cubicBezTo>
                <a:lnTo>
                  <a:pt x="0" y="70884"/>
                </a:lnTo>
                <a:cubicBezTo>
                  <a:pt x="0" y="31762"/>
                  <a:pt x="31762" y="0"/>
                  <a:pt x="70884" y="0"/>
                </a:cubicBezTo>
                <a:close/>
              </a:path>
            </a:pathLst>
          </a:custGeom>
          <a:solidFill>
            <a:srgbClr val="3A4D39"/>
          </a:solidFill>
          <a:ln/>
        </p:spPr>
      </p:sp>
      <p:sp>
        <p:nvSpPr>
          <p:cNvPr id="37" name="Shape 35"/>
          <p:cNvSpPr/>
          <p:nvPr/>
        </p:nvSpPr>
        <p:spPr>
          <a:xfrm>
            <a:off x="502831" y="4598581"/>
            <a:ext cx="119616" cy="159488"/>
          </a:xfrm>
          <a:custGeom>
            <a:avLst/>
            <a:gdLst/>
            <a:ahLst/>
            <a:cxnLst/>
            <a:rect l="l" t="t" r="r" b="b"/>
            <a:pathLst>
              <a:path w="119616" h="159488">
                <a:moveTo>
                  <a:pt x="19936" y="0"/>
                </a:moveTo>
                <a:cubicBezTo>
                  <a:pt x="8940" y="0"/>
                  <a:pt x="0" y="8940"/>
                  <a:pt x="0" y="19936"/>
                </a:cubicBezTo>
                <a:lnTo>
                  <a:pt x="0" y="139552"/>
                </a:lnTo>
                <a:cubicBezTo>
                  <a:pt x="0" y="150548"/>
                  <a:pt x="8940" y="159488"/>
                  <a:pt x="19936" y="159488"/>
                </a:cubicBezTo>
                <a:lnTo>
                  <a:pt x="99680" y="159488"/>
                </a:lnTo>
                <a:cubicBezTo>
                  <a:pt x="110676" y="159488"/>
                  <a:pt x="119616" y="150548"/>
                  <a:pt x="119616" y="139552"/>
                </a:cubicBezTo>
                <a:lnTo>
                  <a:pt x="119616" y="19936"/>
                </a:lnTo>
                <a:cubicBezTo>
                  <a:pt x="119616" y="8940"/>
                  <a:pt x="110676" y="0"/>
                  <a:pt x="99680" y="0"/>
                </a:cubicBezTo>
                <a:lnTo>
                  <a:pt x="19936" y="0"/>
                </a:lnTo>
                <a:close/>
                <a:moveTo>
                  <a:pt x="29904" y="19936"/>
                </a:moveTo>
                <a:lnTo>
                  <a:pt x="89712" y="19936"/>
                </a:lnTo>
                <a:cubicBezTo>
                  <a:pt x="95226" y="19936"/>
                  <a:pt x="99680" y="24391"/>
                  <a:pt x="99680" y="29904"/>
                </a:cubicBezTo>
                <a:lnTo>
                  <a:pt x="99680" y="39872"/>
                </a:lnTo>
                <a:cubicBezTo>
                  <a:pt x="99680" y="45386"/>
                  <a:pt x="95226" y="49840"/>
                  <a:pt x="89712" y="49840"/>
                </a:cubicBezTo>
                <a:lnTo>
                  <a:pt x="29904" y="49840"/>
                </a:lnTo>
                <a:cubicBezTo>
                  <a:pt x="24391" y="49840"/>
                  <a:pt x="19936" y="45386"/>
                  <a:pt x="19936" y="39872"/>
                </a:cubicBezTo>
                <a:lnTo>
                  <a:pt x="19936" y="29904"/>
                </a:lnTo>
                <a:cubicBezTo>
                  <a:pt x="19936" y="24391"/>
                  <a:pt x="24391" y="19936"/>
                  <a:pt x="29904" y="19936"/>
                </a:cubicBezTo>
                <a:close/>
                <a:moveTo>
                  <a:pt x="34888" y="72268"/>
                </a:moveTo>
                <a:cubicBezTo>
                  <a:pt x="34888" y="76394"/>
                  <a:pt x="31538" y="79744"/>
                  <a:pt x="27412" y="79744"/>
                </a:cubicBezTo>
                <a:cubicBezTo>
                  <a:pt x="23286" y="79744"/>
                  <a:pt x="19936" y="76394"/>
                  <a:pt x="19936" y="72268"/>
                </a:cubicBezTo>
                <a:cubicBezTo>
                  <a:pt x="19936" y="68142"/>
                  <a:pt x="23286" y="64792"/>
                  <a:pt x="27412" y="64792"/>
                </a:cubicBezTo>
                <a:cubicBezTo>
                  <a:pt x="31538" y="64792"/>
                  <a:pt x="34888" y="68142"/>
                  <a:pt x="34888" y="72268"/>
                </a:cubicBezTo>
                <a:close/>
                <a:moveTo>
                  <a:pt x="59808" y="79744"/>
                </a:moveTo>
                <a:cubicBezTo>
                  <a:pt x="55682" y="79744"/>
                  <a:pt x="52332" y="76394"/>
                  <a:pt x="52332" y="72268"/>
                </a:cubicBezTo>
                <a:cubicBezTo>
                  <a:pt x="52332" y="68142"/>
                  <a:pt x="55682" y="64792"/>
                  <a:pt x="59808" y="64792"/>
                </a:cubicBezTo>
                <a:cubicBezTo>
                  <a:pt x="63934" y="64792"/>
                  <a:pt x="67284" y="68142"/>
                  <a:pt x="67284" y="72268"/>
                </a:cubicBezTo>
                <a:cubicBezTo>
                  <a:pt x="67284" y="76394"/>
                  <a:pt x="63934" y="79744"/>
                  <a:pt x="59808" y="79744"/>
                </a:cubicBezTo>
                <a:close/>
                <a:moveTo>
                  <a:pt x="99680" y="72268"/>
                </a:moveTo>
                <a:cubicBezTo>
                  <a:pt x="99680" y="76394"/>
                  <a:pt x="96330" y="79744"/>
                  <a:pt x="92204" y="79744"/>
                </a:cubicBezTo>
                <a:cubicBezTo>
                  <a:pt x="88078" y="79744"/>
                  <a:pt x="84728" y="76394"/>
                  <a:pt x="84728" y="72268"/>
                </a:cubicBezTo>
                <a:cubicBezTo>
                  <a:pt x="84728" y="68142"/>
                  <a:pt x="88078" y="64792"/>
                  <a:pt x="92204" y="64792"/>
                </a:cubicBezTo>
                <a:cubicBezTo>
                  <a:pt x="96330" y="64792"/>
                  <a:pt x="99680" y="68142"/>
                  <a:pt x="99680" y="72268"/>
                </a:cubicBezTo>
                <a:close/>
                <a:moveTo>
                  <a:pt x="27412" y="109648"/>
                </a:moveTo>
                <a:cubicBezTo>
                  <a:pt x="23286" y="109648"/>
                  <a:pt x="19936" y="106298"/>
                  <a:pt x="19936" y="102172"/>
                </a:cubicBezTo>
                <a:cubicBezTo>
                  <a:pt x="19936" y="98046"/>
                  <a:pt x="23286" y="94696"/>
                  <a:pt x="27412" y="94696"/>
                </a:cubicBezTo>
                <a:cubicBezTo>
                  <a:pt x="31538" y="94696"/>
                  <a:pt x="34888" y="98046"/>
                  <a:pt x="34888" y="102172"/>
                </a:cubicBezTo>
                <a:cubicBezTo>
                  <a:pt x="34888" y="106298"/>
                  <a:pt x="31538" y="109648"/>
                  <a:pt x="27412" y="109648"/>
                </a:cubicBezTo>
                <a:close/>
                <a:moveTo>
                  <a:pt x="67284" y="102172"/>
                </a:moveTo>
                <a:cubicBezTo>
                  <a:pt x="67284" y="106298"/>
                  <a:pt x="63934" y="109648"/>
                  <a:pt x="59808" y="109648"/>
                </a:cubicBezTo>
                <a:cubicBezTo>
                  <a:pt x="55682" y="109648"/>
                  <a:pt x="52332" y="106298"/>
                  <a:pt x="52332" y="102172"/>
                </a:cubicBezTo>
                <a:cubicBezTo>
                  <a:pt x="52332" y="98046"/>
                  <a:pt x="55682" y="94696"/>
                  <a:pt x="59808" y="94696"/>
                </a:cubicBezTo>
                <a:cubicBezTo>
                  <a:pt x="63934" y="94696"/>
                  <a:pt x="67284" y="98046"/>
                  <a:pt x="67284" y="102172"/>
                </a:cubicBezTo>
                <a:close/>
                <a:moveTo>
                  <a:pt x="92204" y="109648"/>
                </a:moveTo>
                <a:cubicBezTo>
                  <a:pt x="88078" y="109648"/>
                  <a:pt x="84728" y="106298"/>
                  <a:pt x="84728" y="102172"/>
                </a:cubicBezTo>
                <a:cubicBezTo>
                  <a:pt x="84728" y="98046"/>
                  <a:pt x="88078" y="94696"/>
                  <a:pt x="92204" y="94696"/>
                </a:cubicBezTo>
                <a:cubicBezTo>
                  <a:pt x="96330" y="94696"/>
                  <a:pt x="99680" y="98046"/>
                  <a:pt x="99680" y="102172"/>
                </a:cubicBezTo>
                <a:cubicBezTo>
                  <a:pt x="99680" y="106298"/>
                  <a:pt x="96330" y="109648"/>
                  <a:pt x="92204" y="109648"/>
                </a:cubicBezTo>
                <a:close/>
                <a:moveTo>
                  <a:pt x="19936" y="132076"/>
                </a:moveTo>
                <a:cubicBezTo>
                  <a:pt x="19936" y="127933"/>
                  <a:pt x="23269" y="124600"/>
                  <a:pt x="27412" y="124600"/>
                </a:cubicBezTo>
                <a:lnTo>
                  <a:pt x="62300" y="124600"/>
                </a:lnTo>
                <a:cubicBezTo>
                  <a:pt x="66443" y="124600"/>
                  <a:pt x="69776" y="127933"/>
                  <a:pt x="69776" y="132076"/>
                </a:cubicBezTo>
                <a:cubicBezTo>
                  <a:pt x="69776" y="136219"/>
                  <a:pt x="66443" y="139552"/>
                  <a:pt x="62300" y="139552"/>
                </a:cubicBezTo>
                <a:lnTo>
                  <a:pt x="27412" y="139552"/>
                </a:lnTo>
                <a:cubicBezTo>
                  <a:pt x="23269" y="139552"/>
                  <a:pt x="19936" y="136219"/>
                  <a:pt x="19936" y="132076"/>
                </a:cubicBezTo>
                <a:close/>
                <a:moveTo>
                  <a:pt x="92204" y="124600"/>
                </a:moveTo>
                <a:cubicBezTo>
                  <a:pt x="96347" y="124600"/>
                  <a:pt x="99680" y="127933"/>
                  <a:pt x="99680" y="132076"/>
                </a:cubicBezTo>
                <a:cubicBezTo>
                  <a:pt x="99680" y="136219"/>
                  <a:pt x="96347" y="139552"/>
                  <a:pt x="92204" y="139552"/>
                </a:cubicBezTo>
                <a:cubicBezTo>
                  <a:pt x="88061" y="139552"/>
                  <a:pt x="84728" y="136219"/>
                  <a:pt x="84728" y="132076"/>
                </a:cubicBezTo>
                <a:cubicBezTo>
                  <a:pt x="84728" y="127933"/>
                  <a:pt x="88061" y="124600"/>
                  <a:pt x="92204" y="124600"/>
                </a:cubicBezTo>
                <a:close/>
              </a:path>
            </a:pathLst>
          </a:custGeom>
          <a:solidFill>
            <a:srgbClr val="BCA37F"/>
          </a:solidFill>
          <a:ln/>
        </p:spPr>
      </p:sp>
      <p:sp>
        <p:nvSpPr>
          <p:cNvPr id="38" name="Text 36"/>
          <p:cNvSpPr/>
          <p:nvPr/>
        </p:nvSpPr>
        <p:spPr>
          <a:xfrm>
            <a:off x="730988" y="4572000"/>
            <a:ext cx="921488" cy="212651"/>
          </a:xfrm>
          <a:prstGeom prst="rect">
            <a:avLst/>
          </a:prstGeom>
          <a:noFill/>
          <a:ln/>
        </p:spPr>
        <p:txBody>
          <a:bodyPr wrap="square" lIns="0" tIns="0" rIns="0" bIns="0" rtlCol="0" anchor="ctr"/>
          <a:lstStyle/>
          <a:p>
            <a:pPr>
              <a:lnSpc>
                <a:spcPct val="130000"/>
              </a:lnSpc>
            </a:pPr>
            <a:r>
              <a:rPr lang="en-US" sz="1116" b="1" dirty="0">
                <a:solidFill>
                  <a:srgbClr val="F8F6F2"/>
                </a:solidFill>
                <a:latin typeface="Unna" pitchFamily="34" charset="0"/>
                <a:ea typeface="Unna" pitchFamily="34" charset="-122"/>
                <a:cs typeface="Unna" pitchFamily="34" charset="-120"/>
              </a:rPr>
              <a:t>Exit Valuation</a:t>
            </a:r>
            <a:endParaRPr lang="en-US" sz="1600" dirty="0"/>
          </a:p>
        </p:txBody>
      </p:sp>
      <p:sp>
        <p:nvSpPr>
          <p:cNvPr id="39" name="Text 37"/>
          <p:cNvSpPr/>
          <p:nvPr/>
        </p:nvSpPr>
        <p:spPr>
          <a:xfrm>
            <a:off x="460744" y="4855535"/>
            <a:ext cx="3615070" cy="637953"/>
          </a:xfrm>
          <a:prstGeom prst="rect">
            <a:avLst/>
          </a:prstGeom>
          <a:noFill/>
          <a:ln/>
        </p:spPr>
        <p:txBody>
          <a:bodyPr wrap="square" lIns="0" tIns="0" rIns="0" bIns="0" rtlCol="0" anchor="ctr"/>
          <a:lstStyle/>
          <a:p>
            <a:pPr>
              <a:lnSpc>
                <a:spcPct val="130000"/>
              </a:lnSpc>
            </a:pPr>
            <a:r>
              <a:rPr lang="en-US" sz="1116" dirty="0">
                <a:solidFill>
                  <a:srgbClr val="F8F6F2"/>
                </a:solidFill>
                <a:latin typeface="Quattrocento Sans" pitchFamily="34" charset="0"/>
                <a:ea typeface="Quattrocento Sans" pitchFamily="34" charset="-122"/>
                <a:cs typeface="Quattrocento Sans" pitchFamily="34" charset="-120"/>
              </a:rPr>
              <a:t>Exiting partner's interest valued based on: capital contributed + share of profits earned - share of losses - amounts distributed.</a:t>
            </a:r>
            <a:endParaRPr lang="en-US" sz="1600" dirty="0"/>
          </a:p>
        </p:txBody>
      </p:sp>
      <p:sp>
        <p:nvSpPr>
          <p:cNvPr id="40" name="Shape 38"/>
          <p:cNvSpPr/>
          <p:nvPr/>
        </p:nvSpPr>
        <p:spPr>
          <a:xfrm>
            <a:off x="4217581" y="4465674"/>
            <a:ext cx="3756837" cy="1134140"/>
          </a:xfrm>
          <a:custGeom>
            <a:avLst/>
            <a:gdLst/>
            <a:ahLst/>
            <a:cxnLst/>
            <a:rect l="l" t="t" r="r" b="b"/>
            <a:pathLst>
              <a:path w="3756837" h="1134140">
                <a:moveTo>
                  <a:pt x="70884" y="0"/>
                </a:moveTo>
                <a:lnTo>
                  <a:pt x="3685953" y="0"/>
                </a:lnTo>
                <a:cubicBezTo>
                  <a:pt x="3725101" y="0"/>
                  <a:pt x="3756837" y="31736"/>
                  <a:pt x="3756837" y="70884"/>
                </a:cubicBezTo>
                <a:lnTo>
                  <a:pt x="3756837" y="1063256"/>
                </a:lnTo>
                <a:cubicBezTo>
                  <a:pt x="3756837" y="1102404"/>
                  <a:pt x="3725101" y="1134140"/>
                  <a:pt x="3685953" y="1134140"/>
                </a:cubicBezTo>
                <a:lnTo>
                  <a:pt x="70884" y="1134140"/>
                </a:lnTo>
                <a:cubicBezTo>
                  <a:pt x="31736" y="1134140"/>
                  <a:pt x="0" y="1102404"/>
                  <a:pt x="0" y="1063256"/>
                </a:cubicBezTo>
                <a:lnTo>
                  <a:pt x="0" y="70884"/>
                </a:lnTo>
                <a:cubicBezTo>
                  <a:pt x="0" y="31762"/>
                  <a:pt x="31762" y="0"/>
                  <a:pt x="70884" y="0"/>
                </a:cubicBezTo>
                <a:close/>
              </a:path>
            </a:pathLst>
          </a:custGeom>
          <a:solidFill>
            <a:srgbClr val="7A6250"/>
          </a:solidFill>
          <a:ln/>
        </p:spPr>
      </p:sp>
      <p:sp>
        <p:nvSpPr>
          <p:cNvPr id="41" name="Shape 39"/>
          <p:cNvSpPr/>
          <p:nvPr/>
        </p:nvSpPr>
        <p:spPr>
          <a:xfrm>
            <a:off x="4336090" y="4598581"/>
            <a:ext cx="179424" cy="159488"/>
          </a:xfrm>
          <a:custGeom>
            <a:avLst/>
            <a:gdLst/>
            <a:ahLst/>
            <a:cxnLst/>
            <a:rect l="l" t="t" r="r" b="b"/>
            <a:pathLst>
              <a:path w="179424" h="159488">
                <a:moveTo>
                  <a:pt x="89712" y="-4984"/>
                </a:moveTo>
                <a:cubicBezTo>
                  <a:pt x="85569" y="-4984"/>
                  <a:pt x="82236" y="-1651"/>
                  <a:pt x="82236" y="2492"/>
                </a:cubicBezTo>
                <a:lnTo>
                  <a:pt x="82236" y="6230"/>
                </a:lnTo>
                <a:lnTo>
                  <a:pt x="81675" y="6230"/>
                </a:lnTo>
                <a:cubicBezTo>
                  <a:pt x="70275" y="6230"/>
                  <a:pt x="61054" y="15482"/>
                  <a:pt x="61054" y="26851"/>
                </a:cubicBezTo>
                <a:cubicBezTo>
                  <a:pt x="61054" y="37255"/>
                  <a:pt x="68811" y="46040"/>
                  <a:pt x="79121" y="47317"/>
                </a:cubicBezTo>
                <a:lnTo>
                  <a:pt x="98123" y="49684"/>
                </a:lnTo>
                <a:cubicBezTo>
                  <a:pt x="99711" y="49871"/>
                  <a:pt x="100926" y="51242"/>
                  <a:pt x="100926" y="52862"/>
                </a:cubicBezTo>
                <a:cubicBezTo>
                  <a:pt x="100926" y="54637"/>
                  <a:pt x="99493" y="56039"/>
                  <a:pt x="97749" y="56039"/>
                </a:cubicBezTo>
                <a:lnTo>
                  <a:pt x="74760" y="56070"/>
                </a:lnTo>
                <a:cubicBezTo>
                  <a:pt x="69932" y="56070"/>
                  <a:pt x="66038" y="59964"/>
                  <a:pt x="66038" y="64792"/>
                </a:cubicBezTo>
                <a:cubicBezTo>
                  <a:pt x="66038" y="69620"/>
                  <a:pt x="69932" y="73514"/>
                  <a:pt x="74760" y="73514"/>
                </a:cubicBezTo>
                <a:lnTo>
                  <a:pt x="82236" y="73514"/>
                </a:lnTo>
                <a:lnTo>
                  <a:pt x="82236" y="77252"/>
                </a:lnTo>
                <a:cubicBezTo>
                  <a:pt x="82236" y="81395"/>
                  <a:pt x="85569" y="84728"/>
                  <a:pt x="89712" y="84728"/>
                </a:cubicBezTo>
                <a:cubicBezTo>
                  <a:pt x="93855" y="84728"/>
                  <a:pt x="97188" y="81395"/>
                  <a:pt x="97188" y="77252"/>
                </a:cubicBezTo>
                <a:lnTo>
                  <a:pt x="97188" y="73514"/>
                </a:lnTo>
                <a:lnTo>
                  <a:pt x="97749" y="73514"/>
                </a:lnTo>
                <a:cubicBezTo>
                  <a:pt x="109150" y="73514"/>
                  <a:pt x="118370" y="64263"/>
                  <a:pt x="118370" y="52893"/>
                </a:cubicBezTo>
                <a:cubicBezTo>
                  <a:pt x="118370" y="42489"/>
                  <a:pt x="110614" y="33704"/>
                  <a:pt x="100303" y="32427"/>
                </a:cubicBezTo>
                <a:lnTo>
                  <a:pt x="81302" y="30060"/>
                </a:lnTo>
                <a:cubicBezTo>
                  <a:pt x="79713" y="29873"/>
                  <a:pt x="78498" y="28502"/>
                  <a:pt x="78498" y="26883"/>
                </a:cubicBezTo>
                <a:cubicBezTo>
                  <a:pt x="78498" y="25107"/>
                  <a:pt x="79931" y="23705"/>
                  <a:pt x="81675" y="23705"/>
                </a:cubicBezTo>
                <a:lnTo>
                  <a:pt x="102172" y="23674"/>
                </a:lnTo>
                <a:cubicBezTo>
                  <a:pt x="107000" y="23674"/>
                  <a:pt x="110894" y="19780"/>
                  <a:pt x="110894" y="14952"/>
                </a:cubicBezTo>
                <a:cubicBezTo>
                  <a:pt x="110894" y="10124"/>
                  <a:pt x="107000" y="6230"/>
                  <a:pt x="102172" y="6230"/>
                </a:cubicBezTo>
                <a:lnTo>
                  <a:pt x="97188" y="6230"/>
                </a:lnTo>
                <a:lnTo>
                  <a:pt x="97188" y="2492"/>
                </a:lnTo>
                <a:cubicBezTo>
                  <a:pt x="97188" y="-1651"/>
                  <a:pt x="93855" y="-4984"/>
                  <a:pt x="89712" y="-4984"/>
                </a:cubicBezTo>
                <a:close/>
                <a:moveTo>
                  <a:pt x="34047" y="106377"/>
                </a:moveTo>
                <a:lnTo>
                  <a:pt x="20777" y="119616"/>
                </a:lnTo>
                <a:lnTo>
                  <a:pt x="9968" y="119616"/>
                </a:lnTo>
                <a:cubicBezTo>
                  <a:pt x="4454" y="119616"/>
                  <a:pt x="0" y="124071"/>
                  <a:pt x="0" y="129584"/>
                </a:cubicBezTo>
                <a:lnTo>
                  <a:pt x="0" y="149520"/>
                </a:lnTo>
                <a:cubicBezTo>
                  <a:pt x="0" y="155034"/>
                  <a:pt x="4454" y="159488"/>
                  <a:pt x="9968" y="159488"/>
                </a:cubicBezTo>
                <a:lnTo>
                  <a:pt x="109804" y="159488"/>
                </a:lnTo>
                <a:cubicBezTo>
                  <a:pt x="118838" y="159488"/>
                  <a:pt x="127653" y="156591"/>
                  <a:pt x="134942" y="151234"/>
                </a:cubicBezTo>
                <a:lnTo>
                  <a:pt x="174378" y="122171"/>
                </a:lnTo>
                <a:cubicBezTo>
                  <a:pt x="179923" y="118090"/>
                  <a:pt x="181107" y="110302"/>
                  <a:pt x="177026" y="104758"/>
                </a:cubicBezTo>
                <a:cubicBezTo>
                  <a:pt x="172945" y="99213"/>
                  <a:pt x="165158" y="98029"/>
                  <a:pt x="159613" y="102110"/>
                </a:cubicBezTo>
                <a:lnTo>
                  <a:pt x="122295" y="129584"/>
                </a:lnTo>
                <a:lnTo>
                  <a:pt x="87220" y="129584"/>
                </a:lnTo>
                <a:cubicBezTo>
                  <a:pt x="83077" y="129584"/>
                  <a:pt x="79744" y="126251"/>
                  <a:pt x="79744" y="122108"/>
                </a:cubicBezTo>
                <a:cubicBezTo>
                  <a:pt x="79744" y="117965"/>
                  <a:pt x="83077" y="114632"/>
                  <a:pt x="87220" y="114632"/>
                </a:cubicBezTo>
                <a:lnTo>
                  <a:pt x="109648" y="114632"/>
                </a:lnTo>
                <a:cubicBezTo>
                  <a:pt x="115162" y="114632"/>
                  <a:pt x="119616" y="110178"/>
                  <a:pt x="119616" y="104664"/>
                </a:cubicBezTo>
                <a:cubicBezTo>
                  <a:pt x="119616" y="99151"/>
                  <a:pt x="115162" y="94696"/>
                  <a:pt x="109648" y="94696"/>
                </a:cubicBezTo>
                <a:lnTo>
                  <a:pt x="62238" y="94696"/>
                </a:lnTo>
                <a:cubicBezTo>
                  <a:pt x="51678" y="94696"/>
                  <a:pt x="41523" y="98901"/>
                  <a:pt x="34047" y="106377"/>
                </a:cubicBezTo>
                <a:close/>
              </a:path>
            </a:pathLst>
          </a:custGeom>
          <a:solidFill>
            <a:srgbClr val="BCA37F"/>
          </a:solidFill>
          <a:ln/>
        </p:spPr>
      </p:sp>
      <p:sp>
        <p:nvSpPr>
          <p:cNvPr id="42" name="Text 40"/>
          <p:cNvSpPr/>
          <p:nvPr/>
        </p:nvSpPr>
        <p:spPr>
          <a:xfrm>
            <a:off x="4594151" y="4572000"/>
            <a:ext cx="948070" cy="212651"/>
          </a:xfrm>
          <a:prstGeom prst="rect">
            <a:avLst/>
          </a:prstGeom>
          <a:noFill/>
          <a:ln/>
        </p:spPr>
        <p:txBody>
          <a:bodyPr wrap="square" lIns="0" tIns="0" rIns="0" bIns="0" rtlCol="0" anchor="ctr"/>
          <a:lstStyle/>
          <a:p>
            <a:pPr>
              <a:lnSpc>
                <a:spcPct val="130000"/>
              </a:lnSpc>
            </a:pPr>
            <a:r>
              <a:rPr lang="en-US" sz="1116" b="1" dirty="0">
                <a:solidFill>
                  <a:srgbClr val="F8F6F2"/>
                </a:solidFill>
                <a:latin typeface="Unna" pitchFamily="34" charset="0"/>
                <a:ea typeface="Unna" pitchFamily="34" charset="-122"/>
                <a:cs typeface="Unna" pitchFamily="34" charset="-120"/>
              </a:rPr>
              <a:t>Buyout Option</a:t>
            </a:r>
            <a:endParaRPr lang="en-US" sz="1600" dirty="0"/>
          </a:p>
        </p:txBody>
      </p:sp>
      <p:sp>
        <p:nvSpPr>
          <p:cNvPr id="43" name="Text 41"/>
          <p:cNvSpPr/>
          <p:nvPr/>
        </p:nvSpPr>
        <p:spPr>
          <a:xfrm>
            <a:off x="4323907" y="4855535"/>
            <a:ext cx="3615070" cy="425302"/>
          </a:xfrm>
          <a:prstGeom prst="rect">
            <a:avLst/>
          </a:prstGeom>
          <a:noFill/>
          <a:ln/>
        </p:spPr>
        <p:txBody>
          <a:bodyPr wrap="square" lIns="0" tIns="0" rIns="0" bIns="0" rtlCol="0" anchor="ctr"/>
          <a:lstStyle/>
          <a:p>
            <a:pPr>
              <a:lnSpc>
                <a:spcPct val="130000"/>
              </a:lnSpc>
            </a:pPr>
            <a:r>
              <a:rPr lang="en-US" sz="1116" dirty="0">
                <a:solidFill>
                  <a:srgbClr val="F8F6F2"/>
                </a:solidFill>
                <a:latin typeface="Quattrocento Sans" pitchFamily="34" charset="0"/>
                <a:ea typeface="Quattrocento Sans" pitchFamily="34" charset="-122"/>
                <a:cs typeface="Quattrocento Sans" pitchFamily="34" charset="-120"/>
              </a:rPr>
              <a:t>Remaining partners have 30-day right of first refusal to purchase exiting partner's interest at fair market value.</a:t>
            </a:r>
            <a:endParaRPr lang="en-US" sz="1600" dirty="0"/>
          </a:p>
        </p:txBody>
      </p:sp>
      <p:sp>
        <p:nvSpPr>
          <p:cNvPr id="44" name="Shape 42"/>
          <p:cNvSpPr/>
          <p:nvPr/>
        </p:nvSpPr>
        <p:spPr>
          <a:xfrm>
            <a:off x="8080744" y="4465674"/>
            <a:ext cx="3756837" cy="1134140"/>
          </a:xfrm>
          <a:custGeom>
            <a:avLst/>
            <a:gdLst/>
            <a:ahLst/>
            <a:cxnLst/>
            <a:rect l="l" t="t" r="r" b="b"/>
            <a:pathLst>
              <a:path w="3756837" h="1134140">
                <a:moveTo>
                  <a:pt x="70884" y="0"/>
                </a:moveTo>
                <a:lnTo>
                  <a:pt x="3685953" y="0"/>
                </a:lnTo>
                <a:cubicBezTo>
                  <a:pt x="3725101" y="0"/>
                  <a:pt x="3756837" y="31736"/>
                  <a:pt x="3756837" y="70884"/>
                </a:cubicBezTo>
                <a:lnTo>
                  <a:pt x="3756837" y="1063256"/>
                </a:lnTo>
                <a:cubicBezTo>
                  <a:pt x="3756837" y="1102404"/>
                  <a:pt x="3725101" y="1134140"/>
                  <a:pt x="3685953" y="1134140"/>
                </a:cubicBezTo>
                <a:lnTo>
                  <a:pt x="70884" y="1134140"/>
                </a:lnTo>
                <a:cubicBezTo>
                  <a:pt x="31736" y="1134140"/>
                  <a:pt x="0" y="1102404"/>
                  <a:pt x="0" y="1063256"/>
                </a:cubicBezTo>
                <a:lnTo>
                  <a:pt x="0" y="70884"/>
                </a:lnTo>
                <a:cubicBezTo>
                  <a:pt x="0" y="31762"/>
                  <a:pt x="31762" y="0"/>
                  <a:pt x="70884" y="0"/>
                </a:cubicBezTo>
                <a:close/>
              </a:path>
            </a:pathLst>
          </a:custGeom>
          <a:solidFill>
            <a:srgbClr val="3A4D39"/>
          </a:solidFill>
          <a:ln/>
        </p:spPr>
      </p:sp>
      <p:sp>
        <p:nvSpPr>
          <p:cNvPr id="45" name="Shape 43"/>
          <p:cNvSpPr/>
          <p:nvPr/>
        </p:nvSpPr>
        <p:spPr>
          <a:xfrm>
            <a:off x="8209221" y="4598581"/>
            <a:ext cx="159488" cy="159488"/>
          </a:xfrm>
          <a:custGeom>
            <a:avLst/>
            <a:gdLst/>
            <a:ahLst/>
            <a:cxnLst/>
            <a:rect l="l" t="t" r="r" b="b"/>
            <a:pathLst>
              <a:path w="159488" h="159488">
                <a:moveTo>
                  <a:pt x="114383" y="128494"/>
                </a:moveTo>
                <a:lnTo>
                  <a:pt x="30994" y="45105"/>
                </a:lnTo>
                <a:cubicBezTo>
                  <a:pt x="24017" y="54886"/>
                  <a:pt x="19936" y="66848"/>
                  <a:pt x="19936" y="79744"/>
                </a:cubicBezTo>
                <a:cubicBezTo>
                  <a:pt x="19936" y="112763"/>
                  <a:pt x="46725" y="139552"/>
                  <a:pt x="79744" y="139552"/>
                </a:cubicBezTo>
                <a:cubicBezTo>
                  <a:pt x="92671" y="139552"/>
                  <a:pt x="104633" y="135472"/>
                  <a:pt x="114383" y="128494"/>
                </a:cubicBezTo>
                <a:close/>
                <a:moveTo>
                  <a:pt x="128494" y="114383"/>
                </a:moveTo>
                <a:cubicBezTo>
                  <a:pt x="135472" y="104602"/>
                  <a:pt x="139552" y="92640"/>
                  <a:pt x="139552" y="79744"/>
                </a:cubicBezTo>
                <a:cubicBezTo>
                  <a:pt x="139552" y="46725"/>
                  <a:pt x="112763" y="19936"/>
                  <a:pt x="79744" y="19936"/>
                </a:cubicBezTo>
                <a:cubicBezTo>
                  <a:pt x="66817" y="19936"/>
                  <a:pt x="54855" y="24017"/>
                  <a:pt x="45105" y="30994"/>
                </a:cubicBezTo>
                <a:lnTo>
                  <a:pt x="128494" y="114383"/>
                </a:lnTo>
                <a:close/>
                <a:moveTo>
                  <a:pt x="0" y="79744"/>
                </a:moveTo>
                <a:cubicBezTo>
                  <a:pt x="0" y="35732"/>
                  <a:pt x="35732" y="0"/>
                  <a:pt x="79744" y="0"/>
                </a:cubicBezTo>
                <a:cubicBezTo>
                  <a:pt x="123756" y="0"/>
                  <a:pt x="159488" y="35732"/>
                  <a:pt x="159488" y="79744"/>
                </a:cubicBezTo>
                <a:cubicBezTo>
                  <a:pt x="159488" y="123756"/>
                  <a:pt x="123756" y="159488"/>
                  <a:pt x="79744" y="159488"/>
                </a:cubicBezTo>
                <a:cubicBezTo>
                  <a:pt x="35732" y="159488"/>
                  <a:pt x="0" y="123756"/>
                  <a:pt x="0" y="79744"/>
                </a:cubicBezTo>
                <a:close/>
              </a:path>
            </a:pathLst>
          </a:custGeom>
          <a:solidFill>
            <a:srgbClr val="BCA37F"/>
          </a:solidFill>
          <a:ln/>
        </p:spPr>
      </p:sp>
      <p:sp>
        <p:nvSpPr>
          <p:cNvPr id="46" name="Text 44"/>
          <p:cNvSpPr/>
          <p:nvPr/>
        </p:nvSpPr>
        <p:spPr>
          <a:xfrm>
            <a:off x="8457314" y="4572000"/>
            <a:ext cx="1346791" cy="212651"/>
          </a:xfrm>
          <a:prstGeom prst="rect">
            <a:avLst/>
          </a:prstGeom>
          <a:noFill/>
          <a:ln/>
        </p:spPr>
        <p:txBody>
          <a:bodyPr wrap="square" lIns="0" tIns="0" rIns="0" bIns="0" rtlCol="0" anchor="ctr"/>
          <a:lstStyle/>
          <a:p>
            <a:pPr>
              <a:lnSpc>
                <a:spcPct val="130000"/>
              </a:lnSpc>
            </a:pPr>
            <a:r>
              <a:rPr lang="en-US" sz="1116" b="1" dirty="0">
                <a:solidFill>
                  <a:srgbClr val="F8F6F2"/>
                </a:solidFill>
                <a:latin typeface="Unna" pitchFamily="34" charset="0"/>
                <a:ea typeface="Unna" pitchFamily="34" charset="-122"/>
                <a:cs typeface="Unna" pitchFamily="34" charset="-120"/>
              </a:rPr>
              <a:t>Transfer Restrictions</a:t>
            </a:r>
            <a:endParaRPr lang="en-US" sz="1600" dirty="0"/>
          </a:p>
        </p:txBody>
      </p:sp>
      <p:sp>
        <p:nvSpPr>
          <p:cNvPr id="47" name="Text 45"/>
          <p:cNvSpPr/>
          <p:nvPr/>
        </p:nvSpPr>
        <p:spPr>
          <a:xfrm>
            <a:off x="8187070" y="4855535"/>
            <a:ext cx="3615070" cy="425302"/>
          </a:xfrm>
          <a:prstGeom prst="rect">
            <a:avLst/>
          </a:prstGeom>
          <a:noFill/>
          <a:ln/>
        </p:spPr>
        <p:txBody>
          <a:bodyPr wrap="square" lIns="0" tIns="0" rIns="0" bIns="0" rtlCol="0" anchor="ctr"/>
          <a:lstStyle/>
          <a:p>
            <a:pPr>
              <a:lnSpc>
                <a:spcPct val="130000"/>
              </a:lnSpc>
            </a:pPr>
            <a:r>
              <a:rPr lang="en-US" sz="1116" dirty="0">
                <a:solidFill>
                  <a:srgbClr val="F8F6F2"/>
                </a:solidFill>
                <a:latin typeface="Quattrocento Sans" pitchFamily="34" charset="0"/>
                <a:ea typeface="Quattrocento Sans" pitchFamily="34" charset="-122"/>
                <a:cs typeface="Quattrocento Sans" pitchFamily="34" charset="-120"/>
              </a:rPr>
              <a:t>No partner may transfer interest without written consent of partners representing 75% of ownership.</a:t>
            </a:r>
            <a:endParaRPr lang="en-US" sz="1600" dirty="0"/>
          </a:p>
        </p:txBody>
      </p:sp>
      <p:sp>
        <p:nvSpPr>
          <p:cNvPr id="48" name="Shape 46"/>
          <p:cNvSpPr/>
          <p:nvPr/>
        </p:nvSpPr>
        <p:spPr>
          <a:xfrm>
            <a:off x="358849" y="5710570"/>
            <a:ext cx="11474302" cy="930349"/>
          </a:xfrm>
          <a:custGeom>
            <a:avLst/>
            <a:gdLst/>
            <a:ahLst/>
            <a:cxnLst/>
            <a:rect l="l" t="t" r="r" b="b"/>
            <a:pathLst>
              <a:path w="11474302" h="930349">
                <a:moveTo>
                  <a:pt x="70883" y="0"/>
                </a:moveTo>
                <a:lnTo>
                  <a:pt x="11403419" y="0"/>
                </a:lnTo>
                <a:cubicBezTo>
                  <a:pt x="11442567" y="0"/>
                  <a:pt x="11474302" y="31736"/>
                  <a:pt x="11474302" y="70883"/>
                </a:cubicBezTo>
                <a:lnTo>
                  <a:pt x="11474302" y="859466"/>
                </a:lnTo>
                <a:cubicBezTo>
                  <a:pt x="11474302" y="898613"/>
                  <a:pt x="11442567" y="930349"/>
                  <a:pt x="11403419" y="930349"/>
                </a:cubicBezTo>
                <a:lnTo>
                  <a:pt x="70883" y="930349"/>
                </a:lnTo>
                <a:cubicBezTo>
                  <a:pt x="31736" y="930349"/>
                  <a:pt x="0" y="898613"/>
                  <a:pt x="0" y="859466"/>
                </a:cubicBezTo>
                <a:lnTo>
                  <a:pt x="0" y="70883"/>
                </a:lnTo>
                <a:cubicBezTo>
                  <a:pt x="0" y="31762"/>
                  <a:pt x="31762" y="0"/>
                  <a:pt x="70883" y="0"/>
                </a:cubicBezTo>
                <a:close/>
              </a:path>
            </a:pathLst>
          </a:custGeom>
          <a:solidFill>
            <a:srgbClr val="BCA37F"/>
          </a:solidFill>
          <a:ln w="12700">
            <a:solidFill>
              <a:srgbClr val="BCA37F"/>
            </a:solidFill>
            <a:prstDash val="solid"/>
          </a:ln>
        </p:spPr>
      </p:sp>
      <p:sp>
        <p:nvSpPr>
          <p:cNvPr id="49" name="Shape 47"/>
          <p:cNvSpPr/>
          <p:nvPr/>
        </p:nvSpPr>
        <p:spPr>
          <a:xfrm>
            <a:off x="474035" y="5856767"/>
            <a:ext cx="132907" cy="177209"/>
          </a:xfrm>
          <a:custGeom>
            <a:avLst/>
            <a:gdLst/>
            <a:ahLst/>
            <a:cxnLst/>
            <a:rect l="l" t="t" r="r" b="b"/>
            <a:pathLst>
              <a:path w="132907" h="177209">
                <a:moveTo>
                  <a:pt x="0" y="22151"/>
                </a:moveTo>
                <a:cubicBezTo>
                  <a:pt x="0" y="9933"/>
                  <a:pt x="9933" y="0"/>
                  <a:pt x="22151" y="0"/>
                </a:cubicBezTo>
                <a:lnTo>
                  <a:pt x="73895" y="0"/>
                </a:lnTo>
                <a:cubicBezTo>
                  <a:pt x="79779" y="0"/>
                  <a:pt x="85420" y="2319"/>
                  <a:pt x="89574" y="6472"/>
                </a:cubicBezTo>
                <a:lnTo>
                  <a:pt x="126435" y="43368"/>
                </a:lnTo>
                <a:cubicBezTo>
                  <a:pt x="130588" y="47521"/>
                  <a:pt x="132907" y="53163"/>
                  <a:pt x="132907" y="59047"/>
                </a:cubicBezTo>
                <a:lnTo>
                  <a:pt x="132907" y="155058"/>
                </a:lnTo>
                <a:cubicBezTo>
                  <a:pt x="132907" y="167276"/>
                  <a:pt x="122974" y="177209"/>
                  <a:pt x="110756" y="177209"/>
                </a:cubicBezTo>
                <a:lnTo>
                  <a:pt x="22151" y="177209"/>
                </a:lnTo>
                <a:cubicBezTo>
                  <a:pt x="9933" y="177209"/>
                  <a:pt x="0" y="167276"/>
                  <a:pt x="0" y="155058"/>
                </a:cubicBezTo>
                <a:lnTo>
                  <a:pt x="0" y="22151"/>
                </a:lnTo>
                <a:close/>
                <a:moveTo>
                  <a:pt x="71991" y="20248"/>
                </a:moveTo>
                <a:lnTo>
                  <a:pt x="71991" y="52609"/>
                </a:lnTo>
                <a:cubicBezTo>
                  <a:pt x="71991" y="57212"/>
                  <a:pt x="75695" y="60916"/>
                  <a:pt x="80298" y="60916"/>
                </a:cubicBezTo>
                <a:lnTo>
                  <a:pt x="112659" y="60916"/>
                </a:lnTo>
                <a:lnTo>
                  <a:pt x="71991" y="20248"/>
                </a:lnTo>
                <a:close/>
                <a:moveTo>
                  <a:pt x="30458" y="22151"/>
                </a:moveTo>
                <a:cubicBezTo>
                  <a:pt x="25855" y="22151"/>
                  <a:pt x="22151" y="25855"/>
                  <a:pt x="22151" y="30458"/>
                </a:cubicBezTo>
                <a:cubicBezTo>
                  <a:pt x="22151" y="35061"/>
                  <a:pt x="25855" y="38765"/>
                  <a:pt x="30458" y="38765"/>
                </a:cubicBezTo>
                <a:lnTo>
                  <a:pt x="47071" y="38765"/>
                </a:lnTo>
                <a:cubicBezTo>
                  <a:pt x="51675" y="38765"/>
                  <a:pt x="55378" y="35061"/>
                  <a:pt x="55378" y="30458"/>
                </a:cubicBezTo>
                <a:cubicBezTo>
                  <a:pt x="55378" y="25855"/>
                  <a:pt x="51675" y="22151"/>
                  <a:pt x="47071" y="22151"/>
                </a:cubicBezTo>
                <a:lnTo>
                  <a:pt x="30458" y="22151"/>
                </a:lnTo>
                <a:close/>
                <a:moveTo>
                  <a:pt x="30458" y="55378"/>
                </a:moveTo>
                <a:cubicBezTo>
                  <a:pt x="25855" y="55378"/>
                  <a:pt x="22151" y="59081"/>
                  <a:pt x="22151" y="63685"/>
                </a:cubicBezTo>
                <a:cubicBezTo>
                  <a:pt x="22151" y="68288"/>
                  <a:pt x="25855" y="71991"/>
                  <a:pt x="30458" y="71991"/>
                </a:cubicBezTo>
                <a:lnTo>
                  <a:pt x="47071" y="71991"/>
                </a:lnTo>
                <a:cubicBezTo>
                  <a:pt x="51675" y="71991"/>
                  <a:pt x="55378" y="68288"/>
                  <a:pt x="55378" y="63685"/>
                </a:cubicBezTo>
                <a:cubicBezTo>
                  <a:pt x="55378" y="59081"/>
                  <a:pt x="51675" y="55378"/>
                  <a:pt x="47071" y="55378"/>
                </a:cubicBezTo>
                <a:lnTo>
                  <a:pt x="30458" y="55378"/>
                </a:lnTo>
                <a:close/>
                <a:moveTo>
                  <a:pt x="54790" y="110756"/>
                </a:moveTo>
                <a:cubicBezTo>
                  <a:pt x="50878" y="110756"/>
                  <a:pt x="47210" y="112521"/>
                  <a:pt x="44787" y="115567"/>
                </a:cubicBezTo>
                <a:lnTo>
                  <a:pt x="23986" y="141560"/>
                </a:lnTo>
                <a:cubicBezTo>
                  <a:pt x="21113" y="145125"/>
                  <a:pt x="21701" y="150386"/>
                  <a:pt x="25266" y="153224"/>
                </a:cubicBezTo>
                <a:cubicBezTo>
                  <a:pt x="28831" y="156062"/>
                  <a:pt x="34092" y="155508"/>
                  <a:pt x="36930" y="151909"/>
                </a:cubicBezTo>
                <a:lnTo>
                  <a:pt x="53232" y="131557"/>
                </a:lnTo>
                <a:lnTo>
                  <a:pt x="58493" y="149105"/>
                </a:lnTo>
                <a:cubicBezTo>
                  <a:pt x="59531" y="152635"/>
                  <a:pt x="62785" y="155024"/>
                  <a:pt x="66453" y="155024"/>
                </a:cubicBezTo>
                <a:lnTo>
                  <a:pt x="102449" y="155024"/>
                </a:lnTo>
                <a:cubicBezTo>
                  <a:pt x="107052" y="155024"/>
                  <a:pt x="110756" y="151320"/>
                  <a:pt x="110756" y="146717"/>
                </a:cubicBezTo>
                <a:cubicBezTo>
                  <a:pt x="110756" y="142114"/>
                  <a:pt x="107052" y="138410"/>
                  <a:pt x="102449" y="138410"/>
                </a:cubicBezTo>
                <a:lnTo>
                  <a:pt x="72649" y="138410"/>
                </a:lnTo>
                <a:lnTo>
                  <a:pt x="67076" y="119859"/>
                </a:lnTo>
                <a:cubicBezTo>
                  <a:pt x="65450" y="114425"/>
                  <a:pt x="60466" y="110721"/>
                  <a:pt x="54790" y="110721"/>
                </a:cubicBezTo>
                <a:close/>
              </a:path>
            </a:pathLst>
          </a:custGeom>
          <a:solidFill>
            <a:srgbClr val="7A6250"/>
          </a:solidFill>
          <a:ln/>
        </p:spPr>
      </p:sp>
      <p:sp>
        <p:nvSpPr>
          <p:cNvPr id="50" name="Text 48"/>
          <p:cNvSpPr/>
          <p:nvPr/>
        </p:nvSpPr>
        <p:spPr>
          <a:xfrm>
            <a:off x="713821" y="5821326"/>
            <a:ext cx="11084442" cy="248093"/>
          </a:xfrm>
          <a:prstGeom prst="rect">
            <a:avLst/>
          </a:prstGeom>
          <a:noFill/>
          <a:ln/>
        </p:spPr>
        <p:txBody>
          <a:bodyPr wrap="square" lIns="0" tIns="0" rIns="0" bIns="0" rtlCol="0" anchor="ctr"/>
          <a:lstStyle/>
          <a:p>
            <a:pPr>
              <a:lnSpc>
                <a:spcPct val="130000"/>
              </a:lnSpc>
            </a:pPr>
            <a:r>
              <a:rPr lang="en-US" sz="1256" b="1" dirty="0">
                <a:solidFill>
                  <a:srgbClr val="3A4D39"/>
                </a:solidFill>
                <a:latin typeface="Unna" pitchFamily="34" charset="0"/>
                <a:ea typeface="Unna" pitchFamily="34" charset="-122"/>
                <a:cs typeface="Unna" pitchFamily="34" charset="-120"/>
              </a:rPr>
              <a:t>Post-Termination Obligations</a:t>
            </a:r>
            <a:endParaRPr lang="en-US" sz="1600" dirty="0"/>
          </a:p>
        </p:txBody>
      </p:sp>
      <p:sp>
        <p:nvSpPr>
          <p:cNvPr id="51" name="Text 49"/>
          <p:cNvSpPr/>
          <p:nvPr/>
        </p:nvSpPr>
        <p:spPr>
          <a:xfrm>
            <a:off x="713821" y="6104860"/>
            <a:ext cx="11075581" cy="425302"/>
          </a:xfrm>
          <a:prstGeom prst="rect">
            <a:avLst/>
          </a:prstGeom>
          <a:noFill/>
          <a:ln/>
        </p:spPr>
        <p:txBody>
          <a:bodyPr wrap="square" lIns="0" tIns="0" rIns="0" bIns="0" rtlCol="0" anchor="ctr"/>
          <a:lstStyle/>
          <a:p>
            <a:pPr>
              <a:lnSpc>
                <a:spcPct val="130000"/>
              </a:lnSpc>
            </a:pPr>
            <a:r>
              <a:rPr lang="en-US" sz="1116" dirty="0">
                <a:solidFill>
                  <a:srgbClr val="2C2C2C"/>
                </a:solidFill>
                <a:latin typeface="Quattrocento Sans" pitchFamily="34" charset="0"/>
                <a:ea typeface="Quattrocento Sans" pitchFamily="34" charset="-122"/>
                <a:cs typeface="Quattrocento Sans" pitchFamily="34" charset="-120"/>
              </a:rPr>
              <a:t>Upon termination: (1) Final accounting completed within 45 days; (2) All partnership assets liquidated or distributed in-kind; (3) Outstanding obligations settled; (4) Records retained for 7 years; (5) Confidentiality and non-compete obligations survive termination. Wilshire Farms retains ownership of all infrastructure and facilities contributed at inception.</a:t>
            </a:r>
            <a:endParaRPr lang="en-US" sz="1600" dirty="0"/>
          </a:p>
        </p:txBody>
      </p:sp>
    </p:spTree>
  </p:cSld>
  <p:clrMapOvr>
    <a:masterClrMapping/>
  </p:clrMapOvr>
  <p:transition>
    <p:fade/>
    <p:spd val="med"/>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6F2"/>
        </a:solidFill>
      </p:bgPr>
    </p:bg>
    <p:spTree>
      <p:nvGrpSpPr>
        <p:cNvPr id="1" name=""/>
        <p:cNvGrpSpPr/>
        <p:nvPr/>
      </p:nvGrpSpPr>
      <p:grpSpPr>
        <a:xfrm>
          <a:off x="0" y="0"/>
          <a:ext cx="0" cy="0"/>
          <a:chOff x="0" y="0"/>
          <a:chExt cx="0" cy="0"/>
        </a:xfrm>
      </p:grpSpPr>
      <p:sp>
        <p:nvSpPr>
          <p:cNvPr id="2" name="Shape 0"/>
          <p:cNvSpPr/>
          <p:nvPr/>
        </p:nvSpPr>
        <p:spPr>
          <a:xfrm>
            <a:off x="339610" y="339610"/>
            <a:ext cx="339610" cy="339610"/>
          </a:xfrm>
          <a:custGeom>
            <a:avLst/>
            <a:gdLst/>
            <a:ahLst/>
            <a:cxnLst/>
            <a:rect l="l" t="t" r="r" b="b"/>
            <a:pathLst>
              <a:path w="339610" h="339610">
                <a:moveTo>
                  <a:pt x="33961" y="0"/>
                </a:moveTo>
                <a:lnTo>
                  <a:pt x="305649" y="0"/>
                </a:lnTo>
                <a:cubicBezTo>
                  <a:pt x="324405" y="0"/>
                  <a:pt x="339610" y="15205"/>
                  <a:pt x="339610" y="33961"/>
                </a:cubicBezTo>
                <a:lnTo>
                  <a:pt x="339610" y="305649"/>
                </a:lnTo>
                <a:cubicBezTo>
                  <a:pt x="339610" y="324405"/>
                  <a:pt x="324405" y="339610"/>
                  <a:pt x="305649" y="339610"/>
                </a:cubicBezTo>
                <a:lnTo>
                  <a:pt x="33961" y="339610"/>
                </a:lnTo>
                <a:cubicBezTo>
                  <a:pt x="15205" y="339610"/>
                  <a:pt x="0" y="324405"/>
                  <a:pt x="0" y="305649"/>
                </a:cubicBezTo>
                <a:lnTo>
                  <a:pt x="0" y="33961"/>
                </a:lnTo>
                <a:cubicBezTo>
                  <a:pt x="0" y="15217"/>
                  <a:pt x="15217" y="0"/>
                  <a:pt x="33961" y="0"/>
                </a:cubicBezTo>
                <a:close/>
              </a:path>
            </a:pathLst>
          </a:custGeom>
          <a:solidFill>
            <a:srgbClr val="7A6250"/>
          </a:solidFill>
          <a:ln/>
        </p:spPr>
      </p:sp>
      <p:sp>
        <p:nvSpPr>
          <p:cNvPr id="3" name="Text 1"/>
          <p:cNvSpPr/>
          <p:nvPr/>
        </p:nvSpPr>
        <p:spPr>
          <a:xfrm>
            <a:off x="435391" y="390552"/>
            <a:ext cx="229237" cy="237727"/>
          </a:xfrm>
          <a:prstGeom prst="rect">
            <a:avLst/>
          </a:prstGeom>
          <a:noFill/>
          <a:ln/>
        </p:spPr>
        <p:txBody>
          <a:bodyPr wrap="square" lIns="0" tIns="0" rIns="0" bIns="0" rtlCol="0" anchor="ctr"/>
          <a:lstStyle/>
          <a:p>
            <a:pPr>
              <a:lnSpc>
                <a:spcPct val="120000"/>
              </a:lnSpc>
            </a:pPr>
            <a:r>
              <a:rPr lang="en-US" sz="1337" b="1" dirty="0">
                <a:solidFill>
                  <a:srgbClr val="F8F6F2"/>
                </a:solidFill>
                <a:latin typeface="Oranienbaum" pitchFamily="34" charset="0"/>
                <a:ea typeface="Oranienbaum" pitchFamily="34" charset="-122"/>
                <a:cs typeface="Oranienbaum" pitchFamily="34" charset="-120"/>
              </a:rPr>
              <a:t>14</a:t>
            </a:r>
            <a:endParaRPr lang="en-US" sz="1600" dirty="0"/>
          </a:p>
        </p:txBody>
      </p:sp>
      <p:sp>
        <p:nvSpPr>
          <p:cNvPr id="4" name="Text 2"/>
          <p:cNvSpPr/>
          <p:nvPr/>
        </p:nvSpPr>
        <p:spPr>
          <a:xfrm>
            <a:off x="781103" y="339610"/>
            <a:ext cx="2538585" cy="339610"/>
          </a:xfrm>
          <a:prstGeom prst="rect">
            <a:avLst/>
          </a:prstGeom>
          <a:noFill/>
          <a:ln/>
        </p:spPr>
        <p:txBody>
          <a:bodyPr wrap="square" lIns="0" tIns="0" rIns="0" bIns="0" rtlCol="0" anchor="ctr"/>
          <a:lstStyle/>
          <a:p>
            <a:pPr>
              <a:lnSpc>
                <a:spcPct val="90000"/>
              </a:lnSpc>
            </a:pPr>
            <a:r>
              <a:rPr lang="en-US" sz="2407" b="1" dirty="0">
                <a:solidFill>
                  <a:srgbClr val="3A4D39"/>
                </a:solidFill>
                <a:latin typeface="Oranienbaum" pitchFamily="34" charset="0"/>
                <a:ea typeface="Oranienbaum" pitchFamily="34" charset="-122"/>
                <a:cs typeface="Oranienbaum" pitchFamily="34" charset="-120"/>
              </a:rPr>
              <a:t>General Provisions</a:t>
            </a:r>
            <a:endParaRPr lang="en-US" sz="1600" dirty="0"/>
          </a:p>
        </p:txBody>
      </p:sp>
      <p:sp>
        <p:nvSpPr>
          <p:cNvPr id="5" name="Shape 3"/>
          <p:cNvSpPr/>
          <p:nvPr/>
        </p:nvSpPr>
        <p:spPr>
          <a:xfrm>
            <a:off x="339610" y="747142"/>
            <a:ext cx="679220" cy="33961"/>
          </a:xfrm>
          <a:custGeom>
            <a:avLst/>
            <a:gdLst/>
            <a:ahLst/>
            <a:cxnLst/>
            <a:rect l="l" t="t" r="r" b="b"/>
            <a:pathLst>
              <a:path w="679220" h="33961">
                <a:moveTo>
                  <a:pt x="0" y="0"/>
                </a:moveTo>
                <a:lnTo>
                  <a:pt x="679220" y="0"/>
                </a:lnTo>
                <a:lnTo>
                  <a:pt x="679220" y="33961"/>
                </a:lnTo>
                <a:lnTo>
                  <a:pt x="0" y="33961"/>
                </a:lnTo>
                <a:lnTo>
                  <a:pt x="0" y="0"/>
                </a:lnTo>
                <a:close/>
              </a:path>
            </a:pathLst>
          </a:custGeom>
          <a:solidFill>
            <a:srgbClr val="BCA37F"/>
          </a:solidFill>
          <a:ln/>
        </p:spPr>
      </p:sp>
      <p:sp>
        <p:nvSpPr>
          <p:cNvPr id="6" name="Shape 4"/>
          <p:cNvSpPr/>
          <p:nvPr/>
        </p:nvSpPr>
        <p:spPr>
          <a:xfrm>
            <a:off x="356591" y="916947"/>
            <a:ext cx="5671487" cy="916947"/>
          </a:xfrm>
          <a:custGeom>
            <a:avLst/>
            <a:gdLst/>
            <a:ahLst/>
            <a:cxnLst/>
            <a:rect l="l" t="t" r="r" b="b"/>
            <a:pathLst>
              <a:path w="5671487" h="916947">
                <a:moveTo>
                  <a:pt x="33961" y="0"/>
                </a:moveTo>
                <a:lnTo>
                  <a:pt x="5603569" y="0"/>
                </a:lnTo>
                <a:cubicBezTo>
                  <a:pt x="5641079" y="0"/>
                  <a:pt x="5671487" y="30408"/>
                  <a:pt x="5671487" y="67918"/>
                </a:cubicBezTo>
                <a:lnTo>
                  <a:pt x="5671487" y="849029"/>
                </a:lnTo>
                <a:cubicBezTo>
                  <a:pt x="5671487" y="886539"/>
                  <a:pt x="5641079" y="916947"/>
                  <a:pt x="5603569" y="916947"/>
                </a:cubicBezTo>
                <a:lnTo>
                  <a:pt x="33961" y="916947"/>
                </a:lnTo>
                <a:cubicBezTo>
                  <a:pt x="15205" y="916947"/>
                  <a:pt x="0" y="901742"/>
                  <a:pt x="0" y="882986"/>
                </a:cubicBezTo>
                <a:lnTo>
                  <a:pt x="0" y="33961"/>
                </a:lnTo>
                <a:cubicBezTo>
                  <a:pt x="0" y="15217"/>
                  <a:pt x="15217" y="0"/>
                  <a:pt x="33961" y="0"/>
                </a:cubicBezTo>
                <a:close/>
              </a:path>
            </a:pathLst>
          </a:custGeom>
          <a:solidFill>
            <a:srgbClr val="FFFFFF"/>
          </a:solidFill>
          <a:ln/>
          <a:effectLst>
            <a:outerShdw sx="100000" sy="100000" kx="0" ky="0" algn="bl" rotWithShape="0" blurRad="25471" dist="8490" dir="5400000">
              <a:srgbClr val="000000">
                <a:alpha val="10196"/>
              </a:srgbClr>
            </a:outerShdw>
          </a:effectLst>
        </p:spPr>
      </p:sp>
      <p:sp>
        <p:nvSpPr>
          <p:cNvPr id="7" name="Shape 5"/>
          <p:cNvSpPr/>
          <p:nvPr/>
        </p:nvSpPr>
        <p:spPr>
          <a:xfrm>
            <a:off x="356591" y="916947"/>
            <a:ext cx="33961" cy="916947"/>
          </a:xfrm>
          <a:custGeom>
            <a:avLst/>
            <a:gdLst/>
            <a:ahLst/>
            <a:cxnLst/>
            <a:rect l="l" t="t" r="r" b="b"/>
            <a:pathLst>
              <a:path w="33961" h="916947">
                <a:moveTo>
                  <a:pt x="33961" y="0"/>
                </a:moveTo>
                <a:lnTo>
                  <a:pt x="33961" y="0"/>
                </a:lnTo>
                <a:lnTo>
                  <a:pt x="33961" y="916947"/>
                </a:lnTo>
                <a:lnTo>
                  <a:pt x="33961" y="916947"/>
                </a:lnTo>
                <a:cubicBezTo>
                  <a:pt x="15205" y="916947"/>
                  <a:pt x="0" y="901742"/>
                  <a:pt x="0" y="882986"/>
                </a:cubicBezTo>
                <a:lnTo>
                  <a:pt x="0" y="33961"/>
                </a:lnTo>
                <a:cubicBezTo>
                  <a:pt x="0" y="15217"/>
                  <a:pt x="15217" y="0"/>
                  <a:pt x="33961" y="0"/>
                </a:cubicBezTo>
                <a:close/>
              </a:path>
            </a:pathLst>
          </a:custGeom>
          <a:solidFill>
            <a:srgbClr val="3A4D39"/>
          </a:solidFill>
          <a:ln/>
        </p:spPr>
      </p:sp>
      <p:sp>
        <p:nvSpPr>
          <p:cNvPr id="8" name="Shape 6"/>
          <p:cNvSpPr/>
          <p:nvPr/>
        </p:nvSpPr>
        <p:spPr>
          <a:xfrm>
            <a:off x="515783" y="1061281"/>
            <a:ext cx="114618" cy="152825"/>
          </a:xfrm>
          <a:custGeom>
            <a:avLst/>
            <a:gdLst/>
            <a:ahLst/>
            <a:cxnLst/>
            <a:rect l="l" t="t" r="r" b="b"/>
            <a:pathLst>
              <a:path w="114618" h="152825">
                <a:moveTo>
                  <a:pt x="0" y="19103"/>
                </a:moveTo>
                <a:cubicBezTo>
                  <a:pt x="0" y="8567"/>
                  <a:pt x="8567" y="0"/>
                  <a:pt x="19103" y="0"/>
                </a:cubicBezTo>
                <a:lnTo>
                  <a:pt x="63727" y="0"/>
                </a:lnTo>
                <a:cubicBezTo>
                  <a:pt x="68801" y="0"/>
                  <a:pt x="73666" y="2000"/>
                  <a:pt x="77248" y="5582"/>
                </a:cubicBezTo>
                <a:lnTo>
                  <a:pt x="109037" y="37400"/>
                </a:lnTo>
                <a:cubicBezTo>
                  <a:pt x="112619" y="40982"/>
                  <a:pt x="114618" y="45847"/>
                  <a:pt x="114618" y="50922"/>
                </a:cubicBezTo>
                <a:lnTo>
                  <a:pt x="114618" y="133721"/>
                </a:lnTo>
                <a:cubicBezTo>
                  <a:pt x="114618" y="144258"/>
                  <a:pt x="106052" y="152825"/>
                  <a:pt x="95515" y="152825"/>
                </a:cubicBezTo>
                <a:lnTo>
                  <a:pt x="19103" y="152825"/>
                </a:lnTo>
                <a:cubicBezTo>
                  <a:pt x="8567" y="152825"/>
                  <a:pt x="0" y="144258"/>
                  <a:pt x="0" y="133721"/>
                </a:cubicBezTo>
                <a:lnTo>
                  <a:pt x="0" y="19103"/>
                </a:lnTo>
                <a:close/>
                <a:moveTo>
                  <a:pt x="62085" y="17461"/>
                </a:moveTo>
                <a:lnTo>
                  <a:pt x="62085" y="45370"/>
                </a:lnTo>
                <a:cubicBezTo>
                  <a:pt x="62085" y="49340"/>
                  <a:pt x="65279" y="52533"/>
                  <a:pt x="69249" y="52533"/>
                </a:cubicBezTo>
                <a:lnTo>
                  <a:pt x="97157" y="52533"/>
                </a:lnTo>
                <a:lnTo>
                  <a:pt x="62085" y="17461"/>
                </a:lnTo>
                <a:close/>
                <a:moveTo>
                  <a:pt x="35818" y="76412"/>
                </a:moveTo>
                <a:cubicBezTo>
                  <a:pt x="31848" y="76412"/>
                  <a:pt x="28655" y="79606"/>
                  <a:pt x="28655" y="83576"/>
                </a:cubicBezTo>
                <a:cubicBezTo>
                  <a:pt x="28655" y="87546"/>
                  <a:pt x="31848" y="90740"/>
                  <a:pt x="35818" y="90740"/>
                </a:cubicBezTo>
                <a:lnTo>
                  <a:pt x="78800" y="90740"/>
                </a:lnTo>
                <a:cubicBezTo>
                  <a:pt x="82770" y="90740"/>
                  <a:pt x="85964" y="87546"/>
                  <a:pt x="85964" y="83576"/>
                </a:cubicBezTo>
                <a:cubicBezTo>
                  <a:pt x="85964" y="79606"/>
                  <a:pt x="82770" y="76412"/>
                  <a:pt x="78800" y="76412"/>
                </a:cubicBezTo>
                <a:lnTo>
                  <a:pt x="35818" y="76412"/>
                </a:lnTo>
                <a:close/>
                <a:moveTo>
                  <a:pt x="35818" y="105067"/>
                </a:moveTo>
                <a:cubicBezTo>
                  <a:pt x="31848" y="105067"/>
                  <a:pt x="28655" y="108261"/>
                  <a:pt x="28655" y="112231"/>
                </a:cubicBezTo>
                <a:cubicBezTo>
                  <a:pt x="28655" y="116200"/>
                  <a:pt x="31848" y="119394"/>
                  <a:pt x="35818" y="119394"/>
                </a:cubicBezTo>
                <a:lnTo>
                  <a:pt x="78800" y="119394"/>
                </a:lnTo>
                <a:cubicBezTo>
                  <a:pt x="82770" y="119394"/>
                  <a:pt x="85964" y="116200"/>
                  <a:pt x="85964" y="112231"/>
                </a:cubicBezTo>
                <a:cubicBezTo>
                  <a:pt x="85964" y="108261"/>
                  <a:pt x="82770" y="105067"/>
                  <a:pt x="78800" y="105067"/>
                </a:cubicBezTo>
                <a:lnTo>
                  <a:pt x="35818" y="105067"/>
                </a:lnTo>
                <a:close/>
              </a:path>
            </a:pathLst>
          </a:custGeom>
          <a:solidFill>
            <a:srgbClr val="3A4D39"/>
          </a:solidFill>
          <a:ln/>
        </p:spPr>
      </p:sp>
      <p:sp>
        <p:nvSpPr>
          <p:cNvPr id="9" name="Text 7"/>
          <p:cNvSpPr/>
          <p:nvPr/>
        </p:nvSpPr>
        <p:spPr>
          <a:xfrm>
            <a:off x="670730" y="1018830"/>
            <a:ext cx="5331877" cy="237727"/>
          </a:xfrm>
          <a:prstGeom prst="rect">
            <a:avLst/>
          </a:prstGeom>
          <a:noFill/>
          <a:ln/>
        </p:spPr>
        <p:txBody>
          <a:bodyPr wrap="square" lIns="0" tIns="0" rIns="0" bIns="0" rtlCol="0" anchor="ctr"/>
          <a:lstStyle/>
          <a:p>
            <a:pPr>
              <a:lnSpc>
                <a:spcPct val="130000"/>
              </a:lnSpc>
            </a:pPr>
            <a:r>
              <a:rPr lang="en-US" sz="1203" b="1" dirty="0">
                <a:solidFill>
                  <a:srgbClr val="3A4D39"/>
                </a:solidFill>
                <a:latin typeface="Unna" pitchFamily="34" charset="0"/>
                <a:ea typeface="Unna" pitchFamily="34" charset="-122"/>
                <a:cs typeface="Unna" pitchFamily="34" charset="-120"/>
              </a:rPr>
              <a:t>Entire Agreement</a:t>
            </a:r>
            <a:endParaRPr lang="en-US" sz="1600" dirty="0"/>
          </a:p>
        </p:txBody>
      </p:sp>
      <p:sp>
        <p:nvSpPr>
          <p:cNvPr id="10" name="Text 8"/>
          <p:cNvSpPr/>
          <p:nvPr/>
        </p:nvSpPr>
        <p:spPr>
          <a:xfrm>
            <a:off x="475454" y="1324479"/>
            <a:ext cx="5518663" cy="407532"/>
          </a:xfrm>
          <a:prstGeom prst="rect">
            <a:avLst/>
          </a:prstGeom>
          <a:noFill/>
          <a:ln/>
        </p:spPr>
        <p:txBody>
          <a:bodyPr wrap="square" lIns="0" tIns="0" rIns="0" bIns="0" rtlCol="0" anchor="ctr"/>
          <a:lstStyle/>
          <a:p>
            <a:pPr>
              <a:lnSpc>
                <a:spcPct val="130000"/>
              </a:lnSpc>
            </a:pPr>
            <a:r>
              <a:rPr lang="en-US" sz="1070" dirty="0">
                <a:solidFill>
                  <a:srgbClr val="2C2C2C"/>
                </a:solidFill>
                <a:latin typeface="Quattrocento Sans" pitchFamily="34" charset="0"/>
                <a:ea typeface="Quattrocento Sans" pitchFamily="34" charset="-122"/>
                <a:cs typeface="Quattrocento Sans" pitchFamily="34" charset="-120"/>
              </a:rPr>
              <a:t>This MOU constitutes the complete understanding between partners, superseding all prior agreements, representations, or understandings, whether written or oral.</a:t>
            </a:r>
            <a:endParaRPr lang="en-US" sz="1600" dirty="0"/>
          </a:p>
        </p:txBody>
      </p:sp>
      <p:sp>
        <p:nvSpPr>
          <p:cNvPr id="11" name="Shape 9"/>
          <p:cNvSpPr/>
          <p:nvPr/>
        </p:nvSpPr>
        <p:spPr>
          <a:xfrm>
            <a:off x="356591" y="1935777"/>
            <a:ext cx="5671487" cy="916947"/>
          </a:xfrm>
          <a:custGeom>
            <a:avLst/>
            <a:gdLst/>
            <a:ahLst/>
            <a:cxnLst/>
            <a:rect l="l" t="t" r="r" b="b"/>
            <a:pathLst>
              <a:path w="5671487" h="916947">
                <a:moveTo>
                  <a:pt x="33961" y="0"/>
                </a:moveTo>
                <a:lnTo>
                  <a:pt x="5603569" y="0"/>
                </a:lnTo>
                <a:cubicBezTo>
                  <a:pt x="5641079" y="0"/>
                  <a:pt x="5671487" y="30408"/>
                  <a:pt x="5671487" y="67918"/>
                </a:cubicBezTo>
                <a:lnTo>
                  <a:pt x="5671487" y="849029"/>
                </a:lnTo>
                <a:cubicBezTo>
                  <a:pt x="5671487" y="886539"/>
                  <a:pt x="5641079" y="916947"/>
                  <a:pt x="5603569" y="916947"/>
                </a:cubicBezTo>
                <a:lnTo>
                  <a:pt x="33961" y="916947"/>
                </a:lnTo>
                <a:cubicBezTo>
                  <a:pt x="15205" y="916947"/>
                  <a:pt x="0" y="901742"/>
                  <a:pt x="0" y="882986"/>
                </a:cubicBezTo>
                <a:lnTo>
                  <a:pt x="0" y="33961"/>
                </a:lnTo>
                <a:cubicBezTo>
                  <a:pt x="0" y="15217"/>
                  <a:pt x="15217" y="0"/>
                  <a:pt x="33961" y="0"/>
                </a:cubicBezTo>
                <a:close/>
              </a:path>
            </a:pathLst>
          </a:custGeom>
          <a:solidFill>
            <a:srgbClr val="FFFFFF"/>
          </a:solidFill>
          <a:ln/>
          <a:effectLst>
            <a:outerShdw sx="100000" sy="100000" kx="0" ky="0" algn="bl" rotWithShape="0" blurRad="25471" dist="8490" dir="5400000">
              <a:srgbClr val="000000">
                <a:alpha val="10196"/>
              </a:srgbClr>
            </a:outerShdw>
          </a:effectLst>
        </p:spPr>
      </p:sp>
      <p:sp>
        <p:nvSpPr>
          <p:cNvPr id="12" name="Shape 10"/>
          <p:cNvSpPr/>
          <p:nvPr/>
        </p:nvSpPr>
        <p:spPr>
          <a:xfrm>
            <a:off x="356591" y="1935777"/>
            <a:ext cx="33961" cy="916947"/>
          </a:xfrm>
          <a:custGeom>
            <a:avLst/>
            <a:gdLst/>
            <a:ahLst/>
            <a:cxnLst/>
            <a:rect l="l" t="t" r="r" b="b"/>
            <a:pathLst>
              <a:path w="33961" h="916947">
                <a:moveTo>
                  <a:pt x="33961" y="0"/>
                </a:moveTo>
                <a:lnTo>
                  <a:pt x="33961" y="0"/>
                </a:lnTo>
                <a:lnTo>
                  <a:pt x="33961" y="916947"/>
                </a:lnTo>
                <a:lnTo>
                  <a:pt x="33961" y="916947"/>
                </a:lnTo>
                <a:cubicBezTo>
                  <a:pt x="15205" y="916947"/>
                  <a:pt x="0" y="901742"/>
                  <a:pt x="0" y="882986"/>
                </a:cubicBezTo>
                <a:lnTo>
                  <a:pt x="0" y="33961"/>
                </a:lnTo>
                <a:cubicBezTo>
                  <a:pt x="0" y="15217"/>
                  <a:pt x="15217" y="0"/>
                  <a:pt x="33961" y="0"/>
                </a:cubicBezTo>
                <a:close/>
              </a:path>
            </a:pathLst>
          </a:custGeom>
          <a:solidFill>
            <a:srgbClr val="7A6250"/>
          </a:solidFill>
          <a:ln/>
        </p:spPr>
      </p:sp>
      <p:sp>
        <p:nvSpPr>
          <p:cNvPr id="13" name="Shape 11"/>
          <p:cNvSpPr/>
          <p:nvPr/>
        </p:nvSpPr>
        <p:spPr>
          <a:xfrm>
            <a:off x="496680" y="2080111"/>
            <a:ext cx="152825" cy="152825"/>
          </a:xfrm>
          <a:custGeom>
            <a:avLst/>
            <a:gdLst/>
            <a:ahLst/>
            <a:cxnLst/>
            <a:rect l="l" t="t" r="r" b="b"/>
            <a:pathLst>
              <a:path w="152825" h="152825">
                <a:moveTo>
                  <a:pt x="140766" y="6477"/>
                </a:moveTo>
                <a:cubicBezTo>
                  <a:pt x="134229" y="-60"/>
                  <a:pt x="123662" y="-60"/>
                  <a:pt x="117126" y="6477"/>
                </a:cubicBezTo>
                <a:lnTo>
                  <a:pt x="109843" y="13760"/>
                </a:lnTo>
                <a:lnTo>
                  <a:pt x="139064" y="42982"/>
                </a:lnTo>
                <a:lnTo>
                  <a:pt x="146347" y="35699"/>
                </a:lnTo>
                <a:cubicBezTo>
                  <a:pt x="152884" y="29162"/>
                  <a:pt x="152884" y="18596"/>
                  <a:pt x="146347" y="12059"/>
                </a:cubicBezTo>
                <a:lnTo>
                  <a:pt x="140766" y="6477"/>
                </a:lnTo>
                <a:close/>
                <a:moveTo>
                  <a:pt x="51459" y="72144"/>
                </a:moveTo>
                <a:cubicBezTo>
                  <a:pt x="49638" y="73965"/>
                  <a:pt x="48235" y="76203"/>
                  <a:pt x="47429" y="78681"/>
                </a:cubicBezTo>
                <a:lnTo>
                  <a:pt x="38594" y="105186"/>
                </a:lnTo>
                <a:cubicBezTo>
                  <a:pt x="37729" y="107753"/>
                  <a:pt x="38415" y="110589"/>
                  <a:pt x="40325" y="112529"/>
                </a:cubicBezTo>
                <a:cubicBezTo>
                  <a:pt x="42236" y="114469"/>
                  <a:pt x="45071" y="115126"/>
                  <a:pt x="47668" y="114260"/>
                </a:cubicBezTo>
                <a:lnTo>
                  <a:pt x="74174" y="105425"/>
                </a:lnTo>
                <a:cubicBezTo>
                  <a:pt x="76621" y="104619"/>
                  <a:pt x="78860" y="103216"/>
                  <a:pt x="80710" y="101395"/>
                </a:cubicBezTo>
                <a:lnTo>
                  <a:pt x="128946" y="53101"/>
                </a:lnTo>
                <a:lnTo>
                  <a:pt x="99724" y="23879"/>
                </a:lnTo>
                <a:lnTo>
                  <a:pt x="51459" y="72144"/>
                </a:lnTo>
                <a:close/>
                <a:moveTo>
                  <a:pt x="28655" y="19103"/>
                </a:moveTo>
                <a:cubicBezTo>
                  <a:pt x="12835" y="19103"/>
                  <a:pt x="0" y="31938"/>
                  <a:pt x="0" y="47758"/>
                </a:cubicBezTo>
                <a:lnTo>
                  <a:pt x="0" y="124170"/>
                </a:lnTo>
                <a:cubicBezTo>
                  <a:pt x="0" y="139990"/>
                  <a:pt x="12835" y="152825"/>
                  <a:pt x="28655" y="152825"/>
                </a:cubicBezTo>
                <a:lnTo>
                  <a:pt x="105067" y="152825"/>
                </a:lnTo>
                <a:cubicBezTo>
                  <a:pt x="120887" y="152825"/>
                  <a:pt x="133721" y="139990"/>
                  <a:pt x="133721" y="124170"/>
                </a:cubicBezTo>
                <a:lnTo>
                  <a:pt x="133721" y="95515"/>
                </a:lnTo>
                <a:cubicBezTo>
                  <a:pt x="133721" y="90232"/>
                  <a:pt x="129453" y="85964"/>
                  <a:pt x="124170" y="85964"/>
                </a:cubicBezTo>
                <a:cubicBezTo>
                  <a:pt x="118887" y="85964"/>
                  <a:pt x="114618" y="90232"/>
                  <a:pt x="114618" y="95515"/>
                </a:cubicBezTo>
                <a:lnTo>
                  <a:pt x="114618" y="124170"/>
                </a:lnTo>
                <a:cubicBezTo>
                  <a:pt x="114618" y="129453"/>
                  <a:pt x="110350" y="133721"/>
                  <a:pt x="105067" y="133721"/>
                </a:cubicBezTo>
                <a:lnTo>
                  <a:pt x="28655" y="133721"/>
                </a:lnTo>
                <a:cubicBezTo>
                  <a:pt x="23371" y="133721"/>
                  <a:pt x="19103" y="129453"/>
                  <a:pt x="19103" y="124170"/>
                </a:cubicBezTo>
                <a:lnTo>
                  <a:pt x="19103" y="47758"/>
                </a:lnTo>
                <a:cubicBezTo>
                  <a:pt x="19103" y="42474"/>
                  <a:pt x="23371" y="38206"/>
                  <a:pt x="28655" y="38206"/>
                </a:cubicBezTo>
                <a:lnTo>
                  <a:pt x="57309" y="38206"/>
                </a:lnTo>
                <a:cubicBezTo>
                  <a:pt x="62592" y="38206"/>
                  <a:pt x="66861" y="33938"/>
                  <a:pt x="66861" y="28655"/>
                </a:cubicBezTo>
                <a:cubicBezTo>
                  <a:pt x="66861" y="23371"/>
                  <a:pt x="62592" y="19103"/>
                  <a:pt x="57309" y="19103"/>
                </a:cubicBezTo>
                <a:lnTo>
                  <a:pt x="28655" y="19103"/>
                </a:lnTo>
                <a:close/>
              </a:path>
            </a:pathLst>
          </a:custGeom>
          <a:solidFill>
            <a:srgbClr val="7A6250"/>
          </a:solidFill>
          <a:ln/>
        </p:spPr>
      </p:sp>
      <p:sp>
        <p:nvSpPr>
          <p:cNvPr id="14" name="Text 12"/>
          <p:cNvSpPr/>
          <p:nvPr/>
        </p:nvSpPr>
        <p:spPr>
          <a:xfrm>
            <a:off x="670730" y="2037660"/>
            <a:ext cx="5331877" cy="237727"/>
          </a:xfrm>
          <a:prstGeom prst="rect">
            <a:avLst/>
          </a:prstGeom>
          <a:noFill/>
          <a:ln/>
        </p:spPr>
        <p:txBody>
          <a:bodyPr wrap="square" lIns="0" tIns="0" rIns="0" bIns="0" rtlCol="0" anchor="ctr"/>
          <a:lstStyle/>
          <a:p>
            <a:pPr>
              <a:lnSpc>
                <a:spcPct val="130000"/>
              </a:lnSpc>
            </a:pPr>
            <a:r>
              <a:rPr lang="en-US" sz="1203" b="1" dirty="0">
                <a:solidFill>
                  <a:srgbClr val="3A4D39"/>
                </a:solidFill>
                <a:latin typeface="Unna" pitchFamily="34" charset="0"/>
                <a:ea typeface="Unna" pitchFamily="34" charset="-122"/>
                <a:cs typeface="Unna" pitchFamily="34" charset="-120"/>
              </a:rPr>
              <a:t>Amendments</a:t>
            </a:r>
            <a:endParaRPr lang="en-US" sz="1600" dirty="0"/>
          </a:p>
        </p:txBody>
      </p:sp>
      <p:sp>
        <p:nvSpPr>
          <p:cNvPr id="15" name="Text 13"/>
          <p:cNvSpPr/>
          <p:nvPr/>
        </p:nvSpPr>
        <p:spPr>
          <a:xfrm>
            <a:off x="475454" y="2343309"/>
            <a:ext cx="5518663" cy="407532"/>
          </a:xfrm>
          <a:prstGeom prst="rect">
            <a:avLst/>
          </a:prstGeom>
          <a:noFill/>
          <a:ln/>
        </p:spPr>
        <p:txBody>
          <a:bodyPr wrap="square" lIns="0" tIns="0" rIns="0" bIns="0" rtlCol="0" anchor="ctr"/>
          <a:lstStyle/>
          <a:p>
            <a:pPr>
              <a:lnSpc>
                <a:spcPct val="130000"/>
              </a:lnSpc>
            </a:pPr>
            <a:r>
              <a:rPr lang="en-US" sz="1070" dirty="0">
                <a:solidFill>
                  <a:srgbClr val="2C2C2C"/>
                </a:solidFill>
                <a:latin typeface="Quattrocento Sans" pitchFamily="34" charset="0"/>
                <a:ea typeface="Quattrocento Sans" pitchFamily="34" charset="-122"/>
                <a:cs typeface="Quattrocento Sans" pitchFamily="34" charset="-120"/>
              </a:rPr>
              <a:t>No modification or amendment binding unless in writing and signed by all partners. Email or electronic signatures acceptable if properly authenticated.</a:t>
            </a:r>
            <a:endParaRPr lang="en-US" sz="1600" dirty="0"/>
          </a:p>
        </p:txBody>
      </p:sp>
      <p:sp>
        <p:nvSpPr>
          <p:cNvPr id="16" name="Shape 14"/>
          <p:cNvSpPr/>
          <p:nvPr/>
        </p:nvSpPr>
        <p:spPr>
          <a:xfrm>
            <a:off x="356591" y="2954607"/>
            <a:ext cx="5671487" cy="916947"/>
          </a:xfrm>
          <a:custGeom>
            <a:avLst/>
            <a:gdLst/>
            <a:ahLst/>
            <a:cxnLst/>
            <a:rect l="l" t="t" r="r" b="b"/>
            <a:pathLst>
              <a:path w="5671487" h="916947">
                <a:moveTo>
                  <a:pt x="33961" y="0"/>
                </a:moveTo>
                <a:lnTo>
                  <a:pt x="5603569" y="0"/>
                </a:lnTo>
                <a:cubicBezTo>
                  <a:pt x="5641079" y="0"/>
                  <a:pt x="5671487" y="30408"/>
                  <a:pt x="5671487" y="67918"/>
                </a:cubicBezTo>
                <a:lnTo>
                  <a:pt x="5671487" y="849029"/>
                </a:lnTo>
                <a:cubicBezTo>
                  <a:pt x="5671487" y="886539"/>
                  <a:pt x="5641079" y="916947"/>
                  <a:pt x="5603569" y="916947"/>
                </a:cubicBezTo>
                <a:lnTo>
                  <a:pt x="33961" y="916947"/>
                </a:lnTo>
                <a:cubicBezTo>
                  <a:pt x="15205" y="916947"/>
                  <a:pt x="0" y="901742"/>
                  <a:pt x="0" y="882986"/>
                </a:cubicBezTo>
                <a:lnTo>
                  <a:pt x="0" y="33961"/>
                </a:lnTo>
                <a:cubicBezTo>
                  <a:pt x="0" y="15217"/>
                  <a:pt x="15217" y="0"/>
                  <a:pt x="33961" y="0"/>
                </a:cubicBezTo>
                <a:close/>
              </a:path>
            </a:pathLst>
          </a:custGeom>
          <a:solidFill>
            <a:srgbClr val="FFFFFF"/>
          </a:solidFill>
          <a:ln/>
          <a:effectLst>
            <a:outerShdw sx="100000" sy="100000" kx="0" ky="0" algn="bl" rotWithShape="0" blurRad="25471" dist="8490" dir="5400000">
              <a:srgbClr val="000000">
                <a:alpha val="10196"/>
              </a:srgbClr>
            </a:outerShdw>
          </a:effectLst>
        </p:spPr>
      </p:sp>
      <p:sp>
        <p:nvSpPr>
          <p:cNvPr id="17" name="Shape 15"/>
          <p:cNvSpPr/>
          <p:nvPr/>
        </p:nvSpPr>
        <p:spPr>
          <a:xfrm>
            <a:off x="356591" y="2954607"/>
            <a:ext cx="33961" cy="916947"/>
          </a:xfrm>
          <a:custGeom>
            <a:avLst/>
            <a:gdLst/>
            <a:ahLst/>
            <a:cxnLst/>
            <a:rect l="l" t="t" r="r" b="b"/>
            <a:pathLst>
              <a:path w="33961" h="916947">
                <a:moveTo>
                  <a:pt x="33961" y="0"/>
                </a:moveTo>
                <a:lnTo>
                  <a:pt x="33961" y="0"/>
                </a:lnTo>
                <a:lnTo>
                  <a:pt x="33961" y="916947"/>
                </a:lnTo>
                <a:lnTo>
                  <a:pt x="33961" y="916947"/>
                </a:lnTo>
                <a:cubicBezTo>
                  <a:pt x="15205" y="916947"/>
                  <a:pt x="0" y="901742"/>
                  <a:pt x="0" y="882986"/>
                </a:cubicBezTo>
                <a:lnTo>
                  <a:pt x="0" y="33961"/>
                </a:lnTo>
                <a:cubicBezTo>
                  <a:pt x="0" y="15217"/>
                  <a:pt x="15217" y="0"/>
                  <a:pt x="33961" y="0"/>
                </a:cubicBezTo>
                <a:close/>
              </a:path>
            </a:pathLst>
          </a:custGeom>
          <a:solidFill>
            <a:srgbClr val="3A4D39"/>
          </a:solidFill>
          <a:ln/>
        </p:spPr>
      </p:sp>
      <p:sp>
        <p:nvSpPr>
          <p:cNvPr id="18" name="Shape 16"/>
          <p:cNvSpPr/>
          <p:nvPr/>
        </p:nvSpPr>
        <p:spPr>
          <a:xfrm>
            <a:off x="496680" y="3098942"/>
            <a:ext cx="152825" cy="152825"/>
          </a:xfrm>
          <a:custGeom>
            <a:avLst/>
            <a:gdLst/>
            <a:ahLst/>
            <a:cxnLst/>
            <a:rect l="l" t="t" r="r" b="b"/>
            <a:pathLst>
              <a:path w="152825" h="152825">
                <a:moveTo>
                  <a:pt x="85964" y="9552"/>
                </a:moveTo>
                <a:cubicBezTo>
                  <a:pt x="85964" y="4268"/>
                  <a:pt x="81695" y="0"/>
                  <a:pt x="76412" y="0"/>
                </a:cubicBezTo>
                <a:cubicBezTo>
                  <a:pt x="71129" y="0"/>
                  <a:pt x="66861" y="4268"/>
                  <a:pt x="66861" y="9552"/>
                </a:cubicBezTo>
                <a:lnTo>
                  <a:pt x="66861" y="71636"/>
                </a:lnTo>
                <a:cubicBezTo>
                  <a:pt x="66861" y="74263"/>
                  <a:pt x="64712" y="76412"/>
                  <a:pt x="62085" y="76412"/>
                </a:cubicBezTo>
                <a:cubicBezTo>
                  <a:pt x="59458" y="76412"/>
                  <a:pt x="57309" y="74263"/>
                  <a:pt x="57309" y="71636"/>
                </a:cubicBezTo>
                <a:lnTo>
                  <a:pt x="57309" y="19103"/>
                </a:lnTo>
                <a:cubicBezTo>
                  <a:pt x="57309" y="13820"/>
                  <a:pt x="53041" y="9552"/>
                  <a:pt x="47758" y="9552"/>
                </a:cubicBezTo>
                <a:cubicBezTo>
                  <a:pt x="42474" y="9552"/>
                  <a:pt x="38206" y="13820"/>
                  <a:pt x="38206" y="19103"/>
                </a:cubicBezTo>
                <a:lnTo>
                  <a:pt x="38206" y="100291"/>
                </a:lnTo>
                <a:cubicBezTo>
                  <a:pt x="38206" y="100739"/>
                  <a:pt x="38206" y="101216"/>
                  <a:pt x="38236" y="101664"/>
                </a:cubicBezTo>
                <a:lnTo>
                  <a:pt x="20178" y="84471"/>
                </a:lnTo>
                <a:cubicBezTo>
                  <a:pt x="15402" y="79934"/>
                  <a:pt x="7850" y="80113"/>
                  <a:pt x="3283" y="84889"/>
                </a:cubicBezTo>
                <a:cubicBezTo>
                  <a:pt x="-1283" y="89665"/>
                  <a:pt x="-1075" y="97217"/>
                  <a:pt x="3701" y="101784"/>
                </a:cubicBezTo>
                <a:lnTo>
                  <a:pt x="37251" y="133721"/>
                </a:lnTo>
                <a:cubicBezTo>
                  <a:pt x="50116" y="145989"/>
                  <a:pt x="67219" y="152825"/>
                  <a:pt x="85009" y="152825"/>
                </a:cubicBezTo>
                <a:lnTo>
                  <a:pt x="90740" y="152825"/>
                </a:lnTo>
                <a:cubicBezTo>
                  <a:pt x="119752" y="152825"/>
                  <a:pt x="143273" y="129304"/>
                  <a:pt x="143273" y="100291"/>
                </a:cubicBezTo>
                <a:lnTo>
                  <a:pt x="143273" y="38206"/>
                </a:lnTo>
                <a:cubicBezTo>
                  <a:pt x="143273" y="32923"/>
                  <a:pt x="139005" y="28655"/>
                  <a:pt x="133721" y="28655"/>
                </a:cubicBezTo>
                <a:cubicBezTo>
                  <a:pt x="128438" y="28655"/>
                  <a:pt x="124170" y="32923"/>
                  <a:pt x="124170" y="38206"/>
                </a:cubicBezTo>
                <a:lnTo>
                  <a:pt x="124170" y="71636"/>
                </a:lnTo>
                <a:cubicBezTo>
                  <a:pt x="124170" y="74263"/>
                  <a:pt x="122021" y="76412"/>
                  <a:pt x="119394" y="76412"/>
                </a:cubicBezTo>
                <a:cubicBezTo>
                  <a:pt x="116767" y="76412"/>
                  <a:pt x="114618" y="74263"/>
                  <a:pt x="114618" y="71636"/>
                </a:cubicBezTo>
                <a:lnTo>
                  <a:pt x="114618" y="19103"/>
                </a:lnTo>
                <a:cubicBezTo>
                  <a:pt x="114618" y="13820"/>
                  <a:pt x="110350" y="9552"/>
                  <a:pt x="105067" y="9552"/>
                </a:cubicBezTo>
                <a:cubicBezTo>
                  <a:pt x="99784" y="9552"/>
                  <a:pt x="95515" y="13820"/>
                  <a:pt x="95515" y="19103"/>
                </a:cubicBezTo>
                <a:lnTo>
                  <a:pt x="95515" y="71636"/>
                </a:lnTo>
                <a:cubicBezTo>
                  <a:pt x="95515" y="74263"/>
                  <a:pt x="93366" y="76412"/>
                  <a:pt x="90740" y="76412"/>
                </a:cubicBezTo>
                <a:cubicBezTo>
                  <a:pt x="88113" y="76412"/>
                  <a:pt x="85964" y="74263"/>
                  <a:pt x="85964" y="71636"/>
                </a:cubicBezTo>
                <a:lnTo>
                  <a:pt x="85964" y="9552"/>
                </a:lnTo>
                <a:close/>
              </a:path>
            </a:pathLst>
          </a:custGeom>
          <a:solidFill>
            <a:srgbClr val="3A4D39"/>
          </a:solidFill>
          <a:ln/>
        </p:spPr>
      </p:sp>
      <p:sp>
        <p:nvSpPr>
          <p:cNvPr id="19" name="Text 17"/>
          <p:cNvSpPr/>
          <p:nvPr/>
        </p:nvSpPr>
        <p:spPr>
          <a:xfrm>
            <a:off x="670730" y="3056490"/>
            <a:ext cx="5331877" cy="237727"/>
          </a:xfrm>
          <a:prstGeom prst="rect">
            <a:avLst/>
          </a:prstGeom>
          <a:noFill/>
          <a:ln/>
        </p:spPr>
        <p:txBody>
          <a:bodyPr wrap="square" lIns="0" tIns="0" rIns="0" bIns="0" rtlCol="0" anchor="ctr"/>
          <a:lstStyle/>
          <a:p>
            <a:pPr>
              <a:lnSpc>
                <a:spcPct val="130000"/>
              </a:lnSpc>
            </a:pPr>
            <a:r>
              <a:rPr lang="en-US" sz="1203" b="1" dirty="0">
                <a:solidFill>
                  <a:srgbClr val="3A4D39"/>
                </a:solidFill>
                <a:latin typeface="Unna" pitchFamily="34" charset="0"/>
                <a:ea typeface="Unna" pitchFamily="34" charset="-122"/>
                <a:cs typeface="Unna" pitchFamily="34" charset="-120"/>
              </a:rPr>
              <a:t>Waiver</a:t>
            </a:r>
            <a:endParaRPr lang="en-US" sz="1600" dirty="0"/>
          </a:p>
        </p:txBody>
      </p:sp>
      <p:sp>
        <p:nvSpPr>
          <p:cNvPr id="20" name="Text 18"/>
          <p:cNvSpPr/>
          <p:nvPr/>
        </p:nvSpPr>
        <p:spPr>
          <a:xfrm>
            <a:off x="475454" y="3362139"/>
            <a:ext cx="5518663" cy="407532"/>
          </a:xfrm>
          <a:prstGeom prst="rect">
            <a:avLst/>
          </a:prstGeom>
          <a:noFill/>
          <a:ln/>
        </p:spPr>
        <p:txBody>
          <a:bodyPr wrap="square" lIns="0" tIns="0" rIns="0" bIns="0" rtlCol="0" anchor="ctr"/>
          <a:lstStyle/>
          <a:p>
            <a:pPr>
              <a:lnSpc>
                <a:spcPct val="130000"/>
              </a:lnSpc>
            </a:pPr>
            <a:r>
              <a:rPr lang="en-US" sz="1070" dirty="0">
                <a:solidFill>
                  <a:srgbClr val="2C2C2C"/>
                </a:solidFill>
                <a:latin typeface="Quattrocento Sans" pitchFamily="34" charset="0"/>
                <a:ea typeface="Quattrocento Sans" pitchFamily="34" charset="-122"/>
                <a:cs typeface="Quattrocento Sans" pitchFamily="34" charset="-120"/>
              </a:rPr>
              <a:t>Failure to enforce any provision does not constitute waiver of future enforcement. Waivers must be in writing and signed by waiving party.</a:t>
            </a:r>
            <a:endParaRPr lang="en-US" sz="1600" dirty="0"/>
          </a:p>
        </p:txBody>
      </p:sp>
      <p:sp>
        <p:nvSpPr>
          <p:cNvPr id="21" name="Shape 19"/>
          <p:cNvSpPr/>
          <p:nvPr/>
        </p:nvSpPr>
        <p:spPr>
          <a:xfrm>
            <a:off x="356591" y="3973437"/>
            <a:ext cx="5671487" cy="916947"/>
          </a:xfrm>
          <a:custGeom>
            <a:avLst/>
            <a:gdLst/>
            <a:ahLst/>
            <a:cxnLst/>
            <a:rect l="l" t="t" r="r" b="b"/>
            <a:pathLst>
              <a:path w="5671487" h="916947">
                <a:moveTo>
                  <a:pt x="33961" y="0"/>
                </a:moveTo>
                <a:lnTo>
                  <a:pt x="5603569" y="0"/>
                </a:lnTo>
                <a:cubicBezTo>
                  <a:pt x="5641079" y="0"/>
                  <a:pt x="5671487" y="30408"/>
                  <a:pt x="5671487" y="67918"/>
                </a:cubicBezTo>
                <a:lnTo>
                  <a:pt x="5671487" y="849029"/>
                </a:lnTo>
                <a:cubicBezTo>
                  <a:pt x="5671487" y="886539"/>
                  <a:pt x="5641079" y="916947"/>
                  <a:pt x="5603569" y="916947"/>
                </a:cubicBezTo>
                <a:lnTo>
                  <a:pt x="33961" y="916947"/>
                </a:lnTo>
                <a:cubicBezTo>
                  <a:pt x="15205" y="916947"/>
                  <a:pt x="0" y="901742"/>
                  <a:pt x="0" y="882986"/>
                </a:cubicBezTo>
                <a:lnTo>
                  <a:pt x="0" y="33961"/>
                </a:lnTo>
                <a:cubicBezTo>
                  <a:pt x="0" y="15217"/>
                  <a:pt x="15217" y="0"/>
                  <a:pt x="33961" y="0"/>
                </a:cubicBezTo>
                <a:close/>
              </a:path>
            </a:pathLst>
          </a:custGeom>
          <a:solidFill>
            <a:srgbClr val="FFFFFF"/>
          </a:solidFill>
          <a:ln/>
          <a:effectLst>
            <a:outerShdw sx="100000" sy="100000" kx="0" ky="0" algn="bl" rotWithShape="0" blurRad="25471" dist="8490" dir="5400000">
              <a:srgbClr val="000000">
                <a:alpha val="10196"/>
              </a:srgbClr>
            </a:outerShdw>
          </a:effectLst>
        </p:spPr>
      </p:sp>
      <p:sp>
        <p:nvSpPr>
          <p:cNvPr id="22" name="Shape 20"/>
          <p:cNvSpPr/>
          <p:nvPr/>
        </p:nvSpPr>
        <p:spPr>
          <a:xfrm>
            <a:off x="356591" y="3973437"/>
            <a:ext cx="33961" cy="916947"/>
          </a:xfrm>
          <a:custGeom>
            <a:avLst/>
            <a:gdLst/>
            <a:ahLst/>
            <a:cxnLst/>
            <a:rect l="l" t="t" r="r" b="b"/>
            <a:pathLst>
              <a:path w="33961" h="916947">
                <a:moveTo>
                  <a:pt x="33961" y="0"/>
                </a:moveTo>
                <a:lnTo>
                  <a:pt x="33961" y="0"/>
                </a:lnTo>
                <a:lnTo>
                  <a:pt x="33961" y="916947"/>
                </a:lnTo>
                <a:lnTo>
                  <a:pt x="33961" y="916947"/>
                </a:lnTo>
                <a:cubicBezTo>
                  <a:pt x="15205" y="916947"/>
                  <a:pt x="0" y="901742"/>
                  <a:pt x="0" y="882986"/>
                </a:cubicBezTo>
                <a:lnTo>
                  <a:pt x="0" y="33961"/>
                </a:lnTo>
                <a:cubicBezTo>
                  <a:pt x="0" y="15217"/>
                  <a:pt x="15217" y="0"/>
                  <a:pt x="33961" y="0"/>
                </a:cubicBezTo>
                <a:close/>
              </a:path>
            </a:pathLst>
          </a:custGeom>
          <a:solidFill>
            <a:srgbClr val="7A6250"/>
          </a:solidFill>
          <a:ln/>
        </p:spPr>
      </p:sp>
      <p:sp>
        <p:nvSpPr>
          <p:cNvPr id="23" name="Shape 21"/>
          <p:cNvSpPr/>
          <p:nvPr/>
        </p:nvSpPr>
        <p:spPr>
          <a:xfrm>
            <a:off x="496680" y="4117772"/>
            <a:ext cx="152825" cy="152825"/>
          </a:xfrm>
          <a:custGeom>
            <a:avLst/>
            <a:gdLst/>
            <a:ahLst/>
            <a:cxnLst/>
            <a:rect l="l" t="t" r="r" b="b"/>
            <a:pathLst>
              <a:path w="152825" h="152825">
                <a:moveTo>
                  <a:pt x="57309" y="76412"/>
                </a:moveTo>
                <a:lnTo>
                  <a:pt x="45519" y="88202"/>
                </a:lnTo>
                <a:cubicBezTo>
                  <a:pt x="41758" y="86740"/>
                  <a:pt x="37699" y="85964"/>
                  <a:pt x="33430" y="85964"/>
                </a:cubicBezTo>
                <a:cubicBezTo>
                  <a:pt x="14954" y="85964"/>
                  <a:pt x="0" y="100918"/>
                  <a:pt x="0" y="119394"/>
                </a:cubicBezTo>
                <a:cubicBezTo>
                  <a:pt x="0" y="137870"/>
                  <a:pt x="14954" y="152825"/>
                  <a:pt x="33430" y="152825"/>
                </a:cubicBezTo>
                <a:cubicBezTo>
                  <a:pt x="51907" y="152825"/>
                  <a:pt x="66861" y="137870"/>
                  <a:pt x="66861" y="119394"/>
                </a:cubicBezTo>
                <a:cubicBezTo>
                  <a:pt x="66861" y="115126"/>
                  <a:pt x="66055" y="111066"/>
                  <a:pt x="64622" y="107305"/>
                </a:cubicBezTo>
                <a:lnTo>
                  <a:pt x="149004" y="22924"/>
                </a:lnTo>
                <a:cubicBezTo>
                  <a:pt x="151123" y="20804"/>
                  <a:pt x="151123" y="17402"/>
                  <a:pt x="149004" y="15282"/>
                </a:cubicBezTo>
                <a:cubicBezTo>
                  <a:pt x="140557" y="6835"/>
                  <a:pt x="126886" y="6835"/>
                  <a:pt x="118439" y="15282"/>
                </a:cubicBezTo>
                <a:lnTo>
                  <a:pt x="76412" y="57309"/>
                </a:lnTo>
                <a:lnTo>
                  <a:pt x="64622" y="45519"/>
                </a:lnTo>
                <a:cubicBezTo>
                  <a:pt x="66085" y="41758"/>
                  <a:pt x="66861" y="37699"/>
                  <a:pt x="66861" y="33430"/>
                </a:cubicBezTo>
                <a:cubicBezTo>
                  <a:pt x="66861" y="14954"/>
                  <a:pt x="51907" y="0"/>
                  <a:pt x="33430" y="0"/>
                </a:cubicBezTo>
                <a:cubicBezTo>
                  <a:pt x="14954" y="0"/>
                  <a:pt x="0" y="14954"/>
                  <a:pt x="0" y="33430"/>
                </a:cubicBezTo>
                <a:cubicBezTo>
                  <a:pt x="0" y="51907"/>
                  <a:pt x="14954" y="66861"/>
                  <a:pt x="33430" y="66861"/>
                </a:cubicBezTo>
                <a:cubicBezTo>
                  <a:pt x="37699" y="66861"/>
                  <a:pt x="41758" y="66055"/>
                  <a:pt x="45519" y="64622"/>
                </a:cubicBezTo>
                <a:lnTo>
                  <a:pt x="57309" y="76412"/>
                </a:lnTo>
                <a:close/>
                <a:moveTo>
                  <a:pt x="86531" y="105634"/>
                </a:moveTo>
                <a:lnTo>
                  <a:pt x="118439" y="137542"/>
                </a:lnTo>
                <a:cubicBezTo>
                  <a:pt x="126886" y="145989"/>
                  <a:pt x="140557" y="145989"/>
                  <a:pt x="149004" y="137542"/>
                </a:cubicBezTo>
                <a:cubicBezTo>
                  <a:pt x="151123" y="135423"/>
                  <a:pt x="151123" y="132020"/>
                  <a:pt x="149004" y="129901"/>
                </a:cubicBezTo>
                <a:lnTo>
                  <a:pt x="105634" y="86531"/>
                </a:lnTo>
                <a:lnTo>
                  <a:pt x="86531" y="105634"/>
                </a:lnTo>
                <a:close/>
                <a:moveTo>
                  <a:pt x="19103" y="33430"/>
                </a:moveTo>
                <a:cubicBezTo>
                  <a:pt x="19103" y="25523"/>
                  <a:pt x="25523" y="19103"/>
                  <a:pt x="33430" y="19103"/>
                </a:cubicBezTo>
                <a:cubicBezTo>
                  <a:pt x="41338" y="19103"/>
                  <a:pt x="47758" y="25523"/>
                  <a:pt x="47758" y="33430"/>
                </a:cubicBezTo>
                <a:cubicBezTo>
                  <a:pt x="47758" y="41338"/>
                  <a:pt x="41338" y="47758"/>
                  <a:pt x="33430" y="47758"/>
                </a:cubicBezTo>
                <a:cubicBezTo>
                  <a:pt x="25523" y="47758"/>
                  <a:pt x="19103" y="41338"/>
                  <a:pt x="19103" y="33430"/>
                </a:cubicBezTo>
                <a:close/>
                <a:moveTo>
                  <a:pt x="33430" y="105067"/>
                </a:moveTo>
                <a:cubicBezTo>
                  <a:pt x="41338" y="105067"/>
                  <a:pt x="47758" y="111487"/>
                  <a:pt x="47758" y="119394"/>
                </a:cubicBezTo>
                <a:cubicBezTo>
                  <a:pt x="47758" y="127302"/>
                  <a:pt x="41338" y="133721"/>
                  <a:pt x="33430" y="133721"/>
                </a:cubicBezTo>
                <a:cubicBezTo>
                  <a:pt x="25523" y="133721"/>
                  <a:pt x="19103" y="127302"/>
                  <a:pt x="19103" y="119394"/>
                </a:cubicBezTo>
                <a:cubicBezTo>
                  <a:pt x="19103" y="111487"/>
                  <a:pt x="25523" y="105067"/>
                  <a:pt x="33430" y="105067"/>
                </a:cubicBezTo>
                <a:close/>
              </a:path>
            </a:pathLst>
          </a:custGeom>
          <a:solidFill>
            <a:srgbClr val="7A6250"/>
          </a:solidFill>
          <a:ln/>
        </p:spPr>
      </p:sp>
      <p:sp>
        <p:nvSpPr>
          <p:cNvPr id="24" name="Text 22"/>
          <p:cNvSpPr/>
          <p:nvPr/>
        </p:nvSpPr>
        <p:spPr>
          <a:xfrm>
            <a:off x="670730" y="4075320"/>
            <a:ext cx="5331877" cy="237727"/>
          </a:xfrm>
          <a:prstGeom prst="rect">
            <a:avLst/>
          </a:prstGeom>
          <a:noFill/>
          <a:ln/>
        </p:spPr>
        <p:txBody>
          <a:bodyPr wrap="square" lIns="0" tIns="0" rIns="0" bIns="0" rtlCol="0" anchor="ctr"/>
          <a:lstStyle/>
          <a:p>
            <a:pPr>
              <a:lnSpc>
                <a:spcPct val="130000"/>
              </a:lnSpc>
            </a:pPr>
            <a:r>
              <a:rPr lang="en-US" sz="1203" b="1" dirty="0">
                <a:solidFill>
                  <a:srgbClr val="3A4D39"/>
                </a:solidFill>
                <a:latin typeface="Unna" pitchFamily="34" charset="0"/>
                <a:ea typeface="Unna" pitchFamily="34" charset="-122"/>
                <a:cs typeface="Unna" pitchFamily="34" charset="-120"/>
              </a:rPr>
              <a:t>Severability</a:t>
            </a:r>
            <a:endParaRPr lang="en-US" sz="1600" dirty="0"/>
          </a:p>
        </p:txBody>
      </p:sp>
      <p:sp>
        <p:nvSpPr>
          <p:cNvPr id="25" name="Text 23"/>
          <p:cNvSpPr/>
          <p:nvPr/>
        </p:nvSpPr>
        <p:spPr>
          <a:xfrm>
            <a:off x="475454" y="4380969"/>
            <a:ext cx="5518663" cy="407532"/>
          </a:xfrm>
          <a:prstGeom prst="rect">
            <a:avLst/>
          </a:prstGeom>
          <a:noFill/>
          <a:ln/>
        </p:spPr>
        <p:txBody>
          <a:bodyPr wrap="square" lIns="0" tIns="0" rIns="0" bIns="0" rtlCol="0" anchor="ctr"/>
          <a:lstStyle/>
          <a:p>
            <a:pPr>
              <a:lnSpc>
                <a:spcPct val="130000"/>
              </a:lnSpc>
            </a:pPr>
            <a:r>
              <a:rPr lang="en-US" sz="1070" dirty="0">
                <a:solidFill>
                  <a:srgbClr val="2C2C2C"/>
                </a:solidFill>
                <a:latin typeface="Quattrocento Sans" pitchFamily="34" charset="0"/>
                <a:ea typeface="Quattrocento Sans" pitchFamily="34" charset="-122"/>
                <a:cs typeface="Quattrocento Sans" pitchFamily="34" charset="-120"/>
              </a:rPr>
              <a:t>If any provision found invalid or unenforceable, remaining provisions continue in full force. Invalid provision modified to minimum extent necessary for enforceability.</a:t>
            </a:r>
            <a:endParaRPr lang="en-US" sz="1600" dirty="0"/>
          </a:p>
        </p:txBody>
      </p:sp>
      <p:sp>
        <p:nvSpPr>
          <p:cNvPr id="26" name="Shape 24"/>
          <p:cNvSpPr/>
          <p:nvPr/>
        </p:nvSpPr>
        <p:spPr>
          <a:xfrm>
            <a:off x="6182760" y="916947"/>
            <a:ext cx="5671487" cy="1460323"/>
          </a:xfrm>
          <a:custGeom>
            <a:avLst/>
            <a:gdLst/>
            <a:ahLst/>
            <a:cxnLst/>
            <a:rect l="l" t="t" r="r" b="b"/>
            <a:pathLst>
              <a:path w="5671487" h="1460323">
                <a:moveTo>
                  <a:pt x="33961" y="0"/>
                </a:moveTo>
                <a:lnTo>
                  <a:pt x="5603568" y="0"/>
                </a:lnTo>
                <a:cubicBezTo>
                  <a:pt x="5641079" y="0"/>
                  <a:pt x="5671487" y="30409"/>
                  <a:pt x="5671487" y="67920"/>
                </a:cubicBezTo>
                <a:lnTo>
                  <a:pt x="5671487" y="1392403"/>
                </a:lnTo>
                <a:cubicBezTo>
                  <a:pt x="5671487" y="1429914"/>
                  <a:pt x="5641079" y="1460323"/>
                  <a:pt x="5603568" y="1460323"/>
                </a:cubicBezTo>
                <a:lnTo>
                  <a:pt x="33961" y="1460323"/>
                </a:lnTo>
                <a:cubicBezTo>
                  <a:pt x="15205" y="1460323"/>
                  <a:pt x="0" y="1445118"/>
                  <a:pt x="0" y="1426362"/>
                </a:cubicBezTo>
                <a:lnTo>
                  <a:pt x="0" y="33961"/>
                </a:lnTo>
                <a:cubicBezTo>
                  <a:pt x="0" y="15217"/>
                  <a:pt x="15217" y="0"/>
                  <a:pt x="33961" y="0"/>
                </a:cubicBezTo>
                <a:close/>
              </a:path>
            </a:pathLst>
          </a:custGeom>
          <a:solidFill>
            <a:srgbClr val="FFFFFF"/>
          </a:solidFill>
          <a:ln/>
          <a:effectLst>
            <a:outerShdw sx="100000" sy="100000" kx="0" ky="0" algn="bl" rotWithShape="0" blurRad="25471" dist="8490" dir="5400000">
              <a:srgbClr val="000000">
                <a:alpha val="10196"/>
              </a:srgbClr>
            </a:outerShdw>
          </a:effectLst>
        </p:spPr>
      </p:sp>
      <p:sp>
        <p:nvSpPr>
          <p:cNvPr id="27" name="Shape 25"/>
          <p:cNvSpPr/>
          <p:nvPr/>
        </p:nvSpPr>
        <p:spPr>
          <a:xfrm>
            <a:off x="6182760" y="916947"/>
            <a:ext cx="33961" cy="1460323"/>
          </a:xfrm>
          <a:custGeom>
            <a:avLst/>
            <a:gdLst/>
            <a:ahLst/>
            <a:cxnLst/>
            <a:rect l="l" t="t" r="r" b="b"/>
            <a:pathLst>
              <a:path w="33961" h="1460323">
                <a:moveTo>
                  <a:pt x="33961" y="0"/>
                </a:moveTo>
                <a:lnTo>
                  <a:pt x="33961" y="0"/>
                </a:lnTo>
                <a:lnTo>
                  <a:pt x="33961" y="1460323"/>
                </a:lnTo>
                <a:lnTo>
                  <a:pt x="33961" y="1460323"/>
                </a:lnTo>
                <a:cubicBezTo>
                  <a:pt x="15205" y="1460323"/>
                  <a:pt x="0" y="1445118"/>
                  <a:pt x="0" y="1426362"/>
                </a:cubicBezTo>
                <a:lnTo>
                  <a:pt x="0" y="33961"/>
                </a:lnTo>
                <a:cubicBezTo>
                  <a:pt x="0" y="15217"/>
                  <a:pt x="15217" y="0"/>
                  <a:pt x="33961" y="0"/>
                </a:cubicBezTo>
                <a:close/>
              </a:path>
            </a:pathLst>
          </a:custGeom>
          <a:solidFill>
            <a:srgbClr val="3A4D39"/>
          </a:solidFill>
          <a:ln/>
        </p:spPr>
      </p:sp>
      <p:sp>
        <p:nvSpPr>
          <p:cNvPr id="28" name="Shape 26"/>
          <p:cNvSpPr/>
          <p:nvPr/>
        </p:nvSpPr>
        <p:spPr>
          <a:xfrm>
            <a:off x="6322849" y="1061281"/>
            <a:ext cx="152825" cy="152825"/>
          </a:xfrm>
          <a:custGeom>
            <a:avLst/>
            <a:gdLst/>
            <a:ahLst/>
            <a:cxnLst/>
            <a:rect l="l" t="t" r="r" b="b"/>
            <a:pathLst>
              <a:path w="152825" h="152825">
                <a:moveTo>
                  <a:pt x="14327" y="19103"/>
                </a:moveTo>
                <a:cubicBezTo>
                  <a:pt x="6417" y="19103"/>
                  <a:pt x="0" y="25520"/>
                  <a:pt x="0" y="33430"/>
                </a:cubicBezTo>
                <a:cubicBezTo>
                  <a:pt x="0" y="37937"/>
                  <a:pt x="2119" y="42176"/>
                  <a:pt x="5731" y="44892"/>
                </a:cubicBezTo>
                <a:lnTo>
                  <a:pt x="67816" y="91456"/>
                </a:lnTo>
                <a:cubicBezTo>
                  <a:pt x="72920" y="95277"/>
                  <a:pt x="79905" y="95277"/>
                  <a:pt x="85009" y="91456"/>
                </a:cubicBezTo>
                <a:lnTo>
                  <a:pt x="147094" y="44892"/>
                </a:lnTo>
                <a:cubicBezTo>
                  <a:pt x="150705" y="42176"/>
                  <a:pt x="152825" y="37937"/>
                  <a:pt x="152825" y="33430"/>
                </a:cubicBezTo>
                <a:cubicBezTo>
                  <a:pt x="152825" y="25520"/>
                  <a:pt x="146407" y="19103"/>
                  <a:pt x="138497" y="19103"/>
                </a:cubicBezTo>
                <a:lnTo>
                  <a:pt x="14327" y="19103"/>
                </a:lnTo>
                <a:close/>
                <a:moveTo>
                  <a:pt x="0" y="58503"/>
                </a:moveTo>
                <a:lnTo>
                  <a:pt x="0" y="114618"/>
                </a:lnTo>
                <a:cubicBezTo>
                  <a:pt x="0" y="125155"/>
                  <a:pt x="8567" y="133721"/>
                  <a:pt x="19103" y="133721"/>
                </a:cubicBezTo>
                <a:lnTo>
                  <a:pt x="133721" y="133721"/>
                </a:lnTo>
                <a:cubicBezTo>
                  <a:pt x="144258" y="133721"/>
                  <a:pt x="152825" y="125155"/>
                  <a:pt x="152825" y="114618"/>
                </a:cubicBezTo>
                <a:lnTo>
                  <a:pt x="152825" y="58503"/>
                </a:lnTo>
                <a:lnTo>
                  <a:pt x="93605" y="102918"/>
                </a:lnTo>
                <a:cubicBezTo>
                  <a:pt x="83427" y="110559"/>
                  <a:pt x="69398" y="110559"/>
                  <a:pt x="59219" y="102918"/>
                </a:cubicBezTo>
                <a:lnTo>
                  <a:pt x="0" y="58503"/>
                </a:lnTo>
                <a:close/>
              </a:path>
            </a:pathLst>
          </a:custGeom>
          <a:solidFill>
            <a:srgbClr val="3A4D39"/>
          </a:solidFill>
          <a:ln/>
        </p:spPr>
      </p:sp>
      <p:sp>
        <p:nvSpPr>
          <p:cNvPr id="29" name="Text 27"/>
          <p:cNvSpPr/>
          <p:nvPr/>
        </p:nvSpPr>
        <p:spPr>
          <a:xfrm>
            <a:off x="6496899" y="1018830"/>
            <a:ext cx="5331877" cy="237727"/>
          </a:xfrm>
          <a:prstGeom prst="rect">
            <a:avLst/>
          </a:prstGeom>
          <a:noFill/>
          <a:ln/>
        </p:spPr>
        <p:txBody>
          <a:bodyPr wrap="square" lIns="0" tIns="0" rIns="0" bIns="0" rtlCol="0" anchor="ctr"/>
          <a:lstStyle/>
          <a:p>
            <a:pPr>
              <a:lnSpc>
                <a:spcPct val="130000"/>
              </a:lnSpc>
            </a:pPr>
            <a:r>
              <a:rPr lang="en-US" sz="1203" b="1" dirty="0">
                <a:solidFill>
                  <a:srgbClr val="3A4D39"/>
                </a:solidFill>
                <a:latin typeface="Unna" pitchFamily="34" charset="0"/>
                <a:ea typeface="Unna" pitchFamily="34" charset="-122"/>
                <a:cs typeface="Unna" pitchFamily="34" charset="-120"/>
              </a:rPr>
              <a:t>Notices</a:t>
            </a:r>
            <a:endParaRPr lang="en-US" sz="1600" dirty="0"/>
          </a:p>
        </p:txBody>
      </p:sp>
      <p:sp>
        <p:nvSpPr>
          <p:cNvPr id="30" name="Text 28"/>
          <p:cNvSpPr/>
          <p:nvPr/>
        </p:nvSpPr>
        <p:spPr>
          <a:xfrm>
            <a:off x="6301623" y="1324479"/>
            <a:ext cx="5518663" cy="203766"/>
          </a:xfrm>
          <a:prstGeom prst="rect">
            <a:avLst/>
          </a:prstGeom>
          <a:noFill/>
          <a:ln/>
        </p:spPr>
        <p:txBody>
          <a:bodyPr wrap="square" lIns="0" tIns="0" rIns="0" bIns="0" rtlCol="0" anchor="ctr"/>
          <a:lstStyle/>
          <a:p>
            <a:pPr>
              <a:lnSpc>
                <a:spcPct val="130000"/>
              </a:lnSpc>
            </a:pPr>
            <a:r>
              <a:rPr lang="en-US" sz="1070" dirty="0">
                <a:solidFill>
                  <a:srgbClr val="2C2C2C"/>
                </a:solidFill>
                <a:latin typeface="Quattrocento Sans" pitchFamily="34" charset="0"/>
                <a:ea typeface="Quattrocento Sans" pitchFamily="34" charset="-122"/>
                <a:cs typeface="Quattrocento Sans" pitchFamily="34" charset="-120"/>
              </a:rPr>
              <a:t>All official communications must be in writing and delivered via:</a:t>
            </a:r>
            <a:endParaRPr lang="en-US" sz="1600" dirty="0"/>
          </a:p>
        </p:txBody>
      </p:sp>
      <p:sp>
        <p:nvSpPr>
          <p:cNvPr id="31" name="Text 29"/>
          <p:cNvSpPr/>
          <p:nvPr/>
        </p:nvSpPr>
        <p:spPr>
          <a:xfrm>
            <a:off x="6301623" y="1596167"/>
            <a:ext cx="5518663" cy="203766"/>
          </a:xfrm>
          <a:prstGeom prst="rect">
            <a:avLst/>
          </a:prstGeom>
          <a:noFill/>
          <a:ln/>
        </p:spPr>
        <p:txBody>
          <a:bodyPr wrap="square" lIns="0" tIns="0" rIns="0" bIns="0" rtlCol="0" anchor="ctr"/>
          <a:lstStyle/>
          <a:p>
            <a:pPr>
              <a:lnSpc>
                <a:spcPct val="130000"/>
              </a:lnSpc>
            </a:pPr>
            <a:r>
              <a:rPr lang="en-US" sz="1070" dirty="0">
                <a:solidFill>
                  <a:srgbClr val="2C2C2C"/>
                </a:solidFill>
                <a:latin typeface="Quattrocento Sans" pitchFamily="34" charset="0"/>
                <a:ea typeface="Quattrocento Sans" pitchFamily="34" charset="-122"/>
                <a:cs typeface="Quattrocento Sans" pitchFamily="34" charset="-120"/>
              </a:rPr>
              <a:t>• Certified mail with return receipt</a:t>
            </a:r>
            <a:endParaRPr lang="en-US" sz="1600" dirty="0"/>
          </a:p>
        </p:txBody>
      </p:sp>
      <p:sp>
        <p:nvSpPr>
          <p:cNvPr id="32" name="Text 30"/>
          <p:cNvSpPr/>
          <p:nvPr/>
        </p:nvSpPr>
        <p:spPr>
          <a:xfrm>
            <a:off x="6301623" y="1833894"/>
            <a:ext cx="5518663" cy="203766"/>
          </a:xfrm>
          <a:prstGeom prst="rect">
            <a:avLst/>
          </a:prstGeom>
          <a:noFill/>
          <a:ln/>
        </p:spPr>
        <p:txBody>
          <a:bodyPr wrap="square" lIns="0" tIns="0" rIns="0" bIns="0" rtlCol="0" anchor="ctr"/>
          <a:lstStyle/>
          <a:p>
            <a:pPr>
              <a:lnSpc>
                <a:spcPct val="130000"/>
              </a:lnSpc>
            </a:pPr>
            <a:r>
              <a:rPr lang="en-US" sz="1070" dirty="0">
                <a:solidFill>
                  <a:srgbClr val="2C2C2C"/>
                </a:solidFill>
                <a:latin typeface="Quattrocento Sans" pitchFamily="34" charset="0"/>
                <a:ea typeface="Quattrocento Sans" pitchFamily="34" charset="-122"/>
                <a:cs typeface="Quattrocento Sans" pitchFamily="34" charset="-120"/>
              </a:rPr>
              <a:t>• Personal delivery with acknowledgment</a:t>
            </a:r>
            <a:endParaRPr lang="en-US" sz="1600" dirty="0"/>
          </a:p>
        </p:txBody>
      </p:sp>
      <p:sp>
        <p:nvSpPr>
          <p:cNvPr id="33" name="Text 31"/>
          <p:cNvSpPr/>
          <p:nvPr/>
        </p:nvSpPr>
        <p:spPr>
          <a:xfrm>
            <a:off x="6301623" y="2071621"/>
            <a:ext cx="5518663" cy="203766"/>
          </a:xfrm>
          <a:prstGeom prst="rect">
            <a:avLst/>
          </a:prstGeom>
          <a:noFill/>
          <a:ln/>
        </p:spPr>
        <p:txBody>
          <a:bodyPr wrap="square" lIns="0" tIns="0" rIns="0" bIns="0" rtlCol="0" anchor="ctr"/>
          <a:lstStyle/>
          <a:p>
            <a:pPr>
              <a:lnSpc>
                <a:spcPct val="130000"/>
              </a:lnSpc>
            </a:pPr>
            <a:r>
              <a:rPr lang="en-US" sz="1070" dirty="0">
                <a:solidFill>
                  <a:srgbClr val="2C2C2C"/>
                </a:solidFill>
                <a:latin typeface="Quattrocento Sans" pitchFamily="34" charset="0"/>
                <a:ea typeface="Quattrocento Sans" pitchFamily="34" charset="-122"/>
                <a:cs typeface="Quattrocento Sans" pitchFamily="34" charset="-120"/>
              </a:rPr>
              <a:t>• Email with read receipt (for non-legal notices)</a:t>
            </a:r>
            <a:endParaRPr lang="en-US" sz="1600" dirty="0"/>
          </a:p>
        </p:txBody>
      </p:sp>
      <p:sp>
        <p:nvSpPr>
          <p:cNvPr id="34" name="Shape 32"/>
          <p:cNvSpPr/>
          <p:nvPr/>
        </p:nvSpPr>
        <p:spPr>
          <a:xfrm>
            <a:off x="6182760" y="2479153"/>
            <a:ext cx="5671487" cy="916947"/>
          </a:xfrm>
          <a:custGeom>
            <a:avLst/>
            <a:gdLst/>
            <a:ahLst/>
            <a:cxnLst/>
            <a:rect l="l" t="t" r="r" b="b"/>
            <a:pathLst>
              <a:path w="5671487" h="916947">
                <a:moveTo>
                  <a:pt x="33961" y="0"/>
                </a:moveTo>
                <a:lnTo>
                  <a:pt x="5603569" y="0"/>
                </a:lnTo>
                <a:cubicBezTo>
                  <a:pt x="5641079" y="0"/>
                  <a:pt x="5671487" y="30408"/>
                  <a:pt x="5671487" y="67918"/>
                </a:cubicBezTo>
                <a:lnTo>
                  <a:pt x="5671487" y="849029"/>
                </a:lnTo>
                <a:cubicBezTo>
                  <a:pt x="5671487" y="886539"/>
                  <a:pt x="5641079" y="916947"/>
                  <a:pt x="5603569" y="916947"/>
                </a:cubicBezTo>
                <a:lnTo>
                  <a:pt x="33961" y="916947"/>
                </a:lnTo>
                <a:cubicBezTo>
                  <a:pt x="15205" y="916947"/>
                  <a:pt x="0" y="901742"/>
                  <a:pt x="0" y="882986"/>
                </a:cubicBezTo>
                <a:lnTo>
                  <a:pt x="0" y="33961"/>
                </a:lnTo>
                <a:cubicBezTo>
                  <a:pt x="0" y="15217"/>
                  <a:pt x="15217" y="0"/>
                  <a:pt x="33961" y="0"/>
                </a:cubicBezTo>
                <a:close/>
              </a:path>
            </a:pathLst>
          </a:custGeom>
          <a:solidFill>
            <a:srgbClr val="FFFFFF"/>
          </a:solidFill>
          <a:ln/>
          <a:effectLst>
            <a:outerShdw sx="100000" sy="100000" kx="0" ky="0" algn="bl" rotWithShape="0" blurRad="25471" dist="8490" dir="5400000">
              <a:srgbClr val="000000">
                <a:alpha val="10196"/>
              </a:srgbClr>
            </a:outerShdw>
          </a:effectLst>
        </p:spPr>
      </p:sp>
      <p:sp>
        <p:nvSpPr>
          <p:cNvPr id="35" name="Shape 33"/>
          <p:cNvSpPr/>
          <p:nvPr/>
        </p:nvSpPr>
        <p:spPr>
          <a:xfrm>
            <a:off x="6182760" y="2479153"/>
            <a:ext cx="33961" cy="916947"/>
          </a:xfrm>
          <a:custGeom>
            <a:avLst/>
            <a:gdLst/>
            <a:ahLst/>
            <a:cxnLst/>
            <a:rect l="l" t="t" r="r" b="b"/>
            <a:pathLst>
              <a:path w="33961" h="916947">
                <a:moveTo>
                  <a:pt x="33961" y="0"/>
                </a:moveTo>
                <a:lnTo>
                  <a:pt x="33961" y="0"/>
                </a:lnTo>
                <a:lnTo>
                  <a:pt x="33961" y="916947"/>
                </a:lnTo>
                <a:lnTo>
                  <a:pt x="33961" y="916947"/>
                </a:lnTo>
                <a:cubicBezTo>
                  <a:pt x="15205" y="916947"/>
                  <a:pt x="0" y="901742"/>
                  <a:pt x="0" y="882986"/>
                </a:cubicBezTo>
                <a:lnTo>
                  <a:pt x="0" y="33961"/>
                </a:lnTo>
                <a:cubicBezTo>
                  <a:pt x="0" y="15217"/>
                  <a:pt x="15217" y="0"/>
                  <a:pt x="33961" y="0"/>
                </a:cubicBezTo>
                <a:close/>
              </a:path>
            </a:pathLst>
          </a:custGeom>
          <a:solidFill>
            <a:srgbClr val="7A6250"/>
          </a:solidFill>
          <a:ln/>
        </p:spPr>
      </p:sp>
      <p:sp>
        <p:nvSpPr>
          <p:cNvPr id="36" name="Shape 34"/>
          <p:cNvSpPr/>
          <p:nvPr/>
        </p:nvSpPr>
        <p:spPr>
          <a:xfrm>
            <a:off x="6303746" y="2623487"/>
            <a:ext cx="191031" cy="152825"/>
          </a:xfrm>
          <a:custGeom>
            <a:avLst/>
            <a:gdLst/>
            <a:ahLst/>
            <a:cxnLst/>
            <a:rect l="l" t="t" r="r" b="b"/>
            <a:pathLst>
              <a:path w="191031" h="152825">
                <a:moveTo>
                  <a:pt x="114618" y="9552"/>
                </a:moveTo>
                <a:lnTo>
                  <a:pt x="152825" y="9552"/>
                </a:lnTo>
                <a:cubicBezTo>
                  <a:pt x="158108" y="9552"/>
                  <a:pt x="162376" y="13820"/>
                  <a:pt x="162376" y="19103"/>
                </a:cubicBezTo>
                <a:cubicBezTo>
                  <a:pt x="162376" y="24386"/>
                  <a:pt x="158108" y="28655"/>
                  <a:pt x="152825" y="28655"/>
                </a:cubicBezTo>
                <a:lnTo>
                  <a:pt x="118917" y="28655"/>
                </a:lnTo>
                <a:cubicBezTo>
                  <a:pt x="117364" y="36356"/>
                  <a:pt x="112081" y="42713"/>
                  <a:pt x="105067" y="45758"/>
                </a:cubicBezTo>
                <a:lnTo>
                  <a:pt x="105067" y="133721"/>
                </a:lnTo>
                <a:lnTo>
                  <a:pt x="152825" y="133721"/>
                </a:lnTo>
                <a:cubicBezTo>
                  <a:pt x="158108" y="133721"/>
                  <a:pt x="162376" y="137990"/>
                  <a:pt x="162376" y="143273"/>
                </a:cubicBezTo>
                <a:cubicBezTo>
                  <a:pt x="162376" y="148556"/>
                  <a:pt x="158108" y="152825"/>
                  <a:pt x="152825" y="152825"/>
                </a:cubicBezTo>
                <a:lnTo>
                  <a:pt x="38206" y="152825"/>
                </a:lnTo>
                <a:cubicBezTo>
                  <a:pt x="32923" y="152825"/>
                  <a:pt x="28655" y="148556"/>
                  <a:pt x="28655" y="143273"/>
                </a:cubicBezTo>
                <a:cubicBezTo>
                  <a:pt x="28655" y="137990"/>
                  <a:pt x="32923" y="133721"/>
                  <a:pt x="38206" y="133721"/>
                </a:cubicBezTo>
                <a:lnTo>
                  <a:pt x="85964" y="133721"/>
                </a:lnTo>
                <a:lnTo>
                  <a:pt x="85964" y="45758"/>
                </a:lnTo>
                <a:cubicBezTo>
                  <a:pt x="78949" y="42683"/>
                  <a:pt x="73666" y="36326"/>
                  <a:pt x="72114" y="28655"/>
                </a:cubicBezTo>
                <a:lnTo>
                  <a:pt x="38206" y="28655"/>
                </a:lnTo>
                <a:cubicBezTo>
                  <a:pt x="32923" y="28655"/>
                  <a:pt x="28655" y="24386"/>
                  <a:pt x="28655" y="19103"/>
                </a:cubicBezTo>
                <a:cubicBezTo>
                  <a:pt x="28655" y="13820"/>
                  <a:pt x="32923" y="9552"/>
                  <a:pt x="38206" y="9552"/>
                </a:cubicBezTo>
                <a:lnTo>
                  <a:pt x="76412" y="9552"/>
                </a:lnTo>
                <a:cubicBezTo>
                  <a:pt x="80770" y="3761"/>
                  <a:pt x="87695" y="0"/>
                  <a:pt x="95515" y="0"/>
                </a:cubicBezTo>
                <a:cubicBezTo>
                  <a:pt x="103336" y="0"/>
                  <a:pt x="110260" y="3761"/>
                  <a:pt x="114618" y="9552"/>
                </a:cubicBezTo>
                <a:close/>
                <a:moveTo>
                  <a:pt x="131214" y="95515"/>
                </a:moveTo>
                <a:lnTo>
                  <a:pt x="174435" y="95515"/>
                </a:lnTo>
                <a:lnTo>
                  <a:pt x="152825" y="58443"/>
                </a:lnTo>
                <a:lnTo>
                  <a:pt x="131214" y="95515"/>
                </a:lnTo>
                <a:close/>
                <a:moveTo>
                  <a:pt x="152825" y="124170"/>
                </a:moveTo>
                <a:cubicBezTo>
                  <a:pt x="134050" y="124170"/>
                  <a:pt x="118439" y="114021"/>
                  <a:pt x="115215" y="100619"/>
                </a:cubicBezTo>
                <a:cubicBezTo>
                  <a:pt x="114439" y="97336"/>
                  <a:pt x="115514" y="93963"/>
                  <a:pt x="117215" y="91038"/>
                </a:cubicBezTo>
                <a:lnTo>
                  <a:pt x="145631" y="42325"/>
                </a:lnTo>
                <a:cubicBezTo>
                  <a:pt x="147123" y="39758"/>
                  <a:pt x="149870" y="38206"/>
                  <a:pt x="152825" y="38206"/>
                </a:cubicBezTo>
                <a:cubicBezTo>
                  <a:pt x="155780" y="38206"/>
                  <a:pt x="158526" y="39788"/>
                  <a:pt x="160018" y="42325"/>
                </a:cubicBezTo>
                <a:lnTo>
                  <a:pt x="188434" y="91038"/>
                </a:lnTo>
                <a:cubicBezTo>
                  <a:pt x="190135" y="93963"/>
                  <a:pt x="191210" y="97336"/>
                  <a:pt x="190434" y="100619"/>
                </a:cubicBezTo>
                <a:cubicBezTo>
                  <a:pt x="187210" y="113992"/>
                  <a:pt x="171599" y="124170"/>
                  <a:pt x="152825" y="124170"/>
                </a:cubicBezTo>
                <a:close/>
                <a:moveTo>
                  <a:pt x="37848" y="58443"/>
                </a:moveTo>
                <a:lnTo>
                  <a:pt x="16238" y="95515"/>
                </a:lnTo>
                <a:lnTo>
                  <a:pt x="59488" y="95515"/>
                </a:lnTo>
                <a:lnTo>
                  <a:pt x="37848" y="58443"/>
                </a:lnTo>
                <a:close/>
                <a:moveTo>
                  <a:pt x="269" y="100619"/>
                </a:moveTo>
                <a:cubicBezTo>
                  <a:pt x="-507" y="97336"/>
                  <a:pt x="567" y="93963"/>
                  <a:pt x="2268" y="91038"/>
                </a:cubicBezTo>
                <a:lnTo>
                  <a:pt x="30684" y="42325"/>
                </a:lnTo>
                <a:cubicBezTo>
                  <a:pt x="32177" y="39758"/>
                  <a:pt x="34923" y="38206"/>
                  <a:pt x="37878" y="38206"/>
                </a:cubicBezTo>
                <a:cubicBezTo>
                  <a:pt x="40833" y="38206"/>
                  <a:pt x="43579" y="39788"/>
                  <a:pt x="45071" y="42325"/>
                </a:cubicBezTo>
                <a:lnTo>
                  <a:pt x="73487" y="91038"/>
                </a:lnTo>
                <a:cubicBezTo>
                  <a:pt x="75188" y="93963"/>
                  <a:pt x="76263" y="97336"/>
                  <a:pt x="75487" y="100619"/>
                </a:cubicBezTo>
                <a:cubicBezTo>
                  <a:pt x="72263" y="113992"/>
                  <a:pt x="56653" y="124170"/>
                  <a:pt x="37878" y="124170"/>
                </a:cubicBezTo>
                <a:cubicBezTo>
                  <a:pt x="19103" y="124170"/>
                  <a:pt x="3492" y="114021"/>
                  <a:pt x="269" y="100619"/>
                </a:cubicBezTo>
                <a:close/>
              </a:path>
            </a:pathLst>
          </a:custGeom>
          <a:solidFill>
            <a:srgbClr val="7A6250"/>
          </a:solidFill>
          <a:ln/>
        </p:spPr>
      </p:sp>
      <p:sp>
        <p:nvSpPr>
          <p:cNvPr id="37" name="Text 35"/>
          <p:cNvSpPr/>
          <p:nvPr/>
        </p:nvSpPr>
        <p:spPr>
          <a:xfrm>
            <a:off x="6496899" y="2581036"/>
            <a:ext cx="5331877" cy="237727"/>
          </a:xfrm>
          <a:prstGeom prst="rect">
            <a:avLst/>
          </a:prstGeom>
          <a:noFill/>
          <a:ln/>
        </p:spPr>
        <p:txBody>
          <a:bodyPr wrap="square" lIns="0" tIns="0" rIns="0" bIns="0" rtlCol="0" anchor="ctr"/>
          <a:lstStyle/>
          <a:p>
            <a:pPr>
              <a:lnSpc>
                <a:spcPct val="130000"/>
              </a:lnSpc>
            </a:pPr>
            <a:r>
              <a:rPr lang="en-US" sz="1203" b="1" dirty="0">
                <a:solidFill>
                  <a:srgbClr val="3A4D39"/>
                </a:solidFill>
                <a:latin typeface="Unna" pitchFamily="34" charset="0"/>
                <a:ea typeface="Unna" pitchFamily="34" charset="-122"/>
                <a:cs typeface="Unna" pitchFamily="34" charset="-120"/>
              </a:rPr>
              <a:t>Governing Law</a:t>
            </a:r>
            <a:endParaRPr lang="en-US" sz="1600" dirty="0"/>
          </a:p>
        </p:txBody>
      </p:sp>
      <p:sp>
        <p:nvSpPr>
          <p:cNvPr id="38" name="Text 36"/>
          <p:cNvSpPr/>
          <p:nvPr/>
        </p:nvSpPr>
        <p:spPr>
          <a:xfrm>
            <a:off x="6301623" y="2886685"/>
            <a:ext cx="5518663" cy="407532"/>
          </a:xfrm>
          <a:prstGeom prst="rect">
            <a:avLst/>
          </a:prstGeom>
          <a:noFill/>
          <a:ln/>
        </p:spPr>
        <p:txBody>
          <a:bodyPr wrap="square" lIns="0" tIns="0" rIns="0" bIns="0" rtlCol="0" anchor="ctr"/>
          <a:lstStyle/>
          <a:p>
            <a:pPr>
              <a:lnSpc>
                <a:spcPct val="130000"/>
              </a:lnSpc>
            </a:pPr>
            <a:r>
              <a:rPr lang="en-US" sz="1070" dirty="0">
                <a:solidFill>
                  <a:srgbClr val="2C2C2C"/>
                </a:solidFill>
                <a:latin typeface="Quattrocento Sans" pitchFamily="34" charset="0"/>
                <a:ea typeface="Quattrocento Sans" pitchFamily="34" charset="-122"/>
                <a:cs typeface="Quattrocento Sans" pitchFamily="34" charset="-120"/>
              </a:rPr>
              <a:t>This agreement governed by and construed in accordance with laws of [Jurisdiction]. All parties submit to exclusive jurisdiction of courts in [Location].</a:t>
            </a:r>
            <a:endParaRPr lang="en-US" sz="1600" dirty="0"/>
          </a:p>
        </p:txBody>
      </p:sp>
      <p:sp>
        <p:nvSpPr>
          <p:cNvPr id="39" name="Shape 37"/>
          <p:cNvSpPr/>
          <p:nvPr/>
        </p:nvSpPr>
        <p:spPr>
          <a:xfrm>
            <a:off x="6182760" y="3497983"/>
            <a:ext cx="5671487" cy="916947"/>
          </a:xfrm>
          <a:custGeom>
            <a:avLst/>
            <a:gdLst/>
            <a:ahLst/>
            <a:cxnLst/>
            <a:rect l="l" t="t" r="r" b="b"/>
            <a:pathLst>
              <a:path w="5671487" h="916947">
                <a:moveTo>
                  <a:pt x="33961" y="0"/>
                </a:moveTo>
                <a:lnTo>
                  <a:pt x="5603569" y="0"/>
                </a:lnTo>
                <a:cubicBezTo>
                  <a:pt x="5641079" y="0"/>
                  <a:pt x="5671487" y="30408"/>
                  <a:pt x="5671487" y="67918"/>
                </a:cubicBezTo>
                <a:lnTo>
                  <a:pt x="5671487" y="849029"/>
                </a:lnTo>
                <a:cubicBezTo>
                  <a:pt x="5671487" y="886539"/>
                  <a:pt x="5641079" y="916947"/>
                  <a:pt x="5603569" y="916947"/>
                </a:cubicBezTo>
                <a:lnTo>
                  <a:pt x="33961" y="916947"/>
                </a:lnTo>
                <a:cubicBezTo>
                  <a:pt x="15205" y="916947"/>
                  <a:pt x="0" y="901742"/>
                  <a:pt x="0" y="882986"/>
                </a:cubicBezTo>
                <a:lnTo>
                  <a:pt x="0" y="33961"/>
                </a:lnTo>
                <a:cubicBezTo>
                  <a:pt x="0" y="15217"/>
                  <a:pt x="15217" y="0"/>
                  <a:pt x="33961" y="0"/>
                </a:cubicBezTo>
                <a:close/>
              </a:path>
            </a:pathLst>
          </a:custGeom>
          <a:solidFill>
            <a:srgbClr val="FFFFFF"/>
          </a:solidFill>
          <a:ln/>
          <a:effectLst>
            <a:outerShdw sx="100000" sy="100000" kx="0" ky="0" algn="bl" rotWithShape="0" blurRad="25471" dist="8490" dir="5400000">
              <a:srgbClr val="000000">
                <a:alpha val="10196"/>
              </a:srgbClr>
            </a:outerShdw>
          </a:effectLst>
        </p:spPr>
      </p:sp>
      <p:sp>
        <p:nvSpPr>
          <p:cNvPr id="40" name="Shape 38"/>
          <p:cNvSpPr/>
          <p:nvPr/>
        </p:nvSpPr>
        <p:spPr>
          <a:xfrm>
            <a:off x="6182760" y="3497983"/>
            <a:ext cx="33961" cy="916947"/>
          </a:xfrm>
          <a:custGeom>
            <a:avLst/>
            <a:gdLst/>
            <a:ahLst/>
            <a:cxnLst/>
            <a:rect l="l" t="t" r="r" b="b"/>
            <a:pathLst>
              <a:path w="33961" h="916947">
                <a:moveTo>
                  <a:pt x="33961" y="0"/>
                </a:moveTo>
                <a:lnTo>
                  <a:pt x="33961" y="0"/>
                </a:lnTo>
                <a:lnTo>
                  <a:pt x="33961" y="916947"/>
                </a:lnTo>
                <a:lnTo>
                  <a:pt x="33961" y="916947"/>
                </a:lnTo>
                <a:cubicBezTo>
                  <a:pt x="15205" y="916947"/>
                  <a:pt x="0" y="901742"/>
                  <a:pt x="0" y="882986"/>
                </a:cubicBezTo>
                <a:lnTo>
                  <a:pt x="0" y="33961"/>
                </a:lnTo>
                <a:cubicBezTo>
                  <a:pt x="0" y="15217"/>
                  <a:pt x="15217" y="0"/>
                  <a:pt x="33961" y="0"/>
                </a:cubicBezTo>
                <a:close/>
              </a:path>
            </a:pathLst>
          </a:custGeom>
          <a:solidFill>
            <a:srgbClr val="3A4D39"/>
          </a:solidFill>
          <a:ln/>
        </p:spPr>
      </p:sp>
      <p:sp>
        <p:nvSpPr>
          <p:cNvPr id="41" name="Shape 39"/>
          <p:cNvSpPr/>
          <p:nvPr/>
        </p:nvSpPr>
        <p:spPr>
          <a:xfrm>
            <a:off x="6322849" y="3642318"/>
            <a:ext cx="152825" cy="152825"/>
          </a:xfrm>
          <a:custGeom>
            <a:avLst/>
            <a:gdLst/>
            <a:ahLst/>
            <a:cxnLst/>
            <a:rect l="l" t="t" r="r" b="b"/>
            <a:pathLst>
              <a:path w="152825" h="152825">
                <a:moveTo>
                  <a:pt x="109604" y="123125"/>
                </a:moveTo>
                <a:lnTo>
                  <a:pt x="29699" y="43221"/>
                </a:lnTo>
                <a:cubicBezTo>
                  <a:pt x="23013" y="52593"/>
                  <a:pt x="19103" y="64055"/>
                  <a:pt x="19103" y="76412"/>
                </a:cubicBezTo>
                <a:cubicBezTo>
                  <a:pt x="19103" y="108052"/>
                  <a:pt x="44773" y="133721"/>
                  <a:pt x="76412" y="133721"/>
                </a:cubicBezTo>
                <a:cubicBezTo>
                  <a:pt x="88799" y="133721"/>
                  <a:pt x="100261" y="129811"/>
                  <a:pt x="109604" y="123125"/>
                </a:cubicBezTo>
                <a:close/>
                <a:moveTo>
                  <a:pt x="123125" y="109604"/>
                </a:moveTo>
                <a:cubicBezTo>
                  <a:pt x="129811" y="100231"/>
                  <a:pt x="133721" y="88770"/>
                  <a:pt x="133721" y="76412"/>
                </a:cubicBezTo>
                <a:cubicBezTo>
                  <a:pt x="133721" y="44773"/>
                  <a:pt x="108052" y="19103"/>
                  <a:pt x="76412" y="19103"/>
                </a:cubicBezTo>
                <a:cubicBezTo>
                  <a:pt x="64025" y="19103"/>
                  <a:pt x="52563" y="23013"/>
                  <a:pt x="43221" y="29699"/>
                </a:cubicBezTo>
                <a:lnTo>
                  <a:pt x="123125" y="109604"/>
                </a:lnTo>
                <a:close/>
                <a:moveTo>
                  <a:pt x="0" y="76412"/>
                </a:moveTo>
                <a:cubicBezTo>
                  <a:pt x="0" y="34239"/>
                  <a:pt x="34239" y="0"/>
                  <a:pt x="76412" y="0"/>
                </a:cubicBezTo>
                <a:cubicBezTo>
                  <a:pt x="118585" y="0"/>
                  <a:pt x="152825" y="34239"/>
                  <a:pt x="152825" y="76412"/>
                </a:cubicBezTo>
                <a:cubicBezTo>
                  <a:pt x="152825" y="118585"/>
                  <a:pt x="118585" y="152825"/>
                  <a:pt x="76412" y="152825"/>
                </a:cubicBezTo>
                <a:cubicBezTo>
                  <a:pt x="34239" y="152825"/>
                  <a:pt x="0" y="118585"/>
                  <a:pt x="0" y="76412"/>
                </a:cubicBezTo>
                <a:close/>
              </a:path>
            </a:pathLst>
          </a:custGeom>
          <a:solidFill>
            <a:srgbClr val="3A4D39"/>
          </a:solidFill>
          <a:ln/>
        </p:spPr>
      </p:sp>
      <p:sp>
        <p:nvSpPr>
          <p:cNvPr id="42" name="Text 40"/>
          <p:cNvSpPr/>
          <p:nvPr/>
        </p:nvSpPr>
        <p:spPr>
          <a:xfrm>
            <a:off x="6496899" y="3599866"/>
            <a:ext cx="5331877" cy="237727"/>
          </a:xfrm>
          <a:prstGeom prst="rect">
            <a:avLst/>
          </a:prstGeom>
          <a:noFill/>
          <a:ln/>
        </p:spPr>
        <p:txBody>
          <a:bodyPr wrap="square" lIns="0" tIns="0" rIns="0" bIns="0" rtlCol="0" anchor="ctr"/>
          <a:lstStyle/>
          <a:p>
            <a:pPr>
              <a:lnSpc>
                <a:spcPct val="130000"/>
              </a:lnSpc>
            </a:pPr>
            <a:r>
              <a:rPr lang="en-US" sz="1203" b="1" dirty="0">
                <a:solidFill>
                  <a:srgbClr val="3A4D39"/>
                </a:solidFill>
                <a:latin typeface="Unna" pitchFamily="34" charset="0"/>
                <a:ea typeface="Unna" pitchFamily="34" charset="-122"/>
                <a:cs typeface="Unna" pitchFamily="34" charset="-120"/>
              </a:rPr>
              <a:t>Assignment</a:t>
            </a:r>
            <a:endParaRPr lang="en-US" sz="1600" dirty="0"/>
          </a:p>
        </p:txBody>
      </p:sp>
      <p:sp>
        <p:nvSpPr>
          <p:cNvPr id="43" name="Text 41"/>
          <p:cNvSpPr/>
          <p:nvPr/>
        </p:nvSpPr>
        <p:spPr>
          <a:xfrm>
            <a:off x="6301623" y="3905515"/>
            <a:ext cx="5518663" cy="407532"/>
          </a:xfrm>
          <a:prstGeom prst="rect">
            <a:avLst/>
          </a:prstGeom>
          <a:noFill/>
          <a:ln/>
        </p:spPr>
        <p:txBody>
          <a:bodyPr wrap="square" lIns="0" tIns="0" rIns="0" bIns="0" rtlCol="0" anchor="ctr"/>
          <a:lstStyle/>
          <a:p>
            <a:pPr>
              <a:lnSpc>
                <a:spcPct val="130000"/>
              </a:lnSpc>
            </a:pPr>
            <a:r>
              <a:rPr lang="en-US" sz="1070" dirty="0">
                <a:solidFill>
                  <a:srgbClr val="2C2C2C"/>
                </a:solidFill>
                <a:latin typeface="Quattrocento Sans" pitchFamily="34" charset="0"/>
                <a:ea typeface="Quattrocento Sans" pitchFamily="34" charset="-122"/>
                <a:cs typeface="Quattrocento Sans" pitchFamily="34" charset="-120"/>
              </a:rPr>
              <a:t>No partner may assign rights or delegate obligations without prior written consent of partners representing 75% of ownership. Any unauthorized assignment void.</a:t>
            </a:r>
            <a:endParaRPr lang="en-US" sz="1600" dirty="0"/>
          </a:p>
        </p:txBody>
      </p:sp>
      <p:sp>
        <p:nvSpPr>
          <p:cNvPr id="44" name="Shape 42"/>
          <p:cNvSpPr/>
          <p:nvPr/>
        </p:nvSpPr>
        <p:spPr>
          <a:xfrm>
            <a:off x="6182760" y="4516813"/>
            <a:ext cx="5671487" cy="916947"/>
          </a:xfrm>
          <a:custGeom>
            <a:avLst/>
            <a:gdLst/>
            <a:ahLst/>
            <a:cxnLst/>
            <a:rect l="l" t="t" r="r" b="b"/>
            <a:pathLst>
              <a:path w="5671487" h="916947">
                <a:moveTo>
                  <a:pt x="33961" y="0"/>
                </a:moveTo>
                <a:lnTo>
                  <a:pt x="5603569" y="0"/>
                </a:lnTo>
                <a:cubicBezTo>
                  <a:pt x="5641079" y="0"/>
                  <a:pt x="5671487" y="30408"/>
                  <a:pt x="5671487" y="67918"/>
                </a:cubicBezTo>
                <a:lnTo>
                  <a:pt x="5671487" y="849029"/>
                </a:lnTo>
                <a:cubicBezTo>
                  <a:pt x="5671487" y="886539"/>
                  <a:pt x="5641079" y="916947"/>
                  <a:pt x="5603569" y="916947"/>
                </a:cubicBezTo>
                <a:lnTo>
                  <a:pt x="33961" y="916947"/>
                </a:lnTo>
                <a:cubicBezTo>
                  <a:pt x="15205" y="916947"/>
                  <a:pt x="0" y="901742"/>
                  <a:pt x="0" y="882986"/>
                </a:cubicBezTo>
                <a:lnTo>
                  <a:pt x="0" y="33961"/>
                </a:lnTo>
                <a:cubicBezTo>
                  <a:pt x="0" y="15217"/>
                  <a:pt x="15217" y="0"/>
                  <a:pt x="33961" y="0"/>
                </a:cubicBezTo>
                <a:close/>
              </a:path>
            </a:pathLst>
          </a:custGeom>
          <a:solidFill>
            <a:srgbClr val="FFFFFF"/>
          </a:solidFill>
          <a:ln/>
          <a:effectLst>
            <a:outerShdw sx="100000" sy="100000" kx="0" ky="0" algn="bl" rotWithShape="0" blurRad="25471" dist="8490" dir="5400000">
              <a:srgbClr val="000000">
                <a:alpha val="10196"/>
              </a:srgbClr>
            </a:outerShdw>
          </a:effectLst>
        </p:spPr>
      </p:sp>
      <p:sp>
        <p:nvSpPr>
          <p:cNvPr id="45" name="Shape 43"/>
          <p:cNvSpPr/>
          <p:nvPr/>
        </p:nvSpPr>
        <p:spPr>
          <a:xfrm>
            <a:off x="6182760" y="4516813"/>
            <a:ext cx="33961" cy="916947"/>
          </a:xfrm>
          <a:custGeom>
            <a:avLst/>
            <a:gdLst/>
            <a:ahLst/>
            <a:cxnLst/>
            <a:rect l="l" t="t" r="r" b="b"/>
            <a:pathLst>
              <a:path w="33961" h="916947">
                <a:moveTo>
                  <a:pt x="33961" y="0"/>
                </a:moveTo>
                <a:lnTo>
                  <a:pt x="33961" y="0"/>
                </a:lnTo>
                <a:lnTo>
                  <a:pt x="33961" y="916947"/>
                </a:lnTo>
                <a:lnTo>
                  <a:pt x="33961" y="916947"/>
                </a:lnTo>
                <a:cubicBezTo>
                  <a:pt x="15205" y="916947"/>
                  <a:pt x="0" y="901742"/>
                  <a:pt x="0" y="882986"/>
                </a:cubicBezTo>
                <a:lnTo>
                  <a:pt x="0" y="33961"/>
                </a:lnTo>
                <a:cubicBezTo>
                  <a:pt x="0" y="15217"/>
                  <a:pt x="15217" y="0"/>
                  <a:pt x="33961" y="0"/>
                </a:cubicBezTo>
                <a:close/>
              </a:path>
            </a:pathLst>
          </a:custGeom>
          <a:solidFill>
            <a:srgbClr val="7A6250"/>
          </a:solidFill>
          <a:ln/>
        </p:spPr>
      </p:sp>
      <p:sp>
        <p:nvSpPr>
          <p:cNvPr id="46" name="Shape 44"/>
          <p:cNvSpPr/>
          <p:nvPr/>
        </p:nvSpPr>
        <p:spPr>
          <a:xfrm>
            <a:off x="6332400" y="4661148"/>
            <a:ext cx="133721" cy="152825"/>
          </a:xfrm>
          <a:custGeom>
            <a:avLst/>
            <a:gdLst/>
            <a:ahLst/>
            <a:cxnLst/>
            <a:rect l="l" t="t" r="r" b="b"/>
            <a:pathLst>
              <a:path w="133721" h="152825">
                <a:moveTo>
                  <a:pt x="0" y="19103"/>
                </a:moveTo>
                <a:cubicBezTo>
                  <a:pt x="0" y="13820"/>
                  <a:pt x="4268" y="9552"/>
                  <a:pt x="9552" y="9552"/>
                </a:cubicBezTo>
                <a:lnTo>
                  <a:pt x="38206" y="9552"/>
                </a:lnTo>
                <a:cubicBezTo>
                  <a:pt x="43489" y="9552"/>
                  <a:pt x="47758" y="13820"/>
                  <a:pt x="47758" y="19103"/>
                </a:cubicBezTo>
                <a:cubicBezTo>
                  <a:pt x="47758" y="24386"/>
                  <a:pt x="43489" y="28655"/>
                  <a:pt x="38206" y="28655"/>
                </a:cubicBezTo>
                <a:lnTo>
                  <a:pt x="33430" y="28655"/>
                </a:lnTo>
                <a:lnTo>
                  <a:pt x="33430" y="62085"/>
                </a:lnTo>
                <a:lnTo>
                  <a:pt x="100291" y="62085"/>
                </a:lnTo>
                <a:lnTo>
                  <a:pt x="100291" y="28655"/>
                </a:lnTo>
                <a:lnTo>
                  <a:pt x="95515" y="28655"/>
                </a:lnTo>
                <a:cubicBezTo>
                  <a:pt x="90232" y="28655"/>
                  <a:pt x="85964" y="24386"/>
                  <a:pt x="85964" y="19103"/>
                </a:cubicBezTo>
                <a:cubicBezTo>
                  <a:pt x="85964" y="13820"/>
                  <a:pt x="90232" y="9552"/>
                  <a:pt x="95515" y="9552"/>
                </a:cubicBezTo>
                <a:lnTo>
                  <a:pt x="124170" y="9552"/>
                </a:lnTo>
                <a:cubicBezTo>
                  <a:pt x="129453" y="9552"/>
                  <a:pt x="133721" y="13820"/>
                  <a:pt x="133721" y="19103"/>
                </a:cubicBezTo>
                <a:cubicBezTo>
                  <a:pt x="133721" y="24386"/>
                  <a:pt x="129453" y="28655"/>
                  <a:pt x="124170" y="28655"/>
                </a:cubicBezTo>
                <a:lnTo>
                  <a:pt x="119394" y="28655"/>
                </a:lnTo>
                <a:lnTo>
                  <a:pt x="119394" y="124170"/>
                </a:lnTo>
                <a:lnTo>
                  <a:pt x="124170" y="124170"/>
                </a:lnTo>
                <a:cubicBezTo>
                  <a:pt x="129453" y="124170"/>
                  <a:pt x="133721" y="128438"/>
                  <a:pt x="133721" y="133721"/>
                </a:cubicBezTo>
                <a:cubicBezTo>
                  <a:pt x="133721" y="139005"/>
                  <a:pt x="129453" y="143273"/>
                  <a:pt x="124170" y="143273"/>
                </a:cubicBezTo>
                <a:lnTo>
                  <a:pt x="95515" y="143273"/>
                </a:lnTo>
                <a:cubicBezTo>
                  <a:pt x="90232" y="143273"/>
                  <a:pt x="85964" y="139005"/>
                  <a:pt x="85964" y="133721"/>
                </a:cubicBezTo>
                <a:cubicBezTo>
                  <a:pt x="85964" y="128438"/>
                  <a:pt x="90232" y="124170"/>
                  <a:pt x="95515" y="124170"/>
                </a:cubicBezTo>
                <a:lnTo>
                  <a:pt x="100291" y="124170"/>
                </a:lnTo>
                <a:lnTo>
                  <a:pt x="100291" y="81188"/>
                </a:lnTo>
                <a:lnTo>
                  <a:pt x="33430" y="81188"/>
                </a:lnTo>
                <a:lnTo>
                  <a:pt x="33430" y="124170"/>
                </a:lnTo>
                <a:lnTo>
                  <a:pt x="38206" y="124170"/>
                </a:lnTo>
                <a:cubicBezTo>
                  <a:pt x="43489" y="124170"/>
                  <a:pt x="47758" y="128438"/>
                  <a:pt x="47758" y="133721"/>
                </a:cubicBezTo>
                <a:cubicBezTo>
                  <a:pt x="47758" y="139005"/>
                  <a:pt x="43489" y="143273"/>
                  <a:pt x="38206" y="143273"/>
                </a:cubicBezTo>
                <a:lnTo>
                  <a:pt x="9552" y="143273"/>
                </a:lnTo>
                <a:cubicBezTo>
                  <a:pt x="4268" y="143273"/>
                  <a:pt x="0" y="139005"/>
                  <a:pt x="0" y="133721"/>
                </a:cubicBezTo>
                <a:cubicBezTo>
                  <a:pt x="0" y="128438"/>
                  <a:pt x="4268" y="124170"/>
                  <a:pt x="9552" y="124170"/>
                </a:cubicBezTo>
                <a:lnTo>
                  <a:pt x="14327" y="124170"/>
                </a:lnTo>
                <a:lnTo>
                  <a:pt x="14327" y="28655"/>
                </a:lnTo>
                <a:lnTo>
                  <a:pt x="9552" y="28655"/>
                </a:lnTo>
                <a:cubicBezTo>
                  <a:pt x="4268" y="28655"/>
                  <a:pt x="0" y="24386"/>
                  <a:pt x="0" y="19103"/>
                </a:cubicBezTo>
                <a:close/>
              </a:path>
            </a:pathLst>
          </a:custGeom>
          <a:solidFill>
            <a:srgbClr val="7A6250"/>
          </a:solidFill>
          <a:ln/>
        </p:spPr>
      </p:sp>
      <p:sp>
        <p:nvSpPr>
          <p:cNvPr id="47" name="Text 45"/>
          <p:cNvSpPr/>
          <p:nvPr/>
        </p:nvSpPr>
        <p:spPr>
          <a:xfrm>
            <a:off x="6496899" y="4618696"/>
            <a:ext cx="5331877" cy="237727"/>
          </a:xfrm>
          <a:prstGeom prst="rect">
            <a:avLst/>
          </a:prstGeom>
          <a:noFill/>
          <a:ln/>
        </p:spPr>
        <p:txBody>
          <a:bodyPr wrap="square" lIns="0" tIns="0" rIns="0" bIns="0" rtlCol="0" anchor="ctr"/>
          <a:lstStyle/>
          <a:p>
            <a:pPr>
              <a:lnSpc>
                <a:spcPct val="130000"/>
              </a:lnSpc>
            </a:pPr>
            <a:r>
              <a:rPr lang="en-US" sz="1203" b="1" dirty="0">
                <a:solidFill>
                  <a:srgbClr val="3A4D39"/>
                </a:solidFill>
                <a:latin typeface="Unna" pitchFamily="34" charset="0"/>
                <a:ea typeface="Unna" pitchFamily="34" charset="-122"/>
                <a:cs typeface="Unna" pitchFamily="34" charset="-120"/>
              </a:rPr>
              <a:t>Headings</a:t>
            </a:r>
            <a:endParaRPr lang="en-US" sz="1600" dirty="0"/>
          </a:p>
        </p:txBody>
      </p:sp>
      <p:sp>
        <p:nvSpPr>
          <p:cNvPr id="48" name="Text 46"/>
          <p:cNvSpPr/>
          <p:nvPr/>
        </p:nvSpPr>
        <p:spPr>
          <a:xfrm>
            <a:off x="6301623" y="4924345"/>
            <a:ext cx="5518663" cy="407532"/>
          </a:xfrm>
          <a:prstGeom prst="rect">
            <a:avLst/>
          </a:prstGeom>
          <a:noFill/>
          <a:ln/>
        </p:spPr>
        <p:txBody>
          <a:bodyPr wrap="square" lIns="0" tIns="0" rIns="0" bIns="0" rtlCol="0" anchor="ctr"/>
          <a:lstStyle/>
          <a:p>
            <a:pPr>
              <a:lnSpc>
                <a:spcPct val="130000"/>
              </a:lnSpc>
            </a:pPr>
            <a:r>
              <a:rPr lang="en-US" sz="1070" dirty="0">
                <a:solidFill>
                  <a:srgbClr val="2C2C2C"/>
                </a:solidFill>
                <a:latin typeface="Quattrocento Sans" pitchFamily="34" charset="0"/>
                <a:ea typeface="Quattrocento Sans" pitchFamily="34" charset="-122"/>
                <a:cs typeface="Quattrocento Sans" pitchFamily="34" charset="-120"/>
              </a:rPr>
              <a:t>Section headings for convenience only and do not affect interpretation of agreement. Singular includes plural and vice versa where context permits.</a:t>
            </a:r>
            <a:endParaRPr lang="en-US" sz="1600" dirty="0"/>
          </a:p>
        </p:txBody>
      </p:sp>
      <p:sp>
        <p:nvSpPr>
          <p:cNvPr id="49" name="Shape 47"/>
          <p:cNvSpPr/>
          <p:nvPr/>
        </p:nvSpPr>
        <p:spPr>
          <a:xfrm>
            <a:off x="339610" y="5535643"/>
            <a:ext cx="3769671" cy="1324479"/>
          </a:xfrm>
          <a:custGeom>
            <a:avLst/>
            <a:gdLst/>
            <a:ahLst/>
            <a:cxnLst/>
            <a:rect l="l" t="t" r="r" b="b"/>
            <a:pathLst>
              <a:path w="3769671" h="1324479">
                <a:moveTo>
                  <a:pt x="67919" y="0"/>
                </a:moveTo>
                <a:lnTo>
                  <a:pt x="3701752" y="0"/>
                </a:lnTo>
                <a:cubicBezTo>
                  <a:pt x="3739263" y="0"/>
                  <a:pt x="3769671" y="30409"/>
                  <a:pt x="3769671" y="67919"/>
                </a:cubicBezTo>
                <a:lnTo>
                  <a:pt x="3769671" y="1256560"/>
                </a:lnTo>
                <a:cubicBezTo>
                  <a:pt x="3769671" y="1294071"/>
                  <a:pt x="3739263" y="1324479"/>
                  <a:pt x="3701752" y="1324479"/>
                </a:cubicBezTo>
                <a:lnTo>
                  <a:pt x="67919" y="1324479"/>
                </a:lnTo>
                <a:cubicBezTo>
                  <a:pt x="30409" y="1324479"/>
                  <a:pt x="0" y="1294071"/>
                  <a:pt x="0" y="1256560"/>
                </a:cubicBezTo>
                <a:lnTo>
                  <a:pt x="0" y="67919"/>
                </a:lnTo>
                <a:cubicBezTo>
                  <a:pt x="0" y="30434"/>
                  <a:pt x="30434" y="0"/>
                  <a:pt x="67919" y="0"/>
                </a:cubicBezTo>
                <a:close/>
              </a:path>
            </a:pathLst>
          </a:custGeom>
          <a:solidFill>
            <a:srgbClr val="3A4D39"/>
          </a:solidFill>
          <a:ln/>
        </p:spPr>
      </p:sp>
      <p:sp>
        <p:nvSpPr>
          <p:cNvPr id="50" name="Shape 48"/>
          <p:cNvSpPr/>
          <p:nvPr/>
        </p:nvSpPr>
        <p:spPr>
          <a:xfrm>
            <a:off x="2135829" y="5637526"/>
            <a:ext cx="178295" cy="203766"/>
          </a:xfrm>
          <a:custGeom>
            <a:avLst/>
            <a:gdLst/>
            <a:ahLst/>
            <a:cxnLst/>
            <a:rect l="l" t="t" r="r" b="b"/>
            <a:pathLst>
              <a:path w="178295" h="203766">
                <a:moveTo>
                  <a:pt x="76412" y="0"/>
                </a:moveTo>
                <a:cubicBezTo>
                  <a:pt x="62364" y="0"/>
                  <a:pt x="50942" y="11422"/>
                  <a:pt x="50942" y="25471"/>
                </a:cubicBezTo>
                <a:lnTo>
                  <a:pt x="50942" y="127354"/>
                </a:lnTo>
                <a:cubicBezTo>
                  <a:pt x="50942" y="141402"/>
                  <a:pt x="62364" y="152825"/>
                  <a:pt x="76412" y="152825"/>
                </a:cubicBezTo>
                <a:lnTo>
                  <a:pt x="152825" y="152825"/>
                </a:lnTo>
                <a:cubicBezTo>
                  <a:pt x="166873" y="152825"/>
                  <a:pt x="178295" y="141402"/>
                  <a:pt x="178295" y="127354"/>
                </a:cubicBezTo>
                <a:lnTo>
                  <a:pt x="178295" y="47519"/>
                </a:lnTo>
                <a:cubicBezTo>
                  <a:pt x="178295" y="40594"/>
                  <a:pt x="175470" y="33948"/>
                  <a:pt x="170455" y="29132"/>
                </a:cubicBezTo>
                <a:lnTo>
                  <a:pt x="147492" y="7084"/>
                </a:lnTo>
                <a:cubicBezTo>
                  <a:pt x="142756" y="2547"/>
                  <a:pt x="136428" y="0"/>
                  <a:pt x="129861" y="0"/>
                </a:cubicBezTo>
                <a:lnTo>
                  <a:pt x="76412" y="0"/>
                </a:lnTo>
                <a:close/>
                <a:moveTo>
                  <a:pt x="25471" y="50942"/>
                </a:moveTo>
                <a:cubicBezTo>
                  <a:pt x="11422" y="50942"/>
                  <a:pt x="0" y="62364"/>
                  <a:pt x="0" y="76412"/>
                </a:cubicBezTo>
                <a:lnTo>
                  <a:pt x="0" y="178295"/>
                </a:lnTo>
                <a:cubicBezTo>
                  <a:pt x="0" y="192344"/>
                  <a:pt x="11422" y="203766"/>
                  <a:pt x="25471" y="203766"/>
                </a:cubicBezTo>
                <a:lnTo>
                  <a:pt x="101883" y="203766"/>
                </a:lnTo>
                <a:cubicBezTo>
                  <a:pt x="115932" y="203766"/>
                  <a:pt x="127354" y="192344"/>
                  <a:pt x="127354" y="178295"/>
                </a:cubicBezTo>
                <a:lnTo>
                  <a:pt x="127354" y="171928"/>
                </a:lnTo>
                <a:lnTo>
                  <a:pt x="101883" y="171928"/>
                </a:lnTo>
                <a:lnTo>
                  <a:pt x="101883" y="178295"/>
                </a:lnTo>
                <a:lnTo>
                  <a:pt x="25471" y="178295"/>
                </a:lnTo>
                <a:lnTo>
                  <a:pt x="25471" y="76412"/>
                </a:lnTo>
                <a:lnTo>
                  <a:pt x="31838" y="76412"/>
                </a:lnTo>
                <a:lnTo>
                  <a:pt x="31838" y="50942"/>
                </a:lnTo>
                <a:lnTo>
                  <a:pt x="25471" y="50942"/>
                </a:lnTo>
                <a:close/>
              </a:path>
            </a:pathLst>
          </a:custGeom>
          <a:solidFill>
            <a:srgbClr val="BCA37F"/>
          </a:solidFill>
          <a:ln/>
        </p:spPr>
      </p:sp>
      <p:sp>
        <p:nvSpPr>
          <p:cNvPr id="51" name="Text 49"/>
          <p:cNvSpPr/>
          <p:nvPr/>
        </p:nvSpPr>
        <p:spPr>
          <a:xfrm>
            <a:off x="407532" y="5909214"/>
            <a:ext cx="3633827" cy="203766"/>
          </a:xfrm>
          <a:prstGeom prst="rect">
            <a:avLst/>
          </a:prstGeom>
          <a:noFill/>
          <a:ln/>
        </p:spPr>
        <p:txBody>
          <a:bodyPr wrap="square" lIns="0" tIns="0" rIns="0" bIns="0" rtlCol="0" anchor="ctr"/>
          <a:lstStyle/>
          <a:p>
            <a:pPr algn="ctr">
              <a:lnSpc>
                <a:spcPct val="130000"/>
              </a:lnSpc>
            </a:pPr>
            <a:r>
              <a:rPr lang="en-US" sz="1070" b="1" dirty="0">
                <a:solidFill>
                  <a:srgbClr val="F8F6F2"/>
                </a:solidFill>
                <a:latin typeface="Unna" pitchFamily="34" charset="0"/>
                <a:ea typeface="Unna" pitchFamily="34" charset="-122"/>
                <a:cs typeface="Unna" pitchFamily="34" charset="-120"/>
              </a:rPr>
              <a:t>Counterparts</a:t>
            </a:r>
            <a:endParaRPr lang="en-US" sz="1600" dirty="0"/>
          </a:p>
        </p:txBody>
      </p:sp>
      <p:sp>
        <p:nvSpPr>
          <p:cNvPr id="52" name="Text 50"/>
          <p:cNvSpPr/>
          <p:nvPr/>
        </p:nvSpPr>
        <p:spPr>
          <a:xfrm>
            <a:off x="407532" y="6146942"/>
            <a:ext cx="3633827" cy="407532"/>
          </a:xfrm>
          <a:prstGeom prst="rect">
            <a:avLst/>
          </a:prstGeom>
          <a:noFill/>
          <a:ln/>
        </p:spPr>
        <p:txBody>
          <a:bodyPr wrap="square" lIns="0" tIns="0" rIns="0" bIns="0" rtlCol="0" anchor="ctr"/>
          <a:lstStyle/>
          <a:p>
            <a:pPr algn="ctr">
              <a:lnSpc>
                <a:spcPct val="130000"/>
              </a:lnSpc>
            </a:pPr>
            <a:r>
              <a:rPr lang="en-US" sz="1070" dirty="0">
                <a:solidFill>
                  <a:srgbClr val="F8F6F2"/>
                </a:solidFill>
                <a:latin typeface="Quattrocento Sans" pitchFamily="34" charset="0"/>
                <a:ea typeface="Quattrocento Sans" pitchFamily="34" charset="-122"/>
                <a:cs typeface="Quattrocento Sans" pitchFamily="34" charset="-120"/>
              </a:rPr>
              <a:t>Agreement may be executed in multiple counterparts, each deemed original. Electronic signatures valid.</a:t>
            </a:r>
            <a:endParaRPr lang="en-US" sz="1600" dirty="0"/>
          </a:p>
        </p:txBody>
      </p:sp>
      <p:sp>
        <p:nvSpPr>
          <p:cNvPr id="53" name="Shape 51"/>
          <p:cNvSpPr/>
          <p:nvPr/>
        </p:nvSpPr>
        <p:spPr>
          <a:xfrm>
            <a:off x="4212358" y="5535643"/>
            <a:ext cx="3769671" cy="1324479"/>
          </a:xfrm>
          <a:custGeom>
            <a:avLst/>
            <a:gdLst/>
            <a:ahLst/>
            <a:cxnLst/>
            <a:rect l="l" t="t" r="r" b="b"/>
            <a:pathLst>
              <a:path w="3769671" h="1324479">
                <a:moveTo>
                  <a:pt x="67919" y="0"/>
                </a:moveTo>
                <a:lnTo>
                  <a:pt x="3701752" y="0"/>
                </a:lnTo>
                <a:cubicBezTo>
                  <a:pt x="3739263" y="0"/>
                  <a:pt x="3769671" y="30409"/>
                  <a:pt x="3769671" y="67919"/>
                </a:cubicBezTo>
                <a:lnTo>
                  <a:pt x="3769671" y="1256560"/>
                </a:lnTo>
                <a:cubicBezTo>
                  <a:pt x="3769671" y="1294071"/>
                  <a:pt x="3739263" y="1324479"/>
                  <a:pt x="3701752" y="1324479"/>
                </a:cubicBezTo>
                <a:lnTo>
                  <a:pt x="67919" y="1324479"/>
                </a:lnTo>
                <a:cubicBezTo>
                  <a:pt x="30409" y="1324479"/>
                  <a:pt x="0" y="1294071"/>
                  <a:pt x="0" y="1256560"/>
                </a:cubicBezTo>
                <a:lnTo>
                  <a:pt x="0" y="67919"/>
                </a:lnTo>
                <a:cubicBezTo>
                  <a:pt x="0" y="30434"/>
                  <a:pt x="30434" y="0"/>
                  <a:pt x="67919" y="0"/>
                </a:cubicBezTo>
                <a:close/>
              </a:path>
            </a:pathLst>
          </a:custGeom>
          <a:solidFill>
            <a:srgbClr val="7A6250"/>
          </a:solidFill>
          <a:ln/>
        </p:spPr>
      </p:sp>
      <p:sp>
        <p:nvSpPr>
          <p:cNvPr id="54" name="Shape 52"/>
          <p:cNvSpPr/>
          <p:nvPr/>
        </p:nvSpPr>
        <p:spPr>
          <a:xfrm>
            <a:off x="5983106" y="5637526"/>
            <a:ext cx="229237" cy="203766"/>
          </a:xfrm>
          <a:custGeom>
            <a:avLst/>
            <a:gdLst/>
            <a:ahLst/>
            <a:cxnLst/>
            <a:rect l="l" t="t" r="r" b="b"/>
            <a:pathLst>
              <a:path w="229237" h="203766">
                <a:moveTo>
                  <a:pt x="63677" y="0"/>
                </a:moveTo>
                <a:cubicBezTo>
                  <a:pt x="70721" y="0"/>
                  <a:pt x="76412" y="5691"/>
                  <a:pt x="76412" y="12735"/>
                </a:cubicBezTo>
                <a:lnTo>
                  <a:pt x="76412" y="25471"/>
                </a:lnTo>
                <a:lnTo>
                  <a:pt x="127354" y="25471"/>
                </a:lnTo>
                <a:cubicBezTo>
                  <a:pt x="134398" y="25471"/>
                  <a:pt x="140089" y="31162"/>
                  <a:pt x="140089" y="38206"/>
                </a:cubicBezTo>
                <a:cubicBezTo>
                  <a:pt x="140089" y="45250"/>
                  <a:pt x="134398" y="50942"/>
                  <a:pt x="127354" y="50942"/>
                </a:cubicBezTo>
                <a:lnTo>
                  <a:pt x="123533" y="50942"/>
                </a:lnTo>
                <a:lnTo>
                  <a:pt x="120190" y="60135"/>
                </a:lnTo>
                <a:cubicBezTo>
                  <a:pt x="113663" y="78124"/>
                  <a:pt x="103833" y="94560"/>
                  <a:pt x="91456" y="108688"/>
                </a:cubicBezTo>
                <a:cubicBezTo>
                  <a:pt x="97107" y="112191"/>
                  <a:pt x="102997" y="115295"/>
                  <a:pt x="109126" y="118041"/>
                </a:cubicBezTo>
                <a:lnTo>
                  <a:pt x="129184" y="126956"/>
                </a:lnTo>
                <a:lnTo>
                  <a:pt x="153939" y="71239"/>
                </a:lnTo>
                <a:cubicBezTo>
                  <a:pt x="155969" y="66622"/>
                  <a:pt x="160545" y="63677"/>
                  <a:pt x="165560" y="63677"/>
                </a:cubicBezTo>
                <a:cubicBezTo>
                  <a:pt x="170574" y="63677"/>
                  <a:pt x="175151" y="66622"/>
                  <a:pt x="177181" y="71239"/>
                </a:cubicBezTo>
                <a:lnTo>
                  <a:pt x="228122" y="185857"/>
                </a:lnTo>
                <a:cubicBezTo>
                  <a:pt x="230988" y="192304"/>
                  <a:pt x="228083" y="199826"/>
                  <a:pt x="221675" y="202652"/>
                </a:cubicBezTo>
                <a:cubicBezTo>
                  <a:pt x="215268" y="205477"/>
                  <a:pt x="207706" y="202612"/>
                  <a:pt x="204880" y="196204"/>
                </a:cubicBezTo>
                <a:lnTo>
                  <a:pt x="196921" y="178295"/>
                </a:lnTo>
                <a:lnTo>
                  <a:pt x="134239" y="178295"/>
                </a:lnTo>
                <a:lnTo>
                  <a:pt x="126279" y="196204"/>
                </a:lnTo>
                <a:cubicBezTo>
                  <a:pt x="123414" y="202652"/>
                  <a:pt x="115892" y="205517"/>
                  <a:pt x="109484" y="202652"/>
                </a:cubicBezTo>
                <a:cubicBezTo>
                  <a:pt x="103077" y="199786"/>
                  <a:pt x="100172" y="192264"/>
                  <a:pt x="103037" y="185857"/>
                </a:cubicBezTo>
                <a:lnTo>
                  <a:pt x="118877" y="150238"/>
                </a:lnTo>
                <a:lnTo>
                  <a:pt x="98819" y="141323"/>
                </a:lnTo>
                <a:cubicBezTo>
                  <a:pt x="89665" y="137263"/>
                  <a:pt x="80909" y="132408"/>
                  <a:pt x="72631" y="126836"/>
                </a:cubicBezTo>
                <a:cubicBezTo>
                  <a:pt x="64154" y="133682"/>
                  <a:pt x="54882" y="139651"/>
                  <a:pt x="44972" y="144626"/>
                </a:cubicBezTo>
                <a:lnTo>
                  <a:pt x="31162" y="151471"/>
                </a:lnTo>
                <a:cubicBezTo>
                  <a:pt x="24874" y="154615"/>
                  <a:pt x="17233" y="152068"/>
                  <a:pt x="14089" y="145780"/>
                </a:cubicBezTo>
                <a:cubicBezTo>
                  <a:pt x="10944" y="139492"/>
                  <a:pt x="13492" y="131851"/>
                  <a:pt x="19780" y="128707"/>
                </a:cubicBezTo>
                <a:lnTo>
                  <a:pt x="33510" y="121822"/>
                </a:lnTo>
                <a:cubicBezTo>
                  <a:pt x="39997" y="118558"/>
                  <a:pt x="46166" y="114778"/>
                  <a:pt x="51976" y="110559"/>
                </a:cubicBezTo>
                <a:cubicBezTo>
                  <a:pt x="46484" y="105505"/>
                  <a:pt x="41310" y="100052"/>
                  <a:pt x="36495" y="94282"/>
                </a:cubicBezTo>
                <a:lnTo>
                  <a:pt x="32475" y="89426"/>
                </a:lnTo>
                <a:cubicBezTo>
                  <a:pt x="27978" y="84014"/>
                  <a:pt x="28694" y="75974"/>
                  <a:pt x="34107" y="71477"/>
                </a:cubicBezTo>
                <a:cubicBezTo>
                  <a:pt x="39519" y="66980"/>
                  <a:pt x="47559" y="67696"/>
                  <a:pt x="52056" y="73109"/>
                </a:cubicBezTo>
                <a:lnTo>
                  <a:pt x="56115" y="77964"/>
                </a:lnTo>
                <a:cubicBezTo>
                  <a:pt x="60692" y="83496"/>
                  <a:pt x="65707" y="88630"/>
                  <a:pt x="71000" y="93366"/>
                </a:cubicBezTo>
                <a:cubicBezTo>
                  <a:pt x="81944" y="81268"/>
                  <a:pt x="90580" y="67060"/>
                  <a:pt x="96271" y="51419"/>
                </a:cubicBezTo>
                <a:lnTo>
                  <a:pt x="96470" y="50942"/>
                </a:lnTo>
                <a:lnTo>
                  <a:pt x="12775" y="50942"/>
                </a:lnTo>
                <a:cubicBezTo>
                  <a:pt x="5691" y="50942"/>
                  <a:pt x="0" y="45250"/>
                  <a:pt x="0" y="38206"/>
                </a:cubicBezTo>
                <a:cubicBezTo>
                  <a:pt x="0" y="31162"/>
                  <a:pt x="5691" y="25471"/>
                  <a:pt x="12735" y="25471"/>
                </a:cubicBezTo>
                <a:lnTo>
                  <a:pt x="50942" y="25471"/>
                </a:lnTo>
                <a:lnTo>
                  <a:pt x="50942" y="12735"/>
                </a:lnTo>
                <a:cubicBezTo>
                  <a:pt x="50942" y="5691"/>
                  <a:pt x="56633" y="0"/>
                  <a:pt x="63677" y="0"/>
                </a:cubicBezTo>
                <a:close/>
                <a:moveTo>
                  <a:pt x="165560" y="107773"/>
                </a:moveTo>
                <a:lnTo>
                  <a:pt x="145541" y="152825"/>
                </a:lnTo>
                <a:lnTo>
                  <a:pt x="185578" y="152825"/>
                </a:lnTo>
                <a:lnTo>
                  <a:pt x="165560" y="107773"/>
                </a:lnTo>
                <a:close/>
              </a:path>
            </a:pathLst>
          </a:custGeom>
          <a:solidFill>
            <a:srgbClr val="BCA37F"/>
          </a:solidFill>
          <a:ln/>
        </p:spPr>
      </p:sp>
      <p:sp>
        <p:nvSpPr>
          <p:cNvPr id="55" name="Text 53"/>
          <p:cNvSpPr/>
          <p:nvPr/>
        </p:nvSpPr>
        <p:spPr>
          <a:xfrm>
            <a:off x="4280280" y="5909214"/>
            <a:ext cx="3633827" cy="203766"/>
          </a:xfrm>
          <a:prstGeom prst="rect">
            <a:avLst/>
          </a:prstGeom>
          <a:noFill/>
          <a:ln/>
        </p:spPr>
        <p:txBody>
          <a:bodyPr wrap="square" lIns="0" tIns="0" rIns="0" bIns="0" rtlCol="0" anchor="ctr"/>
          <a:lstStyle/>
          <a:p>
            <a:pPr algn="ctr">
              <a:lnSpc>
                <a:spcPct val="130000"/>
              </a:lnSpc>
            </a:pPr>
            <a:r>
              <a:rPr lang="en-US" sz="1070" b="1" dirty="0">
                <a:solidFill>
                  <a:srgbClr val="F8F6F2"/>
                </a:solidFill>
                <a:latin typeface="Unna" pitchFamily="34" charset="0"/>
                <a:ea typeface="Unna" pitchFamily="34" charset="-122"/>
                <a:cs typeface="Unna" pitchFamily="34" charset="-120"/>
              </a:rPr>
              <a:t>Language</a:t>
            </a:r>
            <a:endParaRPr lang="en-US" sz="1600" dirty="0"/>
          </a:p>
        </p:txBody>
      </p:sp>
      <p:sp>
        <p:nvSpPr>
          <p:cNvPr id="56" name="Text 54"/>
          <p:cNvSpPr/>
          <p:nvPr/>
        </p:nvSpPr>
        <p:spPr>
          <a:xfrm>
            <a:off x="4280280" y="6146942"/>
            <a:ext cx="3633827" cy="407532"/>
          </a:xfrm>
          <a:prstGeom prst="rect">
            <a:avLst/>
          </a:prstGeom>
          <a:noFill/>
          <a:ln/>
        </p:spPr>
        <p:txBody>
          <a:bodyPr wrap="square" lIns="0" tIns="0" rIns="0" bIns="0" rtlCol="0" anchor="ctr"/>
          <a:lstStyle/>
          <a:p>
            <a:pPr algn="ctr">
              <a:lnSpc>
                <a:spcPct val="130000"/>
              </a:lnSpc>
            </a:pPr>
            <a:r>
              <a:rPr lang="en-US" sz="1070" dirty="0">
                <a:solidFill>
                  <a:srgbClr val="F8F6F2"/>
                </a:solidFill>
                <a:latin typeface="Quattrocento Sans" pitchFamily="34" charset="0"/>
                <a:ea typeface="Quattrocento Sans" pitchFamily="34" charset="-122"/>
                <a:cs typeface="Quattrocento Sans" pitchFamily="34" charset="-120"/>
              </a:rPr>
              <a:t>English is official language. Translations for convenience only; English version prevails in case of conflict.</a:t>
            </a:r>
            <a:endParaRPr lang="en-US" sz="1600" dirty="0"/>
          </a:p>
        </p:txBody>
      </p:sp>
      <p:sp>
        <p:nvSpPr>
          <p:cNvPr id="57" name="Shape 55"/>
          <p:cNvSpPr/>
          <p:nvPr/>
        </p:nvSpPr>
        <p:spPr>
          <a:xfrm>
            <a:off x="8085107" y="5535643"/>
            <a:ext cx="3769671" cy="1324479"/>
          </a:xfrm>
          <a:custGeom>
            <a:avLst/>
            <a:gdLst/>
            <a:ahLst/>
            <a:cxnLst/>
            <a:rect l="l" t="t" r="r" b="b"/>
            <a:pathLst>
              <a:path w="3769671" h="1324479">
                <a:moveTo>
                  <a:pt x="67919" y="0"/>
                </a:moveTo>
                <a:lnTo>
                  <a:pt x="3701752" y="0"/>
                </a:lnTo>
                <a:cubicBezTo>
                  <a:pt x="3739263" y="0"/>
                  <a:pt x="3769671" y="30409"/>
                  <a:pt x="3769671" y="67919"/>
                </a:cubicBezTo>
                <a:lnTo>
                  <a:pt x="3769671" y="1256560"/>
                </a:lnTo>
                <a:cubicBezTo>
                  <a:pt x="3769671" y="1294071"/>
                  <a:pt x="3739263" y="1324479"/>
                  <a:pt x="3701752" y="1324479"/>
                </a:cubicBezTo>
                <a:lnTo>
                  <a:pt x="67919" y="1324479"/>
                </a:lnTo>
                <a:cubicBezTo>
                  <a:pt x="30409" y="1324479"/>
                  <a:pt x="0" y="1294071"/>
                  <a:pt x="0" y="1256560"/>
                </a:cubicBezTo>
                <a:lnTo>
                  <a:pt x="0" y="67919"/>
                </a:lnTo>
                <a:cubicBezTo>
                  <a:pt x="0" y="30434"/>
                  <a:pt x="30434" y="0"/>
                  <a:pt x="67919" y="0"/>
                </a:cubicBezTo>
                <a:close/>
              </a:path>
            </a:pathLst>
          </a:custGeom>
          <a:solidFill>
            <a:srgbClr val="3A4D39"/>
          </a:solidFill>
          <a:ln/>
        </p:spPr>
      </p:sp>
      <p:sp>
        <p:nvSpPr>
          <p:cNvPr id="58" name="Shape 56"/>
          <p:cNvSpPr/>
          <p:nvPr/>
        </p:nvSpPr>
        <p:spPr>
          <a:xfrm>
            <a:off x="9843119" y="5637526"/>
            <a:ext cx="254708" cy="203766"/>
          </a:xfrm>
          <a:custGeom>
            <a:avLst/>
            <a:gdLst/>
            <a:ahLst/>
            <a:cxnLst/>
            <a:rect l="l" t="t" r="r" b="b"/>
            <a:pathLst>
              <a:path w="254708" h="203766">
                <a:moveTo>
                  <a:pt x="127354" y="6368"/>
                </a:moveTo>
                <a:cubicBezTo>
                  <a:pt x="150198" y="6368"/>
                  <a:pt x="168744" y="24914"/>
                  <a:pt x="168744" y="47758"/>
                </a:cubicBezTo>
                <a:cubicBezTo>
                  <a:pt x="168744" y="70601"/>
                  <a:pt x="150198" y="89148"/>
                  <a:pt x="127354" y="89148"/>
                </a:cubicBezTo>
                <a:cubicBezTo>
                  <a:pt x="104510" y="89148"/>
                  <a:pt x="85964" y="70601"/>
                  <a:pt x="85964" y="47758"/>
                </a:cubicBezTo>
                <a:cubicBezTo>
                  <a:pt x="85964" y="24914"/>
                  <a:pt x="104510" y="6368"/>
                  <a:pt x="127354" y="6368"/>
                </a:cubicBezTo>
                <a:close/>
                <a:moveTo>
                  <a:pt x="38206" y="35022"/>
                </a:moveTo>
                <a:cubicBezTo>
                  <a:pt x="54021" y="35022"/>
                  <a:pt x="66861" y="47862"/>
                  <a:pt x="66861" y="63677"/>
                </a:cubicBezTo>
                <a:cubicBezTo>
                  <a:pt x="66861" y="79492"/>
                  <a:pt x="54021" y="92331"/>
                  <a:pt x="38206" y="92331"/>
                </a:cubicBezTo>
                <a:cubicBezTo>
                  <a:pt x="22391" y="92331"/>
                  <a:pt x="9552" y="79492"/>
                  <a:pt x="9552" y="63677"/>
                </a:cubicBezTo>
                <a:cubicBezTo>
                  <a:pt x="9552" y="47862"/>
                  <a:pt x="22391" y="35022"/>
                  <a:pt x="38206" y="35022"/>
                </a:cubicBezTo>
                <a:close/>
                <a:moveTo>
                  <a:pt x="0" y="165560"/>
                </a:moveTo>
                <a:cubicBezTo>
                  <a:pt x="0" y="137423"/>
                  <a:pt x="22804" y="114618"/>
                  <a:pt x="50942" y="114618"/>
                </a:cubicBezTo>
                <a:cubicBezTo>
                  <a:pt x="56036" y="114618"/>
                  <a:pt x="60971" y="115375"/>
                  <a:pt x="65627" y="116767"/>
                </a:cubicBezTo>
                <a:cubicBezTo>
                  <a:pt x="52533" y="131413"/>
                  <a:pt x="44574" y="150755"/>
                  <a:pt x="44574" y="171928"/>
                </a:cubicBezTo>
                <a:lnTo>
                  <a:pt x="44574" y="178295"/>
                </a:lnTo>
                <a:cubicBezTo>
                  <a:pt x="44574" y="182832"/>
                  <a:pt x="45529" y="187130"/>
                  <a:pt x="47240" y="191031"/>
                </a:cubicBezTo>
                <a:lnTo>
                  <a:pt x="12735" y="191031"/>
                </a:lnTo>
                <a:cubicBezTo>
                  <a:pt x="5691" y="191031"/>
                  <a:pt x="0" y="185340"/>
                  <a:pt x="0" y="178295"/>
                </a:cubicBezTo>
                <a:lnTo>
                  <a:pt x="0" y="165560"/>
                </a:lnTo>
                <a:close/>
                <a:moveTo>
                  <a:pt x="207467" y="191031"/>
                </a:moveTo>
                <a:cubicBezTo>
                  <a:pt x="209179" y="187130"/>
                  <a:pt x="210134" y="182832"/>
                  <a:pt x="210134" y="178295"/>
                </a:cubicBezTo>
                <a:lnTo>
                  <a:pt x="210134" y="171928"/>
                </a:lnTo>
                <a:cubicBezTo>
                  <a:pt x="210134" y="150755"/>
                  <a:pt x="202174" y="131413"/>
                  <a:pt x="189081" y="116767"/>
                </a:cubicBezTo>
                <a:cubicBezTo>
                  <a:pt x="193737" y="115375"/>
                  <a:pt x="198672" y="114618"/>
                  <a:pt x="203766" y="114618"/>
                </a:cubicBezTo>
                <a:cubicBezTo>
                  <a:pt x="231903" y="114618"/>
                  <a:pt x="254708" y="137423"/>
                  <a:pt x="254708" y="165560"/>
                </a:cubicBezTo>
                <a:lnTo>
                  <a:pt x="254708" y="178295"/>
                </a:lnTo>
                <a:cubicBezTo>
                  <a:pt x="254708" y="185340"/>
                  <a:pt x="249016" y="191031"/>
                  <a:pt x="241972" y="191031"/>
                </a:cubicBezTo>
                <a:lnTo>
                  <a:pt x="207467" y="191031"/>
                </a:lnTo>
                <a:close/>
                <a:moveTo>
                  <a:pt x="187847" y="63677"/>
                </a:moveTo>
                <a:cubicBezTo>
                  <a:pt x="187847" y="47862"/>
                  <a:pt x="200686" y="35022"/>
                  <a:pt x="216501" y="35022"/>
                </a:cubicBezTo>
                <a:cubicBezTo>
                  <a:pt x="232316" y="35022"/>
                  <a:pt x="245156" y="47862"/>
                  <a:pt x="245156" y="63677"/>
                </a:cubicBezTo>
                <a:cubicBezTo>
                  <a:pt x="245156" y="79492"/>
                  <a:pt x="232316" y="92331"/>
                  <a:pt x="216501" y="92331"/>
                </a:cubicBezTo>
                <a:cubicBezTo>
                  <a:pt x="200686" y="92331"/>
                  <a:pt x="187847" y="79492"/>
                  <a:pt x="187847" y="63677"/>
                </a:cubicBezTo>
                <a:close/>
                <a:moveTo>
                  <a:pt x="63677" y="171928"/>
                </a:moveTo>
                <a:cubicBezTo>
                  <a:pt x="63677" y="136746"/>
                  <a:pt x="92172" y="108251"/>
                  <a:pt x="127354" y="108251"/>
                </a:cubicBezTo>
                <a:cubicBezTo>
                  <a:pt x="162535" y="108251"/>
                  <a:pt x="191031" y="136746"/>
                  <a:pt x="191031" y="171928"/>
                </a:cubicBezTo>
                <a:lnTo>
                  <a:pt x="191031" y="178295"/>
                </a:lnTo>
                <a:cubicBezTo>
                  <a:pt x="191031" y="185340"/>
                  <a:pt x="185340" y="191031"/>
                  <a:pt x="178295" y="191031"/>
                </a:cubicBezTo>
                <a:lnTo>
                  <a:pt x="76412" y="191031"/>
                </a:lnTo>
                <a:cubicBezTo>
                  <a:pt x="69368" y="191031"/>
                  <a:pt x="63677" y="185340"/>
                  <a:pt x="63677" y="178295"/>
                </a:cubicBezTo>
                <a:lnTo>
                  <a:pt x="63677" y="171928"/>
                </a:lnTo>
                <a:close/>
              </a:path>
            </a:pathLst>
          </a:custGeom>
          <a:solidFill>
            <a:srgbClr val="BCA37F"/>
          </a:solidFill>
          <a:ln/>
        </p:spPr>
      </p:sp>
      <p:sp>
        <p:nvSpPr>
          <p:cNvPr id="59" name="Text 57"/>
          <p:cNvSpPr/>
          <p:nvPr/>
        </p:nvSpPr>
        <p:spPr>
          <a:xfrm>
            <a:off x="8153029" y="5909214"/>
            <a:ext cx="3633827" cy="203766"/>
          </a:xfrm>
          <a:prstGeom prst="rect">
            <a:avLst/>
          </a:prstGeom>
          <a:noFill/>
          <a:ln/>
        </p:spPr>
        <p:txBody>
          <a:bodyPr wrap="square" lIns="0" tIns="0" rIns="0" bIns="0" rtlCol="0" anchor="ctr"/>
          <a:lstStyle/>
          <a:p>
            <a:pPr algn="ctr">
              <a:lnSpc>
                <a:spcPct val="130000"/>
              </a:lnSpc>
            </a:pPr>
            <a:r>
              <a:rPr lang="en-US" sz="1070" b="1" dirty="0">
                <a:solidFill>
                  <a:srgbClr val="F8F6F2"/>
                </a:solidFill>
                <a:latin typeface="Unna" pitchFamily="34" charset="0"/>
                <a:ea typeface="Unna" pitchFamily="34" charset="-122"/>
                <a:cs typeface="Unna" pitchFamily="34" charset="-120"/>
              </a:rPr>
              <a:t>Independent Contractors</a:t>
            </a:r>
            <a:endParaRPr lang="en-US" sz="1600" dirty="0"/>
          </a:p>
        </p:txBody>
      </p:sp>
      <p:sp>
        <p:nvSpPr>
          <p:cNvPr id="60" name="Text 58"/>
          <p:cNvSpPr/>
          <p:nvPr/>
        </p:nvSpPr>
        <p:spPr>
          <a:xfrm>
            <a:off x="8153029" y="6146942"/>
            <a:ext cx="3633827" cy="611298"/>
          </a:xfrm>
          <a:prstGeom prst="rect">
            <a:avLst/>
          </a:prstGeom>
          <a:noFill/>
          <a:ln/>
        </p:spPr>
        <p:txBody>
          <a:bodyPr wrap="square" lIns="0" tIns="0" rIns="0" bIns="0" rtlCol="0" anchor="ctr"/>
          <a:lstStyle/>
          <a:p>
            <a:pPr algn="ctr">
              <a:lnSpc>
                <a:spcPct val="130000"/>
              </a:lnSpc>
            </a:pPr>
            <a:r>
              <a:rPr lang="en-US" sz="1070" dirty="0">
                <a:solidFill>
                  <a:srgbClr val="F8F6F2"/>
                </a:solidFill>
                <a:latin typeface="Quattrocento Sans" pitchFamily="34" charset="0"/>
                <a:ea typeface="Quattrocento Sans" pitchFamily="34" charset="-122"/>
                <a:cs typeface="Quattrocento Sans" pitchFamily="34" charset="-120"/>
              </a:rPr>
              <a:t>Partners are independent contractors. No agency, partnership (except as defined herein), or employment relationship created.</a:t>
            </a:r>
            <a:endParaRPr lang="en-US" sz="1600" dirty="0"/>
          </a:p>
        </p:txBody>
      </p:sp>
    </p:spTree>
  </p:cSld>
  <p:clrMapOvr>
    <a:masterClrMapping/>
  </p:clrMapOvr>
  <p:transition>
    <p:fade/>
    <p:spd val="med"/>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6F2"/>
        </a:solidFill>
      </p:bgPr>
    </p:bg>
    <p:spTree>
      <p:nvGrpSpPr>
        <p:cNvPr id="1" name=""/>
        <p:cNvGrpSpPr/>
        <p:nvPr/>
      </p:nvGrpSpPr>
      <p:grpSpPr>
        <a:xfrm>
          <a:off x="0" y="0"/>
          <a:ext cx="0" cy="0"/>
          <a:chOff x="0" y="0"/>
          <a:chExt cx="0" cy="0"/>
        </a:xfrm>
      </p:grpSpPr>
      <p:sp>
        <p:nvSpPr>
          <p:cNvPr id="2" name="Shape 0"/>
          <p:cNvSpPr/>
          <p:nvPr/>
        </p:nvSpPr>
        <p:spPr>
          <a:xfrm>
            <a:off x="350849" y="350849"/>
            <a:ext cx="350849" cy="350849"/>
          </a:xfrm>
          <a:custGeom>
            <a:avLst/>
            <a:gdLst/>
            <a:ahLst/>
            <a:cxnLst/>
            <a:rect l="l" t="t" r="r" b="b"/>
            <a:pathLst>
              <a:path w="350849" h="350849">
                <a:moveTo>
                  <a:pt x="35085" y="0"/>
                </a:moveTo>
                <a:lnTo>
                  <a:pt x="315764" y="0"/>
                </a:lnTo>
                <a:cubicBezTo>
                  <a:pt x="335128" y="0"/>
                  <a:pt x="350849" y="15721"/>
                  <a:pt x="350849" y="35085"/>
                </a:cubicBezTo>
                <a:lnTo>
                  <a:pt x="350849" y="315764"/>
                </a:lnTo>
                <a:cubicBezTo>
                  <a:pt x="350849" y="335141"/>
                  <a:pt x="335141" y="350849"/>
                  <a:pt x="315764" y="350849"/>
                </a:cubicBezTo>
                <a:lnTo>
                  <a:pt x="35085" y="350849"/>
                </a:lnTo>
                <a:cubicBezTo>
                  <a:pt x="15721" y="350849"/>
                  <a:pt x="0" y="335128"/>
                  <a:pt x="0" y="315764"/>
                </a:cubicBezTo>
                <a:lnTo>
                  <a:pt x="0" y="35085"/>
                </a:lnTo>
                <a:cubicBezTo>
                  <a:pt x="0" y="15721"/>
                  <a:pt x="15721" y="0"/>
                  <a:pt x="35085" y="0"/>
                </a:cubicBezTo>
                <a:close/>
              </a:path>
            </a:pathLst>
          </a:custGeom>
          <a:solidFill>
            <a:srgbClr val="3A4D39"/>
          </a:solidFill>
          <a:ln/>
        </p:spPr>
      </p:sp>
      <p:sp>
        <p:nvSpPr>
          <p:cNvPr id="3" name="Text 1"/>
          <p:cNvSpPr/>
          <p:nvPr/>
        </p:nvSpPr>
        <p:spPr>
          <a:xfrm>
            <a:off x="454733" y="403476"/>
            <a:ext cx="228052" cy="245594"/>
          </a:xfrm>
          <a:prstGeom prst="rect">
            <a:avLst/>
          </a:prstGeom>
          <a:noFill/>
          <a:ln/>
        </p:spPr>
        <p:txBody>
          <a:bodyPr wrap="square" lIns="0" tIns="0" rIns="0" bIns="0" rtlCol="0" anchor="ctr"/>
          <a:lstStyle/>
          <a:p>
            <a:pPr>
              <a:lnSpc>
                <a:spcPct val="120000"/>
              </a:lnSpc>
            </a:pPr>
            <a:r>
              <a:rPr lang="en-US" sz="1381" b="1" dirty="0">
                <a:solidFill>
                  <a:srgbClr val="F8F6F2"/>
                </a:solidFill>
                <a:latin typeface="Oranienbaum" pitchFamily="34" charset="0"/>
                <a:ea typeface="Oranienbaum" pitchFamily="34" charset="-122"/>
                <a:cs typeface="Oranienbaum" pitchFamily="34" charset="-120"/>
              </a:rPr>
              <a:t>15</a:t>
            </a:r>
            <a:endParaRPr lang="en-US" sz="1600" dirty="0"/>
          </a:p>
        </p:txBody>
      </p:sp>
      <p:sp>
        <p:nvSpPr>
          <p:cNvPr id="4" name="Text 2"/>
          <p:cNvSpPr/>
          <p:nvPr/>
        </p:nvSpPr>
        <p:spPr>
          <a:xfrm>
            <a:off x="806953" y="350849"/>
            <a:ext cx="3561117" cy="350849"/>
          </a:xfrm>
          <a:prstGeom prst="rect">
            <a:avLst/>
          </a:prstGeom>
          <a:noFill/>
          <a:ln/>
        </p:spPr>
        <p:txBody>
          <a:bodyPr wrap="square" lIns="0" tIns="0" rIns="0" bIns="0" rtlCol="0" anchor="ctr"/>
          <a:lstStyle/>
          <a:p>
            <a:pPr>
              <a:lnSpc>
                <a:spcPct val="90000"/>
              </a:lnSpc>
            </a:pPr>
            <a:r>
              <a:rPr lang="en-US" sz="2486" b="1" dirty="0">
                <a:solidFill>
                  <a:srgbClr val="3A4D39"/>
                </a:solidFill>
                <a:latin typeface="Oranienbaum" pitchFamily="34" charset="0"/>
                <a:ea typeface="Oranienbaum" pitchFamily="34" charset="-122"/>
                <a:cs typeface="Oranienbaum" pitchFamily="34" charset="-120"/>
              </a:rPr>
              <a:t>Signatures and Execution</a:t>
            </a:r>
            <a:endParaRPr lang="en-US" sz="1600" dirty="0"/>
          </a:p>
        </p:txBody>
      </p:sp>
      <p:sp>
        <p:nvSpPr>
          <p:cNvPr id="5" name="Shape 3"/>
          <p:cNvSpPr/>
          <p:nvPr/>
        </p:nvSpPr>
        <p:spPr>
          <a:xfrm>
            <a:off x="350849" y="771868"/>
            <a:ext cx="701698" cy="35085"/>
          </a:xfrm>
          <a:custGeom>
            <a:avLst/>
            <a:gdLst/>
            <a:ahLst/>
            <a:cxnLst/>
            <a:rect l="l" t="t" r="r" b="b"/>
            <a:pathLst>
              <a:path w="701698" h="35085">
                <a:moveTo>
                  <a:pt x="0" y="0"/>
                </a:moveTo>
                <a:lnTo>
                  <a:pt x="701698" y="0"/>
                </a:lnTo>
                <a:lnTo>
                  <a:pt x="701698" y="35085"/>
                </a:lnTo>
                <a:lnTo>
                  <a:pt x="0" y="35085"/>
                </a:lnTo>
                <a:lnTo>
                  <a:pt x="0" y="0"/>
                </a:lnTo>
                <a:close/>
              </a:path>
            </a:pathLst>
          </a:custGeom>
          <a:solidFill>
            <a:srgbClr val="BCA37F"/>
          </a:solidFill>
          <a:ln/>
        </p:spPr>
      </p:sp>
      <p:sp>
        <p:nvSpPr>
          <p:cNvPr id="6" name="Shape 4"/>
          <p:cNvSpPr/>
          <p:nvPr/>
        </p:nvSpPr>
        <p:spPr>
          <a:xfrm>
            <a:off x="350849" y="947292"/>
            <a:ext cx="11490302" cy="1227971"/>
          </a:xfrm>
          <a:custGeom>
            <a:avLst/>
            <a:gdLst/>
            <a:ahLst/>
            <a:cxnLst/>
            <a:rect l="l" t="t" r="r" b="b"/>
            <a:pathLst>
              <a:path w="11490302" h="1227971">
                <a:moveTo>
                  <a:pt x="70166" y="0"/>
                </a:moveTo>
                <a:lnTo>
                  <a:pt x="11420136" y="0"/>
                </a:lnTo>
                <a:cubicBezTo>
                  <a:pt x="11458888" y="0"/>
                  <a:pt x="11490302" y="31415"/>
                  <a:pt x="11490302" y="70166"/>
                </a:cubicBezTo>
                <a:lnTo>
                  <a:pt x="11490302" y="1157805"/>
                </a:lnTo>
                <a:cubicBezTo>
                  <a:pt x="11490302" y="1196557"/>
                  <a:pt x="11458888" y="1227971"/>
                  <a:pt x="11420136" y="1227971"/>
                </a:cubicBezTo>
                <a:lnTo>
                  <a:pt x="70166" y="1227971"/>
                </a:lnTo>
                <a:cubicBezTo>
                  <a:pt x="31415" y="1227971"/>
                  <a:pt x="0" y="1196557"/>
                  <a:pt x="0" y="1157805"/>
                </a:cubicBezTo>
                <a:lnTo>
                  <a:pt x="0" y="70166"/>
                </a:lnTo>
                <a:cubicBezTo>
                  <a:pt x="0" y="31440"/>
                  <a:pt x="31440" y="0"/>
                  <a:pt x="70166" y="0"/>
                </a:cubicBezTo>
                <a:close/>
              </a:path>
            </a:pathLst>
          </a:custGeom>
          <a:solidFill>
            <a:srgbClr val="3A4D39"/>
          </a:solidFill>
          <a:ln/>
        </p:spPr>
      </p:sp>
      <p:sp>
        <p:nvSpPr>
          <p:cNvPr id="7" name="Shape 5"/>
          <p:cNvSpPr/>
          <p:nvPr/>
        </p:nvSpPr>
        <p:spPr>
          <a:xfrm>
            <a:off x="456104" y="1122717"/>
            <a:ext cx="236823" cy="210509"/>
          </a:xfrm>
          <a:custGeom>
            <a:avLst/>
            <a:gdLst/>
            <a:ahLst/>
            <a:cxnLst/>
            <a:rect l="l" t="t" r="r" b="b"/>
            <a:pathLst>
              <a:path w="236823" h="210509">
                <a:moveTo>
                  <a:pt x="69731" y="63071"/>
                </a:moveTo>
                <a:lnTo>
                  <a:pt x="62043" y="55382"/>
                </a:lnTo>
                <a:cubicBezTo>
                  <a:pt x="56903" y="50243"/>
                  <a:pt x="56903" y="41896"/>
                  <a:pt x="62043" y="36757"/>
                </a:cubicBezTo>
                <a:lnTo>
                  <a:pt x="109202" y="-10443"/>
                </a:lnTo>
                <a:cubicBezTo>
                  <a:pt x="114341" y="-15583"/>
                  <a:pt x="122687" y="-15583"/>
                  <a:pt x="127827" y="-10443"/>
                </a:cubicBezTo>
                <a:lnTo>
                  <a:pt x="135515" y="-2714"/>
                </a:lnTo>
                <a:cubicBezTo>
                  <a:pt x="140655" y="2426"/>
                  <a:pt x="140655" y="10772"/>
                  <a:pt x="135515" y="15912"/>
                </a:cubicBezTo>
                <a:lnTo>
                  <a:pt x="88356" y="63071"/>
                </a:lnTo>
                <a:cubicBezTo>
                  <a:pt x="83217" y="68210"/>
                  <a:pt x="74871" y="68210"/>
                  <a:pt x="69731" y="63071"/>
                </a:cubicBezTo>
                <a:close/>
                <a:moveTo>
                  <a:pt x="113478" y="87041"/>
                </a:moveTo>
                <a:lnTo>
                  <a:pt x="100568" y="74131"/>
                </a:lnTo>
                <a:lnTo>
                  <a:pt x="146616" y="28082"/>
                </a:lnTo>
                <a:lnTo>
                  <a:pt x="195708" y="77173"/>
                </a:lnTo>
                <a:lnTo>
                  <a:pt x="149659" y="123222"/>
                </a:lnTo>
                <a:lnTo>
                  <a:pt x="136749" y="110312"/>
                </a:lnTo>
                <a:lnTo>
                  <a:pt x="41362" y="205699"/>
                </a:lnTo>
                <a:cubicBezTo>
                  <a:pt x="34948" y="212113"/>
                  <a:pt x="24546" y="212113"/>
                  <a:pt x="18091" y="205699"/>
                </a:cubicBezTo>
                <a:cubicBezTo>
                  <a:pt x="11636" y="199285"/>
                  <a:pt x="11677" y="188883"/>
                  <a:pt x="18091" y="182428"/>
                </a:cubicBezTo>
                <a:lnTo>
                  <a:pt x="113478" y="87041"/>
                </a:lnTo>
                <a:close/>
                <a:moveTo>
                  <a:pt x="160719" y="154017"/>
                </a:moveTo>
                <a:cubicBezTo>
                  <a:pt x="155580" y="148878"/>
                  <a:pt x="155580" y="140531"/>
                  <a:pt x="160719" y="135392"/>
                </a:cubicBezTo>
                <a:lnTo>
                  <a:pt x="207878" y="88233"/>
                </a:lnTo>
                <a:cubicBezTo>
                  <a:pt x="213017" y="83094"/>
                  <a:pt x="221364" y="83094"/>
                  <a:pt x="226503" y="88233"/>
                </a:cubicBezTo>
                <a:lnTo>
                  <a:pt x="234192" y="95922"/>
                </a:lnTo>
                <a:cubicBezTo>
                  <a:pt x="239331" y="101061"/>
                  <a:pt x="239331" y="109407"/>
                  <a:pt x="234192" y="114547"/>
                </a:cubicBezTo>
                <a:lnTo>
                  <a:pt x="187033" y="161747"/>
                </a:lnTo>
                <a:cubicBezTo>
                  <a:pt x="181893" y="166886"/>
                  <a:pt x="173547" y="166886"/>
                  <a:pt x="168407" y="161747"/>
                </a:cubicBezTo>
                <a:lnTo>
                  <a:pt x="160719" y="154058"/>
                </a:lnTo>
                <a:close/>
              </a:path>
            </a:pathLst>
          </a:custGeom>
          <a:solidFill>
            <a:srgbClr val="BCA37F"/>
          </a:solidFill>
          <a:ln/>
        </p:spPr>
      </p:sp>
      <p:sp>
        <p:nvSpPr>
          <p:cNvPr id="8" name="Text 6"/>
          <p:cNvSpPr/>
          <p:nvPr/>
        </p:nvSpPr>
        <p:spPr>
          <a:xfrm>
            <a:off x="760218" y="1087632"/>
            <a:ext cx="11034199" cy="245594"/>
          </a:xfrm>
          <a:prstGeom prst="rect">
            <a:avLst/>
          </a:prstGeom>
          <a:noFill/>
          <a:ln/>
        </p:spPr>
        <p:txBody>
          <a:bodyPr wrap="square" lIns="0" tIns="0" rIns="0" bIns="0" rtlCol="0" anchor="ctr"/>
          <a:lstStyle/>
          <a:p>
            <a:pPr>
              <a:lnSpc>
                <a:spcPct val="120000"/>
              </a:lnSpc>
            </a:pPr>
            <a:r>
              <a:rPr lang="en-US" sz="1381" b="1" dirty="0">
                <a:solidFill>
                  <a:srgbClr val="F8F6F2"/>
                </a:solidFill>
                <a:latin typeface="Unna" pitchFamily="34" charset="0"/>
                <a:ea typeface="Unna" pitchFamily="34" charset="-122"/>
                <a:cs typeface="Unna" pitchFamily="34" charset="-120"/>
              </a:rPr>
              <a:t>Acknowledgment and Binding Execution</a:t>
            </a:r>
            <a:endParaRPr lang="en-US" sz="1600" dirty="0"/>
          </a:p>
        </p:txBody>
      </p:sp>
      <p:sp>
        <p:nvSpPr>
          <p:cNvPr id="9" name="Text 7"/>
          <p:cNvSpPr/>
          <p:nvPr/>
        </p:nvSpPr>
        <p:spPr>
          <a:xfrm>
            <a:off x="760218" y="1403396"/>
            <a:ext cx="11016656" cy="631528"/>
          </a:xfrm>
          <a:prstGeom prst="rect">
            <a:avLst/>
          </a:prstGeom>
          <a:noFill/>
          <a:ln/>
        </p:spPr>
        <p:txBody>
          <a:bodyPr wrap="square" lIns="0" tIns="0" rIns="0" bIns="0" rtlCol="0" anchor="ctr"/>
          <a:lstStyle/>
          <a:p>
            <a:pPr>
              <a:lnSpc>
                <a:spcPct val="120000"/>
              </a:lnSpc>
            </a:pPr>
            <a:r>
              <a:rPr lang="en-US" sz="1105" dirty="0">
                <a:solidFill>
                  <a:srgbClr val="F8F6F2"/>
                </a:solidFill>
                <a:latin typeface="Quattrocento Sans" pitchFamily="34" charset="0"/>
                <a:ea typeface="Quattrocento Sans" pitchFamily="34" charset="-122"/>
                <a:cs typeface="Quattrocento Sans" pitchFamily="34" charset="-120"/>
              </a:rPr>
              <a:t>The undersigned partners hereby certify that they have read, understood, and agree to be bound by all terms and conditions set forth in this Memorandum of Understanding. Each signatory warrants that they have full authority to execute this agreement on behalf of their respective entity and that execution does not violate any other agreement or obligation to which they are bound. This MOU becomes legally binding and enforceable upon execution by all parties.</a:t>
            </a:r>
            <a:endParaRPr lang="en-US" sz="1600" dirty="0"/>
          </a:p>
        </p:txBody>
      </p:sp>
      <p:sp>
        <p:nvSpPr>
          <p:cNvPr id="10" name="Shape 8"/>
          <p:cNvSpPr/>
          <p:nvPr/>
        </p:nvSpPr>
        <p:spPr>
          <a:xfrm>
            <a:off x="350849" y="2298060"/>
            <a:ext cx="3736541" cy="3210268"/>
          </a:xfrm>
          <a:custGeom>
            <a:avLst/>
            <a:gdLst/>
            <a:ahLst/>
            <a:cxnLst/>
            <a:rect l="l" t="t" r="r" b="b"/>
            <a:pathLst>
              <a:path w="3736541" h="3210268">
                <a:moveTo>
                  <a:pt x="35085" y="0"/>
                </a:moveTo>
                <a:lnTo>
                  <a:pt x="3701456" y="0"/>
                </a:lnTo>
                <a:cubicBezTo>
                  <a:pt x="3720833" y="0"/>
                  <a:pt x="3736541" y="15708"/>
                  <a:pt x="3736541" y="35085"/>
                </a:cubicBezTo>
                <a:lnTo>
                  <a:pt x="3736541" y="3140091"/>
                </a:lnTo>
                <a:cubicBezTo>
                  <a:pt x="3736541" y="3178849"/>
                  <a:pt x="3705122" y="3210268"/>
                  <a:pt x="3666365" y="3210268"/>
                </a:cubicBezTo>
                <a:lnTo>
                  <a:pt x="70176" y="3210268"/>
                </a:lnTo>
                <a:cubicBezTo>
                  <a:pt x="31419" y="3210268"/>
                  <a:pt x="0" y="3178849"/>
                  <a:pt x="0" y="3140091"/>
                </a:cubicBezTo>
                <a:lnTo>
                  <a:pt x="0" y="35085"/>
                </a:lnTo>
                <a:cubicBezTo>
                  <a:pt x="0" y="15721"/>
                  <a:pt x="15721" y="0"/>
                  <a:pt x="35085" y="0"/>
                </a:cubicBezTo>
                <a:close/>
              </a:path>
            </a:pathLst>
          </a:custGeom>
          <a:solidFill>
            <a:srgbClr val="FFFFFF"/>
          </a:solidFill>
          <a:ln/>
          <a:effectLst>
            <a:outerShdw sx="100000" sy="100000" kx="0" ky="0" algn="bl" rotWithShape="0" blurRad="26314" dist="8771" dir="5400000">
              <a:srgbClr val="000000">
                <a:alpha val="10196"/>
              </a:srgbClr>
            </a:outerShdw>
          </a:effectLst>
        </p:spPr>
      </p:sp>
      <p:sp>
        <p:nvSpPr>
          <p:cNvPr id="11" name="Shape 9"/>
          <p:cNvSpPr/>
          <p:nvPr/>
        </p:nvSpPr>
        <p:spPr>
          <a:xfrm>
            <a:off x="350849" y="2298060"/>
            <a:ext cx="3736541" cy="35085"/>
          </a:xfrm>
          <a:custGeom>
            <a:avLst/>
            <a:gdLst/>
            <a:ahLst/>
            <a:cxnLst/>
            <a:rect l="l" t="t" r="r" b="b"/>
            <a:pathLst>
              <a:path w="3736541" h="35085">
                <a:moveTo>
                  <a:pt x="35085" y="0"/>
                </a:moveTo>
                <a:lnTo>
                  <a:pt x="3701456" y="0"/>
                </a:lnTo>
                <a:cubicBezTo>
                  <a:pt x="3720833" y="0"/>
                  <a:pt x="3736541" y="15708"/>
                  <a:pt x="3736541" y="35085"/>
                </a:cubicBezTo>
                <a:lnTo>
                  <a:pt x="3736541" y="35085"/>
                </a:lnTo>
                <a:lnTo>
                  <a:pt x="0" y="35085"/>
                </a:lnTo>
                <a:lnTo>
                  <a:pt x="0" y="35085"/>
                </a:lnTo>
                <a:cubicBezTo>
                  <a:pt x="0" y="15721"/>
                  <a:pt x="15721" y="0"/>
                  <a:pt x="35085" y="0"/>
                </a:cubicBezTo>
                <a:close/>
              </a:path>
            </a:pathLst>
          </a:custGeom>
          <a:solidFill>
            <a:srgbClr val="3A4D39"/>
          </a:solidFill>
          <a:ln/>
        </p:spPr>
      </p:sp>
      <p:sp>
        <p:nvSpPr>
          <p:cNvPr id="12" name="Text 10"/>
          <p:cNvSpPr/>
          <p:nvPr/>
        </p:nvSpPr>
        <p:spPr>
          <a:xfrm>
            <a:off x="451718" y="2455942"/>
            <a:ext cx="3534803" cy="245594"/>
          </a:xfrm>
          <a:prstGeom prst="rect">
            <a:avLst/>
          </a:prstGeom>
          <a:noFill/>
          <a:ln/>
        </p:spPr>
        <p:txBody>
          <a:bodyPr wrap="square" lIns="0" tIns="0" rIns="0" bIns="0" rtlCol="0" anchor="ctr"/>
          <a:lstStyle/>
          <a:p>
            <a:pPr algn="ctr">
              <a:lnSpc>
                <a:spcPct val="130000"/>
              </a:lnSpc>
            </a:pPr>
            <a:r>
              <a:rPr lang="en-US" sz="1243" b="1" dirty="0">
                <a:solidFill>
                  <a:srgbClr val="3A4D39"/>
                </a:solidFill>
                <a:latin typeface="Unna" pitchFamily="34" charset="0"/>
                <a:ea typeface="Unna" pitchFamily="34" charset="-122"/>
                <a:cs typeface="Unna" pitchFamily="34" charset="-120"/>
              </a:rPr>
              <a:t>Contributing Partner</a:t>
            </a:r>
            <a:endParaRPr lang="en-US" sz="1600" dirty="0"/>
          </a:p>
        </p:txBody>
      </p:sp>
      <p:sp>
        <p:nvSpPr>
          <p:cNvPr id="13" name="Text 11"/>
          <p:cNvSpPr/>
          <p:nvPr/>
        </p:nvSpPr>
        <p:spPr>
          <a:xfrm>
            <a:off x="491188" y="2833105"/>
            <a:ext cx="889238" cy="157882"/>
          </a:xfrm>
          <a:prstGeom prst="rect">
            <a:avLst/>
          </a:prstGeom>
          <a:noFill/>
          <a:ln/>
        </p:spPr>
        <p:txBody>
          <a:bodyPr wrap="square" lIns="0" tIns="0" rIns="0" bIns="0" rtlCol="0" anchor="ctr"/>
          <a:lstStyle/>
          <a:p>
            <a:pPr>
              <a:lnSpc>
                <a:spcPct val="120000"/>
              </a:lnSpc>
            </a:pPr>
            <a:r>
              <a:rPr lang="en-US" sz="1105" b="1" dirty="0">
                <a:solidFill>
                  <a:srgbClr val="2C2C2C"/>
                </a:solidFill>
                <a:latin typeface="Quattrocento Sans" pitchFamily="34" charset="0"/>
                <a:ea typeface="Quattrocento Sans" pitchFamily="34" charset="-122"/>
                <a:cs typeface="Quattrocento Sans" pitchFamily="34" charset="-120"/>
              </a:rPr>
              <a:t>Entity Name:</a:t>
            </a:r>
            <a:endParaRPr lang="en-US" sz="1600" dirty="0"/>
          </a:p>
        </p:txBody>
      </p:sp>
      <p:sp>
        <p:nvSpPr>
          <p:cNvPr id="14" name="Shape 12"/>
          <p:cNvSpPr/>
          <p:nvPr/>
        </p:nvSpPr>
        <p:spPr>
          <a:xfrm>
            <a:off x="491188" y="3306751"/>
            <a:ext cx="3455862" cy="17542"/>
          </a:xfrm>
          <a:custGeom>
            <a:avLst/>
            <a:gdLst/>
            <a:ahLst/>
            <a:cxnLst/>
            <a:rect l="l" t="t" r="r" b="b"/>
            <a:pathLst>
              <a:path w="3455862" h="17542">
                <a:moveTo>
                  <a:pt x="0" y="0"/>
                </a:moveTo>
                <a:lnTo>
                  <a:pt x="3455862" y="0"/>
                </a:lnTo>
                <a:lnTo>
                  <a:pt x="3455862" y="17542"/>
                </a:lnTo>
                <a:lnTo>
                  <a:pt x="0" y="17542"/>
                </a:lnTo>
                <a:lnTo>
                  <a:pt x="0" y="0"/>
                </a:lnTo>
                <a:close/>
              </a:path>
            </a:pathLst>
          </a:custGeom>
          <a:solidFill>
            <a:srgbClr val="3A4D39"/>
          </a:solidFill>
          <a:ln/>
        </p:spPr>
      </p:sp>
      <p:sp>
        <p:nvSpPr>
          <p:cNvPr id="15" name="Text 13"/>
          <p:cNvSpPr/>
          <p:nvPr/>
        </p:nvSpPr>
        <p:spPr>
          <a:xfrm>
            <a:off x="491188" y="3052386"/>
            <a:ext cx="3526032" cy="245594"/>
          </a:xfrm>
          <a:prstGeom prst="rect">
            <a:avLst/>
          </a:prstGeom>
          <a:noFill/>
          <a:ln/>
        </p:spPr>
        <p:txBody>
          <a:bodyPr wrap="square" lIns="0" tIns="0" rIns="0" bIns="35085" rtlCol="0" anchor="ctr"/>
          <a:lstStyle/>
          <a:p>
            <a:pPr>
              <a:lnSpc>
                <a:spcPct val="120000"/>
              </a:lnSpc>
            </a:pPr>
            <a:r>
              <a:rPr lang="en-US" sz="1105" dirty="0">
                <a:solidFill>
                  <a:srgbClr val="2C2C2C"/>
                </a:solidFill>
                <a:latin typeface="Quattrocento Sans" pitchFamily="34" charset="0"/>
                <a:ea typeface="Quattrocento Sans" pitchFamily="34" charset="-122"/>
                <a:cs typeface="Quattrocento Sans" pitchFamily="34" charset="-120"/>
              </a:rPr>
              <a:t>Wilshire Farms and Orchards</a:t>
            </a:r>
            <a:endParaRPr lang="en-US" sz="1600" dirty="0"/>
          </a:p>
        </p:txBody>
      </p:sp>
      <p:sp>
        <p:nvSpPr>
          <p:cNvPr id="16" name="Text 14"/>
          <p:cNvSpPr/>
          <p:nvPr/>
        </p:nvSpPr>
        <p:spPr>
          <a:xfrm>
            <a:off x="491188" y="3447091"/>
            <a:ext cx="1804517" cy="157882"/>
          </a:xfrm>
          <a:prstGeom prst="rect">
            <a:avLst/>
          </a:prstGeom>
          <a:noFill/>
          <a:ln/>
        </p:spPr>
        <p:txBody>
          <a:bodyPr wrap="square" lIns="0" tIns="0" rIns="0" bIns="0" rtlCol="0" anchor="ctr"/>
          <a:lstStyle/>
          <a:p>
            <a:pPr>
              <a:lnSpc>
                <a:spcPct val="120000"/>
              </a:lnSpc>
            </a:pPr>
            <a:r>
              <a:rPr lang="en-US" sz="1105" b="1" dirty="0">
                <a:solidFill>
                  <a:srgbClr val="2C2C2C"/>
                </a:solidFill>
                <a:latin typeface="Quattrocento Sans" pitchFamily="34" charset="0"/>
                <a:ea typeface="Quattrocento Sans" pitchFamily="34" charset="-122"/>
                <a:cs typeface="Quattrocento Sans" pitchFamily="34" charset="-120"/>
              </a:rPr>
              <a:t>Authorized Representative:</a:t>
            </a:r>
            <a:endParaRPr lang="en-US" sz="1600" dirty="0"/>
          </a:p>
        </p:txBody>
      </p:sp>
      <p:sp>
        <p:nvSpPr>
          <p:cNvPr id="17" name="Shape 15"/>
          <p:cNvSpPr/>
          <p:nvPr/>
        </p:nvSpPr>
        <p:spPr>
          <a:xfrm>
            <a:off x="491188" y="3938279"/>
            <a:ext cx="3455862" cy="17542"/>
          </a:xfrm>
          <a:custGeom>
            <a:avLst/>
            <a:gdLst/>
            <a:ahLst/>
            <a:cxnLst/>
            <a:rect l="l" t="t" r="r" b="b"/>
            <a:pathLst>
              <a:path w="3455862" h="17542">
                <a:moveTo>
                  <a:pt x="0" y="0"/>
                </a:moveTo>
                <a:lnTo>
                  <a:pt x="3455862" y="0"/>
                </a:lnTo>
                <a:lnTo>
                  <a:pt x="3455862" y="17542"/>
                </a:lnTo>
                <a:lnTo>
                  <a:pt x="0" y="17542"/>
                </a:lnTo>
                <a:lnTo>
                  <a:pt x="0" y="0"/>
                </a:lnTo>
                <a:close/>
              </a:path>
            </a:pathLst>
          </a:custGeom>
          <a:solidFill>
            <a:srgbClr val="3A4D39"/>
          </a:solidFill>
          <a:ln/>
        </p:spPr>
      </p:sp>
      <p:sp>
        <p:nvSpPr>
          <p:cNvPr id="18" name="Text 16"/>
          <p:cNvSpPr/>
          <p:nvPr/>
        </p:nvSpPr>
        <p:spPr>
          <a:xfrm>
            <a:off x="491188" y="4078619"/>
            <a:ext cx="383922" cy="157882"/>
          </a:xfrm>
          <a:prstGeom prst="rect">
            <a:avLst/>
          </a:prstGeom>
          <a:noFill/>
          <a:ln/>
        </p:spPr>
        <p:txBody>
          <a:bodyPr wrap="square" lIns="0" tIns="0" rIns="0" bIns="0" rtlCol="0" anchor="ctr"/>
          <a:lstStyle/>
          <a:p>
            <a:pPr>
              <a:lnSpc>
                <a:spcPct val="120000"/>
              </a:lnSpc>
            </a:pPr>
            <a:r>
              <a:rPr lang="en-US" sz="1105" b="1" dirty="0">
                <a:solidFill>
                  <a:srgbClr val="2C2C2C"/>
                </a:solidFill>
                <a:latin typeface="Quattrocento Sans" pitchFamily="34" charset="0"/>
                <a:ea typeface="Quattrocento Sans" pitchFamily="34" charset="-122"/>
                <a:cs typeface="Quattrocento Sans" pitchFamily="34" charset="-120"/>
              </a:rPr>
              <a:t>Title:</a:t>
            </a:r>
            <a:endParaRPr lang="en-US" sz="1600" dirty="0"/>
          </a:p>
        </p:txBody>
      </p:sp>
      <p:sp>
        <p:nvSpPr>
          <p:cNvPr id="19" name="Shape 17"/>
          <p:cNvSpPr/>
          <p:nvPr/>
        </p:nvSpPr>
        <p:spPr>
          <a:xfrm>
            <a:off x="491188" y="4569807"/>
            <a:ext cx="3455862" cy="17542"/>
          </a:xfrm>
          <a:custGeom>
            <a:avLst/>
            <a:gdLst/>
            <a:ahLst/>
            <a:cxnLst/>
            <a:rect l="l" t="t" r="r" b="b"/>
            <a:pathLst>
              <a:path w="3455862" h="17542">
                <a:moveTo>
                  <a:pt x="0" y="0"/>
                </a:moveTo>
                <a:lnTo>
                  <a:pt x="3455862" y="0"/>
                </a:lnTo>
                <a:lnTo>
                  <a:pt x="3455862" y="17542"/>
                </a:lnTo>
                <a:lnTo>
                  <a:pt x="0" y="17542"/>
                </a:lnTo>
                <a:lnTo>
                  <a:pt x="0" y="0"/>
                </a:lnTo>
                <a:close/>
              </a:path>
            </a:pathLst>
          </a:custGeom>
          <a:solidFill>
            <a:srgbClr val="3A4D39"/>
          </a:solidFill>
          <a:ln/>
        </p:spPr>
      </p:sp>
      <p:sp>
        <p:nvSpPr>
          <p:cNvPr id="20" name="Text 18"/>
          <p:cNvSpPr/>
          <p:nvPr/>
        </p:nvSpPr>
        <p:spPr>
          <a:xfrm>
            <a:off x="491188" y="4710147"/>
            <a:ext cx="712753" cy="157882"/>
          </a:xfrm>
          <a:prstGeom prst="rect">
            <a:avLst/>
          </a:prstGeom>
          <a:noFill/>
          <a:ln/>
        </p:spPr>
        <p:txBody>
          <a:bodyPr wrap="square" lIns="0" tIns="0" rIns="0" bIns="0" rtlCol="0" anchor="ctr"/>
          <a:lstStyle/>
          <a:p>
            <a:pPr>
              <a:lnSpc>
                <a:spcPct val="120000"/>
              </a:lnSpc>
            </a:pPr>
            <a:r>
              <a:rPr lang="en-US" sz="1105" b="1" dirty="0">
                <a:solidFill>
                  <a:srgbClr val="2C2C2C"/>
                </a:solidFill>
                <a:latin typeface="Quattrocento Sans" pitchFamily="34" charset="0"/>
                <a:ea typeface="Quattrocento Sans" pitchFamily="34" charset="-122"/>
                <a:cs typeface="Quattrocento Sans" pitchFamily="34" charset="-120"/>
              </a:rPr>
              <a:t>Signature:</a:t>
            </a:r>
            <a:endParaRPr lang="en-US" sz="1600" dirty="0"/>
          </a:p>
        </p:txBody>
      </p:sp>
      <p:sp>
        <p:nvSpPr>
          <p:cNvPr id="21" name="Shape 19"/>
          <p:cNvSpPr/>
          <p:nvPr/>
        </p:nvSpPr>
        <p:spPr>
          <a:xfrm>
            <a:off x="491188" y="5341675"/>
            <a:ext cx="1692846" cy="17542"/>
          </a:xfrm>
          <a:custGeom>
            <a:avLst/>
            <a:gdLst/>
            <a:ahLst/>
            <a:cxnLst/>
            <a:rect l="l" t="t" r="r" b="b"/>
            <a:pathLst>
              <a:path w="1692846" h="17542">
                <a:moveTo>
                  <a:pt x="0" y="0"/>
                </a:moveTo>
                <a:lnTo>
                  <a:pt x="1692846" y="0"/>
                </a:lnTo>
                <a:lnTo>
                  <a:pt x="1692846" y="17542"/>
                </a:lnTo>
                <a:lnTo>
                  <a:pt x="0" y="17542"/>
                </a:lnTo>
                <a:lnTo>
                  <a:pt x="0" y="0"/>
                </a:lnTo>
                <a:close/>
              </a:path>
            </a:pathLst>
          </a:custGeom>
          <a:solidFill>
            <a:srgbClr val="3A4D39"/>
          </a:solidFill>
          <a:ln/>
        </p:spPr>
      </p:sp>
      <p:sp>
        <p:nvSpPr>
          <p:cNvPr id="22" name="Text 20"/>
          <p:cNvSpPr/>
          <p:nvPr/>
        </p:nvSpPr>
        <p:spPr>
          <a:xfrm>
            <a:off x="2254478" y="4710147"/>
            <a:ext cx="408793" cy="157882"/>
          </a:xfrm>
          <a:prstGeom prst="rect">
            <a:avLst/>
          </a:prstGeom>
          <a:noFill/>
          <a:ln/>
        </p:spPr>
        <p:txBody>
          <a:bodyPr wrap="square" lIns="0" tIns="0" rIns="0" bIns="0" rtlCol="0" anchor="ctr"/>
          <a:lstStyle/>
          <a:p>
            <a:pPr>
              <a:lnSpc>
                <a:spcPct val="120000"/>
              </a:lnSpc>
            </a:pPr>
            <a:r>
              <a:rPr lang="en-US" sz="1105" b="1" dirty="0">
                <a:solidFill>
                  <a:srgbClr val="2C2C2C"/>
                </a:solidFill>
                <a:latin typeface="Quattrocento Sans" pitchFamily="34" charset="0"/>
                <a:ea typeface="Quattrocento Sans" pitchFamily="34" charset="-122"/>
                <a:cs typeface="Quattrocento Sans" pitchFamily="34" charset="-120"/>
              </a:rPr>
              <a:t>Date:</a:t>
            </a:r>
            <a:endParaRPr lang="en-US" sz="1600" dirty="0"/>
          </a:p>
        </p:txBody>
      </p:sp>
      <p:sp>
        <p:nvSpPr>
          <p:cNvPr id="23" name="Shape 21"/>
          <p:cNvSpPr/>
          <p:nvPr/>
        </p:nvSpPr>
        <p:spPr>
          <a:xfrm>
            <a:off x="2254478" y="5341675"/>
            <a:ext cx="1692846" cy="17542"/>
          </a:xfrm>
          <a:custGeom>
            <a:avLst/>
            <a:gdLst/>
            <a:ahLst/>
            <a:cxnLst/>
            <a:rect l="l" t="t" r="r" b="b"/>
            <a:pathLst>
              <a:path w="1692846" h="17542">
                <a:moveTo>
                  <a:pt x="0" y="0"/>
                </a:moveTo>
                <a:lnTo>
                  <a:pt x="1692846" y="0"/>
                </a:lnTo>
                <a:lnTo>
                  <a:pt x="1692846" y="17542"/>
                </a:lnTo>
                <a:lnTo>
                  <a:pt x="0" y="17542"/>
                </a:lnTo>
                <a:lnTo>
                  <a:pt x="0" y="0"/>
                </a:lnTo>
                <a:close/>
              </a:path>
            </a:pathLst>
          </a:custGeom>
          <a:solidFill>
            <a:srgbClr val="3A4D39"/>
          </a:solidFill>
          <a:ln/>
        </p:spPr>
      </p:sp>
      <p:sp>
        <p:nvSpPr>
          <p:cNvPr id="24" name="Shape 22"/>
          <p:cNvSpPr/>
          <p:nvPr/>
        </p:nvSpPr>
        <p:spPr>
          <a:xfrm>
            <a:off x="4228278" y="2298060"/>
            <a:ext cx="3736541" cy="3210268"/>
          </a:xfrm>
          <a:custGeom>
            <a:avLst/>
            <a:gdLst/>
            <a:ahLst/>
            <a:cxnLst/>
            <a:rect l="l" t="t" r="r" b="b"/>
            <a:pathLst>
              <a:path w="3736541" h="3210268">
                <a:moveTo>
                  <a:pt x="35085" y="0"/>
                </a:moveTo>
                <a:lnTo>
                  <a:pt x="3701456" y="0"/>
                </a:lnTo>
                <a:cubicBezTo>
                  <a:pt x="3720833" y="0"/>
                  <a:pt x="3736541" y="15708"/>
                  <a:pt x="3736541" y="35085"/>
                </a:cubicBezTo>
                <a:lnTo>
                  <a:pt x="3736541" y="3140091"/>
                </a:lnTo>
                <a:cubicBezTo>
                  <a:pt x="3736541" y="3178849"/>
                  <a:pt x="3705122" y="3210268"/>
                  <a:pt x="3666365" y="3210268"/>
                </a:cubicBezTo>
                <a:lnTo>
                  <a:pt x="70176" y="3210268"/>
                </a:lnTo>
                <a:cubicBezTo>
                  <a:pt x="31419" y="3210268"/>
                  <a:pt x="0" y="3178849"/>
                  <a:pt x="0" y="3140091"/>
                </a:cubicBezTo>
                <a:lnTo>
                  <a:pt x="0" y="35085"/>
                </a:lnTo>
                <a:cubicBezTo>
                  <a:pt x="0" y="15721"/>
                  <a:pt x="15721" y="0"/>
                  <a:pt x="35085" y="0"/>
                </a:cubicBezTo>
                <a:close/>
              </a:path>
            </a:pathLst>
          </a:custGeom>
          <a:solidFill>
            <a:srgbClr val="FFFFFF"/>
          </a:solidFill>
          <a:ln/>
          <a:effectLst>
            <a:outerShdw sx="100000" sy="100000" kx="0" ky="0" algn="bl" rotWithShape="0" blurRad="26314" dist="8771" dir="5400000">
              <a:srgbClr val="000000">
                <a:alpha val="10196"/>
              </a:srgbClr>
            </a:outerShdw>
          </a:effectLst>
        </p:spPr>
      </p:sp>
      <p:sp>
        <p:nvSpPr>
          <p:cNvPr id="25" name="Shape 23"/>
          <p:cNvSpPr/>
          <p:nvPr/>
        </p:nvSpPr>
        <p:spPr>
          <a:xfrm>
            <a:off x="4228278" y="2298060"/>
            <a:ext cx="3736541" cy="35085"/>
          </a:xfrm>
          <a:custGeom>
            <a:avLst/>
            <a:gdLst/>
            <a:ahLst/>
            <a:cxnLst/>
            <a:rect l="l" t="t" r="r" b="b"/>
            <a:pathLst>
              <a:path w="3736541" h="35085">
                <a:moveTo>
                  <a:pt x="35085" y="0"/>
                </a:moveTo>
                <a:lnTo>
                  <a:pt x="3701456" y="0"/>
                </a:lnTo>
                <a:cubicBezTo>
                  <a:pt x="3720833" y="0"/>
                  <a:pt x="3736541" y="15708"/>
                  <a:pt x="3736541" y="35085"/>
                </a:cubicBezTo>
                <a:lnTo>
                  <a:pt x="3736541" y="35085"/>
                </a:lnTo>
                <a:lnTo>
                  <a:pt x="0" y="35085"/>
                </a:lnTo>
                <a:lnTo>
                  <a:pt x="0" y="35085"/>
                </a:lnTo>
                <a:cubicBezTo>
                  <a:pt x="0" y="15721"/>
                  <a:pt x="15721" y="0"/>
                  <a:pt x="35085" y="0"/>
                </a:cubicBezTo>
                <a:close/>
              </a:path>
            </a:pathLst>
          </a:custGeom>
          <a:solidFill>
            <a:srgbClr val="7A6250"/>
          </a:solidFill>
          <a:ln/>
        </p:spPr>
      </p:sp>
      <p:sp>
        <p:nvSpPr>
          <p:cNvPr id="26" name="Text 24"/>
          <p:cNvSpPr/>
          <p:nvPr/>
        </p:nvSpPr>
        <p:spPr>
          <a:xfrm>
            <a:off x="4329147" y="2455942"/>
            <a:ext cx="3534803" cy="245594"/>
          </a:xfrm>
          <a:prstGeom prst="rect">
            <a:avLst/>
          </a:prstGeom>
          <a:noFill/>
          <a:ln/>
        </p:spPr>
        <p:txBody>
          <a:bodyPr wrap="square" lIns="0" tIns="0" rIns="0" bIns="0" rtlCol="0" anchor="ctr"/>
          <a:lstStyle/>
          <a:p>
            <a:pPr algn="ctr">
              <a:lnSpc>
                <a:spcPct val="130000"/>
              </a:lnSpc>
            </a:pPr>
            <a:r>
              <a:rPr lang="en-US" sz="1243" b="1" dirty="0">
                <a:solidFill>
                  <a:srgbClr val="3A4D39"/>
                </a:solidFill>
                <a:latin typeface="Unna" pitchFamily="34" charset="0"/>
                <a:ea typeface="Unna" pitchFamily="34" charset="-122"/>
                <a:cs typeface="Unna" pitchFamily="34" charset="-120"/>
              </a:rPr>
              <a:t>Monetary Partner</a:t>
            </a:r>
            <a:endParaRPr lang="en-US" sz="1600" dirty="0"/>
          </a:p>
        </p:txBody>
      </p:sp>
      <p:sp>
        <p:nvSpPr>
          <p:cNvPr id="27" name="Text 25"/>
          <p:cNvSpPr/>
          <p:nvPr/>
        </p:nvSpPr>
        <p:spPr>
          <a:xfrm>
            <a:off x="4368617" y="2833105"/>
            <a:ext cx="1583997" cy="157882"/>
          </a:xfrm>
          <a:prstGeom prst="rect">
            <a:avLst/>
          </a:prstGeom>
          <a:noFill/>
          <a:ln/>
        </p:spPr>
        <p:txBody>
          <a:bodyPr wrap="square" lIns="0" tIns="0" rIns="0" bIns="0" rtlCol="0" anchor="ctr"/>
          <a:lstStyle/>
          <a:p>
            <a:pPr>
              <a:lnSpc>
                <a:spcPct val="120000"/>
              </a:lnSpc>
            </a:pPr>
            <a:r>
              <a:rPr lang="en-US" sz="1105" b="1" dirty="0">
                <a:solidFill>
                  <a:srgbClr val="2C2C2C"/>
                </a:solidFill>
                <a:latin typeface="Quattrocento Sans" pitchFamily="34" charset="0"/>
                <a:ea typeface="Quattrocento Sans" pitchFamily="34" charset="-122"/>
                <a:cs typeface="Quattrocento Sans" pitchFamily="34" charset="-120"/>
              </a:rPr>
              <a:t>Entity/Individual Name:</a:t>
            </a:r>
            <a:endParaRPr lang="en-US" sz="1600" dirty="0"/>
          </a:p>
        </p:txBody>
      </p:sp>
      <p:sp>
        <p:nvSpPr>
          <p:cNvPr id="28" name="Shape 26"/>
          <p:cNvSpPr/>
          <p:nvPr/>
        </p:nvSpPr>
        <p:spPr>
          <a:xfrm>
            <a:off x="4368617" y="3324294"/>
            <a:ext cx="3455862" cy="17542"/>
          </a:xfrm>
          <a:custGeom>
            <a:avLst/>
            <a:gdLst/>
            <a:ahLst/>
            <a:cxnLst/>
            <a:rect l="l" t="t" r="r" b="b"/>
            <a:pathLst>
              <a:path w="3455862" h="17542">
                <a:moveTo>
                  <a:pt x="0" y="0"/>
                </a:moveTo>
                <a:lnTo>
                  <a:pt x="3455862" y="0"/>
                </a:lnTo>
                <a:lnTo>
                  <a:pt x="3455862" y="17542"/>
                </a:lnTo>
                <a:lnTo>
                  <a:pt x="0" y="17542"/>
                </a:lnTo>
                <a:lnTo>
                  <a:pt x="0" y="0"/>
                </a:lnTo>
                <a:close/>
              </a:path>
            </a:pathLst>
          </a:custGeom>
          <a:solidFill>
            <a:srgbClr val="7A6250"/>
          </a:solidFill>
          <a:ln/>
        </p:spPr>
      </p:sp>
      <p:sp>
        <p:nvSpPr>
          <p:cNvPr id="29" name="Text 27"/>
          <p:cNvSpPr/>
          <p:nvPr/>
        </p:nvSpPr>
        <p:spPr>
          <a:xfrm>
            <a:off x="4368617" y="3464633"/>
            <a:ext cx="1804517" cy="157882"/>
          </a:xfrm>
          <a:prstGeom prst="rect">
            <a:avLst/>
          </a:prstGeom>
          <a:noFill/>
          <a:ln/>
        </p:spPr>
        <p:txBody>
          <a:bodyPr wrap="square" lIns="0" tIns="0" rIns="0" bIns="0" rtlCol="0" anchor="ctr"/>
          <a:lstStyle/>
          <a:p>
            <a:pPr>
              <a:lnSpc>
                <a:spcPct val="120000"/>
              </a:lnSpc>
            </a:pPr>
            <a:r>
              <a:rPr lang="en-US" sz="1105" b="1" dirty="0">
                <a:solidFill>
                  <a:srgbClr val="2C2C2C"/>
                </a:solidFill>
                <a:latin typeface="Quattrocento Sans" pitchFamily="34" charset="0"/>
                <a:ea typeface="Quattrocento Sans" pitchFamily="34" charset="-122"/>
                <a:cs typeface="Quattrocento Sans" pitchFamily="34" charset="-120"/>
              </a:rPr>
              <a:t>Authorized Representative:</a:t>
            </a:r>
            <a:endParaRPr lang="en-US" sz="1600" dirty="0"/>
          </a:p>
        </p:txBody>
      </p:sp>
      <p:sp>
        <p:nvSpPr>
          <p:cNvPr id="30" name="Shape 28"/>
          <p:cNvSpPr/>
          <p:nvPr/>
        </p:nvSpPr>
        <p:spPr>
          <a:xfrm>
            <a:off x="4368617" y="3955822"/>
            <a:ext cx="3455862" cy="17542"/>
          </a:xfrm>
          <a:custGeom>
            <a:avLst/>
            <a:gdLst/>
            <a:ahLst/>
            <a:cxnLst/>
            <a:rect l="l" t="t" r="r" b="b"/>
            <a:pathLst>
              <a:path w="3455862" h="17542">
                <a:moveTo>
                  <a:pt x="0" y="0"/>
                </a:moveTo>
                <a:lnTo>
                  <a:pt x="3455862" y="0"/>
                </a:lnTo>
                <a:lnTo>
                  <a:pt x="3455862" y="17542"/>
                </a:lnTo>
                <a:lnTo>
                  <a:pt x="0" y="17542"/>
                </a:lnTo>
                <a:lnTo>
                  <a:pt x="0" y="0"/>
                </a:lnTo>
                <a:close/>
              </a:path>
            </a:pathLst>
          </a:custGeom>
          <a:solidFill>
            <a:srgbClr val="7A6250"/>
          </a:solidFill>
          <a:ln/>
        </p:spPr>
      </p:sp>
      <p:sp>
        <p:nvSpPr>
          <p:cNvPr id="31" name="Text 29"/>
          <p:cNvSpPr/>
          <p:nvPr/>
        </p:nvSpPr>
        <p:spPr>
          <a:xfrm>
            <a:off x="4368617" y="4096161"/>
            <a:ext cx="383922" cy="157882"/>
          </a:xfrm>
          <a:prstGeom prst="rect">
            <a:avLst/>
          </a:prstGeom>
          <a:noFill/>
          <a:ln/>
        </p:spPr>
        <p:txBody>
          <a:bodyPr wrap="square" lIns="0" tIns="0" rIns="0" bIns="0" rtlCol="0" anchor="ctr"/>
          <a:lstStyle/>
          <a:p>
            <a:pPr>
              <a:lnSpc>
                <a:spcPct val="120000"/>
              </a:lnSpc>
            </a:pPr>
            <a:r>
              <a:rPr lang="en-US" sz="1105" b="1" dirty="0">
                <a:solidFill>
                  <a:srgbClr val="2C2C2C"/>
                </a:solidFill>
                <a:latin typeface="Quattrocento Sans" pitchFamily="34" charset="0"/>
                <a:ea typeface="Quattrocento Sans" pitchFamily="34" charset="-122"/>
                <a:cs typeface="Quattrocento Sans" pitchFamily="34" charset="-120"/>
              </a:rPr>
              <a:t>Title:</a:t>
            </a:r>
            <a:endParaRPr lang="en-US" sz="1600" dirty="0"/>
          </a:p>
        </p:txBody>
      </p:sp>
      <p:sp>
        <p:nvSpPr>
          <p:cNvPr id="32" name="Shape 30"/>
          <p:cNvSpPr/>
          <p:nvPr/>
        </p:nvSpPr>
        <p:spPr>
          <a:xfrm>
            <a:off x="4368617" y="4587350"/>
            <a:ext cx="3455862" cy="17542"/>
          </a:xfrm>
          <a:custGeom>
            <a:avLst/>
            <a:gdLst/>
            <a:ahLst/>
            <a:cxnLst/>
            <a:rect l="l" t="t" r="r" b="b"/>
            <a:pathLst>
              <a:path w="3455862" h="17542">
                <a:moveTo>
                  <a:pt x="0" y="0"/>
                </a:moveTo>
                <a:lnTo>
                  <a:pt x="3455862" y="0"/>
                </a:lnTo>
                <a:lnTo>
                  <a:pt x="3455862" y="17542"/>
                </a:lnTo>
                <a:lnTo>
                  <a:pt x="0" y="17542"/>
                </a:lnTo>
                <a:lnTo>
                  <a:pt x="0" y="0"/>
                </a:lnTo>
                <a:close/>
              </a:path>
            </a:pathLst>
          </a:custGeom>
          <a:solidFill>
            <a:srgbClr val="7A6250"/>
          </a:solidFill>
          <a:ln/>
        </p:spPr>
      </p:sp>
      <p:sp>
        <p:nvSpPr>
          <p:cNvPr id="33" name="Text 31"/>
          <p:cNvSpPr/>
          <p:nvPr/>
        </p:nvSpPr>
        <p:spPr>
          <a:xfrm>
            <a:off x="4368617" y="4727689"/>
            <a:ext cx="712753" cy="157882"/>
          </a:xfrm>
          <a:prstGeom prst="rect">
            <a:avLst/>
          </a:prstGeom>
          <a:noFill/>
          <a:ln/>
        </p:spPr>
        <p:txBody>
          <a:bodyPr wrap="square" lIns="0" tIns="0" rIns="0" bIns="0" rtlCol="0" anchor="ctr"/>
          <a:lstStyle/>
          <a:p>
            <a:pPr>
              <a:lnSpc>
                <a:spcPct val="120000"/>
              </a:lnSpc>
            </a:pPr>
            <a:r>
              <a:rPr lang="en-US" sz="1105" b="1" dirty="0">
                <a:solidFill>
                  <a:srgbClr val="2C2C2C"/>
                </a:solidFill>
                <a:latin typeface="Quattrocento Sans" pitchFamily="34" charset="0"/>
                <a:ea typeface="Quattrocento Sans" pitchFamily="34" charset="-122"/>
                <a:cs typeface="Quattrocento Sans" pitchFamily="34" charset="-120"/>
              </a:rPr>
              <a:t>Signature:</a:t>
            </a:r>
            <a:endParaRPr lang="en-US" sz="1600" dirty="0"/>
          </a:p>
        </p:txBody>
      </p:sp>
      <p:sp>
        <p:nvSpPr>
          <p:cNvPr id="34" name="Shape 32"/>
          <p:cNvSpPr/>
          <p:nvPr/>
        </p:nvSpPr>
        <p:spPr>
          <a:xfrm>
            <a:off x="4368617" y="5359217"/>
            <a:ext cx="1692846" cy="17542"/>
          </a:xfrm>
          <a:custGeom>
            <a:avLst/>
            <a:gdLst/>
            <a:ahLst/>
            <a:cxnLst/>
            <a:rect l="l" t="t" r="r" b="b"/>
            <a:pathLst>
              <a:path w="1692846" h="17542">
                <a:moveTo>
                  <a:pt x="0" y="0"/>
                </a:moveTo>
                <a:lnTo>
                  <a:pt x="1692846" y="0"/>
                </a:lnTo>
                <a:lnTo>
                  <a:pt x="1692846" y="17542"/>
                </a:lnTo>
                <a:lnTo>
                  <a:pt x="0" y="17542"/>
                </a:lnTo>
                <a:lnTo>
                  <a:pt x="0" y="0"/>
                </a:lnTo>
                <a:close/>
              </a:path>
            </a:pathLst>
          </a:custGeom>
          <a:solidFill>
            <a:srgbClr val="7A6250"/>
          </a:solidFill>
          <a:ln/>
        </p:spPr>
      </p:sp>
      <p:sp>
        <p:nvSpPr>
          <p:cNvPr id="35" name="Text 33"/>
          <p:cNvSpPr/>
          <p:nvPr/>
        </p:nvSpPr>
        <p:spPr>
          <a:xfrm>
            <a:off x="6131907" y="4727689"/>
            <a:ext cx="408793" cy="157882"/>
          </a:xfrm>
          <a:prstGeom prst="rect">
            <a:avLst/>
          </a:prstGeom>
          <a:noFill/>
          <a:ln/>
        </p:spPr>
        <p:txBody>
          <a:bodyPr wrap="square" lIns="0" tIns="0" rIns="0" bIns="0" rtlCol="0" anchor="ctr"/>
          <a:lstStyle/>
          <a:p>
            <a:pPr>
              <a:lnSpc>
                <a:spcPct val="120000"/>
              </a:lnSpc>
            </a:pPr>
            <a:r>
              <a:rPr lang="en-US" sz="1105" b="1" dirty="0">
                <a:solidFill>
                  <a:srgbClr val="2C2C2C"/>
                </a:solidFill>
                <a:latin typeface="Quattrocento Sans" pitchFamily="34" charset="0"/>
                <a:ea typeface="Quattrocento Sans" pitchFamily="34" charset="-122"/>
                <a:cs typeface="Quattrocento Sans" pitchFamily="34" charset="-120"/>
              </a:rPr>
              <a:t>Date:</a:t>
            </a:r>
            <a:endParaRPr lang="en-US" sz="1600" dirty="0"/>
          </a:p>
        </p:txBody>
      </p:sp>
      <p:sp>
        <p:nvSpPr>
          <p:cNvPr id="36" name="Shape 34"/>
          <p:cNvSpPr/>
          <p:nvPr/>
        </p:nvSpPr>
        <p:spPr>
          <a:xfrm>
            <a:off x="6131907" y="5359217"/>
            <a:ext cx="1692846" cy="17542"/>
          </a:xfrm>
          <a:custGeom>
            <a:avLst/>
            <a:gdLst/>
            <a:ahLst/>
            <a:cxnLst/>
            <a:rect l="l" t="t" r="r" b="b"/>
            <a:pathLst>
              <a:path w="1692846" h="17542">
                <a:moveTo>
                  <a:pt x="0" y="0"/>
                </a:moveTo>
                <a:lnTo>
                  <a:pt x="1692846" y="0"/>
                </a:lnTo>
                <a:lnTo>
                  <a:pt x="1692846" y="17542"/>
                </a:lnTo>
                <a:lnTo>
                  <a:pt x="0" y="17542"/>
                </a:lnTo>
                <a:lnTo>
                  <a:pt x="0" y="0"/>
                </a:lnTo>
                <a:close/>
              </a:path>
            </a:pathLst>
          </a:custGeom>
          <a:solidFill>
            <a:srgbClr val="7A6250"/>
          </a:solidFill>
          <a:ln/>
        </p:spPr>
      </p:sp>
      <p:sp>
        <p:nvSpPr>
          <p:cNvPr id="37" name="Shape 35"/>
          <p:cNvSpPr/>
          <p:nvPr/>
        </p:nvSpPr>
        <p:spPr>
          <a:xfrm>
            <a:off x="8105844" y="2298060"/>
            <a:ext cx="3736541" cy="3210268"/>
          </a:xfrm>
          <a:custGeom>
            <a:avLst/>
            <a:gdLst/>
            <a:ahLst/>
            <a:cxnLst/>
            <a:rect l="l" t="t" r="r" b="b"/>
            <a:pathLst>
              <a:path w="3736541" h="3210268">
                <a:moveTo>
                  <a:pt x="35085" y="0"/>
                </a:moveTo>
                <a:lnTo>
                  <a:pt x="3701456" y="0"/>
                </a:lnTo>
                <a:cubicBezTo>
                  <a:pt x="3720833" y="0"/>
                  <a:pt x="3736541" y="15708"/>
                  <a:pt x="3736541" y="35085"/>
                </a:cubicBezTo>
                <a:lnTo>
                  <a:pt x="3736541" y="3140091"/>
                </a:lnTo>
                <a:cubicBezTo>
                  <a:pt x="3736541" y="3178849"/>
                  <a:pt x="3705122" y="3210268"/>
                  <a:pt x="3666365" y="3210268"/>
                </a:cubicBezTo>
                <a:lnTo>
                  <a:pt x="70176" y="3210268"/>
                </a:lnTo>
                <a:cubicBezTo>
                  <a:pt x="31419" y="3210268"/>
                  <a:pt x="0" y="3178849"/>
                  <a:pt x="0" y="3140091"/>
                </a:cubicBezTo>
                <a:lnTo>
                  <a:pt x="0" y="35085"/>
                </a:lnTo>
                <a:cubicBezTo>
                  <a:pt x="0" y="15721"/>
                  <a:pt x="15721" y="0"/>
                  <a:pt x="35085" y="0"/>
                </a:cubicBezTo>
                <a:close/>
              </a:path>
            </a:pathLst>
          </a:custGeom>
          <a:solidFill>
            <a:srgbClr val="FFFFFF"/>
          </a:solidFill>
          <a:ln/>
          <a:effectLst>
            <a:outerShdw sx="100000" sy="100000" kx="0" ky="0" algn="bl" rotWithShape="0" blurRad="26314" dist="8771" dir="5400000">
              <a:srgbClr val="000000">
                <a:alpha val="10196"/>
              </a:srgbClr>
            </a:outerShdw>
          </a:effectLst>
        </p:spPr>
      </p:sp>
      <p:sp>
        <p:nvSpPr>
          <p:cNvPr id="38" name="Shape 36"/>
          <p:cNvSpPr/>
          <p:nvPr/>
        </p:nvSpPr>
        <p:spPr>
          <a:xfrm>
            <a:off x="8105844" y="2298060"/>
            <a:ext cx="3736541" cy="35085"/>
          </a:xfrm>
          <a:custGeom>
            <a:avLst/>
            <a:gdLst/>
            <a:ahLst/>
            <a:cxnLst/>
            <a:rect l="l" t="t" r="r" b="b"/>
            <a:pathLst>
              <a:path w="3736541" h="35085">
                <a:moveTo>
                  <a:pt x="35085" y="0"/>
                </a:moveTo>
                <a:lnTo>
                  <a:pt x="3701456" y="0"/>
                </a:lnTo>
                <a:cubicBezTo>
                  <a:pt x="3720833" y="0"/>
                  <a:pt x="3736541" y="15708"/>
                  <a:pt x="3736541" y="35085"/>
                </a:cubicBezTo>
                <a:lnTo>
                  <a:pt x="3736541" y="35085"/>
                </a:lnTo>
                <a:lnTo>
                  <a:pt x="0" y="35085"/>
                </a:lnTo>
                <a:lnTo>
                  <a:pt x="0" y="35085"/>
                </a:lnTo>
                <a:cubicBezTo>
                  <a:pt x="0" y="15721"/>
                  <a:pt x="15721" y="0"/>
                  <a:pt x="35085" y="0"/>
                </a:cubicBezTo>
                <a:close/>
              </a:path>
            </a:pathLst>
          </a:custGeom>
          <a:solidFill>
            <a:srgbClr val="3A4D39"/>
          </a:solidFill>
          <a:ln/>
        </p:spPr>
      </p:sp>
      <p:sp>
        <p:nvSpPr>
          <p:cNvPr id="39" name="Text 37"/>
          <p:cNvSpPr/>
          <p:nvPr/>
        </p:nvSpPr>
        <p:spPr>
          <a:xfrm>
            <a:off x="8206713" y="2455942"/>
            <a:ext cx="3534803" cy="245594"/>
          </a:xfrm>
          <a:prstGeom prst="rect">
            <a:avLst/>
          </a:prstGeom>
          <a:noFill/>
          <a:ln/>
        </p:spPr>
        <p:txBody>
          <a:bodyPr wrap="square" lIns="0" tIns="0" rIns="0" bIns="0" rtlCol="0" anchor="ctr"/>
          <a:lstStyle/>
          <a:p>
            <a:pPr algn="ctr">
              <a:lnSpc>
                <a:spcPct val="130000"/>
              </a:lnSpc>
            </a:pPr>
            <a:r>
              <a:rPr lang="en-US" sz="1243" b="1" dirty="0">
                <a:solidFill>
                  <a:srgbClr val="3A4D39"/>
                </a:solidFill>
                <a:latin typeface="Unna" pitchFamily="34" charset="0"/>
                <a:ea typeface="Unna" pitchFamily="34" charset="-122"/>
                <a:cs typeface="Unna" pitchFamily="34" charset="-120"/>
              </a:rPr>
              <a:t>Monitoring Partner</a:t>
            </a:r>
            <a:endParaRPr lang="en-US" sz="1600" dirty="0"/>
          </a:p>
        </p:txBody>
      </p:sp>
      <p:sp>
        <p:nvSpPr>
          <p:cNvPr id="40" name="Text 38"/>
          <p:cNvSpPr/>
          <p:nvPr/>
        </p:nvSpPr>
        <p:spPr>
          <a:xfrm>
            <a:off x="8246183" y="2833105"/>
            <a:ext cx="1583997" cy="157882"/>
          </a:xfrm>
          <a:prstGeom prst="rect">
            <a:avLst/>
          </a:prstGeom>
          <a:noFill/>
          <a:ln/>
        </p:spPr>
        <p:txBody>
          <a:bodyPr wrap="square" lIns="0" tIns="0" rIns="0" bIns="0" rtlCol="0" anchor="ctr"/>
          <a:lstStyle/>
          <a:p>
            <a:pPr>
              <a:lnSpc>
                <a:spcPct val="120000"/>
              </a:lnSpc>
            </a:pPr>
            <a:r>
              <a:rPr lang="en-US" sz="1105" b="1" dirty="0">
                <a:solidFill>
                  <a:srgbClr val="2C2C2C"/>
                </a:solidFill>
                <a:latin typeface="Quattrocento Sans" pitchFamily="34" charset="0"/>
                <a:ea typeface="Quattrocento Sans" pitchFamily="34" charset="-122"/>
                <a:cs typeface="Quattrocento Sans" pitchFamily="34" charset="-120"/>
              </a:rPr>
              <a:t>Entity/Individual Name:</a:t>
            </a:r>
            <a:endParaRPr lang="en-US" sz="1600" dirty="0"/>
          </a:p>
        </p:txBody>
      </p:sp>
      <p:sp>
        <p:nvSpPr>
          <p:cNvPr id="41" name="Shape 39"/>
          <p:cNvSpPr/>
          <p:nvPr/>
        </p:nvSpPr>
        <p:spPr>
          <a:xfrm>
            <a:off x="8246183" y="3324294"/>
            <a:ext cx="3455862" cy="17542"/>
          </a:xfrm>
          <a:custGeom>
            <a:avLst/>
            <a:gdLst/>
            <a:ahLst/>
            <a:cxnLst/>
            <a:rect l="l" t="t" r="r" b="b"/>
            <a:pathLst>
              <a:path w="3455862" h="17542">
                <a:moveTo>
                  <a:pt x="0" y="0"/>
                </a:moveTo>
                <a:lnTo>
                  <a:pt x="3455862" y="0"/>
                </a:lnTo>
                <a:lnTo>
                  <a:pt x="3455862" y="17542"/>
                </a:lnTo>
                <a:lnTo>
                  <a:pt x="0" y="17542"/>
                </a:lnTo>
                <a:lnTo>
                  <a:pt x="0" y="0"/>
                </a:lnTo>
                <a:close/>
              </a:path>
            </a:pathLst>
          </a:custGeom>
          <a:solidFill>
            <a:srgbClr val="3A4D39"/>
          </a:solidFill>
          <a:ln/>
        </p:spPr>
      </p:sp>
      <p:sp>
        <p:nvSpPr>
          <p:cNvPr id="42" name="Text 40"/>
          <p:cNvSpPr/>
          <p:nvPr/>
        </p:nvSpPr>
        <p:spPr>
          <a:xfrm>
            <a:off x="8246183" y="3464633"/>
            <a:ext cx="1804516" cy="157882"/>
          </a:xfrm>
          <a:prstGeom prst="rect">
            <a:avLst/>
          </a:prstGeom>
          <a:noFill/>
          <a:ln/>
        </p:spPr>
        <p:txBody>
          <a:bodyPr wrap="square" lIns="0" tIns="0" rIns="0" bIns="0" rtlCol="0" anchor="ctr"/>
          <a:lstStyle/>
          <a:p>
            <a:pPr>
              <a:lnSpc>
                <a:spcPct val="120000"/>
              </a:lnSpc>
            </a:pPr>
            <a:r>
              <a:rPr lang="en-US" sz="1105" b="1" dirty="0">
                <a:solidFill>
                  <a:srgbClr val="2C2C2C"/>
                </a:solidFill>
                <a:latin typeface="Quattrocento Sans" pitchFamily="34" charset="0"/>
                <a:ea typeface="Quattrocento Sans" pitchFamily="34" charset="-122"/>
                <a:cs typeface="Quattrocento Sans" pitchFamily="34" charset="-120"/>
              </a:rPr>
              <a:t>Authorized Representative:</a:t>
            </a:r>
            <a:endParaRPr lang="en-US" sz="1600" dirty="0"/>
          </a:p>
        </p:txBody>
      </p:sp>
      <p:sp>
        <p:nvSpPr>
          <p:cNvPr id="43" name="Shape 41"/>
          <p:cNvSpPr/>
          <p:nvPr/>
        </p:nvSpPr>
        <p:spPr>
          <a:xfrm>
            <a:off x="8246183" y="3955822"/>
            <a:ext cx="3455862" cy="17542"/>
          </a:xfrm>
          <a:custGeom>
            <a:avLst/>
            <a:gdLst/>
            <a:ahLst/>
            <a:cxnLst/>
            <a:rect l="l" t="t" r="r" b="b"/>
            <a:pathLst>
              <a:path w="3455862" h="17542">
                <a:moveTo>
                  <a:pt x="0" y="0"/>
                </a:moveTo>
                <a:lnTo>
                  <a:pt x="3455862" y="0"/>
                </a:lnTo>
                <a:lnTo>
                  <a:pt x="3455862" y="17542"/>
                </a:lnTo>
                <a:lnTo>
                  <a:pt x="0" y="17542"/>
                </a:lnTo>
                <a:lnTo>
                  <a:pt x="0" y="0"/>
                </a:lnTo>
                <a:close/>
              </a:path>
            </a:pathLst>
          </a:custGeom>
          <a:solidFill>
            <a:srgbClr val="3A4D39"/>
          </a:solidFill>
          <a:ln/>
        </p:spPr>
      </p:sp>
      <p:sp>
        <p:nvSpPr>
          <p:cNvPr id="44" name="Text 42"/>
          <p:cNvSpPr/>
          <p:nvPr/>
        </p:nvSpPr>
        <p:spPr>
          <a:xfrm>
            <a:off x="8246183" y="4096161"/>
            <a:ext cx="383922" cy="157882"/>
          </a:xfrm>
          <a:prstGeom prst="rect">
            <a:avLst/>
          </a:prstGeom>
          <a:noFill/>
          <a:ln/>
        </p:spPr>
        <p:txBody>
          <a:bodyPr wrap="square" lIns="0" tIns="0" rIns="0" bIns="0" rtlCol="0" anchor="ctr"/>
          <a:lstStyle/>
          <a:p>
            <a:pPr>
              <a:lnSpc>
                <a:spcPct val="120000"/>
              </a:lnSpc>
            </a:pPr>
            <a:r>
              <a:rPr lang="en-US" sz="1105" b="1" dirty="0">
                <a:solidFill>
                  <a:srgbClr val="2C2C2C"/>
                </a:solidFill>
                <a:latin typeface="Quattrocento Sans" pitchFamily="34" charset="0"/>
                <a:ea typeface="Quattrocento Sans" pitchFamily="34" charset="-122"/>
                <a:cs typeface="Quattrocento Sans" pitchFamily="34" charset="-120"/>
              </a:rPr>
              <a:t>Title:</a:t>
            </a:r>
            <a:endParaRPr lang="en-US" sz="1600" dirty="0"/>
          </a:p>
        </p:txBody>
      </p:sp>
      <p:sp>
        <p:nvSpPr>
          <p:cNvPr id="45" name="Shape 43"/>
          <p:cNvSpPr/>
          <p:nvPr/>
        </p:nvSpPr>
        <p:spPr>
          <a:xfrm>
            <a:off x="8246183" y="4587350"/>
            <a:ext cx="3455862" cy="17542"/>
          </a:xfrm>
          <a:custGeom>
            <a:avLst/>
            <a:gdLst/>
            <a:ahLst/>
            <a:cxnLst/>
            <a:rect l="l" t="t" r="r" b="b"/>
            <a:pathLst>
              <a:path w="3455862" h="17542">
                <a:moveTo>
                  <a:pt x="0" y="0"/>
                </a:moveTo>
                <a:lnTo>
                  <a:pt x="3455862" y="0"/>
                </a:lnTo>
                <a:lnTo>
                  <a:pt x="3455862" y="17542"/>
                </a:lnTo>
                <a:lnTo>
                  <a:pt x="0" y="17542"/>
                </a:lnTo>
                <a:lnTo>
                  <a:pt x="0" y="0"/>
                </a:lnTo>
                <a:close/>
              </a:path>
            </a:pathLst>
          </a:custGeom>
          <a:solidFill>
            <a:srgbClr val="3A4D39"/>
          </a:solidFill>
          <a:ln/>
        </p:spPr>
      </p:sp>
      <p:sp>
        <p:nvSpPr>
          <p:cNvPr id="46" name="Text 44"/>
          <p:cNvSpPr/>
          <p:nvPr/>
        </p:nvSpPr>
        <p:spPr>
          <a:xfrm>
            <a:off x="8246183" y="4727689"/>
            <a:ext cx="712753" cy="157882"/>
          </a:xfrm>
          <a:prstGeom prst="rect">
            <a:avLst/>
          </a:prstGeom>
          <a:noFill/>
          <a:ln/>
        </p:spPr>
        <p:txBody>
          <a:bodyPr wrap="square" lIns="0" tIns="0" rIns="0" bIns="0" rtlCol="0" anchor="ctr"/>
          <a:lstStyle/>
          <a:p>
            <a:pPr>
              <a:lnSpc>
                <a:spcPct val="120000"/>
              </a:lnSpc>
            </a:pPr>
            <a:r>
              <a:rPr lang="en-US" sz="1105" b="1" dirty="0">
                <a:solidFill>
                  <a:srgbClr val="2C2C2C"/>
                </a:solidFill>
                <a:latin typeface="Quattrocento Sans" pitchFamily="34" charset="0"/>
                <a:ea typeface="Quattrocento Sans" pitchFamily="34" charset="-122"/>
                <a:cs typeface="Quattrocento Sans" pitchFamily="34" charset="-120"/>
              </a:rPr>
              <a:t>Signature:</a:t>
            </a:r>
            <a:endParaRPr lang="en-US" sz="1600" dirty="0"/>
          </a:p>
        </p:txBody>
      </p:sp>
      <p:sp>
        <p:nvSpPr>
          <p:cNvPr id="47" name="Shape 45"/>
          <p:cNvSpPr/>
          <p:nvPr/>
        </p:nvSpPr>
        <p:spPr>
          <a:xfrm>
            <a:off x="8246183" y="5359217"/>
            <a:ext cx="1692846" cy="17542"/>
          </a:xfrm>
          <a:custGeom>
            <a:avLst/>
            <a:gdLst/>
            <a:ahLst/>
            <a:cxnLst/>
            <a:rect l="l" t="t" r="r" b="b"/>
            <a:pathLst>
              <a:path w="1692846" h="17542">
                <a:moveTo>
                  <a:pt x="0" y="0"/>
                </a:moveTo>
                <a:lnTo>
                  <a:pt x="1692846" y="0"/>
                </a:lnTo>
                <a:lnTo>
                  <a:pt x="1692846" y="17542"/>
                </a:lnTo>
                <a:lnTo>
                  <a:pt x="0" y="17542"/>
                </a:lnTo>
                <a:lnTo>
                  <a:pt x="0" y="0"/>
                </a:lnTo>
                <a:close/>
              </a:path>
            </a:pathLst>
          </a:custGeom>
          <a:solidFill>
            <a:srgbClr val="3A4D39"/>
          </a:solidFill>
          <a:ln/>
        </p:spPr>
      </p:sp>
      <p:sp>
        <p:nvSpPr>
          <p:cNvPr id="48" name="Text 46"/>
          <p:cNvSpPr/>
          <p:nvPr/>
        </p:nvSpPr>
        <p:spPr>
          <a:xfrm>
            <a:off x="10009473" y="4727689"/>
            <a:ext cx="408793" cy="157882"/>
          </a:xfrm>
          <a:prstGeom prst="rect">
            <a:avLst/>
          </a:prstGeom>
          <a:noFill/>
          <a:ln/>
        </p:spPr>
        <p:txBody>
          <a:bodyPr wrap="square" lIns="0" tIns="0" rIns="0" bIns="0" rtlCol="0" anchor="ctr"/>
          <a:lstStyle/>
          <a:p>
            <a:pPr>
              <a:lnSpc>
                <a:spcPct val="120000"/>
              </a:lnSpc>
            </a:pPr>
            <a:r>
              <a:rPr lang="en-US" sz="1105" b="1" dirty="0">
                <a:solidFill>
                  <a:srgbClr val="2C2C2C"/>
                </a:solidFill>
                <a:latin typeface="Quattrocento Sans" pitchFamily="34" charset="0"/>
                <a:ea typeface="Quattrocento Sans" pitchFamily="34" charset="-122"/>
                <a:cs typeface="Quattrocento Sans" pitchFamily="34" charset="-120"/>
              </a:rPr>
              <a:t>Date:</a:t>
            </a:r>
            <a:endParaRPr lang="en-US" sz="1600" dirty="0"/>
          </a:p>
        </p:txBody>
      </p:sp>
      <p:sp>
        <p:nvSpPr>
          <p:cNvPr id="49" name="Shape 47"/>
          <p:cNvSpPr/>
          <p:nvPr/>
        </p:nvSpPr>
        <p:spPr>
          <a:xfrm>
            <a:off x="10009473" y="5359217"/>
            <a:ext cx="1692846" cy="17542"/>
          </a:xfrm>
          <a:custGeom>
            <a:avLst/>
            <a:gdLst/>
            <a:ahLst/>
            <a:cxnLst/>
            <a:rect l="l" t="t" r="r" b="b"/>
            <a:pathLst>
              <a:path w="1692846" h="17542">
                <a:moveTo>
                  <a:pt x="0" y="0"/>
                </a:moveTo>
                <a:lnTo>
                  <a:pt x="1692846" y="0"/>
                </a:lnTo>
                <a:lnTo>
                  <a:pt x="1692846" y="17542"/>
                </a:lnTo>
                <a:lnTo>
                  <a:pt x="0" y="17542"/>
                </a:lnTo>
                <a:lnTo>
                  <a:pt x="0" y="0"/>
                </a:lnTo>
                <a:close/>
              </a:path>
            </a:pathLst>
          </a:custGeom>
          <a:solidFill>
            <a:srgbClr val="3A4D39"/>
          </a:solidFill>
          <a:ln/>
        </p:spPr>
      </p:sp>
      <p:sp>
        <p:nvSpPr>
          <p:cNvPr id="50" name="Shape 48"/>
          <p:cNvSpPr/>
          <p:nvPr/>
        </p:nvSpPr>
        <p:spPr>
          <a:xfrm>
            <a:off x="355235" y="5617968"/>
            <a:ext cx="11481531" cy="920978"/>
          </a:xfrm>
          <a:custGeom>
            <a:avLst/>
            <a:gdLst/>
            <a:ahLst/>
            <a:cxnLst/>
            <a:rect l="l" t="t" r="r" b="b"/>
            <a:pathLst>
              <a:path w="11481531" h="920978">
                <a:moveTo>
                  <a:pt x="70169" y="0"/>
                </a:moveTo>
                <a:lnTo>
                  <a:pt x="11411362" y="0"/>
                </a:lnTo>
                <a:cubicBezTo>
                  <a:pt x="11450115" y="0"/>
                  <a:pt x="11481531" y="31416"/>
                  <a:pt x="11481531" y="70169"/>
                </a:cubicBezTo>
                <a:lnTo>
                  <a:pt x="11481531" y="850809"/>
                </a:lnTo>
                <a:cubicBezTo>
                  <a:pt x="11481531" y="889563"/>
                  <a:pt x="11450115" y="920978"/>
                  <a:pt x="11411362" y="920978"/>
                </a:cubicBezTo>
                <a:lnTo>
                  <a:pt x="70169" y="920978"/>
                </a:lnTo>
                <a:cubicBezTo>
                  <a:pt x="31416" y="920978"/>
                  <a:pt x="0" y="889563"/>
                  <a:pt x="0" y="850809"/>
                </a:cubicBezTo>
                <a:lnTo>
                  <a:pt x="0" y="70169"/>
                </a:lnTo>
                <a:cubicBezTo>
                  <a:pt x="0" y="31442"/>
                  <a:pt x="31442" y="0"/>
                  <a:pt x="70169" y="0"/>
                </a:cubicBezTo>
                <a:close/>
              </a:path>
            </a:pathLst>
          </a:custGeom>
          <a:solidFill>
            <a:srgbClr val="BCA37F"/>
          </a:solidFill>
          <a:ln w="12700">
            <a:solidFill>
              <a:srgbClr val="BCA37F"/>
            </a:solidFill>
            <a:prstDash val="solid"/>
          </a:ln>
        </p:spPr>
      </p:sp>
      <p:sp>
        <p:nvSpPr>
          <p:cNvPr id="51" name="Shape 49"/>
          <p:cNvSpPr/>
          <p:nvPr/>
        </p:nvSpPr>
        <p:spPr>
          <a:xfrm>
            <a:off x="447332" y="5762694"/>
            <a:ext cx="175424" cy="175424"/>
          </a:xfrm>
          <a:custGeom>
            <a:avLst/>
            <a:gdLst/>
            <a:ahLst/>
            <a:cxnLst/>
            <a:rect l="l" t="t" r="r" b="b"/>
            <a:pathLst>
              <a:path w="175424" h="175424">
                <a:moveTo>
                  <a:pt x="87712" y="175424"/>
                </a:moveTo>
                <a:cubicBezTo>
                  <a:pt x="136122" y="175424"/>
                  <a:pt x="175424" y="136122"/>
                  <a:pt x="175424" y="87712"/>
                </a:cubicBezTo>
                <a:cubicBezTo>
                  <a:pt x="175424" y="39303"/>
                  <a:pt x="136122" y="0"/>
                  <a:pt x="87712" y="0"/>
                </a:cubicBezTo>
                <a:cubicBezTo>
                  <a:pt x="39303" y="0"/>
                  <a:pt x="0" y="39303"/>
                  <a:pt x="0" y="87712"/>
                </a:cubicBezTo>
                <a:cubicBezTo>
                  <a:pt x="0" y="136122"/>
                  <a:pt x="39303" y="175424"/>
                  <a:pt x="87712" y="175424"/>
                </a:cubicBezTo>
                <a:close/>
                <a:moveTo>
                  <a:pt x="76748" y="54820"/>
                </a:moveTo>
                <a:cubicBezTo>
                  <a:pt x="76748" y="48769"/>
                  <a:pt x="81661" y="43856"/>
                  <a:pt x="87712" y="43856"/>
                </a:cubicBezTo>
                <a:cubicBezTo>
                  <a:pt x="93763" y="43856"/>
                  <a:pt x="98676" y="48769"/>
                  <a:pt x="98676" y="54820"/>
                </a:cubicBezTo>
                <a:cubicBezTo>
                  <a:pt x="98676" y="60871"/>
                  <a:pt x="93763" y="65784"/>
                  <a:pt x="87712" y="65784"/>
                </a:cubicBezTo>
                <a:cubicBezTo>
                  <a:pt x="81661" y="65784"/>
                  <a:pt x="76748" y="60871"/>
                  <a:pt x="76748" y="54820"/>
                </a:cubicBezTo>
                <a:close/>
                <a:moveTo>
                  <a:pt x="74007" y="76748"/>
                </a:moveTo>
                <a:lnTo>
                  <a:pt x="90453" y="76748"/>
                </a:lnTo>
                <a:cubicBezTo>
                  <a:pt x="95010" y="76748"/>
                  <a:pt x="98676" y="80414"/>
                  <a:pt x="98676" y="84971"/>
                </a:cubicBezTo>
                <a:lnTo>
                  <a:pt x="98676" y="115122"/>
                </a:lnTo>
                <a:lnTo>
                  <a:pt x="101417" y="115122"/>
                </a:lnTo>
                <a:cubicBezTo>
                  <a:pt x="105974" y="115122"/>
                  <a:pt x="109640" y="118788"/>
                  <a:pt x="109640" y="123345"/>
                </a:cubicBezTo>
                <a:cubicBezTo>
                  <a:pt x="109640" y="127902"/>
                  <a:pt x="105974" y="131568"/>
                  <a:pt x="101417" y="131568"/>
                </a:cubicBezTo>
                <a:lnTo>
                  <a:pt x="74007" y="131568"/>
                </a:lnTo>
                <a:cubicBezTo>
                  <a:pt x="69450" y="131568"/>
                  <a:pt x="65784" y="127902"/>
                  <a:pt x="65784" y="123345"/>
                </a:cubicBezTo>
                <a:cubicBezTo>
                  <a:pt x="65784" y="118788"/>
                  <a:pt x="69450" y="115122"/>
                  <a:pt x="74007" y="115122"/>
                </a:cubicBezTo>
                <a:lnTo>
                  <a:pt x="82230" y="115122"/>
                </a:lnTo>
                <a:lnTo>
                  <a:pt x="82230" y="93194"/>
                </a:lnTo>
                <a:lnTo>
                  <a:pt x="74007" y="93194"/>
                </a:lnTo>
                <a:cubicBezTo>
                  <a:pt x="69450" y="93194"/>
                  <a:pt x="65784" y="89528"/>
                  <a:pt x="65784" y="84971"/>
                </a:cubicBezTo>
                <a:cubicBezTo>
                  <a:pt x="65784" y="80414"/>
                  <a:pt x="69450" y="76748"/>
                  <a:pt x="74007" y="76748"/>
                </a:cubicBezTo>
                <a:close/>
              </a:path>
            </a:pathLst>
          </a:custGeom>
          <a:solidFill>
            <a:srgbClr val="7A6250"/>
          </a:solidFill>
          <a:ln/>
        </p:spPr>
      </p:sp>
      <p:sp>
        <p:nvSpPr>
          <p:cNvPr id="52" name="Text 50"/>
          <p:cNvSpPr/>
          <p:nvPr/>
        </p:nvSpPr>
        <p:spPr>
          <a:xfrm>
            <a:off x="706632" y="5727609"/>
            <a:ext cx="11104368" cy="245594"/>
          </a:xfrm>
          <a:prstGeom prst="rect">
            <a:avLst/>
          </a:prstGeom>
          <a:noFill/>
          <a:ln/>
        </p:spPr>
        <p:txBody>
          <a:bodyPr wrap="square" lIns="0" tIns="0" rIns="0" bIns="0" rtlCol="0" anchor="ctr"/>
          <a:lstStyle/>
          <a:p>
            <a:pPr>
              <a:lnSpc>
                <a:spcPct val="130000"/>
              </a:lnSpc>
            </a:pPr>
            <a:r>
              <a:rPr lang="en-US" sz="1243" b="1" dirty="0">
                <a:solidFill>
                  <a:srgbClr val="3A4D39"/>
                </a:solidFill>
                <a:latin typeface="Unna" pitchFamily="34" charset="0"/>
                <a:ea typeface="Unna" pitchFamily="34" charset="-122"/>
                <a:cs typeface="Unna" pitchFamily="34" charset="-120"/>
              </a:rPr>
              <a:t>Additional Partner Information</a:t>
            </a:r>
            <a:endParaRPr lang="en-US" sz="1600" dirty="0"/>
          </a:p>
        </p:txBody>
      </p:sp>
      <p:sp>
        <p:nvSpPr>
          <p:cNvPr id="53" name="Text 51"/>
          <p:cNvSpPr/>
          <p:nvPr/>
        </p:nvSpPr>
        <p:spPr>
          <a:xfrm>
            <a:off x="706632" y="6008288"/>
            <a:ext cx="11095597" cy="421019"/>
          </a:xfrm>
          <a:prstGeom prst="rect">
            <a:avLst/>
          </a:prstGeom>
          <a:noFill/>
          <a:ln/>
        </p:spPr>
        <p:txBody>
          <a:bodyPr wrap="square" lIns="0" tIns="0" rIns="0" bIns="0" rtlCol="0" anchor="ctr"/>
          <a:lstStyle/>
          <a:p>
            <a:pPr>
              <a:lnSpc>
                <a:spcPct val="120000"/>
              </a:lnSpc>
            </a:pPr>
            <a:r>
              <a:rPr lang="en-US" sz="1105" dirty="0">
                <a:solidFill>
                  <a:srgbClr val="2C2C2C"/>
                </a:solidFill>
                <a:latin typeface="Quattrocento Sans" pitchFamily="34" charset="0"/>
                <a:ea typeface="Quattrocento Sans" pitchFamily="34" charset="-122"/>
                <a:cs typeface="Quattrocento Sans" pitchFamily="34" charset="-120"/>
              </a:rPr>
              <a:t>Each partner should provide contact information including: physical address, phone number, and email address. Additional Monetary and Monitoring Partners may be added on separate signature pages with identical format. All partners should retain a fully executed copy of this agreement for their records.</a:t>
            </a:r>
            <a:endParaRPr lang="en-US" sz="1600" dirty="0"/>
          </a:p>
        </p:txBody>
      </p:sp>
      <p:sp>
        <p:nvSpPr>
          <p:cNvPr id="54" name="Text 52"/>
          <p:cNvSpPr/>
          <p:nvPr/>
        </p:nvSpPr>
        <p:spPr>
          <a:xfrm>
            <a:off x="315764" y="6648587"/>
            <a:ext cx="11560472" cy="210509"/>
          </a:xfrm>
          <a:prstGeom prst="rect">
            <a:avLst/>
          </a:prstGeom>
          <a:noFill/>
          <a:ln/>
        </p:spPr>
        <p:txBody>
          <a:bodyPr wrap="square" lIns="0" tIns="0" rIns="0" bIns="0" rtlCol="0" anchor="ctr"/>
          <a:lstStyle/>
          <a:p>
            <a:pPr algn="ctr">
              <a:lnSpc>
                <a:spcPct val="120000"/>
              </a:lnSpc>
            </a:pPr>
            <a:r>
              <a:rPr lang="en-US" sz="1105" dirty="0">
                <a:solidFill>
                  <a:srgbClr val="7A6250"/>
                </a:solidFill>
                <a:latin typeface="Quattrocento Sans" pitchFamily="34" charset="0"/>
                <a:ea typeface="Quattrocento Sans" pitchFamily="34" charset="-122"/>
                <a:cs typeface="Quattrocento Sans" pitchFamily="34" charset="-120"/>
              </a:rPr>
              <a:t>This Memorandum of Understanding executed as of the date last signed below.</a:t>
            </a:r>
            <a:endParaRPr lang="en-US" sz="1600" dirty="0"/>
          </a:p>
        </p:txBody>
      </p:sp>
    </p:spTree>
  </p:cSld>
  <p:clrMapOvr>
    <a:masterClrMapping/>
  </p:clrMapOvr>
  <p:transition>
    <p:fade/>
    <p:spd val="med"/>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Memorandum of Understanding - Wilshire Farms Habanero Partnership</dc:title>
  <dc:subject>Memorandum of Understanding - Wilshire Farms Habanero Partnership</dc:subject>
  <dc:creator>Kimi</dc:creator>
  <cp:lastModifiedBy>Kimi</cp:lastModifiedBy>
  <cp:revision>1</cp:revision>
  <dcterms:created xsi:type="dcterms:W3CDTF">2026-02-10T17:20:38Z</dcterms:created>
  <dcterms:modified xsi:type="dcterms:W3CDTF">2026-02-10T17:20:38Z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{"Label":"Memorandum of Understanding - Wilshire Farms Habanero Partnership","ContentProducer":"001191110108MACG2KBH8F10000","ProduceID":"19c488c0-63a2-80b5-8000-00002318d22f","ReservedCode1":"","ContentPropagator":"001191110108MACG2KBH8F20000","PropagateID":"19c488c0-63a2-80b5-8000-00002318d22f","ReservedCode2":""}</vt:lpwstr>
  </property>
</Properties>
</file>